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65" r:id="rId2"/>
    <p:sldId id="393" r:id="rId3"/>
    <p:sldId id="334" r:id="rId4"/>
    <p:sldId id="335" r:id="rId5"/>
    <p:sldId id="394" r:id="rId6"/>
    <p:sldId id="395" r:id="rId7"/>
    <p:sldId id="397" r:id="rId8"/>
    <p:sldId id="396" r:id="rId9"/>
    <p:sldId id="339" r:id="rId10"/>
    <p:sldId id="340" r:id="rId11"/>
    <p:sldId id="374" r:id="rId12"/>
    <p:sldId id="341" r:id="rId13"/>
    <p:sldId id="361" r:id="rId14"/>
    <p:sldId id="362" r:id="rId15"/>
    <p:sldId id="363" r:id="rId16"/>
    <p:sldId id="369" r:id="rId17"/>
    <p:sldId id="370" r:id="rId18"/>
    <p:sldId id="371" r:id="rId19"/>
    <p:sldId id="372" r:id="rId20"/>
    <p:sldId id="389" r:id="rId21"/>
    <p:sldId id="392" r:id="rId22"/>
    <p:sldId id="375" r:id="rId23"/>
    <p:sldId id="373" r:id="rId24"/>
    <p:sldId id="376" r:id="rId25"/>
    <p:sldId id="379" r:id="rId26"/>
    <p:sldId id="342" r:id="rId27"/>
    <p:sldId id="347" r:id="rId28"/>
    <p:sldId id="348" r:id="rId29"/>
    <p:sldId id="349" r:id="rId30"/>
    <p:sldId id="378" r:id="rId31"/>
    <p:sldId id="380" r:id="rId32"/>
    <p:sldId id="381" r:id="rId33"/>
    <p:sldId id="382" r:id="rId34"/>
    <p:sldId id="383" r:id="rId35"/>
    <p:sldId id="384" r:id="rId36"/>
    <p:sldId id="385" r:id="rId37"/>
    <p:sldId id="386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808080"/>
    <a:srgbClr val="33CCFF"/>
    <a:srgbClr val="FFFFFF"/>
    <a:srgbClr val="D60093"/>
    <a:srgbClr val="66FF33"/>
    <a:srgbClr val="FFFF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85"/>
    <p:restoredTop sz="92954" autoAdjust="0"/>
  </p:normalViewPr>
  <p:slideViewPr>
    <p:cSldViewPr snapToGrid="0">
      <p:cViewPr varScale="1">
        <p:scale>
          <a:sx n="119" d="100"/>
          <a:sy n="119" d="100"/>
        </p:scale>
        <p:origin x="67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-192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BB2BBC1-1BD4-4E6E-A80C-29C95A3666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5050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E7DADD8-4AE5-4AE7-BCB4-9B3269BB3022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B2BBC1-1BD4-4E6E-A80C-29C95A366610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716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6B1E69-7F72-493F-A688-D54FEB605B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911B3-CEEC-4D3D-BC7C-257389161A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A86195-FE6F-49AD-8B61-C9D235E34B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D7830-B1AA-4883-9804-FD71A29A86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7726A-DDBB-4517-93BD-C9E1CF1014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0292A4-DA80-42CA-B062-45F08087B7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C0898-DD85-4BA4-A3D5-5AF749A6BF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B2353-ED03-45EF-B88D-65048211D5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3208B-EB54-456B-BA3C-6E5D75FC97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00A59-952E-47DE-B302-3C171DF973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CE42B-DD3B-478F-9D57-FFC63D8342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03DE1465-4344-448E-9681-674CBA4DAD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sndAc>
      <p:stSnd>
        <p:snd r:embed="rId13" name="camera.wav"/>
      </p:stSnd>
    </p:sndAc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0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12" Type="http://schemas.openxmlformats.org/officeDocument/2006/relationships/image" Target="../media/image2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jpeg"/><Relationship Id="rId4" Type="http://schemas.openxmlformats.org/officeDocument/2006/relationships/hyperlink" Target="http://www.google.com/url?sa=i&amp;rct=j&amp;q=&amp;esrc=s&amp;frm=1&amp;source=images&amp;cd=&amp;cad=rja&amp;uact=8&amp;docid=TJDDsRU-zRxWAM&amp;tbnid=NZtNigV32f-lmM:&amp;ved=0CAUQjRw&amp;url=http://www.clker.com/clipart-6247.html&amp;ei=oJqxU4WxMMmvyATCtoD4Dg&amp;bvm=bv.69837884,d.aWw&amp;psig=AFQjCNE9iWuaVDc2w3toSQMg1ns1KWaWkw&amp;ust=1404234749640870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eg"/><Relationship Id="rId3" Type="http://schemas.openxmlformats.org/officeDocument/2006/relationships/audio" Target="../media/audio1.wav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4.wmf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wmf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5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jpeg"/><Relationship Id="rId4" Type="http://schemas.openxmlformats.org/officeDocument/2006/relationships/hyperlink" Target="http://de.wikipedia.org/w/index.php?title=Datei:Everest_North_Face_toward_Base_Camp_Tibet_Luca_Galuzzi_2006.jpg&amp;filetimestamp=20070320004704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5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jpeg"/><Relationship Id="rId4" Type="http://schemas.openxmlformats.org/officeDocument/2006/relationships/hyperlink" Target="http://de.wikipedia.org/w/index.php?title=Datei:Everest_North_Face_toward_Base_Camp_Tibet_Luca_Galuzzi_2006.jpg&amp;filetimestamp=20070320004704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jpeg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g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g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jpeg"/><Relationship Id="rId4" Type="http://schemas.openxmlformats.org/officeDocument/2006/relationships/hyperlink" Target="http://www.google.com/url?sa=i&amp;rct=j&amp;q=&amp;esrc=s&amp;frm=1&amp;source=images&amp;cd=&amp;cad=rja&amp;uact=8&amp;docid=e3LndXTNj0BmiM&amp;tbnid=2DiUrhrzExNEdM:&amp;ved=0CAUQjRw&amp;url=http://healthyliving.msn.com/health-wellness/men/10-questions-men-forget-to-ask-their-doctors&amp;ei=s_uxU4mxIqK48AH0t4HoBQ&amp;bvm=bv.69837884,d.b2U&amp;psig=AFQjCNH0v_zcQeQ_1XsmWuWSh667kCjAnQ&amp;ust=1404259357109436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4B958D-2D45-1E47-B203-A07A1929B6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25175" cy="2807746"/>
          </a:xfrm>
          <a:prstGeom prst="rect">
            <a:avLst/>
          </a:prstGeom>
        </p:spPr>
      </p:pic>
    </p:spTree>
  </p:cSld>
  <p:clrMapOvr>
    <a:masterClrMapping/>
  </p:clrMapOvr>
  <p:transition>
    <p:sndAc>
      <p:stSnd>
        <p:snd r:embed="rId3" name="camera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F62606-09D0-C2FF-CD4F-450235241CB1}"/>
              </a:ext>
            </a:extLst>
          </p:cNvPr>
          <p:cNvSpPr txBox="1"/>
          <p:nvPr/>
        </p:nvSpPr>
        <p:spPr>
          <a:xfrm>
            <a:off x="2861435" y="0"/>
            <a:ext cx="3704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u="sng" dirty="0"/>
              <a:t>Uniform Circular Motion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6E00B-54E2-0A64-BCAA-5FD4AFEFA240}"/>
              </a:ext>
            </a:extLst>
          </p:cNvPr>
          <p:cNvSpPr txBox="1"/>
          <p:nvPr/>
        </p:nvSpPr>
        <p:spPr>
          <a:xfrm>
            <a:off x="1401289" y="653142"/>
            <a:ext cx="21771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b="1" dirty="0"/>
              <a:t>Horizontal circle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084B76-6E8D-B2CD-8AC3-A79F0DA5EB00}"/>
              </a:ext>
            </a:extLst>
          </p:cNvPr>
          <p:cNvSpPr txBox="1"/>
          <p:nvPr/>
        </p:nvSpPr>
        <p:spPr>
          <a:xfrm>
            <a:off x="5513819" y="653141"/>
            <a:ext cx="1834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b="1" dirty="0"/>
              <a:t>Vertical circle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1F6AC2-6749-9EB9-4848-BFC8BEBF66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49" y="1079934"/>
            <a:ext cx="3795933" cy="21876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2A40A0-13FF-7769-007C-8750AB7F7D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48" y="3361861"/>
            <a:ext cx="4109817" cy="25418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65D944-F55C-6D47-6113-1666BC5781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388" y="1079934"/>
            <a:ext cx="3548721" cy="31354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2A5754-769F-9ABE-69C9-DCEA3531A1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698" y="4309661"/>
            <a:ext cx="4206534" cy="218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74414"/>
      </p:ext>
    </p:extLst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Centripetal force and acceleration</a:t>
            </a:r>
            <a:endParaRPr lang="en-US" altLang="en-US" b="1" i="1">
              <a:solidFill>
                <a:schemeClr val="accent2"/>
              </a:solidFill>
              <a:latin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</a:t>
            </a:r>
            <a:r>
              <a:rPr lang="en-US"/>
              <a:t>A particle is said to be in </a:t>
            </a:r>
            <a:r>
              <a:rPr lang="en-US" b="1"/>
              <a:t>uniform circular motion</a:t>
            </a:r>
            <a:r>
              <a:rPr lang="en-US"/>
              <a:t> if it travels in a circle (or arc) with </a:t>
            </a:r>
            <a:r>
              <a:rPr lang="en-US">
                <a:sym typeface="Symbol" pitchFamily="18" charset="2"/>
              </a:rPr>
              <a:t>constant speed </a:t>
            </a:r>
            <a:r>
              <a:rPr lang="en-US" i="1">
                <a:sym typeface="Symbol" pitchFamily="18" charset="2"/>
              </a:rPr>
              <a:t>v</a:t>
            </a:r>
            <a:r>
              <a:rPr lang="en-US"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</a:t>
            </a:r>
            <a:r>
              <a:rPr lang="en-US"/>
              <a:t>Observe that the velocity vector is always tangent to the circle.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</a:t>
            </a:r>
            <a:r>
              <a:rPr lang="en-US"/>
              <a:t>Note that the </a:t>
            </a:r>
            <a:r>
              <a:rPr lang="en-US" u="sng"/>
              <a:t>magnitude</a:t>
            </a:r>
            <a:r>
              <a:rPr lang="en-US"/>
              <a:t> of the velocity vector is          NOT changing.</a:t>
            </a:r>
            <a:endParaRPr lang="en-US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</a:t>
            </a:r>
            <a:r>
              <a:rPr lang="en-US"/>
              <a:t>Note that the </a:t>
            </a:r>
            <a:r>
              <a:rPr lang="en-US" u="sng"/>
              <a:t>direction</a:t>
            </a:r>
            <a:r>
              <a:rPr lang="en-US"/>
              <a:t> of the velocity                         vector IS changing.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</a:t>
            </a:r>
            <a:r>
              <a:rPr lang="en-US"/>
              <a:t>Thus, there is an acceleration, even                            though the speed is not changing!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67438" y="4237038"/>
            <a:ext cx="2624137" cy="2620962"/>
            <a:chOff x="864" y="1517"/>
            <a:chExt cx="1653" cy="1651"/>
          </a:xfrm>
        </p:grpSpPr>
        <p:sp>
          <p:nvSpPr>
            <p:cNvPr id="10261" name="Rectangle 5"/>
            <p:cNvSpPr>
              <a:spLocks noChangeArrowheads="1"/>
            </p:cNvSpPr>
            <p:nvPr/>
          </p:nvSpPr>
          <p:spPr bwMode="auto">
            <a:xfrm>
              <a:off x="864" y="29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2" name="Rectangle 6"/>
            <p:cNvSpPr>
              <a:spLocks noChangeArrowheads="1"/>
            </p:cNvSpPr>
            <p:nvPr/>
          </p:nvSpPr>
          <p:spPr bwMode="auto">
            <a:xfrm>
              <a:off x="1104" y="29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3" name="Rectangle 7"/>
            <p:cNvSpPr>
              <a:spLocks noChangeArrowheads="1"/>
            </p:cNvSpPr>
            <p:nvPr/>
          </p:nvSpPr>
          <p:spPr bwMode="auto">
            <a:xfrm>
              <a:off x="1344" y="29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4" name="Rectangle 8"/>
            <p:cNvSpPr>
              <a:spLocks noChangeArrowheads="1"/>
            </p:cNvSpPr>
            <p:nvPr/>
          </p:nvSpPr>
          <p:spPr bwMode="auto">
            <a:xfrm>
              <a:off x="1584" y="29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5" name="Rectangle 9"/>
            <p:cNvSpPr>
              <a:spLocks noChangeArrowheads="1"/>
            </p:cNvSpPr>
            <p:nvPr/>
          </p:nvSpPr>
          <p:spPr bwMode="auto">
            <a:xfrm>
              <a:off x="1824" y="29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6" name="Rectangle 10"/>
            <p:cNvSpPr>
              <a:spLocks noChangeArrowheads="1"/>
            </p:cNvSpPr>
            <p:nvPr/>
          </p:nvSpPr>
          <p:spPr bwMode="auto">
            <a:xfrm>
              <a:off x="2064" y="29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7" name="Rectangle 11"/>
            <p:cNvSpPr>
              <a:spLocks noChangeArrowheads="1"/>
            </p:cNvSpPr>
            <p:nvPr/>
          </p:nvSpPr>
          <p:spPr bwMode="auto">
            <a:xfrm>
              <a:off x="864" y="268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8" name="Rectangle 12"/>
            <p:cNvSpPr>
              <a:spLocks noChangeArrowheads="1"/>
            </p:cNvSpPr>
            <p:nvPr/>
          </p:nvSpPr>
          <p:spPr bwMode="auto">
            <a:xfrm>
              <a:off x="1104" y="268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9" name="Rectangle 13"/>
            <p:cNvSpPr>
              <a:spLocks noChangeArrowheads="1"/>
            </p:cNvSpPr>
            <p:nvPr/>
          </p:nvSpPr>
          <p:spPr bwMode="auto">
            <a:xfrm>
              <a:off x="1344" y="268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0" name="Rectangle 14"/>
            <p:cNvSpPr>
              <a:spLocks noChangeArrowheads="1"/>
            </p:cNvSpPr>
            <p:nvPr/>
          </p:nvSpPr>
          <p:spPr bwMode="auto">
            <a:xfrm>
              <a:off x="1584" y="268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1" name="Rectangle 15"/>
            <p:cNvSpPr>
              <a:spLocks noChangeArrowheads="1"/>
            </p:cNvSpPr>
            <p:nvPr/>
          </p:nvSpPr>
          <p:spPr bwMode="auto">
            <a:xfrm>
              <a:off x="1824" y="268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2" name="Rectangle 16"/>
            <p:cNvSpPr>
              <a:spLocks noChangeArrowheads="1"/>
            </p:cNvSpPr>
            <p:nvPr/>
          </p:nvSpPr>
          <p:spPr bwMode="auto">
            <a:xfrm>
              <a:off x="2064" y="268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3" name="Rectangle 17"/>
            <p:cNvSpPr>
              <a:spLocks noChangeArrowheads="1"/>
            </p:cNvSpPr>
            <p:nvPr/>
          </p:nvSpPr>
          <p:spPr bwMode="auto">
            <a:xfrm>
              <a:off x="864" y="244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4" name="Rectangle 18"/>
            <p:cNvSpPr>
              <a:spLocks noChangeArrowheads="1"/>
            </p:cNvSpPr>
            <p:nvPr/>
          </p:nvSpPr>
          <p:spPr bwMode="auto">
            <a:xfrm>
              <a:off x="1104" y="244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5" name="Rectangle 19"/>
            <p:cNvSpPr>
              <a:spLocks noChangeArrowheads="1"/>
            </p:cNvSpPr>
            <p:nvPr/>
          </p:nvSpPr>
          <p:spPr bwMode="auto">
            <a:xfrm>
              <a:off x="1344" y="244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6" name="Rectangle 20"/>
            <p:cNvSpPr>
              <a:spLocks noChangeArrowheads="1"/>
            </p:cNvSpPr>
            <p:nvPr/>
          </p:nvSpPr>
          <p:spPr bwMode="auto">
            <a:xfrm>
              <a:off x="1584" y="244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7" name="Rectangle 21"/>
            <p:cNvSpPr>
              <a:spLocks noChangeArrowheads="1"/>
            </p:cNvSpPr>
            <p:nvPr/>
          </p:nvSpPr>
          <p:spPr bwMode="auto">
            <a:xfrm>
              <a:off x="1824" y="244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8" name="Rectangle 22"/>
            <p:cNvSpPr>
              <a:spLocks noChangeArrowheads="1"/>
            </p:cNvSpPr>
            <p:nvPr/>
          </p:nvSpPr>
          <p:spPr bwMode="auto">
            <a:xfrm>
              <a:off x="2064" y="244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9" name="Rectangle 23"/>
            <p:cNvSpPr>
              <a:spLocks noChangeArrowheads="1"/>
            </p:cNvSpPr>
            <p:nvPr/>
          </p:nvSpPr>
          <p:spPr bwMode="auto">
            <a:xfrm>
              <a:off x="864" y="220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0" name="Rectangle 24"/>
            <p:cNvSpPr>
              <a:spLocks noChangeArrowheads="1"/>
            </p:cNvSpPr>
            <p:nvPr/>
          </p:nvSpPr>
          <p:spPr bwMode="auto">
            <a:xfrm>
              <a:off x="1104" y="220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1" name="Rectangle 25"/>
            <p:cNvSpPr>
              <a:spLocks noChangeArrowheads="1"/>
            </p:cNvSpPr>
            <p:nvPr/>
          </p:nvSpPr>
          <p:spPr bwMode="auto">
            <a:xfrm>
              <a:off x="1344" y="220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2" name="Rectangle 26"/>
            <p:cNvSpPr>
              <a:spLocks noChangeArrowheads="1"/>
            </p:cNvSpPr>
            <p:nvPr/>
          </p:nvSpPr>
          <p:spPr bwMode="auto">
            <a:xfrm>
              <a:off x="1584" y="220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3" name="Rectangle 27"/>
            <p:cNvSpPr>
              <a:spLocks noChangeArrowheads="1"/>
            </p:cNvSpPr>
            <p:nvPr/>
          </p:nvSpPr>
          <p:spPr bwMode="auto">
            <a:xfrm>
              <a:off x="1824" y="220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4" name="Rectangle 28"/>
            <p:cNvSpPr>
              <a:spLocks noChangeArrowheads="1"/>
            </p:cNvSpPr>
            <p:nvPr/>
          </p:nvSpPr>
          <p:spPr bwMode="auto">
            <a:xfrm>
              <a:off x="2064" y="220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5" name="Rectangle 29"/>
            <p:cNvSpPr>
              <a:spLocks noChangeArrowheads="1"/>
            </p:cNvSpPr>
            <p:nvPr/>
          </p:nvSpPr>
          <p:spPr bwMode="auto">
            <a:xfrm>
              <a:off x="864" y="196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6" name="Rectangle 30"/>
            <p:cNvSpPr>
              <a:spLocks noChangeArrowheads="1"/>
            </p:cNvSpPr>
            <p:nvPr/>
          </p:nvSpPr>
          <p:spPr bwMode="auto">
            <a:xfrm>
              <a:off x="1104" y="196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7" name="Rectangle 31"/>
            <p:cNvSpPr>
              <a:spLocks noChangeArrowheads="1"/>
            </p:cNvSpPr>
            <p:nvPr/>
          </p:nvSpPr>
          <p:spPr bwMode="auto">
            <a:xfrm>
              <a:off x="1344" y="196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8" name="Rectangle 32"/>
            <p:cNvSpPr>
              <a:spLocks noChangeArrowheads="1"/>
            </p:cNvSpPr>
            <p:nvPr/>
          </p:nvSpPr>
          <p:spPr bwMode="auto">
            <a:xfrm>
              <a:off x="1584" y="196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9" name="Rectangle 33"/>
            <p:cNvSpPr>
              <a:spLocks noChangeArrowheads="1"/>
            </p:cNvSpPr>
            <p:nvPr/>
          </p:nvSpPr>
          <p:spPr bwMode="auto">
            <a:xfrm>
              <a:off x="1824" y="196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0" name="Rectangle 34"/>
            <p:cNvSpPr>
              <a:spLocks noChangeArrowheads="1"/>
            </p:cNvSpPr>
            <p:nvPr/>
          </p:nvSpPr>
          <p:spPr bwMode="auto">
            <a:xfrm>
              <a:off x="2064" y="196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1" name="Rectangle 35"/>
            <p:cNvSpPr>
              <a:spLocks noChangeArrowheads="1"/>
            </p:cNvSpPr>
            <p:nvPr/>
          </p:nvSpPr>
          <p:spPr bwMode="auto">
            <a:xfrm>
              <a:off x="864" y="17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2" name="Rectangle 36"/>
            <p:cNvSpPr>
              <a:spLocks noChangeArrowheads="1"/>
            </p:cNvSpPr>
            <p:nvPr/>
          </p:nvSpPr>
          <p:spPr bwMode="auto">
            <a:xfrm>
              <a:off x="1104" y="17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3" name="Rectangle 37"/>
            <p:cNvSpPr>
              <a:spLocks noChangeArrowheads="1"/>
            </p:cNvSpPr>
            <p:nvPr/>
          </p:nvSpPr>
          <p:spPr bwMode="auto">
            <a:xfrm>
              <a:off x="1344" y="17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4" name="Rectangle 38"/>
            <p:cNvSpPr>
              <a:spLocks noChangeArrowheads="1"/>
            </p:cNvSpPr>
            <p:nvPr/>
          </p:nvSpPr>
          <p:spPr bwMode="auto">
            <a:xfrm>
              <a:off x="1584" y="17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5" name="Rectangle 39"/>
            <p:cNvSpPr>
              <a:spLocks noChangeArrowheads="1"/>
            </p:cNvSpPr>
            <p:nvPr/>
          </p:nvSpPr>
          <p:spPr bwMode="auto">
            <a:xfrm>
              <a:off x="1824" y="17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6" name="Rectangle 40"/>
            <p:cNvSpPr>
              <a:spLocks noChangeArrowheads="1"/>
            </p:cNvSpPr>
            <p:nvPr/>
          </p:nvSpPr>
          <p:spPr bwMode="auto">
            <a:xfrm>
              <a:off x="2064" y="17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7" name="Line 41"/>
            <p:cNvSpPr>
              <a:spLocks noChangeShapeType="1"/>
            </p:cNvSpPr>
            <p:nvPr/>
          </p:nvSpPr>
          <p:spPr bwMode="auto">
            <a:xfrm>
              <a:off x="864" y="2448"/>
              <a:ext cx="15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8" name="Line 42"/>
            <p:cNvSpPr>
              <a:spLocks noChangeShapeType="1"/>
            </p:cNvSpPr>
            <p:nvPr/>
          </p:nvSpPr>
          <p:spPr bwMode="auto">
            <a:xfrm flipV="1">
              <a:off x="1584" y="163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9" name="Text Box 43"/>
            <p:cNvSpPr txBox="1">
              <a:spLocks noChangeArrowheads="1"/>
            </p:cNvSpPr>
            <p:nvPr/>
          </p:nvSpPr>
          <p:spPr bwMode="auto">
            <a:xfrm>
              <a:off x="2304" y="2432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/>
                <a:t>x</a:t>
              </a:r>
            </a:p>
          </p:txBody>
        </p:sp>
        <p:sp>
          <p:nvSpPr>
            <p:cNvPr id="10300" name="Text Box 44"/>
            <p:cNvSpPr txBox="1">
              <a:spLocks noChangeArrowheads="1"/>
            </p:cNvSpPr>
            <p:nvPr/>
          </p:nvSpPr>
          <p:spPr bwMode="auto">
            <a:xfrm>
              <a:off x="1584" y="1517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/>
                <a:t>y</a:t>
              </a:r>
            </a:p>
          </p:txBody>
        </p:sp>
      </p:grpSp>
      <p:sp>
        <p:nvSpPr>
          <p:cNvPr id="110637" name="Oval 45"/>
          <p:cNvSpPr>
            <a:spLocks noChangeArrowheads="1"/>
          </p:cNvSpPr>
          <p:nvPr/>
        </p:nvSpPr>
        <p:spPr bwMode="auto">
          <a:xfrm>
            <a:off x="6167438" y="4562475"/>
            <a:ext cx="2286000" cy="2286000"/>
          </a:xfrm>
          <a:prstGeom prst="ellipse">
            <a:avLst/>
          </a:prstGeom>
          <a:noFill/>
          <a:ln w="9525">
            <a:solidFill>
              <a:srgbClr val="C0C0C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0638" name="Text Box 46"/>
          <p:cNvSpPr txBox="1">
            <a:spLocks noChangeArrowheads="1"/>
          </p:cNvSpPr>
          <p:nvPr/>
        </p:nvSpPr>
        <p:spPr bwMode="auto">
          <a:xfrm>
            <a:off x="7659688" y="5043488"/>
            <a:ext cx="304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/>
                </a:solidFill>
                <a:latin typeface="+mn-lt"/>
              </a:rPr>
              <a:t>r</a:t>
            </a:r>
          </a:p>
        </p:txBody>
      </p:sp>
      <p:sp>
        <p:nvSpPr>
          <p:cNvPr id="110639" name="Text Box 47"/>
          <p:cNvSpPr txBox="1">
            <a:spLocks noChangeArrowheads="1"/>
          </p:cNvSpPr>
          <p:nvPr/>
        </p:nvSpPr>
        <p:spPr bwMode="auto">
          <a:xfrm>
            <a:off x="8110538" y="4514850"/>
            <a:ext cx="3365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rgbClr val="FF3300"/>
                </a:solidFill>
                <a:latin typeface="+mn-lt"/>
              </a:rPr>
              <a:t>v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6161088" y="4743450"/>
            <a:ext cx="2251075" cy="1951038"/>
            <a:chOff x="3593" y="265"/>
            <a:chExt cx="1418" cy="1229"/>
          </a:xfrm>
        </p:grpSpPr>
        <p:grpSp>
          <p:nvGrpSpPr>
            <p:cNvPr id="10253" name="Group 49"/>
            <p:cNvGrpSpPr>
              <a:grpSpLocks/>
            </p:cNvGrpSpPr>
            <p:nvPr/>
          </p:nvGrpSpPr>
          <p:grpSpPr bwMode="auto">
            <a:xfrm>
              <a:off x="4265" y="265"/>
              <a:ext cx="746" cy="455"/>
              <a:chOff x="4265" y="265"/>
              <a:chExt cx="746" cy="455"/>
            </a:xfrm>
          </p:grpSpPr>
          <p:sp>
            <p:nvSpPr>
              <p:cNvPr id="10258" name="Oval 50"/>
              <p:cNvSpPr>
                <a:spLocks noChangeArrowheads="1"/>
              </p:cNvSpPr>
              <p:nvPr/>
            </p:nvSpPr>
            <p:spPr bwMode="auto">
              <a:xfrm rot="-1561489">
                <a:off x="4901" y="506"/>
                <a:ext cx="110" cy="110"/>
              </a:xfrm>
              <a:prstGeom prst="ellipse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666666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9" name="Line 51"/>
              <p:cNvSpPr>
                <a:spLocks noChangeShapeType="1"/>
              </p:cNvSpPr>
              <p:nvPr/>
            </p:nvSpPr>
            <p:spPr bwMode="auto">
              <a:xfrm rot="-1561489">
                <a:off x="4265" y="720"/>
                <a:ext cx="723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0" name="Line 52"/>
              <p:cNvSpPr>
                <a:spLocks noChangeShapeType="1"/>
              </p:cNvSpPr>
              <p:nvPr/>
            </p:nvSpPr>
            <p:spPr bwMode="auto">
              <a:xfrm flipH="1" flipV="1">
                <a:off x="4810" y="265"/>
                <a:ext cx="147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54" name="Group 53"/>
            <p:cNvGrpSpPr>
              <a:grpSpLocks/>
            </p:cNvGrpSpPr>
            <p:nvPr/>
          </p:nvGrpSpPr>
          <p:grpSpPr bwMode="auto">
            <a:xfrm rot="10800000">
              <a:off x="3593" y="1039"/>
              <a:ext cx="746" cy="455"/>
              <a:chOff x="4265" y="265"/>
              <a:chExt cx="746" cy="455"/>
            </a:xfrm>
          </p:grpSpPr>
          <p:sp>
            <p:nvSpPr>
              <p:cNvPr id="10255" name="Oval 54"/>
              <p:cNvSpPr>
                <a:spLocks noChangeArrowheads="1"/>
              </p:cNvSpPr>
              <p:nvPr/>
            </p:nvSpPr>
            <p:spPr bwMode="auto">
              <a:xfrm rot="-1561489">
                <a:off x="4901" y="506"/>
                <a:ext cx="110" cy="110"/>
              </a:xfrm>
              <a:prstGeom prst="ellipse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6" name="Line 55"/>
              <p:cNvSpPr>
                <a:spLocks noChangeShapeType="1"/>
              </p:cNvSpPr>
              <p:nvPr/>
            </p:nvSpPr>
            <p:spPr bwMode="auto">
              <a:xfrm rot="-1561489">
                <a:off x="4265" y="720"/>
                <a:ext cx="723" cy="0"/>
              </a:xfrm>
              <a:prstGeom prst="line">
                <a:avLst/>
              </a:prstGeom>
              <a:noFill/>
              <a:ln w="38100">
                <a:noFill/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7" name="Line 56"/>
              <p:cNvSpPr>
                <a:spLocks noChangeShapeType="1"/>
              </p:cNvSpPr>
              <p:nvPr/>
            </p:nvSpPr>
            <p:spPr bwMode="auto">
              <a:xfrm flipH="1" flipV="1">
                <a:off x="4810" y="265"/>
                <a:ext cx="147" cy="288"/>
              </a:xfrm>
              <a:prstGeom prst="line">
                <a:avLst/>
              </a:prstGeom>
              <a:noFill/>
              <a:ln w="28575">
                <a:noFill/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6" name="Group 57"/>
          <p:cNvGrpSpPr>
            <a:grpSpLocks/>
          </p:cNvGrpSpPr>
          <p:nvPr/>
        </p:nvGrpSpPr>
        <p:grpSpPr bwMode="auto">
          <a:xfrm>
            <a:off x="7893050" y="3654425"/>
            <a:ext cx="1250950" cy="785813"/>
            <a:chOff x="4147" y="2337"/>
            <a:chExt cx="788" cy="495"/>
          </a:xfrm>
        </p:grpSpPr>
        <p:sp>
          <p:nvSpPr>
            <p:cNvPr id="10250" name="Rectangle 58"/>
            <p:cNvSpPr>
              <a:spLocks noChangeArrowheads="1"/>
            </p:cNvSpPr>
            <p:nvPr/>
          </p:nvSpPr>
          <p:spPr bwMode="auto">
            <a:xfrm>
              <a:off x="4147" y="2361"/>
              <a:ext cx="731" cy="4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651" name="Text Box 59"/>
            <p:cNvSpPr txBox="1">
              <a:spLocks noChangeArrowheads="1"/>
            </p:cNvSpPr>
            <p:nvPr/>
          </p:nvSpPr>
          <p:spPr bwMode="auto">
            <a:xfrm>
              <a:off x="4166" y="2541"/>
              <a:ext cx="74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chemeClr val="accent2"/>
                  </a:solidFill>
                  <a:latin typeface="+mn-lt"/>
                </a:rPr>
                <a:t>r blue</a:t>
              </a:r>
            </a:p>
          </p:txBody>
        </p:sp>
        <p:sp>
          <p:nvSpPr>
            <p:cNvPr id="110652" name="Text Box 60"/>
            <p:cNvSpPr txBox="1">
              <a:spLocks noChangeArrowheads="1"/>
            </p:cNvSpPr>
            <p:nvPr/>
          </p:nvSpPr>
          <p:spPr bwMode="auto">
            <a:xfrm>
              <a:off x="4160" y="2337"/>
              <a:ext cx="77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b="1" dirty="0">
                  <a:solidFill>
                    <a:srgbClr val="FF3300"/>
                  </a:solidFill>
                  <a:latin typeface="+mn-lt"/>
                </a:rPr>
                <a:t>v red</a:t>
              </a:r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0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0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0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0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0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0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40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106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106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0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0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05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05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05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05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37" grpId="0" animBg="1"/>
      <p:bldP spid="110638" grpId="0"/>
      <p:bldP spid="110638" grpId="1"/>
      <p:bldP spid="110639" grpId="0"/>
      <p:bldP spid="11063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51" name="Rectangle 15"/>
          <p:cNvSpPr>
            <a:spLocks noChangeArrowheads="1"/>
          </p:cNvSpPr>
          <p:nvPr/>
        </p:nvSpPr>
        <p:spPr bwMode="auto">
          <a:xfrm>
            <a:off x="681038" y="5991225"/>
            <a:ext cx="5526087" cy="866775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b="1" i="1"/>
              <a:t>FYI</a:t>
            </a:r>
          </a:p>
          <a:p>
            <a:r>
              <a:rPr lang="en-US" altLang="en-US" b="1">
                <a:sym typeface="Symbol" pitchFamily="18" charset="2"/>
              </a:rPr>
              <a:t></a:t>
            </a:r>
            <a:r>
              <a:rPr lang="en-US" altLang="en-US"/>
              <a:t>Centripetal means </a:t>
            </a:r>
            <a:r>
              <a:rPr lang="en-US" altLang="en-US" i="1"/>
              <a:t>center-seeking</a:t>
            </a:r>
            <a:r>
              <a:rPr lang="en-US" altLang="en-US"/>
              <a:t>.</a:t>
            </a:r>
            <a:endParaRPr lang="en-US" altLang="en-US">
              <a:sym typeface="Symbol" pitchFamily="18" charset="2"/>
            </a:endParaRPr>
          </a:p>
        </p:txBody>
      </p:sp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444976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Centripetal force and acceleration</a:t>
            </a:r>
            <a:endParaRPr lang="en-US" altLang="en-US" b="1" i="1">
              <a:solidFill>
                <a:schemeClr val="accent2"/>
              </a:solidFill>
              <a:latin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</a:t>
            </a:r>
            <a:r>
              <a:rPr lang="en-US"/>
              <a:t>To find the direction of the acceleration (</a:t>
            </a:r>
            <a:r>
              <a:rPr lang="en-US" b="1"/>
              <a:t>a</a:t>
            </a:r>
            <a:r>
              <a:rPr lang="en-US"/>
              <a:t> = </a:t>
            </a:r>
            <a:r>
              <a:rPr lang="en-US">
                <a:cs typeface="Courier New" pitchFamily="49" charset="0"/>
                <a:sym typeface="Symbol" pitchFamily="18" charset="2"/>
              </a:rPr>
              <a:t></a:t>
            </a:r>
            <a:r>
              <a:rPr lang="en-US" b="1">
                <a:cs typeface="Courier New" pitchFamily="49" charset="0"/>
              </a:rPr>
              <a:t>v</a:t>
            </a:r>
            <a:r>
              <a:rPr lang="en-US" b="1" i="1">
                <a:cs typeface="Courier New" pitchFamily="49" charset="0"/>
              </a:rPr>
              <a:t> </a:t>
            </a:r>
            <a:r>
              <a:rPr lang="en-US" i="1">
                <a:cs typeface="Courier New" pitchFamily="49" charset="0"/>
              </a:rPr>
              <a:t>/ </a:t>
            </a:r>
            <a:r>
              <a:rPr lang="en-US">
                <a:sym typeface="Symbol" pitchFamily="18" charset="2"/>
              </a:rPr>
              <a:t></a:t>
            </a:r>
            <a:r>
              <a:rPr lang="en-US" i="1">
                <a:cs typeface="Courier New" pitchFamily="49" charset="0"/>
              </a:rPr>
              <a:t>t</a:t>
            </a:r>
            <a:r>
              <a:rPr lang="en-US">
                <a:cs typeface="Courier New" pitchFamily="49" charset="0"/>
              </a:rPr>
              <a:t> </a:t>
            </a:r>
            <a:r>
              <a:rPr lang="en-US"/>
              <a:t>) we observe two nearby snapshots of the particle:</a:t>
            </a:r>
            <a:endParaRPr lang="en-US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</a:t>
            </a:r>
            <a:r>
              <a:rPr lang="en-US"/>
              <a:t>The direction of the acceleration is gotten from          </a:t>
            </a:r>
            <a:r>
              <a:rPr lang="en-US">
                <a:sym typeface="Symbol" pitchFamily="18" charset="2"/>
              </a:rPr>
              <a:t></a:t>
            </a:r>
            <a:r>
              <a:rPr lang="en-US" b="1" i="1">
                <a:cs typeface="Courier New" pitchFamily="49" charset="0"/>
              </a:rPr>
              <a:t>v</a:t>
            </a:r>
            <a:r>
              <a:rPr lang="en-US">
                <a:cs typeface="Courier New" pitchFamily="49" charset="0"/>
              </a:rPr>
              <a:t> = </a:t>
            </a:r>
            <a:r>
              <a:rPr lang="en-US" b="1" i="1">
                <a:solidFill>
                  <a:srgbClr val="FF0000"/>
                </a:solidFill>
                <a:cs typeface="Courier New" pitchFamily="49" charset="0"/>
              </a:rPr>
              <a:t>v</a:t>
            </a:r>
            <a:r>
              <a:rPr lang="en-US" baseline="-25000">
                <a:solidFill>
                  <a:srgbClr val="FF0000"/>
                </a:solidFill>
                <a:cs typeface="Courier New" pitchFamily="49" charset="0"/>
              </a:rPr>
              <a:t>2</a:t>
            </a:r>
            <a:r>
              <a:rPr lang="en-US" baseline="30000">
                <a:cs typeface="Courier New" pitchFamily="49" charset="0"/>
              </a:rPr>
              <a:t> </a:t>
            </a:r>
            <a:r>
              <a:rPr lang="en-US">
                <a:cs typeface="Courier New" pitchFamily="49" charset="0"/>
              </a:rPr>
              <a:t>– </a:t>
            </a:r>
            <a:r>
              <a:rPr lang="en-US" b="1" i="1">
                <a:solidFill>
                  <a:srgbClr val="FF0000"/>
                </a:solidFill>
                <a:cs typeface="Courier New" pitchFamily="49" charset="0"/>
              </a:rPr>
              <a:t>v</a:t>
            </a:r>
            <a:r>
              <a:rPr lang="en-US" baseline="-25000">
                <a:solidFill>
                  <a:srgbClr val="FF0000"/>
                </a:solidFill>
                <a:cs typeface="Courier New" pitchFamily="49" charset="0"/>
              </a:rPr>
              <a:t>1</a:t>
            </a:r>
            <a:r>
              <a:rPr lang="en-US">
                <a:cs typeface="Courier New" pitchFamily="49" charset="0"/>
              </a:rPr>
              <a:t> = </a:t>
            </a:r>
            <a:r>
              <a:rPr lang="en-US" b="1" i="1">
                <a:solidFill>
                  <a:srgbClr val="FF0000"/>
                </a:solidFill>
                <a:cs typeface="Courier New" pitchFamily="49" charset="0"/>
              </a:rPr>
              <a:t>v</a:t>
            </a:r>
            <a:r>
              <a:rPr lang="en-US" baseline="-25000">
                <a:solidFill>
                  <a:srgbClr val="FF0000"/>
                </a:solidFill>
                <a:cs typeface="Courier New" pitchFamily="49" charset="0"/>
              </a:rPr>
              <a:t>2</a:t>
            </a:r>
            <a:r>
              <a:rPr lang="en-US" baseline="30000">
                <a:cs typeface="Courier New" pitchFamily="49" charset="0"/>
              </a:rPr>
              <a:t> </a:t>
            </a:r>
            <a:r>
              <a:rPr lang="en-US">
                <a:cs typeface="Courier New" pitchFamily="49" charset="0"/>
              </a:rPr>
              <a:t>+ (</a:t>
            </a:r>
            <a:r>
              <a:rPr lang="en-US">
                <a:solidFill>
                  <a:srgbClr val="008000"/>
                </a:solidFill>
                <a:cs typeface="Courier New" pitchFamily="49" charset="0"/>
              </a:rPr>
              <a:t>-</a:t>
            </a:r>
            <a:r>
              <a:rPr lang="en-US" b="1" i="1">
                <a:solidFill>
                  <a:srgbClr val="008000"/>
                </a:solidFill>
                <a:cs typeface="Courier New" pitchFamily="49" charset="0"/>
              </a:rPr>
              <a:t>v</a:t>
            </a:r>
            <a:r>
              <a:rPr lang="en-US" baseline="-25000">
                <a:solidFill>
                  <a:srgbClr val="008000"/>
                </a:solidFill>
                <a:cs typeface="Courier New" pitchFamily="49" charset="0"/>
              </a:rPr>
              <a:t>1</a:t>
            </a:r>
            <a:r>
              <a:rPr lang="en-US">
                <a:cs typeface="Courier New" pitchFamily="49" charset="0"/>
              </a:rPr>
              <a:t>): 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</a:t>
            </a:r>
            <a:r>
              <a:rPr lang="en-US"/>
              <a:t>The direction of the acceleration is </a:t>
            </a:r>
            <a:r>
              <a:rPr lang="en-US" b="1"/>
              <a:t>toward the          center</a:t>
            </a:r>
            <a:r>
              <a:rPr lang="en-US"/>
              <a:t> of the circle - you must be able to sketch this.</a:t>
            </a:r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auto">
          <a:xfrm>
            <a:off x="681038" y="4456113"/>
            <a:ext cx="1646237" cy="15367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</a:endParaRPr>
          </a:p>
        </p:txBody>
      </p:sp>
      <p:grpSp>
        <p:nvGrpSpPr>
          <p:cNvPr id="11270" name="Group 5"/>
          <p:cNvGrpSpPr>
            <a:grpSpLocks/>
          </p:cNvGrpSpPr>
          <p:nvPr/>
        </p:nvGrpSpPr>
        <p:grpSpPr bwMode="auto">
          <a:xfrm>
            <a:off x="6167438" y="4235450"/>
            <a:ext cx="2624137" cy="2622550"/>
            <a:chOff x="864" y="1516"/>
            <a:chExt cx="1653" cy="1652"/>
          </a:xfrm>
        </p:grpSpPr>
        <p:sp>
          <p:nvSpPr>
            <p:cNvPr id="112646" name="Rectangle 6"/>
            <p:cNvSpPr>
              <a:spLocks noChangeArrowheads="1"/>
            </p:cNvSpPr>
            <p:nvPr/>
          </p:nvSpPr>
          <p:spPr bwMode="auto">
            <a:xfrm>
              <a:off x="864" y="29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47" name="Rectangle 7"/>
            <p:cNvSpPr>
              <a:spLocks noChangeArrowheads="1"/>
            </p:cNvSpPr>
            <p:nvPr/>
          </p:nvSpPr>
          <p:spPr bwMode="auto">
            <a:xfrm>
              <a:off x="1104" y="29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48" name="Rectangle 8"/>
            <p:cNvSpPr>
              <a:spLocks noChangeArrowheads="1"/>
            </p:cNvSpPr>
            <p:nvPr/>
          </p:nvSpPr>
          <p:spPr bwMode="auto">
            <a:xfrm>
              <a:off x="1344" y="29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49" name="Rectangle 9"/>
            <p:cNvSpPr>
              <a:spLocks noChangeArrowheads="1"/>
            </p:cNvSpPr>
            <p:nvPr/>
          </p:nvSpPr>
          <p:spPr bwMode="auto">
            <a:xfrm>
              <a:off x="1584" y="29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50" name="Rectangle 10"/>
            <p:cNvSpPr>
              <a:spLocks noChangeArrowheads="1"/>
            </p:cNvSpPr>
            <p:nvPr/>
          </p:nvSpPr>
          <p:spPr bwMode="auto">
            <a:xfrm>
              <a:off x="1824" y="29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51" name="Rectangle 11"/>
            <p:cNvSpPr>
              <a:spLocks noChangeArrowheads="1"/>
            </p:cNvSpPr>
            <p:nvPr/>
          </p:nvSpPr>
          <p:spPr bwMode="auto">
            <a:xfrm>
              <a:off x="2064" y="29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52" name="Rectangle 12"/>
            <p:cNvSpPr>
              <a:spLocks noChangeArrowheads="1"/>
            </p:cNvSpPr>
            <p:nvPr/>
          </p:nvSpPr>
          <p:spPr bwMode="auto">
            <a:xfrm>
              <a:off x="864" y="268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53" name="Rectangle 13"/>
            <p:cNvSpPr>
              <a:spLocks noChangeArrowheads="1"/>
            </p:cNvSpPr>
            <p:nvPr/>
          </p:nvSpPr>
          <p:spPr bwMode="auto">
            <a:xfrm>
              <a:off x="1104" y="268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54" name="Rectangle 14"/>
            <p:cNvSpPr>
              <a:spLocks noChangeArrowheads="1"/>
            </p:cNvSpPr>
            <p:nvPr/>
          </p:nvSpPr>
          <p:spPr bwMode="auto">
            <a:xfrm>
              <a:off x="1344" y="268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55" name="Rectangle 15"/>
            <p:cNvSpPr>
              <a:spLocks noChangeArrowheads="1"/>
            </p:cNvSpPr>
            <p:nvPr/>
          </p:nvSpPr>
          <p:spPr bwMode="auto">
            <a:xfrm>
              <a:off x="1584" y="268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56" name="Rectangle 16"/>
            <p:cNvSpPr>
              <a:spLocks noChangeArrowheads="1"/>
            </p:cNvSpPr>
            <p:nvPr/>
          </p:nvSpPr>
          <p:spPr bwMode="auto">
            <a:xfrm>
              <a:off x="1824" y="268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57" name="Rectangle 17"/>
            <p:cNvSpPr>
              <a:spLocks noChangeArrowheads="1"/>
            </p:cNvSpPr>
            <p:nvPr/>
          </p:nvSpPr>
          <p:spPr bwMode="auto">
            <a:xfrm>
              <a:off x="2064" y="268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58" name="Rectangle 18"/>
            <p:cNvSpPr>
              <a:spLocks noChangeArrowheads="1"/>
            </p:cNvSpPr>
            <p:nvPr/>
          </p:nvSpPr>
          <p:spPr bwMode="auto">
            <a:xfrm>
              <a:off x="864" y="244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59" name="Rectangle 19"/>
            <p:cNvSpPr>
              <a:spLocks noChangeArrowheads="1"/>
            </p:cNvSpPr>
            <p:nvPr/>
          </p:nvSpPr>
          <p:spPr bwMode="auto">
            <a:xfrm>
              <a:off x="1104" y="244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60" name="Rectangle 20"/>
            <p:cNvSpPr>
              <a:spLocks noChangeArrowheads="1"/>
            </p:cNvSpPr>
            <p:nvPr/>
          </p:nvSpPr>
          <p:spPr bwMode="auto">
            <a:xfrm>
              <a:off x="1344" y="244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61" name="Rectangle 21"/>
            <p:cNvSpPr>
              <a:spLocks noChangeArrowheads="1"/>
            </p:cNvSpPr>
            <p:nvPr/>
          </p:nvSpPr>
          <p:spPr bwMode="auto">
            <a:xfrm>
              <a:off x="1584" y="244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62" name="Rectangle 22"/>
            <p:cNvSpPr>
              <a:spLocks noChangeArrowheads="1"/>
            </p:cNvSpPr>
            <p:nvPr/>
          </p:nvSpPr>
          <p:spPr bwMode="auto">
            <a:xfrm>
              <a:off x="1824" y="244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63" name="Rectangle 23"/>
            <p:cNvSpPr>
              <a:spLocks noChangeArrowheads="1"/>
            </p:cNvSpPr>
            <p:nvPr/>
          </p:nvSpPr>
          <p:spPr bwMode="auto">
            <a:xfrm>
              <a:off x="2064" y="244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64" name="Rectangle 24"/>
            <p:cNvSpPr>
              <a:spLocks noChangeArrowheads="1"/>
            </p:cNvSpPr>
            <p:nvPr/>
          </p:nvSpPr>
          <p:spPr bwMode="auto">
            <a:xfrm>
              <a:off x="864" y="220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65" name="Rectangle 25"/>
            <p:cNvSpPr>
              <a:spLocks noChangeArrowheads="1"/>
            </p:cNvSpPr>
            <p:nvPr/>
          </p:nvSpPr>
          <p:spPr bwMode="auto">
            <a:xfrm>
              <a:off x="1104" y="220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66" name="Rectangle 26"/>
            <p:cNvSpPr>
              <a:spLocks noChangeArrowheads="1"/>
            </p:cNvSpPr>
            <p:nvPr/>
          </p:nvSpPr>
          <p:spPr bwMode="auto">
            <a:xfrm>
              <a:off x="1344" y="220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67" name="Rectangle 27"/>
            <p:cNvSpPr>
              <a:spLocks noChangeArrowheads="1"/>
            </p:cNvSpPr>
            <p:nvPr/>
          </p:nvSpPr>
          <p:spPr bwMode="auto">
            <a:xfrm>
              <a:off x="1584" y="220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68" name="Rectangle 28"/>
            <p:cNvSpPr>
              <a:spLocks noChangeArrowheads="1"/>
            </p:cNvSpPr>
            <p:nvPr/>
          </p:nvSpPr>
          <p:spPr bwMode="auto">
            <a:xfrm>
              <a:off x="1824" y="220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69" name="Rectangle 29"/>
            <p:cNvSpPr>
              <a:spLocks noChangeArrowheads="1"/>
            </p:cNvSpPr>
            <p:nvPr/>
          </p:nvSpPr>
          <p:spPr bwMode="auto">
            <a:xfrm>
              <a:off x="2064" y="220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70" name="Rectangle 30"/>
            <p:cNvSpPr>
              <a:spLocks noChangeArrowheads="1"/>
            </p:cNvSpPr>
            <p:nvPr/>
          </p:nvSpPr>
          <p:spPr bwMode="auto">
            <a:xfrm>
              <a:off x="864" y="196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71" name="Rectangle 31"/>
            <p:cNvSpPr>
              <a:spLocks noChangeArrowheads="1"/>
            </p:cNvSpPr>
            <p:nvPr/>
          </p:nvSpPr>
          <p:spPr bwMode="auto">
            <a:xfrm>
              <a:off x="1104" y="196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72" name="Rectangle 32"/>
            <p:cNvSpPr>
              <a:spLocks noChangeArrowheads="1"/>
            </p:cNvSpPr>
            <p:nvPr/>
          </p:nvSpPr>
          <p:spPr bwMode="auto">
            <a:xfrm>
              <a:off x="1344" y="196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73" name="Rectangle 33"/>
            <p:cNvSpPr>
              <a:spLocks noChangeArrowheads="1"/>
            </p:cNvSpPr>
            <p:nvPr/>
          </p:nvSpPr>
          <p:spPr bwMode="auto">
            <a:xfrm>
              <a:off x="1584" y="196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74" name="Rectangle 34"/>
            <p:cNvSpPr>
              <a:spLocks noChangeArrowheads="1"/>
            </p:cNvSpPr>
            <p:nvPr/>
          </p:nvSpPr>
          <p:spPr bwMode="auto">
            <a:xfrm>
              <a:off x="1824" y="196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75" name="Rectangle 35"/>
            <p:cNvSpPr>
              <a:spLocks noChangeArrowheads="1"/>
            </p:cNvSpPr>
            <p:nvPr/>
          </p:nvSpPr>
          <p:spPr bwMode="auto">
            <a:xfrm>
              <a:off x="2064" y="196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76" name="Rectangle 36"/>
            <p:cNvSpPr>
              <a:spLocks noChangeArrowheads="1"/>
            </p:cNvSpPr>
            <p:nvPr/>
          </p:nvSpPr>
          <p:spPr bwMode="auto">
            <a:xfrm>
              <a:off x="864" y="17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77" name="Rectangle 37"/>
            <p:cNvSpPr>
              <a:spLocks noChangeArrowheads="1"/>
            </p:cNvSpPr>
            <p:nvPr/>
          </p:nvSpPr>
          <p:spPr bwMode="auto">
            <a:xfrm>
              <a:off x="1104" y="17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78" name="Rectangle 38"/>
            <p:cNvSpPr>
              <a:spLocks noChangeArrowheads="1"/>
            </p:cNvSpPr>
            <p:nvPr/>
          </p:nvSpPr>
          <p:spPr bwMode="auto">
            <a:xfrm>
              <a:off x="1344" y="17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79" name="Rectangle 39"/>
            <p:cNvSpPr>
              <a:spLocks noChangeArrowheads="1"/>
            </p:cNvSpPr>
            <p:nvPr/>
          </p:nvSpPr>
          <p:spPr bwMode="auto">
            <a:xfrm>
              <a:off x="1584" y="17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80" name="Rectangle 40"/>
            <p:cNvSpPr>
              <a:spLocks noChangeArrowheads="1"/>
            </p:cNvSpPr>
            <p:nvPr/>
          </p:nvSpPr>
          <p:spPr bwMode="auto">
            <a:xfrm>
              <a:off x="1824" y="17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81" name="Rectangle 41"/>
            <p:cNvSpPr>
              <a:spLocks noChangeArrowheads="1"/>
            </p:cNvSpPr>
            <p:nvPr/>
          </p:nvSpPr>
          <p:spPr bwMode="auto">
            <a:xfrm>
              <a:off x="2064" y="1728"/>
              <a:ext cx="240" cy="24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82" name="Line 42"/>
            <p:cNvSpPr>
              <a:spLocks noChangeShapeType="1"/>
            </p:cNvSpPr>
            <p:nvPr/>
          </p:nvSpPr>
          <p:spPr bwMode="auto">
            <a:xfrm>
              <a:off x="864" y="2448"/>
              <a:ext cx="15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83" name="Line 43"/>
            <p:cNvSpPr>
              <a:spLocks noChangeShapeType="1"/>
            </p:cNvSpPr>
            <p:nvPr/>
          </p:nvSpPr>
          <p:spPr bwMode="auto">
            <a:xfrm flipV="1">
              <a:off x="1584" y="163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84" name="Text Box 44"/>
            <p:cNvSpPr txBox="1">
              <a:spLocks noChangeArrowheads="1"/>
            </p:cNvSpPr>
            <p:nvPr/>
          </p:nvSpPr>
          <p:spPr bwMode="auto">
            <a:xfrm>
              <a:off x="2304" y="2431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i="1" dirty="0">
                  <a:latin typeface="+mn-lt"/>
                </a:rPr>
                <a:t>x</a:t>
              </a:r>
            </a:p>
          </p:txBody>
        </p:sp>
        <p:sp>
          <p:nvSpPr>
            <p:cNvPr id="112685" name="Text Box 45"/>
            <p:cNvSpPr txBox="1">
              <a:spLocks noChangeArrowheads="1"/>
            </p:cNvSpPr>
            <p:nvPr/>
          </p:nvSpPr>
          <p:spPr bwMode="auto">
            <a:xfrm>
              <a:off x="1584" y="1516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i="1">
                  <a:latin typeface="+mn-lt"/>
                </a:rPr>
                <a:t>y</a:t>
              </a:r>
            </a:p>
          </p:txBody>
        </p:sp>
      </p:grpSp>
      <p:sp>
        <p:nvSpPr>
          <p:cNvPr id="112686" name="Oval 46"/>
          <p:cNvSpPr>
            <a:spLocks noChangeArrowheads="1"/>
          </p:cNvSpPr>
          <p:nvPr/>
        </p:nvSpPr>
        <p:spPr bwMode="auto">
          <a:xfrm>
            <a:off x="6167438" y="4562475"/>
            <a:ext cx="2286000" cy="2286000"/>
          </a:xfrm>
          <a:prstGeom prst="ellipse">
            <a:avLst/>
          </a:prstGeom>
          <a:noFill/>
          <a:ln w="9525">
            <a:solidFill>
              <a:srgbClr val="C0C0C0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</a:endParaRPr>
          </a:p>
        </p:txBody>
      </p: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6161088" y="4743450"/>
            <a:ext cx="2251075" cy="1951038"/>
            <a:chOff x="3593" y="265"/>
            <a:chExt cx="1418" cy="1229"/>
          </a:xfrm>
        </p:grpSpPr>
        <p:grpSp>
          <p:nvGrpSpPr>
            <p:cNvPr id="11316" name="Group 48"/>
            <p:cNvGrpSpPr>
              <a:grpSpLocks/>
            </p:cNvGrpSpPr>
            <p:nvPr/>
          </p:nvGrpSpPr>
          <p:grpSpPr bwMode="auto">
            <a:xfrm>
              <a:off x="4265" y="265"/>
              <a:ext cx="746" cy="455"/>
              <a:chOff x="4265" y="265"/>
              <a:chExt cx="746" cy="455"/>
            </a:xfrm>
          </p:grpSpPr>
          <p:sp>
            <p:nvSpPr>
              <p:cNvPr id="112689" name="Oval 49"/>
              <p:cNvSpPr>
                <a:spLocks noChangeArrowheads="1"/>
              </p:cNvSpPr>
              <p:nvPr/>
            </p:nvSpPr>
            <p:spPr bwMode="auto">
              <a:xfrm rot="-1561489">
                <a:off x="4901" y="506"/>
                <a:ext cx="110" cy="110"/>
              </a:xfrm>
              <a:prstGeom prst="ellipse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DDDDDD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12690" name="Line 50"/>
              <p:cNvSpPr>
                <a:spLocks noChangeShapeType="1"/>
              </p:cNvSpPr>
              <p:nvPr/>
            </p:nvSpPr>
            <p:spPr bwMode="auto">
              <a:xfrm rot="-1561489">
                <a:off x="4265" y="720"/>
                <a:ext cx="723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12691" name="Line 51"/>
              <p:cNvSpPr>
                <a:spLocks noChangeShapeType="1"/>
              </p:cNvSpPr>
              <p:nvPr/>
            </p:nvSpPr>
            <p:spPr bwMode="auto">
              <a:xfrm flipH="1" flipV="1">
                <a:off x="4810" y="265"/>
                <a:ext cx="147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11317" name="Group 52"/>
            <p:cNvGrpSpPr>
              <a:grpSpLocks/>
            </p:cNvGrpSpPr>
            <p:nvPr/>
          </p:nvGrpSpPr>
          <p:grpSpPr bwMode="auto">
            <a:xfrm rot="10800000">
              <a:off x="3593" y="1039"/>
              <a:ext cx="746" cy="455"/>
              <a:chOff x="4265" y="265"/>
              <a:chExt cx="746" cy="455"/>
            </a:xfrm>
          </p:grpSpPr>
          <p:sp>
            <p:nvSpPr>
              <p:cNvPr id="112693" name="Oval 53"/>
              <p:cNvSpPr>
                <a:spLocks noChangeArrowheads="1"/>
              </p:cNvSpPr>
              <p:nvPr/>
            </p:nvSpPr>
            <p:spPr bwMode="auto">
              <a:xfrm rot="-1561489">
                <a:off x="4906" y="501"/>
                <a:ext cx="110" cy="110"/>
              </a:xfrm>
              <a:prstGeom prst="ellipse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12694" name="Line 54"/>
              <p:cNvSpPr>
                <a:spLocks noChangeShapeType="1"/>
              </p:cNvSpPr>
              <p:nvPr/>
            </p:nvSpPr>
            <p:spPr bwMode="auto">
              <a:xfrm rot="-1561489">
                <a:off x="4275" y="715"/>
                <a:ext cx="723" cy="0"/>
              </a:xfrm>
              <a:prstGeom prst="line">
                <a:avLst/>
              </a:prstGeom>
              <a:noFill/>
              <a:ln w="38100">
                <a:noFill/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12695" name="Line 55"/>
              <p:cNvSpPr>
                <a:spLocks noChangeShapeType="1"/>
              </p:cNvSpPr>
              <p:nvPr/>
            </p:nvSpPr>
            <p:spPr bwMode="auto">
              <a:xfrm flipH="1" flipV="1">
                <a:off x="4820" y="260"/>
                <a:ext cx="147" cy="288"/>
              </a:xfrm>
              <a:prstGeom prst="line">
                <a:avLst/>
              </a:prstGeom>
              <a:noFill/>
              <a:ln w="28575">
                <a:noFill/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</p:grpSp>
      <p:grpSp>
        <p:nvGrpSpPr>
          <p:cNvPr id="6" name="Group 56"/>
          <p:cNvGrpSpPr>
            <a:grpSpLocks/>
          </p:cNvGrpSpPr>
          <p:nvPr/>
        </p:nvGrpSpPr>
        <p:grpSpPr bwMode="auto">
          <a:xfrm>
            <a:off x="7229475" y="4748213"/>
            <a:ext cx="1184275" cy="722312"/>
            <a:chOff x="4265" y="265"/>
            <a:chExt cx="746" cy="455"/>
          </a:xfrm>
        </p:grpSpPr>
        <p:sp>
          <p:nvSpPr>
            <p:cNvPr id="112697" name="Oval 57"/>
            <p:cNvSpPr>
              <a:spLocks noChangeArrowheads="1"/>
            </p:cNvSpPr>
            <p:nvPr/>
          </p:nvSpPr>
          <p:spPr bwMode="auto">
            <a:xfrm rot="-1561489">
              <a:off x="4901" y="506"/>
              <a:ext cx="110" cy="110"/>
            </a:xfrm>
            <a:prstGeom prst="ellipse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98" name="Line 58"/>
            <p:cNvSpPr>
              <a:spLocks noChangeShapeType="1"/>
            </p:cNvSpPr>
            <p:nvPr/>
          </p:nvSpPr>
          <p:spPr bwMode="auto">
            <a:xfrm rot="-1561489">
              <a:off x="4265" y="720"/>
              <a:ext cx="72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699" name="Line 59"/>
            <p:cNvSpPr>
              <a:spLocks noChangeShapeType="1"/>
            </p:cNvSpPr>
            <p:nvPr/>
          </p:nvSpPr>
          <p:spPr bwMode="auto">
            <a:xfrm flipH="1" flipV="1">
              <a:off x="4810" y="265"/>
              <a:ext cx="147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</p:grpSp>
      <p:grpSp>
        <p:nvGrpSpPr>
          <p:cNvPr id="7" name="Group 60"/>
          <p:cNvGrpSpPr>
            <a:grpSpLocks/>
          </p:cNvGrpSpPr>
          <p:nvPr/>
        </p:nvGrpSpPr>
        <p:grpSpPr bwMode="auto">
          <a:xfrm rot="-1795891">
            <a:off x="6870700" y="4567238"/>
            <a:ext cx="1184275" cy="722312"/>
            <a:chOff x="4265" y="265"/>
            <a:chExt cx="746" cy="455"/>
          </a:xfrm>
        </p:grpSpPr>
        <p:sp>
          <p:nvSpPr>
            <p:cNvPr id="112701" name="Oval 61"/>
            <p:cNvSpPr>
              <a:spLocks noChangeArrowheads="1"/>
            </p:cNvSpPr>
            <p:nvPr/>
          </p:nvSpPr>
          <p:spPr bwMode="auto">
            <a:xfrm rot="-1561489">
              <a:off x="4897" y="503"/>
              <a:ext cx="110" cy="110"/>
            </a:xfrm>
            <a:prstGeom prst="ellipse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702" name="Line 62"/>
            <p:cNvSpPr>
              <a:spLocks noChangeShapeType="1"/>
            </p:cNvSpPr>
            <p:nvPr/>
          </p:nvSpPr>
          <p:spPr bwMode="auto">
            <a:xfrm rot="-1561489">
              <a:off x="4266" y="715"/>
              <a:ext cx="72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703" name="Line 63"/>
            <p:cNvSpPr>
              <a:spLocks noChangeShapeType="1"/>
            </p:cNvSpPr>
            <p:nvPr/>
          </p:nvSpPr>
          <p:spPr bwMode="auto">
            <a:xfrm flipH="1" flipV="1">
              <a:off x="4808" y="260"/>
              <a:ext cx="147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</p:grpSp>
      <p:grpSp>
        <p:nvGrpSpPr>
          <p:cNvPr id="11275" name="Group 64"/>
          <p:cNvGrpSpPr>
            <a:grpSpLocks/>
          </p:cNvGrpSpPr>
          <p:nvPr/>
        </p:nvGrpSpPr>
        <p:grpSpPr bwMode="auto">
          <a:xfrm>
            <a:off x="7893050" y="3654425"/>
            <a:ext cx="1250950" cy="785813"/>
            <a:chOff x="4147" y="2337"/>
            <a:chExt cx="788" cy="495"/>
          </a:xfrm>
        </p:grpSpPr>
        <p:sp>
          <p:nvSpPr>
            <p:cNvPr id="112705" name="Rectangle 65"/>
            <p:cNvSpPr>
              <a:spLocks noChangeArrowheads="1"/>
            </p:cNvSpPr>
            <p:nvPr/>
          </p:nvSpPr>
          <p:spPr bwMode="auto">
            <a:xfrm>
              <a:off x="4147" y="2361"/>
              <a:ext cx="731" cy="4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706" name="Text Box 66"/>
            <p:cNvSpPr txBox="1">
              <a:spLocks noChangeArrowheads="1"/>
            </p:cNvSpPr>
            <p:nvPr/>
          </p:nvSpPr>
          <p:spPr bwMode="auto">
            <a:xfrm>
              <a:off x="4166" y="2541"/>
              <a:ext cx="74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accent2"/>
                  </a:solidFill>
                  <a:latin typeface="+mn-lt"/>
                </a:rPr>
                <a:t>r blue</a:t>
              </a:r>
            </a:p>
          </p:txBody>
        </p:sp>
        <p:sp>
          <p:nvSpPr>
            <p:cNvPr id="112707" name="Text Box 67"/>
            <p:cNvSpPr txBox="1">
              <a:spLocks noChangeArrowheads="1"/>
            </p:cNvSpPr>
            <p:nvPr/>
          </p:nvSpPr>
          <p:spPr bwMode="auto">
            <a:xfrm>
              <a:off x="4160" y="2337"/>
              <a:ext cx="77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b="1">
                  <a:solidFill>
                    <a:srgbClr val="FF3300"/>
                  </a:solidFill>
                  <a:latin typeface="+mn-lt"/>
                </a:rPr>
                <a:t>v red</a:t>
              </a:r>
            </a:p>
          </p:txBody>
        </p:sp>
      </p:grpSp>
      <p:sp>
        <p:nvSpPr>
          <p:cNvPr id="112708" name="Text Box 68"/>
          <p:cNvSpPr txBox="1">
            <a:spLocks noChangeArrowheads="1"/>
          </p:cNvSpPr>
          <p:nvPr/>
        </p:nvSpPr>
        <p:spPr bwMode="auto">
          <a:xfrm>
            <a:off x="8159750" y="4635500"/>
            <a:ext cx="4937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3300"/>
                </a:solidFill>
                <a:latin typeface="+mn-lt"/>
              </a:rPr>
              <a:t>v</a:t>
            </a:r>
            <a:r>
              <a:rPr lang="en-US" b="1" baseline="-25000">
                <a:solidFill>
                  <a:srgbClr val="FF3300"/>
                </a:solidFill>
                <a:latin typeface="+mn-lt"/>
              </a:rPr>
              <a:t>1</a:t>
            </a:r>
            <a:endParaRPr lang="en-US" b="1">
              <a:solidFill>
                <a:srgbClr val="FF3300"/>
              </a:solidFill>
              <a:latin typeface="+mn-lt"/>
            </a:endParaRPr>
          </a:p>
        </p:txBody>
      </p:sp>
      <p:sp>
        <p:nvSpPr>
          <p:cNvPr id="112709" name="Text Box 69"/>
          <p:cNvSpPr txBox="1">
            <a:spLocks noChangeArrowheads="1"/>
          </p:cNvSpPr>
          <p:nvPr/>
        </p:nvSpPr>
        <p:spPr bwMode="auto">
          <a:xfrm>
            <a:off x="7426325" y="4144963"/>
            <a:ext cx="4937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rgbClr val="FF3300"/>
                </a:solidFill>
                <a:latin typeface="+mn-lt"/>
              </a:rPr>
              <a:t>v</a:t>
            </a:r>
            <a:r>
              <a:rPr lang="en-US" b="1" baseline="-25000" dirty="0">
                <a:solidFill>
                  <a:srgbClr val="FF3300"/>
                </a:solidFill>
                <a:latin typeface="+mn-lt"/>
              </a:rPr>
              <a:t>2</a:t>
            </a:r>
            <a:endParaRPr lang="en-US" b="1" dirty="0">
              <a:solidFill>
                <a:srgbClr val="FF3300"/>
              </a:solidFill>
              <a:latin typeface="+mn-lt"/>
            </a:endParaRPr>
          </a:p>
        </p:txBody>
      </p:sp>
      <p:grpSp>
        <p:nvGrpSpPr>
          <p:cNvPr id="9" name="Group 71"/>
          <p:cNvGrpSpPr>
            <a:grpSpLocks/>
          </p:cNvGrpSpPr>
          <p:nvPr/>
        </p:nvGrpSpPr>
        <p:grpSpPr bwMode="auto">
          <a:xfrm>
            <a:off x="6873875" y="4146550"/>
            <a:ext cx="1782763" cy="1325563"/>
            <a:chOff x="1502" y="3037"/>
            <a:chExt cx="1123" cy="835"/>
          </a:xfrm>
        </p:grpSpPr>
        <p:grpSp>
          <p:nvGrpSpPr>
            <p:cNvPr id="11297" name="Group 72"/>
            <p:cNvGrpSpPr>
              <a:grpSpLocks/>
            </p:cNvGrpSpPr>
            <p:nvPr/>
          </p:nvGrpSpPr>
          <p:grpSpPr bwMode="auto">
            <a:xfrm>
              <a:off x="1728" y="3417"/>
              <a:ext cx="746" cy="455"/>
              <a:chOff x="4265" y="265"/>
              <a:chExt cx="746" cy="455"/>
            </a:xfrm>
          </p:grpSpPr>
          <p:sp>
            <p:nvSpPr>
              <p:cNvPr id="112713" name="Oval 73"/>
              <p:cNvSpPr>
                <a:spLocks noChangeArrowheads="1"/>
              </p:cNvSpPr>
              <p:nvPr/>
            </p:nvSpPr>
            <p:spPr bwMode="auto">
              <a:xfrm rot="-1561489">
                <a:off x="4901" y="506"/>
                <a:ext cx="110" cy="110"/>
              </a:xfrm>
              <a:prstGeom prst="ellipse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DDDDDD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12714" name="Line 74"/>
              <p:cNvSpPr>
                <a:spLocks noChangeShapeType="1"/>
              </p:cNvSpPr>
              <p:nvPr/>
            </p:nvSpPr>
            <p:spPr bwMode="auto">
              <a:xfrm rot="-1561489">
                <a:off x="4265" y="720"/>
                <a:ext cx="723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12715" name="Line 75"/>
              <p:cNvSpPr>
                <a:spLocks noChangeShapeType="1"/>
              </p:cNvSpPr>
              <p:nvPr/>
            </p:nvSpPr>
            <p:spPr bwMode="auto">
              <a:xfrm flipH="1" flipV="1">
                <a:off x="4810" y="265"/>
                <a:ext cx="147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11298" name="Group 76"/>
            <p:cNvGrpSpPr>
              <a:grpSpLocks/>
            </p:cNvGrpSpPr>
            <p:nvPr/>
          </p:nvGrpSpPr>
          <p:grpSpPr bwMode="auto">
            <a:xfrm rot="-1795891">
              <a:off x="1502" y="3303"/>
              <a:ext cx="746" cy="455"/>
              <a:chOff x="4265" y="265"/>
              <a:chExt cx="746" cy="455"/>
            </a:xfrm>
          </p:grpSpPr>
          <p:sp>
            <p:nvSpPr>
              <p:cNvPr id="112717" name="Oval 77"/>
              <p:cNvSpPr>
                <a:spLocks noChangeArrowheads="1"/>
              </p:cNvSpPr>
              <p:nvPr/>
            </p:nvSpPr>
            <p:spPr bwMode="auto">
              <a:xfrm rot="-1561489">
                <a:off x="4898" y="503"/>
                <a:ext cx="110" cy="110"/>
              </a:xfrm>
              <a:prstGeom prst="ellipse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666666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12718" name="Line 78"/>
              <p:cNvSpPr>
                <a:spLocks noChangeShapeType="1"/>
              </p:cNvSpPr>
              <p:nvPr/>
            </p:nvSpPr>
            <p:spPr bwMode="auto">
              <a:xfrm rot="-1561489">
                <a:off x="4266" y="715"/>
                <a:ext cx="723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12719" name="Line 79"/>
              <p:cNvSpPr>
                <a:spLocks noChangeShapeType="1"/>
              </p:cNvSpPr>
              <p:nvPr/>
            </p:nvSpPr>
            <p:spPr bwMode="auto">
              <a:xfrm flipH="1" flipV="1">
                <a:off x="4808" y="260"/>
                <a:ext cx="147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  <p:sp>
          <p:nvSpPr>
            <p:cNvPr id="112720" name="Text Box 80"/>
            <p:cNvSpPr txBox="1">
              <a:spLocks noChangeArrowheads="1"/>
            </p:cNvSpPr>
            <p:nvPr/>
          </p:nvSpPr>
          <p:spPr bwMode="auto">
            <a:xfrm>
              <a:off x="2314" y="3346"/>
              <a:ext cx="31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b="1">
                  <a:solidFill>
                    <a:srgbClr val="FF3300"/>
                  </a:solidFill>
                  <a:latin typeface="+mn-lt"/>
                </a:rPr>
                <a:t>v</a:t>
              </a:r>
              <a:r>
                <a:rPr lang="en-US" b="1" baseline="-25000">
                  <a:solidFill>
                    <a:srgbClr val="FF3300"/>
                  </a:solidFill>
                  <a:latin typeface="+mn-lt"/>
                </a:rPr>
                <a:t>1</a:t>
              </a:r>
              <a:endParaRPr lang="en-US" b="1">
                <a:solidFill>
                  <a:srgbClr val="FF3300"/>
                </a:solidFill>
                <a:latin typeface="+mn-lt"/>
              </a:endParaRPr>
            </a:p>
          </p:txBody>
        </p:sp>
        <p:sp>
          <p:nvSpPr>
            <p:cNvPr id="112721" name="Text Box 81"/>
            <p:cNvSpPr txBox="1">
              <a:spLocks noChangeArrowheads="1"/>
            </p:cNvSpPr>
            <p:nvPr/>
          </p:nvSpPr>
          <p:spPr bwMode="auto">
            <a:xfrm>
              <a:off x="1852" y="3037"/>
              <a:ext cx="31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b="1" dirty="0">
                  <a:solidFill>
                    <a:srgbClr val="FF3300"/>
                  </a:solidFill>
                  <a:latin typeface="+mn-lt"/>
                </a:rPr>
                <a:t>v</a:t>
              </a:r>
              <a:r>
                <a:rPr lang="en-US" b="1" baseline="-25000" dirty="0">
                  <a:solidFill>
                    <a:srgbClr val="FF3300"/>
                  </a:solidFill>
                  <a:latin typeface="+mn-lt"/>
                </a:rPr>
                <a:t>2</a:t>
              </a:r>
              <a:endParaRPr lang="en-US" b="1" dirty="0">
                <a:solidFill>
                  <a:srgbClr val="FF3300"/>
                </a:solidFill>
                <a:latin typeface="+mn-lt"/>
              </a:endParaRPr>
            </a:p>
          </p:txBody>
        </p:sp>
      </p:grpSp>
      <p:sp>
        <p:nvSpPr>
          <p:cNvPr id="112722" name="Line 82"/>
          <p:cNvSpPr>
            <a:spLocks noChangeShapeType="1"/>
          </p:cNvSpPr>
          <p:nvPr/>
        </p:nvSpPr>
        <p:spPr bwMode="auto">
          <a:xfrm flipH="1">
            <a:off x="4029075" y="5026025"/>
            <a:ext cx="142875" cy="255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</p:txBody>
      </p:sp>
      <p:sp>
        <p:nvSpPr>
          <p:cNvPr id="112723" name="Text Box 83"/>
          <p:cNvSpPr txBox="1">
            <a:spLocks noChangeArrowheads="1"/>
          </p:cNvSpPr>
          <p:nvPr/>
        </p:nvSpPr>
        <p:spPr bwMode="auto">
          <a:xfrm>
            <a:off x="3994150" y="5116513"/>
            <a:ext cx="587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ym typeface="Symbol" pitchFamily="18" charset="2"/>
              </a:rPr>
              <a:t></a:t>
            </a:r>
            <a:r>
              <a:rPr lang="en-US" b="1" i="1"/>
              <a:t>v</a:t>
            </a:r>
          </a:p>
        </p:txBody>
      </p:sp>
      <p:grpSp>
        <p:nvGrpSpPr>
          <p:cNvPr id="12" name="Group 84"/>
          <p:cNvGrpSpPr>
            <a:grpSpLocks/>
          </p:cNvGrpSpPr>
          <p:nvPr/>
        </p:nvGrpSpPr>
        <p:grpSpPr bwMode="auto">
          <a:xfrm>
            <a:off x="847725" y="4357688"/>
            <a:ext cx="1490663" cy="1677987"/>
            <a:chOff x="1115" y="3176"/>
            <a:chExt cx="939" cy="1057"/>
          </a:xfrm>
        </p:grpSpPr>
        <p:sp>
          <p:nvSpPr>
            <p:cNvPr id="112725" name="Oval 85"/>
            <p:cNvSpPr>
              <a:spLocks noChangeArrowheads="1"/>
            </p:cNvSpPr>
            <p:nvPr/>
          </p:nvSpPr>
          <p:spPr bwMode="auto">
            <a:xfrm rot="-1561489">
              <a:off x="1793" y="3797"/>
              <a:ext cx="110" cy="110"/>
            </a:xfrm>
            <a:prstGeom prst="ellipse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726" name="Line 86"/>
            <p:cNvSpPr>
              <a:spLocks noChangeShapeType="1"/>
            </p:cNvSpPr>
            <p:nvPr/>
          </p:nvSpPr>
          <p:spPr bwMode="auto">
            <a:xfrm rot="-1561489">
              <a:off x="1157" y="4011"/>
              <a:ext cx="72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727" name="Line 87"/>
            <p:cNvSpPr>
              <a:spLocks noChangeShapeType="1"/>
            </p:cNvSpPr>
            <p:nvPr/>
          </p:nvSpPr>
          <p:spPr bwMode="auto">
            <a:xfrm flipH="1" flipV="1">
              <a:off x="1702" y="3556"/>
              <a:ext cx="147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728" name="Oval 88"/>
            <p:cNvSpPr>
              <a:spLocks noChangeArrowheads="1"/>
            </p:cNvSpPr>
            <p:nvPr/>
          </p:nvSpPr>
          <p:spPr bwMode="auto">
            <a:xfrm rot="-3357380">
              <a:off x="1558" y="3515"/>
              <a:ext cx="110" cy="110"/>
            </a:xfrm>
            <a:prstGeom prst="ellipse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729" name="Line 89"/>
            <p:cNvSpPr>
              <a:spLocks noChangeShapeType="1"/>
            </p:cNvSpPr>
            <p:nvPr/>
          </p:nvSpPr>
          <p:spPr bwMode="auto">
            <a:xfrm rot="-3357380">
              <a:off x="1045" y="3872"/>
              <a:ext cx="72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730" name="Line 90"/>
            <p:cNvSpPr>
              <a:spLocks noChangeShapeType="1"/>
            </p:cNvSpPr>
            <p:nvPr/>
          </p:nvSpPr>
          <p:spPr bwMode="auto">
            <a:xfrm rot="-1795891" flipH="1" flipV="1">
              <a:off x="1401" y="3330"/>
              <a:ext cx="147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731" name="Text Box 91"/>
            <p:cNvSpPr txBox="1">
              <a:spLocks noChangeArrowheads="1"/>
            </p:cNvSpPr>
            <p:nvPr/>
          </p:nvSpPr>
          <p:spPr bwMode="auto">
            <a:xfrm>
              <a:off x="1743" y="3485"/>
              <a:ext cx="3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b="1">
                  <a:solidFill>
                    <a:srgbClr val="FF3300"/>
                  </a:solidFill>
                  <a:latin typeface="+mn-lt"/>
                </a:rPr>
                <a:t>v</a:t>
              </a:r>
              <a:r>
                <a:rPr lang="en-US" b="1" baseline="-25000">
                  <a:solidFill>
                    <a:srgbClr val="FF3300"/>
                  </a:solidFill>
                  <a:latin typeface="+mn-lt"/>
                </a:rPr>
                <a:t>1</a:t>
              </a:r>
              <a:endParaRPr lang="en-US" b="1">
                <a:solidFill>
                  <a:srgbClr val="FF3300"/>
                </a:solidFill>
                <a:latin typeface="+mn-lt"/>
              </a:endParaRPr>
            </a:p>
          </p:txBody>
        </p:sp>
        <p:sp>
          <p:nvSpPr>
            <p:cNvPr id="112732" name="Text Box 92"/>
            <p:cNvSpPr txBox="1">
              <a:spLocks noChangeArrowheads="1"/>
            </p:cNvSpPr>
            <p:nvPr/>
          </p:nvSpPr>
          <p:spPr bwMode="auto">
            <a:xfrm>
              <a:off x="1351" y="3176"/>
              <a:ext cx="3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b="1" dirty="0">
                  <a:solidFill>
                    <a:srgbClr val="FF3300"/>
                  </a:solidFill>
                  <a:latin typeface="+mn-lt"/>
                </a:rPr>
                <a:t>v</a:t>
              </a:r>
              <a:r>
                <a:rPr lang="en-US" b="1" baseline="-25000" dirty="0">
                  <a:solidFill>
                    <a:srgbClr val="FF3300"/>
                  </a:solidFill>
                  <a:latin typeface="+mn-lt"/>
                </a:rPr>
                <a:t>2</a:t>
              </a:r>
              <a:endParaRPr lang="en-US" b="1" dirty="0">
                <a:solidFill>
                  <a:srgbClr val="FF3300"/>
                </a:solidFill>
                <a:latin typeface="+mn-lt"/>
              </a:endParaRPr>
            </a:p>
          </p:txBody>
        </p:sp>
        <p:sp>
          <p:nvSpPr>
            <p:cNvPr id="112733" name="Line 93"/>
            <p:cNvSpPr>
              <a:spLocks noChangeShapeType="1"/>
            </p:cNvSpPr>
            <p:nvPr/>
          </p:nvSpPr>
          <p:spPr bwMode="auto">
            <a:xfrm flipH="1" flipV="1">
              <a:off x="1360" y="3408"/>
              <a:ext cx="147" cy="2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 type="arrow" w="med" len="med"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734" name="Line 94"/>
            <p:cNvSpPr>
              <a:spLocks noChangeShapeType="1"/>
            </p:cNvSpPr>
            <p:nvPr/>
          </p:nvSpPr>
          <p:spPr bwMode="auto">
            <a:xfrm flipH="1">
              <a:off x="1506" y="3564"/>
              <a:ext cx="90" cy="16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2735" name="Text Box 95"/>
            <p:cNvSpPr txBox="1">
              <a:spLocks noChangeArrowheads="1"/>
            </p:cNvSpPr>
            <p:nvPr/>
          </p:nvSpPr>
          <p:spPr bwMode="auto">
            <a:xfrm>
              <a:off x="1115" y="3424"/>
              <a:ext cx="36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rgbClr val="008000"/>
                  </a:solidFill>
                  <a:latin typeface="+mn-lt"/>
                </a:rPr>
                <a:t>-v</a:t>
              </a:r>
              <a:r>
                <a:rPr lang="en-US" b="1" baseline="-25000">
                  <a:solidFill>
                    <a:srgbClr val="008000"/>
                  </a:solidFill>
                  <a:latin typeface="+mn-lt"/>
                </a:rPr>
                <a:t>1</a:t>
              </a:r>
            </a:p>
          </p:txBody>
        </p:sp>
        <p:sp>
          <p:nvSpPr>
            <p:cNvPr id="112736" name="Text Box 96"/>
            <p:cNvSpPr txBox="1">
              <a:spLocks noChangeArrowheads="1"/>
            </p:cNvSpPr>
            <p:nvPr/>
          </p:nvSpPr>
          <p:spPr bwMode="auto">
            <a:xfrm>
              <a:off x="1494" y="3596"/>
              <a:ext cx="37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>
                  <a:sym typeface="Symbol" pitchFamily="18" charset="2"/>
                </a:rPr>
                <a:t></a:t>
              </a:r>
              <a:r>
                <a:rPr lang="en-US" b="1" i="1"/>
                <a:t>v</a:t>
              </a:r>
            </a:p>
          </p:txBody>
        </p:sp>
      </p:grpSp>
      <p:sp>
        <p:nvSpPr>
          <p:cNvPr id="112737" name="Text Box 97"/>
          <p:cNvSpPr txBox="1">
            <a:spLocks noChangeArrowheads="1"/>
          </p:cNvSpPr>
          <p:nvPr/>
        </p:nvSpPr>
        <p:spPr bwMode="auto">
          <a:xfrm>
            <a:off x="3373438" y="4852988"/>
            <a:ext cx="568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8000"/>
                </a:solidFill>
              </a:rPr>
              <a:t>-v</a:t>
            </a:r>
            <a:r>
              <a:rPr lang="en-US" b="1" baseline="-25000">
                <a:solidFill>
                  <a:srgbClr val="008000"/>
                </a:solidFill>
              </a:rPr>
              <a:t>1</a:t>
            </a:r>
            <a:endParaRPr lang="en-US" b="1">
              <a:solidFill>
                <a:srgbClr val="008000"/>
              </a:solidFill>
            </a:endParaRPr>
          </a:p>
        </p:txBody>
      </p:sp>
      <p:sp>
        <p:nvSpPr>
          <p:cNvPr id="112738" name="Rectangle 98"/>
          <p:cNvSpPr>
            <a:spLocks noChangeArrowheads="1"/>
          </p:cNvSpPr>
          <p:nvPr/>
        </p:nvSpPr>
        <p:spPr bwMode="auto">
          <a:xfrm>
            <a:off x="3362325" y="3238500"/>
            <a:ext cx="433388" cy="377825"/>
          </a:xfrm>
          <a:prstGeom prst="rect">
            <a:avLst/>
          </a:prstGeom>
          <a:solidFill>
            <a:srgbClr val="FF9900">
              <a:alpha val="27843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10" name="Line 70"/>
          <p:cNvSpPr>
            <a:spLocks noChangeShapeType="1"/>
          </p:cNvSpPr>
          <p:nvPr/>
        </p:nvSpPr>
        <p:spPr bwMode="auto">
          <a:xfrm flipH="1" flipV="1">
            <a:off x="4746625" y="4833938"/>
            <a:ext cx="233363" cy="4572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arrow" w="med" len="med"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0"/>
                            </p:stCondLst>
                            <p:childTnLst>
                              <p:par>
                                <p:cTn id="1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2.59259E-6 L -0.4118 0.04213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600" y="2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11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44444E-6 L -0.10399 -0.00185 " pathEditMode="relative" rAng="0" ptsTypes="AA">
                                      <p:cBhvr>
                                        <p:cTn id="61" dur="3000" fill="hold"/>
                                        <p:tgtEl>
                                          <p:spTgt spid="1127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0" y="-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2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2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2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2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35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935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8" grpId="0"/>
      <p:bldP spid="112709" grpId="0"/>
      <p:bldP spid="112723" grpId="0"/>
      <p:bldP spid="112737" grpId="0"/>
      <p:bldP spid="1127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F62606-09D0-C2FF-CD4F-450235241CB1}"/>
              </a:ext>
            </a:extLst>
          </p:cNvPr>
          <p:cNvSpPr txBox="1"/>
          <p:nvPr/>
        </p:nvSpPr>
        <p:spPr>
          <a:xfrm>
            <a:off x="2861435" y="0"/>
            <a:ext cx="3704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u="sng" dirty="0"/>
              <a:t>Uniform Circular Motion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A336432-C742-3B2B-FD92-E948015370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912"/>
          <a:stretch/>
        </p:blipFill>
        <p:spPr>
          <a:xfrm>
            <a:off x="5560246" y="907253"/>
            <a:ext cx="2562136" cy="211611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870EF28-6386-A460-41FA-889F9BF651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05" r="-3326"/>
          <a:stretch/>
        </p:blipFill>
        <p:spPr>
          <a:xfrm>
            <a:off x="7205175" y="1883648"/>
            <a:ext cx="1834414" cy="21161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C60C77F-A129-9E44-F8B1-9960A55DCEC4}"/>
                  </a:ext>
                </a:extLst>
              </p:cNvPr>
              <p:cNvSpPr txBox="1"/>
              <p:nvPr/>
            </p:nvSpPr>
            <p:spPr>
              <a:xfrm>
                <a:off x="403762" y="1127031"/>
                <a:ext cx="1808379" cy="8401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C60C77F-A129-9E44-F8B1-9960A55DC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62" y="1127031"/>
                <a:ext cx="1808379" cy="840102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6AFD307-6F6E-6923-1843-4431905C7F32}"/>
                  </a:ext>
                </a:extLst>
              </p:cNvPr>
              <p:cNvSpPr txBox="1"/>
              <p:nvPr/>
            </p:nvSpPr>
            <p:spPr>
              <a:xfrm>
                <a:off x="2123682" y="1082070"/>
                <a:ext cx="942822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6AFD307-6F6E-6923-1843-4431905C7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682" y="1082070"/>
                <a:ext cx="942822" cy="783804"/>
              </a:xfrm>
              <a:prstGeom prst="rect">
                <a:avLst/>
              </a:prstGeom>
              <a:blipFill>
                <a:blip r:embed="rId5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1562CF-E4FA-05A4-C710-296A52A2D0EA}"/>
                  </a:ext>
                </a:extLst>
              </p:cNvPr>
              <p:cNvSpPr txBox="1"/>
              <p:nvPr/>
            </p:nvSpPr>
            <p:spPr>
              <a:xfrm>
                <a:off x="4713865" y="2577782"/>
                <a:ext cx="1363643" cy="786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1562CF-E4FA-05A4-C710-296A52A2D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865" y="2577782"/>
                <a:ext cx="1363643" cy="786369"/>
              </a:xfrm>
              <a:prstGeom prst="rect">
                <a:avLst/>
              </a:prstGeom>
              <a:blipFill>
                <a:blip r:embed="rId6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BF947D9-EA89-C6DF-2406-0E54DE1EB1B6}"/>
                  </a:ext>
                </a:extLst>
              </p:cNvPr>
              <p:cNvSpPr txBox="1"/>
              <p:nvPr/>
            </p:nvSpPr>
            <p:spPr>
              <a:xfrm>
                <a:off x="4702748" y="3394087"/>
                <a:ext cx="1606722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BF947D9-EA89-C6DF-2406-0E54DE1EB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748" y="3394087"/>
                <a:ext cx="1606722" cy="783804"/>
              </a:xfrm>
              <a:prstGeom prst="rect">
                <a:avLst/>
              </a:prstGeom>
              <a:blipFill>
                <a:blip r:embed="rId7"/>
                <a:stretch>
                  <a:fillRect t="-3226" b="-32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AD7384-98B2-906A-568E-CE4FDE142A6A}"/>
                  </a:ext>
                </a:extLst>
              </p:cNvPr>
              <p:cNvSpPr txBox="1"/>
              <p:nvPr/>
            </p:nvSpPr>
            <p:spPr>
              <a:xfrm>
                <a:off x="661038" y="2185880"/>
                <a:ext cx="1185902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AD7384-98B2-906A-568E-CE4FDE142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38" y="2185880"/>
                <a:ext cx="1185902" cy="786177"/>
              </a:xfrm>
              <a:prstGeom prst="rect">
                <a:avLst/>
              </a:prstGeom>
              <a:blipFill>
                <a:blip r:embed="rId8"/>
                <a:stretch>
                  <a:fillRect t="-3175" b="-2063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4FAAB5-8426-5F21-ABE7-9C204DBF8B3B}"/>
                  </a:ext>
                </a:extLst>
              </p:cNvPr>
              <p:cNvSpPr txBox="1"/>
              <p:nvPr/>
            </p:nvSpPr>
            <p:spPr>
              <a:xfrm>
                <a:off x="661038" y="3119834"/>
                <a:ext cx="1226554" cy="7254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4FAAB5-8426-5F21-ABE7-9C204DBF8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38" y="3119834"/>
                <a:ext cx="1226554" cy="725455"/>
              </a:xfrm>
              <a:prstGeom prst="rect">
                <a:avLst/>
              </a:prstGeom>
              <a:blipFill>
                <a:blip r:embed="rId9"/>
                <a:stretch>
                  <a:fillRect t="-10345" r="-1020" b="-2241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FAD29DC-F098-F6D7-31FC-43F69EEA3BE1}"/>
                  </a:ext>
                </a:extLst>
              </p:cNvPr>
              <p:cNvSpPr txBox="1"/>
              <p:nvPr/>
            </p:nvSpPr>
            <p:spPr>
              <a:xfrm>
                <a:off x="279043" y="3999765"/>
                <a:ext cx="1369734" cy="83106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FAD29DC-F098-F6D7-31FC-43F69EEA3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43" y="3999765"/>
                <a:ext cx="1369734" cy="831061"/>
              </a:xfrm>
              <a:prstGeom prst="rect">
                <a:avLst/>
              </a:prstGeom>
              <a:blipFill>
                <a:blip r:embed="rId10"/>
                <a:stretch>
                  <a:fillRect r="-909" b="-2089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F03FEF-F3C3-2C16-1819-4386FDC7EB13}"/>
                  </a:ext>
                </a:extLst>
              </p:cNvPr>
              <p:cNvSpPr txBox="1"/>
              <p:nvPr/>
            </p:nvSpPr>
            <p:spPr>
              <a:xfrm>
                <a:off x="279043" y="5025951"/>
                <a:ext cx="2609048" cy="83106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F03FEF-F3C3-2C16-1819-4386FDC7E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43" y="5025951"/>
                <a:ext cx="2609048" cy="831061"/>
              </a:xfrm>
              <a:prstGeom prst="rect">
                <a:avLst/>
              </a:prstGeom>
              <a:blipFill>
                <a:blip r:embed="rId11"/>
                <a:stretch>
                  <a:fillRect b="-2089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1047968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F62606-09D0-C2FF-CD4F-450235241CB1}"/>
              </a:ext>
            </a:extLst>
          </p:cNvPr>
          <p:cNvSpPr txBox="1"/>
          <p:nvPr/>
        </p:nvSpPr>
        <p:spPr>
          <a:xfrm>
            <a:off x="2861435" y="0"/>
            <a:ext cx="3704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u="sng" dirty="0"/>
              <a:t>Uniform Circular Motion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1F6AC2-6749-9EB9-4848-BFC8BEBF6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526" y="723673"/>
            <a:ext cx="6018191" cy="3468315"/>
          </a:xfrm>
          <a:prstGeom prst="rect">
            <a:avLst/>
          </a:prstGeom>
        </p:spPr>
      </p:pic>
      <p:sp>
        <p:nvSpPr>
          <p:cNvPr id="2" name="Down Arrow 1">
            <a:extLst>
              <a:ext uri="{FF2B5EF4-FFF2-40B4-BE49-F238E27FC236}">
                <a16:creationId xmlns:a16="http://schemas.microsoft.com/office/drawing/2014/main" id="{4891ED08-EDBE-F675-6C22-3F545BB0C9A0}"/>
              </a:ext>
            </a:extLst>
          </p:cNvPr>
          <p:cNvSpPr/>
          <p:nvPr/>
        </p:nvSpPr>
        <p:spPr>
          <a:xfrm rot="3749450">
            <a:off x="4860234" y="1784689"/>
            <a:ext cx="155658" cy="978408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D8F5CAD6-B375-A847-2E6F-1B83AAACC19D}"/>
              </a:ext>
            </a:extLst>
          </p:cNvPr>
          <p:cNvSpPr/>
          <p:nvPr/>
        </p:nvSpPr>
        <p:spPr>
          <a:xfrm>
            <a:off x="5407905" y="2079678"/>
            <a:ext cx="155658" cy="978408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2A5A3CC4-0376-A401-A9FE-847336B45B78}"/>
              </a:ext>
            </a:extLst>
          </p:cNvPr>
          <p:cNvSpPr/>
          <p:nvPr/>
        </p:nvSpPr>
        <p:spPr>
          <a:xfrm rot="10800000">
            <a:off x="5407905" y="723673"/>
            <a:ext cx="155658" cy="978408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7A9435-3721-CF80-F86F-416D72717235}"/>
                  </a:ext>
                </a:extLst>
              </p:cNvPr>
              <p:cNvSpPr txBox="1"/>
              <p:nvPr/>
            </p:nvSpPr>
            <p:spPr>
              <a:xfrm>
                <a:off x="1033154" y="4322620"/>
                <a:ext cx="2542043" cy="986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7A9435-3721-CF80-F86F-416D72717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54" y="4322620"/>
                <a:ext cx="2542043" cy="986552"/>
              </a:xfrm>
              <a:prstGeom prst="rect">
                <a:avLst/>
              </a:prstGeom>
              <a:blipFill>
                <a:blip r:embed="rId4"/>
                <a:stretch>
                  <a:fillRect l="-40299" t="-130380" b="-1797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3CB8A6-FA12-290D-9D8D-EEF061C1C159}"/>
                  </a:ext>
                </a:extLst>
              </p:cNvPr>
              <p:cNvSpPr txBox="1"/>
              <p:nvPr/>
            </p:nvSpPr>
            <p:spPr>
              <a:xfrm>
                <a:off x="3418023" y="4513813"/>
                <a:ext cx="4988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3CB8A6-FA12-290D-9D8D-EEF061C1C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023" y="4513813"/>
                <a:ext cx="49885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C6ECA4E-0871-2FBD-225A-1CF28B02AABD}"/>
                  </a:ext>
                </a:extLst>
              </p:cNvPr>
              <p:cNvSpPr txBox="1"/>
              <p:nvPr/>
            </p:nvSpPr>
            <p:spPr>
              <a:xfrm>
                <a:off x="3795962" y="4513813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C6ECA4E-0871-2FBD-225A-1CF28B02A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962" y="4513813"/>
                <a:ext cx="43954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AACF26-F3BA-500B-E8FC-828F4F8A3F07}"/>
                  </a:ext>
                </a:extLst>
              </p:cNvPr>
              <p:cNvSpPr txBox="1"/>
              <p:nvPr/>
            </p:nvSpPr>
            <p:spPr>
              <a:xfrm>
                <a:off x="1033153" y="5101179"/>
                <a:ext cx="1322926" cy="986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AACF26-F3BA-500B-E8FC-828F4F8A3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53" y="5101179"/>
                <a:ext cx="1322926" cy="986552"/>
              </a:xfrm>
              <a:prstGeom prst="rect">
                <a:avLst/>
              </a:prstGeom>
              <a:blipFill>
                <a:blip r:embed="rId7"/>
                <a:stretch>
                  <a:fillRect l="-77143" t="-129114" b="-1797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FFA347-2078-9BE1-1690-C9F806F5BC5A}"/>
                  </a:ext>
                </a:extLst>
              </p:cNvPr>
              <p:cNvSpPr txBox="1"/>
              <p:nvPr/>
            </p:nvSpPr>
            <p:spPr>
              <a:xfrm>
                <a:off x="2230295" y="5285422"/>
                <a:ext cx="4485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FFA347-2078-9BE1-1690-C9F806F5B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295" y="5285422"/>
                <a:ext cx="448584" cy="461665"/>
              </a:xfrm>
              <a:prstGeom prst="rect">
                <a:avLst/>
              </a:prstGeom>
              <a:blipFill>
                <a:blip r:embed="rId8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3C082F-6E0C-4F76-CFFE-A62A23C94FC1}"/>
                  </a:ext>
                </a:extLst>
              </p:cNvPr>
              <p:cNvSpPr txBox="1"/>
              <p:nvPr/>
            </p:nvSpPr>
            <p:spPr>
              <a:xfrm>
                <a:off x="2466782" y="5309172"/>
                <a:ext cx="4988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3C082F-6E0C-4F76-CFFE-A62A23C94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782" y="5309172"/>
                <a:ext cx="49885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717F58-2E75-3038-D631-E8A0967D12CF}"/>
                  </a:ext>
                </a:extLst>
              </p:cNvPr>
              <p:cNvSpPr txBox="1"/>
              <p:nvPr/>
            </p:nvSpPr>
            <p:spPr>
              <a:xfrm>
                <a:off x="2811067" y="5084834"/>
                <a:ext cx="911660" cy="8310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717F58-2E75-3038-D631-E8A0967D1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067" y="5084834"/>
                <a:ext cx="911660" cy="831061"/>
              </a:xfrm>
              <a:prstGeom prst="rect">
                <a:avLst/>
              </a:prstGeom>
              <a:blipFill>
                <a:blip r:embed="rId9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C895CDC-95A2-6623-068D-FAD057C4320A}"/>
              </a:ext>
            </a:extLst>
          </p:cNvPr>
          <p:cNvSpPr txBox="1"/>
          <p:nvPr/>
        </p:nvSpPr>
        <p:spPr>
          <a:xfrm>
            <a:off x="5097646" y="3049722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weight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5B8C0E-2C4B-F16D-CC8A-5FC74F20F48A}"/>
              </a:ext>
            </a:extLst>
          </p:cNvPr>
          <p:cNvSpPr txBox="1"/>
          <p:nvPr/>
        </p:nvSpPr>
        <p:spPr>
          <a:xfrm>
            <a:off x="4822731" y="461665"/>
            <a:ext cx="1326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normal force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F03E24-7D62-0BA6-937E-45F67462234C}"/>
              </a:ext>
            </a:extLst>
          </p:cNvPr>
          <p:cNvSpPr txBox="1"/>
          <p:nvPr/>
        </p:nvSpPr>
        <p:spPr>
          <a:xfrm>
            <a:off x="4073721" y="1978904"/>
            <a:ext cx="7889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friction</a:t>
            </a:r>
          </a:p>
        </p:txBody>
      </p:sp>
    </p:spTree>
    <p:extLst>
      <p:ext uri="{BB962C8B-B14F-4D97-AF65-F5344CB8AC3E}">
        <p14:creationId xmlns:p14="http://schemas.microsoft.com/office/powerpoint/2010/main" val="1263055204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1" animBg="1"/>
      <p:bldP spid="7" grpId="0" animBg="1"/>
      <p:bldP spid="9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E2D1B0-8D52-BE30-82B9-32E4DB608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938" y="723672"/>
            <a:ext cx="6369853" cy="39395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F62606-09D0-C2FF-CD4F-450235241CB1}"/>
              </a:ext>
            </a:extLst>
          </p:cNvPr>
          <p:cNvSpPr txBox="1"/>
          <p:nvPr/>
        </p:nvSpPr>
        <p:spPr>
          <a:xfrm>
            <a:off x="2861435" y="0"/>
            <a:ext cx="3704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u="sng" dirty="0"/>
              <a:t>Uniform Circular Motion</a:t>
            </a: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D8F5CAD6-B375-A847-2E6F-1B83AAACC19D}"/>
              </a:ext>
            </a:extLst>
          </p:cNvPr>
          <p:cNvSpPr/>
          <p:nvPr/>
        </p:nvSpPr>
        <p:spPr>
          <a:xfrm rot="16200000">
            <a:off x="3730403" y="2832264"/>
            <a:ext cx="308756" cy="676894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2A5A3CC4-0376-A401-A9FE-847336B45B78}"/>
              </a:ext>
            </a:extLst>
          </p:cNvPr>
          <p:cNvSpPr/>
          <p:nvPr/>
        </p:nvSpPr>
        <p:spPr>
          <a:xfrm rot="10800000">
            <a:off x="3317845" y="1958703"/>
            <a:ext cx="102246" cy="820119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7C6E5F-53F2-175E-9ED5-B16A30C1DE8F}"/>
                  </a:ext>
                </a:extLst>
              </p:cNvPr>
              <p:cNvSpPr txBox="1"/>
              <p:nvPr/>
            </p:nvSpPr>
            <p:spPr>
              <a:xfrm>
                <a:off x="2845285" y="2158968"/>
                <a:ext cx="571182" cy="490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7C6E5F-53F2-175E-9ED5-B16A30C1D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285" y="2158968"/>
                <a:ext cx="571182" cy="490840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680DCD-850C-5031-5303-0D5A0E3DE0A7}"/>
                  </a:ext>
                </a:extLst>
              </p:cNvPr>
              <p:cNvSpPr txBox="1"/>
              <p:nvPr/>
            </p:nvSpPr>
            <p:spPr>
              <a:xfrm>
                <a:off x="3652046" y="3183580"/>
                <a:ext cx="56214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680DCD-850C-5031-5303-0D5A0E3DE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046" y="3183580"/>
                <a:ext cx="56214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D9817D-A41B-5F4C-EDCF-49A3FEC0DE79}"/>
                  </a:ext>
                </a:extLst>
              </p:cNvPr>
              <p:cNvSpPr txBox="1"/>
              <p:nvPr/>
            </p:nvSpPr>
            <p:spPr>
              <a:xfrm>
                <a:off x="1033154" y="4322620"/>
                <a:ext cx="2542043" cy="986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D9817D-A41B-5F4C-EDCF-49A3FEC0D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54" y="4322620"/>
                <a:ext cx="2542043" cy="986552"/>
              </a:xfrm>
              <a:prstGeom prst="rect">
                <a:avLst/>
              </a:prstGeom>
              <a:blipFill>
                <a:blip r:embed="rId6"/>
                <a:stretch>
                  <a:fillRect l="-39801" t="-130380" b="-1797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1C91DA2-108E-4E9B-B4FD-7B4E514A5050}"/>
                  </a:ext>
                </a:extLst>
              </p:cNvPr>
              <p:cNvSpPr txBox="1"/>
              <p:nvPr/>
            </p:nvSpPr>
            <p:spPr>
              <a:xfrm>
                <a:off x="3418023" y="4513813"/>
                <a:ext cx="4988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1C91DA2-108E-4E9B-B4FD-7B4E514A5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023" y="4513813"/>
                <a:ext cx="4988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B7E274-3047-A19D-08E9-BB50D68F1508}"/>
                  </a:ext>
                </a:extLst>
              </p:cNvPr>
              <p:cNvSpPr txBox="1"/>
              <p:nvPr/>
            </p:nvSpPr>
            <p:spPr>
              <a:xfrm>
                <a:off x="3795962" y="4513813"/>
                <a:ext cx="21641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B7E274-3047-A19D-08E9-BB50D68F1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962" y="4513813"/>
                <a:ext cx="2164104" cy="461665"/>
              </a:xfrm>
              <a:prstGeom prst="rect">
                <a:avLst/>
              </a:prstGeom>
              <a:blipFill>
                <a:blip r:embed="rId8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2A049E-62B5-6C02-48B4-B9F6E1A67A9B}"/>
                  </a:ext>
                </a:extLst>
              </p:cNvPr>
              <p:cNvSpPr txBox="1"/>
              <p:nvPr/>
            </p:nvSpPr>
            <p:spPr>
              <a:xfrm>
                <a:off x="1033153" y="5101179"/>
                <a:ext cx="1322926" cy="986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2A049E-62B5-6C02-48B4-B9F6E1A67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53" y="5101179"/>
                <a:ext cx="1322926" cy="986552"/>
              </a:xfrm>
              <a:prstGeom prst="rect">
                <a:avLst/>
              </a:prstGeom>
              <a:blipFill>
                <a:blip r:embed="rId9"/>
                <a:stretch>
                  <a:fillRect l="-77143" t="-129114" b="-1797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828198-EEC7-BF79-A0F6-8FCEDB5A25C3}"/>
                  </a:ext>
                </a:extLst>
              </p:cNvPr>
              <p:cNvSpPr txBox="1"/>
              <p:nvPr/>
            </p:nvSpPr>
            <p:spPr>
              <a:xfrm>
                <a:off x="1906197" y="5309171"/>
                <a:ext cx="10472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828198-EEC7-BF79-A0F6-8FCEDB5A2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197" y="5309171"/>
                <a:ext cx="104729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BB5936-B0A2-DD10-F3EC-7D13BF58F2EC}"/>
                  </a:ext>
                </a:extLst>
              </p:cNvPr>
              <p:cNvSpPr txBox="1"/>
              <p:nvPr/>
            </p:nvSpPr>
            <p:spPr>
              <a:xfrm>
                <a:off x="2466782" y="5309172"/>
                <a:ext cx="4988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BB5936-B0A2-DD10-F3EC-7D13BF58F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782" y="5309172"/>
                <a:ext cx="4988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72768-9F35-8215-098C-C2B6E11E6E36}"/>
                  </a:ext>
                </a:extLst>
              </p:cNvPr>
              <p:cNvSpPr txBox="1"/>
              <p:nvPr/>
            </p:nvSpPr>
            <p:spPr>
              <a:xfrm>
                <a:off x="3795962" y="5099739"/>
                <a:ext cx="1226361" cy="8310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72768-9F35-8215-098C-C2B6E11E6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962" y="5099739"/>
                <a:ext cx="1226361" cy="831061"/>
              </a:xfrm>
              <a:prstGeom prst="rect">
                <a:avLst/>
              </a:prstGeom>
              <a:blipFill>
                <a:blip r:embed="rId11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711AE77-CB12-2F5C-96DF-82BBD0B5AAC6}"/>
                  </a:ext>
                </a:extLst>
              </p:cNvPr>
              <p:cNvSpPr txBox="1"/>
              <p:nvPr/>
            </p:nvSpPr>
            <p:spPr>
              <a:xfrm>
                <a:off x="4968154" y="4524550"/>
                <a:ext cx="21641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711AE77-CB12-2F5C-96DF-82BBD0B5A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54" y="4524550"/>
                <a:ext cx="2164104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9F9196-9AF6-9ED9-1FF2-40456E3A9CE4}"/>
                  </a:ext>
                </a:extLst>
              </p:cNvPr>
              <p:cNvSpPr txBox="1"/>
              <p:nvPr/>
            </p:nvSpPr>
            <p:spPr>
              <a:xfrm>
                <a:off x="2828323" y="5308598"/>
                <a:ext cx="11333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9F9196-9AF6-9ED9-1FF2-40456E3A9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323" y="5308598"/>
                <a:ext cx="1133387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14633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6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065D944-F55C-6D47-6113-1666BC578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424" y="403045"/>
            <a:ext cx="5401151" cy="4772101"/>
          </a:xfrm>
          <a:prstGeom prst="rect">
            <a:avLst/>
          </a:prstGeom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id="{62466D16-05D2-B9FA-E19A-334394DCA2C3}"/>
              </a:ext>
            </a:extLst>
          </p:cNvPr>
          <p:cNvSpPr/>
          <p:nvPr/>
        </p:nvSpPr>
        <p:spPr>
          <a:xfrm>
            <a:off x="4507255" y="4836859"/>
            <a:ext cx="280378" cy="820119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E68BF58A-CF0C-417A-3DCC-B47343BB80C1}"/>
              </a:ext>
            </a:extLst>
          </p:cNvPr>
          <p:cNvSpPr/>
          <p:nvPr/>
        </p:nvSpPr>
        <p:spPr>
          <a:xfrm>
            <a:off x="4647444" y="929091"/>
            <a:ext cx="280378" cy="820119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FB7A16-C70A-5D2D-7997-F7CDABD4564E}"/>
                  </a:ext>
                </a:extLst>
              </p:cNvPr>
              <p:cNvSpPr txBox="1"/>
              <p:nvPr/>
            </p:nvSpPr>
            <p:spPr>
              <a:xfrm>
                <a:off x="4144998" y="1293897"/>
                <a:ext cx="4591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FB7A16-C70A-5D2D-7997-F7CDABD45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998" y="1293897"/>
                <a:ext cx="4591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982DDA-8987-50FA-356E-155E585EEF39}"/>
                  </a:ext>
                </a:extLst>
              </p:cNvPr>
              <p:cNvSpPr txBox="1"/>
              <p:nvPr/>
            </p:nvSpPr>
            <p:spPr>
              <a:xfrm>
                <a:off x="4758678" y="1063064"/>
                <a:ext cx="720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982DDA-8987-50FA-356E-155E585EE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678" y="1063064"/>
                <a:ext cx="720518" cy="461665"/>
              </a:xfrm>
              <a:prstGeom prst="rect">
                <a:avLst/>
              </a:prstGeom>
              <a:blipFill>
                <a:blip r:embed="rId5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4F96F8E-A759-670F-2F03-4CCE5F24D2FC}"/>
              </a:ext>
            </a:extLst>
          </p:cNvPr>
          <p:cNvCxnSpPr>
            <a:stCxn id="3" idx="0"/>
            <a:endCxn id="11" idx="0"/>
          </p:cNvCxnSpPr>
          <p:nvPr/>
        </p:nvCxnSpPr>
        <p:spPr>
          <a:xfrm flipH="1">
            <a:off x="4647445" y="911362"/>
            <a:ext cx="3740" cy="3656622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Down Arrow 2">
            <a:extLst>
              <a:ext uri="{FF2B5EF4-FFF2-40B4-BE49-F238E27FC236}">
                <a16:creationId xmlns:a16="http://schemas.microsoft.com/office/drawing/2014/main" id="{CF55A803-8D45-C0C8-8B18-C66E12CEEA6C}"/>
              </a:ext>
            </a:extLst>
          </p:cNvPr>
          <p:cNvSpPr/>
          <p:nvPr/>
        </p:nvSpPr>
        <p:spPr>
          <a:xfrm>
            <a:off x="4492864" y="911362"/>
            <a:ext cx="316642" cy="1214325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00B64814-5726-B359-9726-5DA9F709FFAF}"/>
              </a:ext>
            </a:extLst>
          </p:cNvPr>
          <p:cNvSpPr/>
          <p:nvPr/>
        </p:nvSpPr>
        <p:spPr>
          <a:xfrm rot="10800000">
            <a:off x="4489124" y="3353659"/>
            <a:ext cx="316642" cy="1214325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B5BCE3E-7164-FF04-1F40-7D2B4A67B206}"/>
                  </a:ext>
                </a:extLst>
              </p:cNvPr>
              <p:cNvSpPr txBox="1"/>
              <p:nvPr/>
            </p:nvSpPr>
            <p:spPr>
              <a:xfrm>
                <a:off x="5388908" y="384505"/>
                <a:ext cx="1331968" cy="986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B5BCE3E-7164-FF04-1F40-7D2B4A67B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908" y="384505"/>
                <a:ext cx="1331968" cy="986552"/>
              </a:xfrm>
              <a:prstGeom prst="rect">
                <a:avLst/>
              </a:prstGeom>
              <a:blipFill>
                <a:blip r:embed="rId6"/>
                <a:stretch>
                  <a:fillRect l="-76415" t="-130380" b="-1797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BE1E68B-C6C7-6745-1BC1-F87BB1F01B26}"/>
                  </a:ext>
                </a:extLst>
              </p:cNvPr>
              <p:cNvSpPr txBox="1"/>
              <p:nvPr/>
            </p:nvSpPr>
            <p:spPr>
              <a:xfrm>
                <a:off x="6517632" y="567022"/>
                <a:ext cx="18199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BE1E68B-C6C7-6745-1BC1-F87BB1F01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632" y="567022"/>
                <a:ext cx="1819985" cy="461665"/>
              </a:xfrm>
              <a:prstGeom prst="rect">
                <a:avLst/>
              </a:prstGeom>
              <a:blipFill>
                <a:blip r:embed="rId7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A75E98-4E15-06C8-0009-C1AEFB16B0C4}"/>
                  </a:ext>
                </a:extLst>
              </p:cNvPr>
              <p:cNvSpPr txBox="1"/>
              <p:nvPr/>
            </p:nvSpPr>
            <p:spPr>
              <a:xfrm>
                <a:off x="8097617" y="345781"/>
                <a:ext cx="1140890" cy="8310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A75E98-4E15-06C8-0009-C1AEFB16B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617" y="345781"/>
                <a:ext cx="1140890" cy="831061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477320-A06C-75DC-80F1-1FE2EC66DC93}"/>
                  </a:ext>
                </a:extLst>
              </p:cNvPr>
              <p:cNvSpPr txBox="1"/>
              <p:nvPr/>
            </p:nvSpPr>
            <p:spPr>
              <a:xfrm>
                <a:off x="6571505" y="1121066"/>
                <a:ext cx="2318263" cy="83106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477320-A06C-75DC-80F1-1FE2EC66D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505" y="1121066"/>
                <a:ext cx="2318263" cy="831061"/>
              </a:xfrm>
              <a:prstGeom prst="rect">
                <a:avLst/>
              </a:prstGeom>
              <a:blipFill>
                <a:blip r:embed="rId9"/>
                <a:stretch>
                  <a:fillRect b="-147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424328-FDED-19E3-93B9-6F42903C9913}"/>
                  </a:ext>
                </a:extLst>
              </p:cNvPr>
              <p:cNvSpPr txBox="1"/>
              <p:nvPr/>
            </p:nvSpPr>
            <p:spPr>
              <a:xfrm>
                <a:off x="4112899" y="3729988"/>
                <a:ext cx="4591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424328-FDED-19E3-93B9-6F42903C9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899" y="3729988"/>
                <a:ext cx="45910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9EEBD55-BBD0-56BB-3879-8B9F18F47288}"/>
                  </a:ext>
                </a:extLst>
              </p:cNvPr>
              <p:cNvSpPr txBox="1"/>
              <p:nvPr/>
            </p:nvSpPr>
            <p:spPr>
              <a:xfrm>
                <a:off x="3898545" y="4954396"/>
                <a:ext cx="720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9EEBD55-BBD0-56BB-3879-8B9F18F47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545" y="4954396"/>
                <a:ext cx="720518" cy="461665"/>
              </a:xfrm>
              <a:prstGeom prst="rect">
                <a:avLst/>
              </a:prstGeom>
              <a:blipFill>
                <a:blip r:embed="rId11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2AF9288-26DF-D668-741D-1785A58443A4}"/>
                  </a:ext>
                </a:extLst>
              </p:cNvPr>
              <p:cNvSpPr txBox="1"/>
              <p:nvPr/>
            </p:nvSpPr>
            <p:spPr>
              <a:xfrm>
                <a:off x="5479196" y="4700410"/>
                <a:ext cx="1331968" cy="986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2AF9288-26DF-D668-741D-1785A5844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196" y="4700410"/>
                <a:ext cx="1331968" cy="986552"/>
              </a:xfrm>
              <a:prstGeom prst="rect">
                <a:avLst/>
              </a:prstGeom>
              <a:blipFill>
                <a:blip r:embed="rId12"/>
                <a:stretch>
                  <a:fillRect l="-77358" t="-132051" b="-18205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5CDB462-228F-00B0-781A-ABCC62B814E0}"/>
                  </a:ext>
                </a:extLst>
              </p:cNvPr>
              <p:cNvSpPr txBox="1"/>
              <p:nvPr/>
            </p:nvSpPr>
            <p:spPr>
              <a:xfrm>
                <a:off x="6634997" y="4900728"/>
                <a:ext cx="15907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5CDB462-228F-00B0-781A-ABCC62B81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997" y="4900728"/>
                <a:ext cx="1590755" cy="461665"/>
              </a:xfrm>
              <a:prstGeom prst="rect">
                <a:avLst/>
              </a:prstGeom>
              <a:blipFill>
                <a:blip r:embed="rId13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C992E7-DC3D-61B4-96BD-1E6D45A9FC6A}"/>
                  </a:ext>
                </a:extLst>
              </p:cNvPr>
              <p:cNvSpPr txBox="1"/>
              <p:nvPr/>
            </p:nvSpPr>
            <p:spPr>
              <a:xfrm>
                <a:off x="8119982" y="4679487"/>
                <a:ext cx="911660" cy="8310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C992E7-DC3D-61B4-96BD-1E6D45A9F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9982" y="4679487"/>
                <a:ext cx="911660" cy="831061"/>
              </a:xfrm>
              <a:prstGeom prst="rect">
                <a:avLst/>
              </a:prstGeom>
              <a:blipFill>
                <a:blip r:embed="rId1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BFA43D9-47DE-16DD-23EF-03BCA9BFE548}"/>
                  </a:ext>
                </a:extLst>
              </p:cNvPr>
              <p:cNvSpPr txBox="1"/>
              <p:nvPr/>
            </p:nvSpPr>
            <p:spPr>
              <a:xfrm>
                <a:off x="6019354" y="5402855"/>
                <a:ext cx="2318263" cy="83106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BFA43D9-47DE-16DD-23EF-03BCA9BFE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354" y="5402855"/>
                <a:ext cx="2318263" cy="831061"/>
              </a:xfrm>
              <a:prstGeom prst="rect">
                <a:avLst/>
              </a:prstGeom>
              <a:blipFill>
                <a:blip r:embed="rId15"/>
                <a:stretch>
                  <a:fillRect b="-147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0651021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5" grpId="0"/>
      <p:bldP spid="16" grpId="0"/>
      <p:bldP spid="3" grpId="0" animBg="1"/>
      <p:bldP spid="11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/>
      <p:bldP spid="27" grpId="0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45" name="Picture 13" descr="ANd9GcTptwVuvDpYUoZG8_CTp3wMdEU7KykY2d4OJkfcG7LawlZCfHWsTQ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144000" y="487363"/>
            <a:ext cx="1751013" cy="109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0834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1493838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sz="2000">
              <a:latin typeface="Courier New" pitchFamily="49" charset="0"/>
              <a:ea typeface="Calibri" pitchFamily="34" charset="0"/>
              <a:cs typeface="Arial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sz="2000">
              <a:latin typeface="Courier New" pitchFamily="49" charset="0"/>
              <a:ea typeface="Calibri" pitchFamily="34" charset="0"/>
              <a:cs typeface="Arial" charset="0"/>
              <a:sym typeface="Symbol" pitchFamily="18" charset="2"/>
            </a:endParaRPr>
          </a:p>
        </p:txBody>
      </p:sp>
      <p:sp>
        <p:nvSpPr>
          <p:cNvPr id="120840" name="Rectangle 8"/>
          <p:cNvSpPr>
            <a:spLocks noChangeArrowheads="1"/>
          </p:cNvSpPr>
          <p:nvPr/>
        </p:nvSpPr>
        <p:spPr bwMode="auto">
          <a:xfrm>
            <a:off x="674688" y="3049588"/>
            <a:ext cx="7781925" cy="38084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A 730-kg Smart</a:t>
            </a:r>
            <a:r>
              <a:rPr lang="en-US">
                <a:cs typeface="Courier New" pitchFamily="49" charset="0"/>
                <a:sym typeface="Symbol" pitchFamily="18" charset="2"/>
              </a:rPr>
              <a:t> Car negotiates a 30. m radius turn at 25. m</a:t>
            </a:r>
            <a:r>
              <a:rPr lang="en-US" baseline="-25000"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cs typeface="Courier New" pitchFamily="49" charset="0"/>
                <a:sym typeface="Symbol" pitchFamily="18" charset="2"/>
              </a:rPr>
              <a:t>s</a:t>
            </a:r>
            <a:r>
              <a:rPr lang="en-US" baseline="30000">
                <a:cs typeface="Courier New" pitchFamily="49" charset="0"/>
                <a:sym typeface="Symbol" pitchFamily="18" charset="2"/>
              </a:rPr>
              <a:t>-1</a:t>
            </a:r>
            <a:r>
              <a:rPr lang="en-US">
                <a:cs typeface="Courier New" pitchFamily="49" charset="0"/>
                <a:sym typeface="Symbol" pitchFamily="18" charset="2"/>
              </a:rPr>
              <a:t>. What is its centripetal acceleration and force? What force is causing this acceleration?</a:t>
            </a:r>
          </a:p>
          <a:p>
            <a:pPr eaLnBrk="0" hangingPunct="0">
              <a:spcBef>
                <a:spcPct val="20000"/>
              </a:spcBef>
            </a:pPr>
            <a:r>
              <a:rPr lang="en-US"/>
              <a:t>SOLUTION:</a:t>
            </a:r>
          </a:p>
          <a:p>
            <a:pPr eaLnBrk="0" hangingPunct="0">
              <a:spcBef>
                <a:spcPct val="20000"/>
              </a:spcBef>
              <a:buFont typeface="Symbol" pitchFamily="18" charset="2"/>
              <a:buChar char="·"/>
            </a:pPr>
            <a:r>
              <a:rPr lang="en-US" i="1"/>
              <a:t>a</a:t>
            </a:r>
            <a:r>
              <a:rPr lang="en-US" baseline="-25000"/>
              <a:t>c 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 i="1"/>
              <a:t>v</a:t>
            </a:r>
            <a:r>
              <a:rPr lang="en-US" baseline="30000"/>
              <a:t>2 </a:t>
            </a:r>
            <a:r>
              <a:rPr lang="en-US"/>
              <a:t>/ </a:t>
            </a:r>
            <a:r>
              <a:rPr lang="en-US" i="1"/>
              <a:t>r</a:t>
            </a:r>
            <a:r>
              <a:rPr lang="en-US" i="1" baseline="-25000"/>
              <a:t> </a:t>
            </a:r>
            <a:r>
              <a:rPr lang="en-US"/>
              <a:t>= 25</a:t>
            </a:r>
            <a:r>
              <a:rPr lang="en-US" baseline="30000"/>
              <a:t>2 </a:t>
            </a:r>
            <a:r>
              <a:rPr lang="en-US"/>
              <a:t>/ 30 = 21 m</a:t>
            </a:r>
            <a:r>
              <a:rPr lang="en-US" baseline="-25000"/>
              <a:t> </a:t>
            </a:r>
            <a:r>
              <a:rPr lang="en-US"/>
              <a:t>s</a:t>
            </a:r>
            <a:r>
              <a:rPr lang="en-US" baseline="30000"/>
              <a:t>-2</a:t>
            </a:r>
            <a:r>
              <a:rPr lang="en-US"/>
              <a:t>.</a:t>
            </a:r>
            <a:endParaRPr lang="en-US">
              <a:cs typeface="Courier New" pitchFamily="49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  <a:buFont typeface="Symbol" pitchFamily="18" charset="2"/>
              <a:buChar char="·"/>
            </a:pPr>
            <a:r>
              <a:rPr lang="en-US" i="1"/>
              <a:t>F</a:t>
            </a:r>
            <a:r>
              <a:rPr lang="en-US" baseline="-25000"/>
              <a:t>c 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 i="1"/>
              <a:t>ma</a:t>
            </a:r>
            <a:r>
              <a:rPr lang="en-US" baseline="-25000"/>
              <a:t>c</a:t>
            </a:r>
            <a:r>
              <a:rPr lang="en-US" i="1"/>
              <a:t> </a:t>
            </a:r>
            <a:r>
              <a:rPr lang="en-US"/>
              <a:t>= (730)(21) = 15000 n.</a:t>
            </a:r>
            <a:endParaRPr lang="en-US">
              <a:cs typeface="Courier New" pitchFamily="49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  <a:buFont typeface="Symbol" pitchFamily="18" charset="2"/>
              <a:buChar char="·"/>
            </a:pPr>
            <a:r>
              <a:rPr lang="en-US">
                <a:cs typeface="Courier New" pitchFamily="49" charset="0"/>
                <a:sym typeface="Symbol" pitchFamily="18" charset="2"/>
              </a:rPr>
              <a:t>The centripetal force is caused by the friction force between the tires and the pavement.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828675" y="1944688"/>
            <a:ext cx="7464425" cy="460375"/>
            <a:chOff x="522" y="2049"/>
            <a:chExt cx="4702" cy="290"/>
          </a:xfrm>
        </p:grpSpPr>
        <p:sp>
          <p:nvSpPr>
            <p:cNvPr id="15371" name="Rectangle 15"/>
            <p:cNvSpPr>
              <a:spLocks noChangeArrowheads="1"/>
            </p:cNvSpPr>
            <p:nvPr/>
          </p:nvSpPr>
          <p:spPr bwMode="auto">
            <a:xfrm>
              <a:off x="608" y="2049"/>
              <a:ext cx="129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/>
                <a:t>F</a:t>
              </a:r>
              <a:r>
                <a:rPr lang="en-US" baseline="-25000"/>
                <a:t>c </a:t>
              </a:r>
              <a:r>
                <a:rPr lang="en-US"/>
                <a:t>=</a:t>
              </a:r>
              <a:r>
                <a:rPr lang="en-US" baseline="-25000"/>
                <a:t> </a:t>
              </a:r>
              <a:r>
                <a:rPr lang="en-US" i="1"/>
                <a:t>ma</a:t>
              </a:r>
              <a:r>
                <a:rPr lang="en-US" baseline="-25000"/>
                <a:t>c</a:t>
              </a:r>
            </a:p>
          </p:txBody>
        </p:sp>
        <p:sp>
          <p:nvSpPr>
            <p:cNvPr id="15372" name="Text Box 16"/>
            <p:cNvSpPr txBox="1">
              <a:spLocks noChangeArrowheads="1"/>
            </p:cNvSpPr>
            <p:nvPr/>
          </p:nvSpPr>
          <p:spPr bwMode="auto">
            <a:xfrm>
              <a:off x="3207" y="2051"/>
              <a:ext cx="2017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centripetal force</a:t>
              </a:r>
            </a:p>
          </p:txBody>
        </p:sp>
        <p:sp>
          <p:nvSpPr>
            <p:cNvPr id="15373" name="Rectangle 17"/>
            <p:cNvSpPr>
              <a:spLocks noChangeArrowheads="1"/>
            </p:cNvSpPr>
            <p:nvPr/>
          </p:nvSpPr>
          <p:spPr bwMode="auto">
            <a:xfrm>
              <a:off x="522" y="2053"/>
              <a:ext cx="4701" cy="28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828675" y="2493963"/>
            <a:ext cx="7464425" cy="460375"/>
            <a:chOff x="522" y="3219"/>
            <a:chExt cx="4702" cy="290"/>
          </a:xfrm>
        </p:grpSpPr>
        <p:sp>
          <p:nvSpPr>
            <p:cNvPr id="15368" name="Rectangle 19"/>
            <p:cNvSpPr>
              <a:spLocks noChangeArrowheads="1"/>
            </p:cNvSpPr>
            <p:nvPr/>
          </p:nvSpPr>
          <p:spPr bwMode="auto">
            <a:xfrm>
              <a:off x="608" y="3219"/>
              <a:ext cx="1295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/>
                <a:t>a</a:t>
              </a:r>
              <a:r>
                <a:rPr lang="en-US" baseline="-25000"/>
                <a:t>c </a:t>
              </a:r>
              <a:r>
                <a:rPr lang="en-US"/>
                <a:t>=</a:t>
              </a:r>
              <a:r>
                <a:rPr lang="en-US" baseline="-25000"/>
                <a:t> </a:t>
              </a:r>
              <a:r>
                <a:rPr lang="en-US" i="1"/>
                <a:t>v</a:t>
              </a:r>
              <a:r>
                <a:rPr lang="en-US" baseline="30000"/>
                <a:t> 2 </a:t>
              </a:r>
              <a:r>
                <a:rPr lang="en-US" i="1"/>
                <a:t>/</a:t>
              </a:r>
              <a:r>
                <a:rPr lang="en-US"/>
                <a:t> </a:t>
              </a:r>
              <a:r>
                <a:rPr lang="en-US" i="1"/>
                <a:t>r</a:t>
              </a:r>
              <a:endParaRPr lang="en-US" baseline="-25000"/>
            </a:p>
          </p:txBody>
        </p:sp>
        <p:sp>
          <p:nvSpPr>
            <p:cNvPr id="15369" name="Text Box 20"/>
            <p:cNvSpPr txBox="1">
              <a:spLocks noChangeArrowheads="1"/>
            </p:cNvSpPr>
            <p:nvPr/>
          </p:nvSpPr>
          <p:spPr bwMode="auto">
            <a:xfrm>
              <a:off x="2743" y="3221"/>
              <a:ext cx="2481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centripetal acceleration</a:t>
              </a:r>
            </a:p>
          </p:txBody>
        </p:sp>
        <p:sp>
          <p:nvSpPr>
            <p:cNvPr id="15370" name="Rectangle 21"/>
            <p:cNvSpPr>
              <a:spLocks noChangeArrowheads="1"/>
            </p:cNvSpPr>
            <p:nvPr/>
          </p:nvSpPr>
          <p:spPr bwMode="auto">
            <a:xfrm>
              <a:off x="522" y="3223"/>
              <a:ext cx="4701" cy="2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0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0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0" fill="hold"/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08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08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08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08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08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08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08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08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98"/>
          <p:cNvSpPr>
            <a:spLocks noChangeArrowheads="1"/>
          </p:cNvSpPr>
          <p:nvPr/>
        </p:nvSpPr>
        <p:spPr bwMode="auto">
          <a:xfrm>
            <a:off x="674688" y="4891088"/>
            <a:ext cx="7772400" cy="19669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Find the period and the frequency of a day. 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SOLUTION: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The period is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T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= (24 h)(3600 s h</a:t>
            </a:r>
            <a:r>
              <a:rPr lang="en-US" baseline="3000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-1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)  = 86400 s.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The frequency is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f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= 1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/ T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= 1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/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86400 = 1.1610</a:t>
            </a:r>
            <a:r>
              <a:rPr lang="en-US" baseline="3000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-5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Hz.</a:t>
            </a:r>
          </a:p>
        </p:txBody>
      </p:sp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3354388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Period and frequency</a:t>
            </a:r>
            <a:r>
              <a:rPr lang="en-US">
                <a:ea typeface="Calibri" pitchFamily="34" charset="0"/>
                <a:cs typeface="Arial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Arial" charset="0"/>
                <a:sym typeface="Symbol" pitchFamily="18" charset="2"/>
              </a:rPr>
              <a:t>The </a:t>
            </a:r>
            <a:r>
              <a:rPr lang="en-US" b="1">
                <a:ea typeface="Calibri" pitchFamily="34" charset="0"/>
                <a:cs typeface="Arial" charset="0"/>
              </a:rPr>
              <a:t>period</a:t>
            </a:r>
            <a:r>
              <a:rPr lang="en-US">
                <a:ea typeface="Calibri" pitchFamily="34" charset="0"/>
                <a:cs typeface="Arial" charset="0"/>
              </a:rPr>
              <a:t> </a:t>
            </a:r>
            <a:r>
              <a:rPr lang="en-US" i="1">
                <a:ea typeface="Calibri" pitchFamily="34" charset="0"/>
                <a:cs typeface="Arial" charset="0"/>
              </a:rPr>
              <a:t>T</a:t>
            </a:r>
            <a:r>
              <a:rPr lang="en-US">
                <a:ea typeface="Calibri" pitchFamily="34" charset="0"/>
                <a:cs typeface="Arial" charset="0"/>
              </a:rPr>
              <a:t> is the time for one complete revolution.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The </a:t>
            </a:r>
            <a:r>
              <a:rPr lang="en-US" b="1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frequency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f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 (measured in Hz or cycles </a:t>
            </a:r>
            <a:r>
              <a:rPr lang="en-US" i="1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/ 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s) is defined as how many cycles (oscillations, repetitions, revolutions) occur each second.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Since period </a:t>
            </a:r>
            <a:r>
              <a:rPr lang="en-US" i="1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T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 is seconds per revolution, frequency must be 1 </a:t>
            </a:r>
            <a:r>
              <a:rPr lang="en-US" i="1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/ T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endParaRPr lang="en-US">
              <a:ea typeface="Calibri" pitchFamily="34" charset="0"/>
              <a:cs typeface="Courier New" pitchFamily="49" charset="0"/>
              <a:sym typeface="Symbol" pitchFamily="18" charset="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831850" y="4367213"/>
            <a:ext cx="7464425" cy="461962"/>
            <a:chOff x="831850" y="3868738"/>
            <a:chExt cx="7464425" cy="461665"/>
          </a:xfrm>
        </p:grpSpPr>
        <p:sp>
          <p:nvSpPr>
            <p:cNvPr id="16411" name="Rectangle 188"/>
            <p:cNvSpPr>
              <a:spLocks noChangeArrowheads="1"/>
            </p:cNvSpPr>
            <p:nvPr/>
          </p:nvSpPr>
          <p:spPr bwMode="auto">
            <a:xfrm>
              <a:off x="836613" y="3889376"/>
              <a:ext cx="2055813" cy="320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cs typeface="Courier New" pitchFamily="49" charset="0"/>
                  <a:sym typeface="Symbol" pitchFamily="18" charset="2"/>
                </a:rPr>
                <a:t>f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=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1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/ T</a:t>
              </a:r>
              <a:endParaRPr lang="en-US">
                <a:sym typeface="Symbol" pitchFamily="18" charset="2"/>
              </a:endParaRPr>
            </a:p>
          </p:txBody>
        </p:sp>
        <p:sp>
          <p:nvSpPr>
            <p:cNvPr id="16412" name="Text Box 189"/>
            <p:cNvSpPr txBox="1">
              <a:spLocks noChangeArrowheads="1"/>
            </p:cNvSpPr>
            <p:nvPr/>
          </p:nvSpPr>
          <p:spPr bwMode="auto">
            <a:xfrm>
              <a:off x="4572000" y="3868738"/>
              <a:ext cx="3724275" cy="461665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relation between </a:t>
              </a:r>
              <a:r>
                <a:rPr lang="en-US" i="1">
                  <a:solidFill>
                    <a:schemeClr val="bg1"/>
                  </a:solidFill>
                </a:rPr>
                <a:t>T</a:t>
              </a:r>
              <a:r>
                <a:rPr lang="en-US">
                  <a:solidFill>
                    <a:schemeClr val="bg1"/>
                  </a:solidFill>
                </a:rPr>
                <a:t> and </a:t>
              </a:r>
              <a:r>
                <a:rPr lang="en-US" i="1">
                  <a:solidFill>
                    <a:schemeClr val="bg1"/>
                  </a:solidFill>
                </a:rPr>
                <a:t>f</a:t>
              </a:r>
              <a:endParaRPr lang="en-US" i="1">
                <a:solidFill>
                  <a:schemeClr val="bg1"/>
                </a:solidFill>
                <a:sym typeface="Symbol" pitchFamily="18" charset="2"/>
              </a:endParaRPr>
            </a:p>
          </p:txBody>
        </p:sp>
        <p:sp>
          <p:nvSpPr>
            <p:cNvPr id="16413" name="Rectangle 190"/>
            <p:cNvSpPr>
              <a:spLocks noChangeArrowheads="1"/>
            </p:cNvSpPr>
            <p:nvPr/>
          </p:nvSpPr>
          <p:spPr bwMode="auto">
            <a:xfrm>
              <a:off x="831850" y="3871913"/>
              <a:ext cx="7462838" cy="45070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4" name="Rectangle 191"/>
            <p:cNvSpPr>
              <a:spLocks noChangeArrowheads="1"/>
            </p:cNvSpPr>
            <p:nvPr/>
          </p:nvSpPr>
          <p:spPr bwMode="auto">
            <a:xfrm>
              <a:off x="2241393" y="3890963"/>
              <a:ext cx="2055813" cy="320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cs typeface="Courier New" pitchFamily="49" charset="0"/>
                  <a:sym typeface="Symbol" pitchFamily="18" charset="2"/>
                </a:rPr>
                <a:t> or T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=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1 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/ f</a:t>
              </a:r>
              <a:endParaRPr lang="en-US">
                <a:sym typeface="Symbol" pitchFamily="18" charset="2"/>
              </a:endParaRPr>
            </a:p>
          </p:txBody>
        </p:sp>
      </p:grpSp>
      <p:pic>
        <p:nvPicPr>
          <p:cNvPr id="17" name="Picture 2" descr="http://mail.colonial.net/~hkaiter/aa_newest_images/spineart.gif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15263" y="5221288"/>
            <a:ext cx="1219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Arc 17"/>
          <p:cNvSpPr/>
          <p:nvPr/>
        </p:nvSpPr>
        <p:spPr>
          <a:xfrm flipH="1">
            <a:off x="7813964" y="5237017"/>
            <a:ext cx="1316180" cy="1205345"/>
          </a:xfrm>
          <a:prstGeom prst="arc">
            <a:avLst>
              <a:gd name="adj1" fmla="val 16200000"/>
              <a:gd name="adj2" fmla="val 5385124"/>
            </a:avLst>
          </a:prstGeom>
          <a:gradFill flip="none" rotWithShape="1">
            <a:gsLst>
              <a:gs pos="0">
                <a:srgbClr val="000000">
                  <a:alpha val="48000"/>
                </a:srgbClr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5400000" scaled="0"/>
            <a:tileRect r="-100000" b="-100000"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3" name="Group 239"/>
          <p:cNvGrpSpPr>
            <a:grpSpLocks/>
          </p:cNvGrpSpPr>
          <p:nvPr/>
        </p:nvGrpSpPr>
        <p:grpSpPr bwMode="auto">
          <a:xfrm>
            <a:off x="7613650" y="26988"/>
            <a:ext cx="1503363" cy="1503362"/>
            <a:chOff x="4100" y="2501"/>
            <a:chExt cx="947" cy="947"/>
          </a:xfrm>
        </p:grpSpPr>
        <p:sp>
          <p:nvSpPr>
            <p:cNvPr id="16399" name="Oval 240"/>
            <p:cNvSpPr>
              <a:spLocks noChangeArrowheads="1"/>
            </p:cNvSpPr>
            <p:nvPr/>
          </p:nvSpPr>
          <p:spPr bwMode="auto">
            <a:xfrm>
              <a:off x="4100" y="2501"/>
              <a:ext cx="947" cy="947"/>
            </a:xfrm>
            <a:prstGeom prst="ellipse">
              <a:avLst/>
            </a:prstGeom>
            <a:solidFill>
              <a:schemeClr val="bg1"/>
            </a:solidFill>
            <a:ln w="57150" cmpd="thickThin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0" name="Line 241"/>
            <p:cNvSpPr>
              <a:spLocks noChangeShapeType="1"/>
            </p:cNvSpPr>
            <p:nvPr/>
          </p:nvSpPr>
          <p:spPr bwMode="auto">
            <a:xfrm>
              <a:off x="4578" y="2523"/>
              <a:ext cx="0" cy="9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Line 242"/>
            <p:cNvSpPr>
              <a:spLocks noChangeShapeType="1"/>
            </p:cNvSpPr>
            <p:nvPr/>
          </p:nvSpPr>
          <p:spPr bwMode="auto">
            <a:xfrm>
              <a:off x="4122" y="2979"/>
              <a:ext cx="9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2" name="Line 243"/>
            <p:cNvSpPr>
              <a:spLocks noChangeShapeType="1"/>
            </p:cNvSpPr>
            <p:nvPr/>
          </p:nvSpPr>
          <p:spPr bwMode="auto">
            <a:xfrm flipV="1">
              <a:off x="4351" y="2588"/>
              <a:ext cx="453" cy="7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Line 244"/>
            <p:cNvSpPr>
              <a:spLocks noChangeShapeType="1"/>
            </p:cNvSpPr>
            <p:nvPr/>
          </p:nvSpPr>
          <p:spPr bwMode="auto">
            <a:xfrm flipV="1">
              <a:off x="4174" y="2756"/>
              <a:ext cx="789" cy="4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4" name="Line 245"/>
            <p:cNvSpPr>
              <a:spLocks noChangeShapeType="1"/>
            </p:cNvSpPr>
            <p:nvPr/>
          </p:nvSpPr>
          <p:spPr bwMode="auto">
            <a:xfrm flipH="1" flipV="1">
              <a:off x="4346" y="2575"/>
              <a:ext cx="453" cy="7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Line 246"/>
            <p:cNvSpPr>
              <a:spLocks noChangeShapeType="1"/>
            </p:cNvSpPr>
            <p:nvPr/>
          </p:nvSpPr>
          <p:spPr bwMode="auto">
            <a:xfrm flipH="1" flipV="1">
              <a:off x="4169" y="2743"/>
              <a:ext cx="789" cy="4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Oval 247"/>
            <p:cNvSpPr>
              <a:spLocks noChangeArrowheads="1"/>
            </p:cNvSpPr>
            <p:nvPr/>
          </p:nvSpPr>
          <p:spPr bwMode="auto">
            <a:xfrm>
              <a:off x="4203" y="2593"/>
              <a:ext cx="750" cy="750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7" name="Text Box 248"/>
            <p:cNvSpPr txBox="1">
              <a:spLocks noChangeArrowheads="1"/>
            </p:cNvSpPr>
            <p:nvPr/>
          </p:nvSpPr>
          <p:spPr bwMode="auto">
            <a:xfrm>
              <a:off x="4436" y="2528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/>
                <a:t> </a:t>
              </a:r>
            </a:p>
          </p:txBody>
        </p:sp>
        <p:sp>
          <p:nvSpPr>
            <p:cNvPr id="16408" name="Text Box 249"/>
            <p:cNvSpPr txBox="1">
              <a:spLocks noChangeArrowheads="1"/>
            </p:cNvSpPr>
            <p:nvPr/>
          </p:nvSpPr>
          <p:spPr bwMode="auto">
            <a:xfrm>
              <a:off x="4798" y="2863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 </a:t>
              </a:r>
            </a:p>
          </p:txBody>
        </p:sp>
        <p:sp>
          <p:nvSpPr>
            <p:cNvPr id="16409" name="Text Box 250"/>
            <p:cNvSpPr txBox="1">
              <a:spLocks noChangeArrowheads="1"/>
            </p:cNvSpPr>
            <p:nvPr/>
          </p:nvSpPr>
          <p:spPr bwMode="auto">
            <a:xfrm>
              <a:off x="4470" y="3167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 </a:t>
              </a:r>
            </a:p>
          </p:txBody>
        </p:sp>
        <p:sp>
          <p:nvSpPr>
            <p:cNvPr id="16410" name="Text Box 251"/>
            <p:cNvSpPr txBox="1">
              <a:spLocks noChangeArrowheads="1"/>
            </p:cNvSpPr>
            <p:nvPr/>
          </p:nvSpPr>
          <p:spPr bwMode="auto">
            <a:xfrm>
              <a:off x="4154" y="2859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 </a:t>
              </a:r>
            </a:p>
          </p:txBody>
        </p:sp>
      </p:grpSp>
      <p:grpSp>
        <p:nvGrpSpPr>
          <p:cNvPr id="4" name="Group 252"/>
          <p:cNvGrpSpPr>
            <a:grpSpLocks/>
          </p:cNvGrpSpPr>
          <p:nvPr/>
        </p:nvGrpSpPr>
        <p:grpSpPr bwMode="auto">
          <a:xfrm>
            <a:off x="8324850" y="122238"/>
            <a:ext cx="96838" cy="1311275"/>
            <a:chOff x="4532" y="2501"/>
            <a:chExt cx="61" cy="826"/>
          </a:xfrm>
        </p:grpSpPr>
        <p:sp>
          <p:nvSpPr>
            <p:cNvPr id="16396" name="Line 253"/>
            <p:cNvSpPr>
              <a:spLocks noChangeShapeType="1"/>
            </p:cNvSpPr>
            <p:nvPr/>
          </p:nvSpPr>
          <p:spPr bwMode="auto">
            <a:xfrm>
              <a:off x="4563" y="2501"/>
              <a:ext cx="0" cy="4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Rectangle 254"/>
            <p:cNvSpPr>
              <a:spLocks noChangeArrowheads="1"/>
            </p:cNvSpPr>
            <p:nvPr/>
          </p:nvSpPr>
          <p:spPr bwMode="auto">
            <a:xfrm>
              <a:off x="4540" y="2918"/>
              <a:ext cx="48" cy="4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8" name="Oval 255"/>
            <p:cNvSpPr>
              <a:spLocks noChangeArrowheads="1"/>
            </p:cNvSpPr>
            <p:nvPr/>
          </p:nvSpPr>
          <p:spPr bwMode="auto">
            <a:xfrm>
              <a:off x="4532" y="2887"/>
              <a:ext cx="61" cy="61"/>
            </a:xfrm>
            <a:prstGeom prst="ellipse">
              <a:avLst/>
            </a:prstGeom>
            <a:solidFill>
              <a:srgbClr val="FF33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Period and centripetal acceleration</a:t>
            </a:r>
            <a:r>
              <a:rPr lang="en-US">
                <a:ea typeface="Calibri" pitchFamily="34" charset="0"/>
                <a:cs typeface="Arial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Arial" charset="0"/>
                <a:sym typeface="Symbol" pitchFamily="18" charset="2"/>
              </a:rPr>
              <a:t>Sometimes the period of a revolution is given, rather than a velocity.</a:t>
            </a:r>
            <a:endParaRPr lang="en-US">
              <a:ea typeface="Calibri" pitchFamily="34" charset="0"/>
              <a:cs typeface="Courier New" pitchFamily="49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</a:t>
            </a:r>
            <a:r>
              <a:rPr lang="en-US">
                <a:ea typeface="Calibri" pitchFamily="34" charset="0"/>
                <a:cs typeface="Courier New" pitchFamily="49" charset="0"/>
              </a:rPr>
              <a:t>One revolution is one circumference </a:t>
            </a:r>
            <a:r>
              <a:rPr lang="en-US" i="1">
                <a:ea typeface="Calibri" pitchFamily="34" charset="0"/>
                <a:cs typeface="Courier New" pitchFamily="49" charset="0"/>
              </a:rPr>
              <a:t>C </a:t>
            </a:r>
            <a:r>
              <a:rPr lang="en-US">
                <a:ea typeface="Calibri" pitchFamily="34" charset="0"/>
                <a:cs typeface="Courier New" pitchFamily="49" charset="0"/>
              </a:rPr>
              <a:t>= 2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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r</a:t>
            </a:r>
            <a:r>
              <a:rPr lang="en-US">
                <a:ea typeface="Calibri" pitchFamily="34" charset="0"/>
                <a:cs typeface="Courier New" pitchFamily="49" charset="0"/>
              </a:rPr>
              <a:t>. 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Therefore </a:t>
            </a:r>
            <a:r>
              <a:rPr lang="en-US" i="1">
                <a:ea typeface="Calibri" pitchFamily="34" charset="0"/>
                <a:cs typeface="Courier New" pitchFamily="49" charset="0"/>
              </a:rPr>
              <a:t>v</a:t>
            </a:r>
            <a:r>
              <a:rPr lang="en-US">
                <a:ea typeface="Calibri" pitchFamily="34" charset="0"/>
                <a:cs typeface="Courier New" pitchFamily="49" charset="0"/>
              </a:rPr>
              <a:t> = </a:t>
            </a:r>
            <a:r>
              <a:rPr lang="en-US" i="1">
                <a:ea typeface="Calibri" pitchFamily="34" charset="0"/>
                <a:cs typeface="Courier New" pitchFamily="49" charset="0"/>
              </a:rPr>
              <a:t>distance</a:t>
            </a:r>
            <a:r>
              <a:rPr lang="en-US">
                <a:ea typeface="Calibri" pitchFamily="34" charset="0"/>
                <a:cs typeface="Courier New" pitchFamily="49" charset="0"/>
              </a:rPr>
              <a:t> </a:t>
            </a:r>
            <a:r>
              <a:rPr lang="en-US" i="1">
                <a:ea typeface="Calibri" pitchFamily="34" charset="0"/>
                <a:cs typeface="Courier New" pitchFamily="49" charset="0"/>
              </a:rPr>
              <a:t>/</a:t>
            </a:r>
            <a:r>
              <a:rPr lang="en-US">
                <a:ea typeface="Calibri" pitchFamily="34" charset="0"/>
                <a:cs typeface="Courier New" pitchFamily="49" charset="0"/>
              </a:rPr>
              <a:t> </a:t>
            </a:r>
            <a:r>
              <a:rPr lang="en-US" i="1">
                <a:ea typeface="Calibri" pitchFamily="34" charset="0"/>
                <a:cs typeface="Courier New" pitchFamily="49" charset="0"/>
              </a:rPr>
              <a:t>time</a:t>
            </a:r>
            <a:r>
              <a:rPr lang="en-US">
                <a:ea typeface="Calibri" pitchFamily="34" charset="0"/>
                <a:cs typeface="Courier New" pitchFamily="49" charset="0"/>
              </a:rPr>
              <a:t> = 2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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r / T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.</a:t>
            </a:r>
            <a:endParaRPr lang="en-US">
              <a:ea typeface="Calibri" pitchFamily="34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Thus </a:t>
            </a:r>
            <a:r>
              <a:rPr lang="en-US" i="1">
                <a:ea typeface="Calibri" pitchFamily="34" charset="0"/>
                <a:cs typeface="Courier New" pitchFamily="49" charset="0"/>
              </a:rPr>
              <a:t>v</a:t>
            </a:r>
            <a:r>
              <a:rPr lang="en-US" baseline="30000">
                <a:ea typeface="Calibri" pitchFamily="34" charset="0"/>
                <a:cs typeface="Courier New" pitchFamily="49" charset="0"/>
              </a:rPr>
              <a:t> 2</a:t>
            </a:r>
            <a:r>
              <a:rPr lang="en-US">
                <a:ea typeface="Calibri" pitchFamily="34" charset="0"/>
                <a:cs typeface="Courier New" pitchFamily="49" charset="0"/>
              </a:rPr>
              <a:t> = 4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</a:t>
            </a:r>
            <a:r>
              <a:rPr lang="en-US" baseline="30000">
                <a:ea typeface="Calibri" pitchFamily="34" charset="0"/>
                <a:cs typeface="Courier New" pitchFamily="49" charset="0"/>
                <a:sym typeface="Symbol" pitchFamily="18" charset="2"/>
              </a:rPr>
              <a:t> 2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r</a:t>
            </a:r>
            <a:r>
              <a:rPr lang="en-US" baseline="30000">
                <a:ea typeface="Calibri" pitchFamily="34" charset="0"/>
                <a:cs typeface="Courier New" pitchFamily="49" charset="0"/>
                <a:sym typeface="Symbol" pitchFamily="18" charset="2"/>
              </a:rPr>
              <a:t> 2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/ T </a:t>
            </a:r>
            <a:r>
              <a:rPr lang="en-US" baseline="30000"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so that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		  </a:t>
            </a:r>
            <a:r>
              <a:rPr lang="en-US" i="1">
                <a:ea typeface="Calibri" pitchFamily="34" charset="0"/>
                <a:cs typeface="Courier New" pitchFamily="49" charset="0"/>
              </a:rPr>
              <a:t>a</a:t>
            </a:r>
            <a:r>
              <a:rPr lang="en-US" baseline="-25000">
                <a:ea typeface="Calibri" pitchFamily="34" charset="0"/>
                <a:cs typeface="Courier New" pitchFamily="49" charset="0"/>
              </a:rPr>
              <a:t>c </a:t>
            </a:r>
            <a:r>
              <a:rPr lang="en-US">
                <a:ea typeface="Calibri" pitchFamily="34" charset="0"/>
                <a:cs typeface="Courier New" pitchFamily="49" charset="0"/>
              </a:rPr>
              <a:t>=</a:t>
            </a:r>
            <a:r>
              <a:rPr lang="en-US" baseline="-25000">
                <a:ea typeface="Calibri" pitchFamily="34" charset="0"/>
                <a:cs typeface="Courier New" pitchFamily="49" charset="0"/>
              </a:rPr>
              <a:t> </a:t>
            </a:r>
            <a:r>
              <a:rPr lang="en-US" i="1">
                <a:ea typeface="Calibri" pitchFamily="34" charset="0"/>
                <a:cs typeface="Courier New" pitchFamily="49" charset="0"/>
              </a:rPr>
              <a:t>v</a:t>
            </a:r>
            <a:r>
              <a:rPr lang="en-US" baseline="30000">
                <a:ea typeface="Calibri" pitchFamily="34" charset="0"/>
                <a:cs typeface="Courier New" pitchFamily="49" charset="0"/>
              </a:rPr>
              <a:t> 2 </a:t>
            </a:r>
            <a:r>
              <a:rPr lang="en-US" i="1">
                <a:ea typeface="Calibri" pitchFamily="34" charset="0"/>
                <a:cs typeface="Courier New" pitchFamily="49" charset="0"/>
              </a:rPr>
              <a:t>/</a:t>
            </a:r>
            <a:r>
              <a:rPr lang="en-US">
                <a:ea typeface="Calibri" pitchFamily="34" charset="0"/>
                <a:cs typeface="Courier New" pitchFamily="49" charset="0"/>
              </a:rPr>
              <a:t> </a:t>
            </a:r>
            <a:r>
              <a:rPr lang="en-US" i="1">
                <a:ea typeface="Calibri" pitchFamily="34" charset="0"/>
                <a:cs typeface="Courier New" pitchFamily="49" charset="0"/>
              </a:rPr>
              <a:t>r</a:t>
            </a:r>
            <a:endParaRPr lang="en-US">
              <a:ea typeface="Calibri" pitchFamily="34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Courier New" pitchFamily="49" charset="0"/>
              </a:rPr>
              <a:t>		      = 4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</a:t>
            </a:r>
            <a:r>
              <a:rPr lang="en-US" baseline="30000">
                <a:ea typeface="Calibri" pitchFamily="34" charset="0"/>
                <a:cs typeface="Courier New" pitchFamily="49" charset="0"/>
                <a:sym typeface="Symbol" pitchFamily="18" charset="2"/>
              </a:rPr>
              <a:t> 2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r</a:t>
            </a:r>
            <a:r>
              <a:rPr lang="en-US" baseline="30000">
                <a:ea typeface="Calibri" pitchFamily="34" charset="0"/>
                <a:cs typeface="Courier New" pitchFamily="49" charset="0"/>
                <a:sym typeface="Symbol" pitchFamily="18" charset="2"/>
              </a:rPr>
              <a:t> 2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/ T </a:t>
            </a:r>
            <a:r>
              <a:rPr lang="en-US" baseline="30000"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r</a:t>
            </a:r>
          </a:p>
          <a:p>
            <a:pPr eaLnBrk="0" hangingPunct="0">
              <a:spcBef>
                <a:spcPct val="20000"/>
              </a:spcBef>
            </a:pP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      		      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=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ea typeface="Calibri" pitchFamily="34" charset="0"/>
                <a:cs typeface="Courier New" pitchFamily="49" charset="0"/>
              </a:rPr>
              <a:t>4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</a:t>
            </a:r>
            <a:r>
              <a:rPr lang="en-US" baseline="30000">
                <a:ea typeface="Calibri" pitchFamily="34" charset="0"/>
                <a:cs typeface="Courier New" pitchFamily="49" charset="0"/>
                <a:sym typeface="Symbol" pitchFamily="18" charset="2"/>
              </a:rPr>
              <a:t> 2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r / T</a:t>
            </a:r>
            <a:r>
              <a:rPr lang="en-US" baseline="30000">
                <a:ea typeface="Calibri" pitchFamily="34" charset="0"/>
                <a:cs typeface="Courier New" pitchFamily="49" charset="0"/>
                <a:sym typeface="Symbol" pitchFamily="18" charset="2"/>
              </a:rPr>
              <a:t> 2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.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28675" y="5529263"/>
            <a:ext cx="7464425" cy="833437"/>
            <a:chOff x="522" y="3239"/>
            <a:chExt cx="4702" cy="525"/>
          </a:xfrm>
        </p:grpSpPr>
        <p:sp>
          <p:nvSpPr>
            <p:cNvPr id="17415" name="Rectangle 5"/>
            <p:cNvSpPr>
              <a:spLocks noChangeArrowheads="1"/>
            </p:cNvSpPr>
            <p:nvPr/>
          </p:nvSpPr>
          <p:spPr bwMode="auto">
            <a:xfrm>
              <a:off x="608" y="3239"/>
              <a:ext cx="129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/>
                <a:t>a</a:t>
              </a:r>
              <a:r>
                <a:rPr lang="en-US" baseline="-25000"/>
                <a:t>c </a:t>
              </a:r>
              <a:r>
                <a:rPr lang="en-US"/>
                <a:t>=</a:t>
              </a:r>
              <a:r>
                <a:rPr lang="en-US" baseline="-25000"/>
                <a:t> </a:t>
              </a:r>
              <a:r>
                <a:rPr lang="en-US" i="1"/>
                <a:t>v</a:t>
              </a:r>
              <a:r>
                <a:rPr lang="en-US" baseline="30000"/>
                <a:t> 2 </a:t>
              </a:r>
              <a:r>
                <a:rPr lang="en-US" i="1"/>
                <a:t>/</a:t>
              </a:r>
              <a:r>
                <a:rPr lang="en-US"/>
                <a:t> </a:t>
              </a:r>
              <a:r>
                <a:rPr lang="en-US" i="1"/>
                <a:t>r</a:t>
              </a:r>
              <a:endParaRPr lang="en-US" baseline="-25000"/>
            </a:p>
          </p:txBody>
        </p:sp>
        <p:sp>
          <p:nvSpPr>
            <p:cNvPr id="17416" name="Text Box 6"/>
            <p:cNvSpPr txBox="1">
              <a:spLocks noChangeArrowheads="1"/>
            </p:cNvSpPr>
            <p:nvPr/>
          </p:nvSpPr>
          <p:spPr bwMode="auto">
            <a:xfrm>
              <a:off x="3380" y="3241"/>
              <a:ext cx="1844" cy="523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centripetal acceleration</a:t>
              </a:r>
            </a:p>
          </p:txBody>
        </p:sp>
        <p:sp>
          <p:nvSpPr>
            <p:cNvPr id="17417" name="Rectangle 7"/>
            <p:cNvSpPr>
              <a:spLocks noChangeArrowheads="1"/>
            </p:cNvSpPr>
            <p:nvPr/>
          </p:nvSpPr>
          <p:spPr bwMode="auto">
            <a:xfrm>
              <a:off x="522" y="3243"/>
              <a:ext cx="4701" cy="51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8" name="Rectangle 8"/>
            <p:cNvSpPr>
              <a:spLocks noChangeArrowheads="1"/>
            </p:cNvSpPr>
            <p:nvPr/>
          </p:nvSpPr>
          <p:spPr bwMode="auto">
            <a:xfrm>
              <a:off x="618" y="3471"/>
              <a:ext cx="129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/>
                <a:t>a</a:t>
              </a:r>
              <a:r>
                <a:rPr lang="en-US" baseline="-25000"/>
                <a:t>c </a:t>
              </a:r>
              <a:r>
                <a:rPr lang="en-US"/>
                <a:t>=</a:t>
              </a:r>
              <a:r>
                <a:rPr lang="en-US" baseline="-25000"/>
                <a:t> </a:t>
              </a:r>
              <a:r>
                <a:rPr lang="en-US"/>
                <a:t>4</a:t>
              </a:r>
              <a:r>
                <a:rPr lang="en-US">
                  <a:sym typeface="Symbol" pitchFamily="18" charset="2"/>
                </a:rPr>
                <a:t></a:t>
              </a:r>
              <a:r>
                <a:rPr lang="en-US" baseline="30000">
                  <a:sym typeface="Symbol" pitchFamily="18" charset="2"/>
                </a:rPr>
                <a:t> 2 </a:t>
              </a:r>
              <a:r>
                <a:rPr lang="en-US" i="1">
                  <a:sym typeface="Symbol" pitchFamily="18" charset="2"/>
                </a:rPr>
                <a:t>r / T </a:t>
              </a:r>
              <a:r>
                <a:rPr lang="en-US" baseline="30000">
                  <a:sym typeface="Symbol" pitchFamily="18" charset="2"/>
                </a:rPr>
                <a:t>2</a:t>
              </a:r>
            </a:p>
          </p:txBody>
        </p:sp>
      </p:grpSp>
      <p:sp>
        <p:nvSpPr>
          <p:cNvPr id="122889" name="Line 9"/>
          <p:cNvSpPr>
            <a:spLocks noChangeShapeType="1"/>
          </p:cNvSpPr>
          <p:nvPr/>
        </p:nvSpPr>
        <p:spPr bwMode="auto">
          <a:xfrm flipV="1">
            <a:off x="4772025" y="4743450"/>
            <a:ext cx="187325" cy="1079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890" name="Line 10"/>
          <p:cNvSpPr>
            <a:spLocks noChangeShapeType="1"/>
          </p:cNvSpPr>
          <p:nvPr/>
        </p:nvSpPr>
        <p:spPr bwMode="auto">
          <a:xfrm flipV="1">
            <a:off x="4089400" y="4633913"/>
            <a:ext cx="133350" cy="1079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2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2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9" grpId="0" animBg="1"/>
      <p:bldP spid="12289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133826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i="1">
              <a:solidFill>
                <a:schemeClr val="accent2"/>
              </a:solidFill>
              <a:sym typeface="Symbol" pitchFamily="18" charset="2"/>
            </a:endParaRPr>
          </a:p>
        </p:txBody>
      </p:sp>
      <p:sp>
        <p:nvSpPr>
          <p:cNvPr id="124937" name="Rectangle 9"/>
          <p:cNvSpPr>
            <a:spLocks noChangeArrowheads="1"/>
          </p:cNvSpPr>
          <p:nvPr/>
        </p:nvSpPr>
        <p:spPr bwMode="auto">
          <a:xfrm>
            <a:off x="674688" y="2846388"/>
            <a:ext cx="7781925" cy="40116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Albert the 2.50-kg physics cat is being swung around by a string harness having a radius of 3.00 meters. He takes 5.00 seconds to complete one fun revolution. What are </a:t>
            </a:r>
            <a:r>
              <a:rPr lang="en-US" i="1">
                <a:sym typeface="Symbol" pitchFamily="18" charset="2"/>
              </a:rPr>
              <a:t>a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and </a:t>
            </a:r>
            <a:r>
              <a:rPr lang="en-US" i="1">
                <a:sym typeface="Symbol" pitchFamily="18" charset="2"/>
              </a:rPr>
              <a:t>F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?</a:t>
            </a:r>
            <a:endParaRPr lang="en-US">
              <a:cs typeface="Courier New" pitchFamily="49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/>
              <a:t>SOLUTION:</a:t>
            </a:r>
          </a:p>
          <a:p>
            <a:pPr eaLnBrk="0" hangingPunct="0"/>
            <a:r>
              <a:rPr lang="en-US">
                <a:sym typeface="Symbol" pitchFamily="18" charset="2"/>
              </a:rPr>
              <a:t></a:t>
            </a:r>
            <a:r>
              <a:rPr lang="en-US" i="1"/>
              <a:t>a</a:t>
            </a:r>
            <a:r>
              <a:rPr lang="en-US" baseline="-25000"/>
              <a:t>c 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/>
              <a:t>4</a:t>
            </a:r>
            <a:r>
              <a:rPr lang="en-US">
                <a:sym typeface="Symbol" pitchFamily="18" charset="2"/>
              </a:rPr>
              <a:t></a:t>
            </a:r>
            <a:r>
              <a:rPr lang="en-US" baseline="30000">
                <a:sym typeface="Symbol" pitchFamily="18" charset="2"/>
              </a:rPr>
              <a:t> 2 </a:t>
            </a:r>
            <a:r>
              <a:rPr lang="en-US" i="1">
                <a:sym typeface="Symbol" pitchFamily="18" charset="2"/>
              </a:rPr>
              <a:t>r / T</a:t>
            </a:r>
            <a:r>
              <a:rPr lang="en-US" baseline="30000">
                <a:sym typeface="Symbol" pitchFamily="18" charset="2"/>
              </a:rPr>
              <a:t> 2</a:t>
            </a:r>
            <a:r>
              <a:rPr lang="en-US">
                <a:sym typeface="Symbol" pitchFamily="18" charset="2"/>
              </a:rPr>
              <a:t> </a:t>
            </a:r>
          </a:p>
          <a:p>
            <a:pPr eaLnBrk="0" hangingPunct="0"/>
            <a:r>
              <a:rPr lang="en-US">
                <a:sym typeface="Symbol" pitchFamily="18" charset="2"/>
              </a:rPr>
              <a:t>      = </a:t>
            </a:r>
            <a:r>
              <a:rPr lang="en-US"/>
              <a:t>4</a:t>
            </a:r>
            <a:r>
              <a:rPr lang="en-US">
                <a:sym typeface="Symbol" pitchFamily="18" charset="2"/>
              </a:rPr>
              <a:t></a:t>
            </a:r>
            <a:r>
              <a:rPr lang="en-US" baseline="30000">
                <a:sym typeface="Symbol" pitchFamily="18" charset="2"/>
              </a:rPr>
              <a:t> 2 </a:t>
            </a:r>
            <a:r>
              <a:rPr lang="en-US">
                <a:sym typeface="Symbol" pitchFamily="18" charset="2"/>
              </a:rPr>
              <a:t>(3) </a:t>
            </a:r>
            <a:r>
              <a:rPr lang="en-US" i="1">
                <a:sym typeface="Symbol" pitchFamily="18" charset="2"/>
              </a:rPr>
              <a:t>/ </a:t>
            </a:r>
            <a:r>
              <a:rPr lang="en-US">
                <a:sym typeface="Symbol" pitchFamily="18" charset="2"/>
              </a:rPr>
              <a:t>(5)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 = 4.74 m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s</a:t>
            </a:r>
            <a:r>
              <a:rPr lang="en-US" baseline="30000">
                <a:sym typeface="Symbol" pitchFamily="18" charset="2"/>
              </a:rPr>
              <a:t>-2</a:t>
            </a:r>
            <a:r>
              <a:rPr lang="en-US">
                <a:sym typeface="Symbol" pitchFamily="18" charset="2"/>
              </a:rPr>
              <a:t>.</a:t>
            </a:r>
            <a:endParaRPr lang="en-US" i="1">
              <a:cs typeface="Courier New" pitchFamily="49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  <a:buFont typeface="Symbol" pitchFamily="18" charset="2"/>
              <a:buChar char="·"/>
            </a:pPr>
            <a:r>
              <a:rPr lang="en-US" i="1"/>
              <a:t>F</a:t>
            </a:r>
            <a:r>
              <a:rPr lang="en-US" baseline="-25000"/>
              <a:t>c 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 i="1"/>
              <a:t>ma</a:t>
            </a:r>
            <a:r>
              <a:rPr lang="en-US" baseline="-25000"/>
              <a:t>c</a:t>
            </a:r>
            <a:r>
              <a:rPr lang="en-US"/>
              <a:t> = (2.5)(4.74) = 11.9 n.</a:t>
            </a:r>
            <a:endParaRPr lang="en-US">
              <a:cs typeface="Courier New" pitchFamily="49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  <a:buFont typeface="Symbol" pitchFamily="18" charset="2"/>
              <a:buNone/>
            </a:pPr>
            <a:r>
              <a:rPr lang="en-US">
                <a:cs typeface="Courier New" pitchFamily="49" charset="0"/>
                <a:sym typeface="Symbol" pitchFamily="18" charset="2"/>
              </a:rPr>
              <a:t>The tension is causing the centripetal                         force, so the tension is </a:t>
            </a:r>
            <a:r>
              <a:rPr lang="en-US" i="1">
                <a:cs typeface="Courier New" pitchFamily="49" charset="0"/>
                <a:sym typeface="Symbol" pitchFamily="18" charset="2"/>
              </a:rPr>
              <a:t>F</a:t>
            </a:r>
            <a:r>
              <a:rPr lang="en-US" baseline="-25000">
                <a:cs typeface="Courier New" pitchFamily="49" charset="0"/>
                <a:sym typeface="Symbol" pitchFamily="18" charset="2"/>
              </a:rPr>
              <a:t>c</a:t>
            </a:r>
            <a:r>
              <a:rPr lang="en-US">
                <a:cs typeface="Courier New" pitchFamily="49" charset="0"/>
                <a:sym typeface="Symbol" pitchFamily="18" charset="2"/>
              </a:rPr>
              <a:t> = 11.9 n.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828675" y="1965325"/>
            <a:ext cx="7464425" cy="833438"/>
            <a:chOff x="522" y="3239"/>
            <a:chExt cx="4702" cy="525"/>
          </a:xfrm>
        </p:grpSpPr>
        <p:sp>
          <p:nvSpPr>
            <p:cNvPr id="18448" name="Rectangle 21"/>
            <p:cNvSpPr>
              <a:spLocks noChangeArrowheads="1"/>
            </p:cNvSpPr>
            <p:nvPr/>
          </p:nvSpPr>
          <p:spPr bwMode="auto">
            <a:xfrm>
              <a:off x="608" y="3239"/>
              <a:ext cx="129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/>
                <a:t>a</a:t>
              </a:r>
              <a:r>
                <a:rPr lang="en-US" baseline="-25000"/>
                <a:t>c </a:t>
              </a:r>
              <a:r>
                <a:rPr lang="en-US"/>
                <a:t>=</a:t>
              </a:r>
              <a:r>
                <a:rPr lang="en-US" baseline="-25000"/>
                <a:t> </a:t>
              </a:r>
              <a:r>
                <a:rPr lang="en-US" i="1"/>
                <a:t>v</a:t>
              </a:r>
              <a:r>
                <a:rPr lang="en-US" baseline="30000"/>
                <a:t> 2 </a:t>
              </a:r>
              <a:r>
                <a:rPr lang="en-US" i="1"/>
                <a:t>/</a:t>
              </a:r>
              <a:r>
                <a:rPr lang="en-US"/>
                <a:t> </a:t>
              </a:r>
              <a:r>
                <a:rPr lang="en-US" i="1"/>
                <a:t>r</a:t>
              </a:r>
              <a:endParaRPr lang="en-US" baseline="-25000"/>
            </a:p>
          </p:txBody>
        </p:sp>
        <p:sp>
          <p:nvSpPr>
            <p:cNvPr id="18449" name="Text Box 22"/>
            <p:cNvSpPr txBox="1">
              <a:spLocks noChangeArrowheads="1"/>
            </p:cNvSpPr>
            <p:nvPr/>
          </p:nvSpPr>
          <p:spPr bwMode="auto">
            <a:xfrm>
              <a:off x="3380" y="3241"/>
              <a:ext cx="1844" cy="523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centripetal acceleration</a:t>
              </a:r>
            </a:p>
          </p:txBody>
        </p:sp>
        <p:sp>
          <p:nvSpPr>
            <p:cNvPr id="18450" name="Rectangle 23"/>
            <p:cNvSpPr>
              <a:spLocks noChangeArrowheads="1"/>
            </p:cNvSpPr>
            <p:nvPr/>
          </p:nvSpPr>
          <p:spPr bwMode="auto">
            <a:xfrm>
              <a:off x="522" y="3243"/>
              <a:ext cx="4701" cy="51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Rectangle 24"/>
            <p:cNvSpPr>
              <a:spLocks noChangeArrowheads="1"/>
            </p:cNvSpPr>
            <p:nvPr/>
          </p:nvSpPr>
          <p:spPr bwMode="auto">
            <a:xfrm>
              <a:off x="618" y="3471"/>
              <a:ext cx="129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/>
                <a:t>a</a:t>
              </a:r>
              <a:r>
                <a:rPr lang="en-US" baseline="-25000"/>
                <a:t>c </a:t>
              </a:r>
              <a:r>
                <a:rPr lang="en-US"/>
                <a:t>=</a:t>
              </a:r>
              <a:r>
                <a:rPr lang="en-US" baseline="-25000"/>
                <a:t> </a:t>
              </a:r>
              <a:r>
                <a:rPr lang="en-US"/>
                <a:t>4</a:t>
              </a:r>
              <a:r>
                <a:rPr lang="en-US">
                  <a:sym typeface="Symbol" pitchFamily="18" charset="2"/>
                </a:rPr>
                <a:t></a:t>
              </a:r>
              <a:r>
                <a:rPr lang="en-US" baseline="30000">
                  <a:sym typeface="Symbol" pitchFamily="18" charset="2"/>
                </a:rPr>
                <a:t> 2 </a:t>
              </a:r>
              <a:r>
                <a:rPr lang="en-US" i="1">
                  <a:sym typeface="Symbol" pitchFamily="18" charset="2"/>
                </a:rPr>
                <a:t>r / T </a:t>
              </a:r>
              <a:r>
                <a:rPr lang="en-US" baseline="30000">
                  <a:sym typeface="Symbol" pitchFamily="18" charset="2"/>
                </a:rPr>
                <a:t>2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 rot="10800000">
            <a:off x="6332538" y="2779713"/>
            <a:ext cx="1146175" cy="4078287"/>
            <a:chOff x="3425" y="1491"/>
            <a:chExt cx="722" cy="2569"/>
          </a:xfrm>
        </p:grpSpPr>
        <p:sp>
          <p:nvSpPr>
            <p:cNvPr id="18440" name="Rectangle 11"/>
            <p:cNvSpPr>
              <a:spLocks noChangeArrowheads="1"/>
            </p:cNvSpPr>
            <p:nvPr/>
          </p:nvSpPr>
          <p:spPr bwMode="auto">
            <a:xfrm>
              <a:off x="3425" y="1491"/>
              <a:ext cx="720" cy="1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en-US"/>
            </a:p>
          </p:txBody>
        </p:sp>
        <p:pic>
          <p:nvPicPr>
            <p:cNvPr id="18441" name="Picture 12" descr="MCj0330249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0800000">
              <a:off x="3503" y="1500"/>
              <a:ext cx="616" cy="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42" name="Line 13"/>
            <p:cNvSpPr>
              <a:spLocks noChangeShapeType="1"/>
            </p:cNvSpPr>
            <p:nvPr/>
          </p:nvSpPr>
          <p:spPr bwMode="auto">
            <a:xfrm>
              <a:off x="3778" y="1711"/>
              <a:ext cx="0" cy="186"/>
            </a:xfrm>
            <a:prstGeom prst="line">
              <a:avLst/>
            </a:prstGeom>
            <a:noFill/>
            <a:ln w="38100">
              <a:solidFill>
                <a:srgbClr val="DDDDDD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Line 14"/>
            <p:cNvSpPr>
              <a:spLocks noChangeShapeType="1"/>
            </p:cNvSpPr>
            <p:nvPr/>
          </p:nvSpPr>
          <p:spPr bwMode="auto">
            <a:xfrm>
              <a:off x="3778" y="1889"/>
              <a:ext cx="0" cy="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Rectangle 15"/>
            <p:cNvSpPr>
              <a:spLocks noChangeArrowheads="1"/>
            </p:cNvSpPr>
            <p:nvPr/>
          </p:nvSpPr>
          <p:spPr bwMode="auto">
            <a:xfrm>
              <a:off x="3427" y="2773"/>
              <a:ext cx="720" cy="1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en-US"/>
            </a:p>
          </p:txBody>
        </p:sp>
        <p:grpSp>
          <p:nvGrpSpPr>
            <p:cNvPr id="18445" name="Group 16"/>
            <p:cNvGrpSpPr>
              <a:grpSpLocks/>
            </p:cNvGrpSpPr>
            <p:nvPr/>
          </p:nvGrpSpPr>
          <p:grpSpPr bwMode="auto">
            <a:xfrm>
              <a:off x="3735" y="2728"/>
              <a:ext cx="93" cy="93"/>
              <a:chOff x="1685" y="2669"/>
              <a:chExt cx="127" cy="127"/>
            </a:xfrm>
          </p:grpSpPr>
          <p:sp>
            <p:nvSpPr>
              <p:cNvPr id="18446" name="Line 17"/>
              <p:cNvSpPr>
                <a:spLocks noChangeShapeType="1"/>
              </p:cNvSpPr>
              <p:nvPr/>
            </p:nvSpPr>
            <p:spPr bwMode="auto">
              <a:xfrm>
                <a:off x="1693" y="2677"/>
                <a:ext cx="119" cy="1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47" name="Line 18"/>
              <p:cNvSpPr>
                <a:spLocks noChangeShapeType="1"/>
              </p:cNvSpPr>
              <p:nvPr/>
            </p:nvSpPr>
            <p:spPr bwMode="auto">
              <a:xfrm flipH="1">
                <a:off x="1685" y="2669"/>
                <a:ext cx="127" cy="1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24947" name="Text Box 19"/>
          <p:cNvSpPr txBox="1">
            <a:spLocks noChangeArrowheads="1"/>
          </p:cNvSpPr>
          <p:nvPr/>
        </p:nvSpPr>
        <p:spPr bwMode="auto">
          <a:xfrm>
            <a:off x="7639050" y="4038600"/>
            <a:ext cx="1490663" cy="204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>
                <a:solidFill>
                  <a:schemeClr val="hlink"/>
                </a:solidFill>
                <a:latin typeface="Blackadder ITC" pitchFamily="82" charset="0"/>
              </a:rPr>
              <a:t>Albert the Physics Cat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4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7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49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49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49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49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49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49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4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4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49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49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Angular displacement and arc length</a:t>
            </a:r>
            <a:r>
              <a:rPr lang="en-US">
                <a:ea typeface="Calibri" pitchFamily="34" charset="0"/>
                <a:cs typeface="Arial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Arial" charset="0"/>
                <a:sym typeface="Symbol" pitchFamily="18" charset="2"/>
              </a:rPr>
              <a:t>Consider the rotating arm which                                             has 6 paint cans along its radius.</a:t>
            </a:r>
            <a:endParaRPr lang="en-US">
              <a:ea typeface="Calibri" pitchFamily="34" charset="0"/>
              <a:cs typeface="Courier New" pitchFamily="49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</a:t>
            </a:r>
            <a:r>
              <a:rPr lang="en-US">
                <a:ea typeface="Calibri" pitchFamily="34" charset="0"/>
                <a:cs typeface="Courier New" pitchFamily="49" charset="0"/>
              </a:rPr>
              <a:t>Each can</a:t>
            </a:r>
            <a:r>
              <a:rPr lang="en-US" i="1">
                <a:ea typeface="Calibri" pitchFamily="34" charset="0"/>
                <a:cs typeface="Courier New" pitchFamily="49" charset="0"/>
              </a:rPr>
              <a:t> </a:t>
            </a:r>
            <a:r>
              <a:rPr lang="en-US">
                <a:ea typeface="Calibri" pitchFamily="34" charset="0"/>
                <a:cs typeface="Courier New" pitchFamily="49" charset="0"/>
              </a:rPr>
              <a:t>has a spout that is                                            opened for exactly a quarter                                                     of a revolution.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</a:t>
            </a:r>
            <a:r>
              <a:rPr lang="en-US">
                <a:ea typeface="Calibri" pitchFamily="34" charset="0"/>
                <a:cs typeface="Courier New" pitchFamily="49" charset="0"/>
              </a:rPr>
              <a:t>We call 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 the </a:t>
            </a:r>
            <a:r>
              <a:rPr lang="en-US" b="1">
                <a:ea typeface="Calibri" pitchFamily="34" charset="0"/>
                <a:cs typeface="Courier New" pitchFamily="49" charset="0"/>
                <a:sym typeface="Symbol" pitchFamily="18" charset="2"/>
              </a:rPr>
              <a:t>angular                                                           displacement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. 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All 6 color trails represent the                                          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same angular displacements 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of 90˚.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Each color traces out a different displacement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s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</a:t>
            </a:r>
            <a:r>
              <a:rPr lang="en-US">
                <a:ea typeface="Calibri" pitchFamily="34" charset="0"/>
                <a:cs typeface="Courier New" pitchFamily="49" charset="0"/>
              </a:rPr>
              <a:t>We call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s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the </a:t>
            </a:r>
            <a:r>
              <a:rPr lang="en-US" b="1">
                <a:ea typeface="Calibri" pitchFamily="34" charset="0"/>
                <a:cs typeface="Courier New" pitchFamily="49" charset="0"/>
                <a:sym typeface="Symbol" pitchFamily="18" charset="2"/>
              </a:rPr>
              <a:t>arc length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. 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All 6 color trails represent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different arc lengths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.</a:t>
            </a:r>
            <a:endParaRPr lang="en-US">
              <a:ea typeface="Calibri" pitchFamily="34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Courier New" pitchFamily="49" charset="0"/>
              </a:rPr>
              <a:t>                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4962525" y="1871663"/>
            <a:ext cx="3794125" cy="3792537"/>
            <a:chOff x="1749" y="1803"/>
            <a:chExt cx="2390" cy="2389"/>
          </a:xfrm>
        </p:grpSpPr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1750" y="1803"/>
              <a:ext cx="2378" cy="237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8" name="Oval 12"/>
            <p:cNvSpPr>
              <a:spLocks noChangeArrowheads="1"/>
            </p:cNvSpPr>
            <p:nvPr/>
          </p:nvSpPr>
          <p:spPr bwMode="auto">
            <a:xfrm>
              <a:off x="2913" y="2955"/>
              <a:ext cx="74" cy="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9" name="Line 13"/>
            <p:cNvSpPr>
              <a:spLocks noChangeShapeType="1"/>
            </p:cNvSpPr>
            <p:nvPr/>
          </p:nvSpPr>
          <p:spPr bwMode="auto">
            <a:xfrm>
              <a:off x="1749" y="2997"/>
              <a:ext cx="23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0" name="Line 14"/>
            <p:cNvSpPr>
              <a:spLocks noChangeShapeType="1"/>
            </p:cNvSpPr>
            <p:nvPr/>
          </p:nvSpPr>
          <p:spPr bwMode="auto">
            <a:xfrm>
              <a:off x="2944" y="1803"/>
              <a:ext cx="0" cy="2389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Oval 15"/>
            <p:cNvSpPr>
              <a:spLocks noChangeArrowheads="1"/>
            </p:cNvSpPr>
            <p:nvPr/>
          </p:nvSpPr>
          <p:spPr bwMode="auto">
            <a:xfrm>
              <a:off x="3141" y="2952"/>
              <a:ext cx="74" cy="7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2" name="Oval 16"/>
            <p:cNvSpPr>
              <a:spLocks noChangeArrowheads="1"/>
            </p:cNvSpPr>
            <p:nvPr/>
          </p:nvSpPr>
          <p:spPr bwMode="auto">
            <a:xfrm>
              <a:off x="3380" y="2949"/>
              <a:ext cx="74" cy="74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3" name="Oval 17"/>
            <p:cNvSpPr>
              <a:spLocks noChangeArrowheads="1"/>
            </p:cNvSpPr>
            <p:nvPr/>
          </p:nvSpPr>
          <p:spPr bwMode="auto">
            <a:xfrm>
              <a:off x="3608" y="2946"/>
              <a:ext cx="74" cy="74"/>
            </a:xfrm>
            <a:prstGeom prst="ellipse">
              <a:avLst/>
            </a:prstGeom>
            <a:solidFill>
              <a:srgbClr val="33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4" name="Oval 18"/>
            <p:cNvSpPr>
              <a:spLocks noChangeArrowheads="1"/>
            </p:cNvSpPr>
            <p:nvPr/>
          </p:nvSpPr>
          <p:spPr bwMode="auto">
            <a:xfrm>
              <a:off x="3825" y="2943"/>
              <a:ext cx="74" cy="74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5" name="Oval 19"/>
            <p:cNvSpPr>
              <a:spLocks noChangeArrowheads="1"/>
            </p:cNvSpPr>
            <p:nvPr/>
          </p:nvSpPr>
          <p:spPr bwMode="auto">
            <a:xfrm>
              <a:off x="4053" y="2951"/>
              <a:ext cx="74" cy="7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Arc 21"/>
          <p:cNvSpPr>
            <a:spLocks/>
          </p:cNvSpPr>
          <p:nvPr/>
        </p:nvSpPr>
        <p:spPr bwMode="auto">
          <a:xfrm rot="10800000" flipH="1" flipV="1">
            <a:off x="6858000" y="3376613"/>
            <a:ext cx="373063" cy="373062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7620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Arc 22"/>
          <p:cNvSpPr>
            <a:spLocks/>
          </p:cNvSpPr>
          <p:nvPr/>
        </p:nvSpPr>
        <p:spPr bwMode="auto">
          <a:xfrm rot="10800000" flipH="1" flipV="1">
            <a:off x="6856413" y="3005138"/>
            <a:ext cx="744537" cy="744537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76200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Arc 23"/>
          <p:cNvSpPr>
            <a:spLocks/>
          </p:cNvSpPr>
          <p:nvPr/>
        </p:nvSpPr>
        <p:spPr bwMode="auto">
          <a:xfrm rot="10800000" flipH="1" flipV="1">
            <a:off x="6869113" y="2644775"/>
            <a:ext cx="1100137" cy="1100138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76200">
            <a:solidFill>
              <a:srgbClr val="33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Arc 24"/>
          <p:cNvSpPr>
            <a:spLocks/>
          </p:cNvSpPr>
          <p:nvPr/>
        </p:nvSpPr>
        <p:spPr bwMode="auto">
          <a:xfrm rot="10800000" flipH="1" flipV="1">
            <a:off x="6881813" y="2301875"/>
            <a:ext cx="1455737" cy="1455738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76200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Arc 25"/>
          <p:cNvSpPr>
            <a:spLocks/>
          </p:cNvSpPr>
          <p:nvPr/>
        </p:nvSpPr>
        <p:spPr bwMode="auto">
          <a:xfrm rot="10800000" flipH="1" flipV="1">
            <a:off x="6859588" y="1924050"/>
            <a:ext cx="1828800" cy="1828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8728075" y="3786188"/>
            <a:ext cx="415925" cy="158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6200000">
            <a:off x="6652419" y="1639094"/>
            <a:ext cx="415925" cy="158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c 28"/>
          <p:cNvSpPr/>
          <p:nvPr/>
        </p:nvSpPr>
        <p:spPr>
          <a:xfrm>
            <a:off x="4768850" y="1687513"/>
            <a:ext cx="4197350" cy="4198937"/>
          </a:xfrm>
          <a:prstGeom prst="arc">
            <a:avLst/>
          </a:prstGeom>
          <a:ln>
            <a:solidFill>
              <a:schemeClr val="accent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8062913" y="1930400"/>
            <a:ext cx="342900" cy="457200"/>
            <a:chOff x="8478981" y="1191491"/>
            <a:chExt cx="341801" cy="456906"/>
          </a:xfrm>
        </p:grpSpPr>
        <p:sp>
          <p:nvSpPr>
            <p:cNvPr id="31" name="Rectangle 30"/>
            <p:cNvSpPr/>
            <p:nvPr/>
          </p:nvSpPr>
          <p:spPr>
            <a:xfrm>
              <a:off x="8562848" y="1288267"/>
              <a:ext cx="178813" cy="31888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478981" y="1191491"/>
              <a:ext cx="341801" cy="45690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chemeClr val="accent6"/>
                  </a:solidFill>
                  <a:sym typeface="Symbol"/>
                </a:rPr>
                <a:t></a:t>
              </a:r>
              <a:endParaRPr lang="en-US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6843713" y="3357563"/>
            <a:ext cx="355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FFFF00"/>
                </a:solidFill>
              </a:rPr>
              <a:t>s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7053263" y="3052763"/>
            <a:ext cx="355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92D050"/>
                </a:solidFill>
              </a:rPr>
              <a:t>s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291388" y="2762250"/>
            <a:ext cx="35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33CCFF"/>
                </a:solidFill>
              </a:rPr>
              <a:t>s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7529513" y="2500313"/>
            <a:ext cx="355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008000"/>
                </a:solidFill>
              </a:rPr>
              <a:t>s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7710488" y="2209800"/>
            <a:ext cx="35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FF0000"/>
                </a:solidFill>
              </a:rPr>
              <a:t>s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2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2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22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22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33" grpId="0"/>
      <p:bldP spid="34" grpId="0"/>
      <p:bldP spid="35" grpId="0"/>
      <p:bldP spid="36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3"/>
          <p:cNvSpPr>
            <a:spLocks noChangeArrowheads="1"/>
          </p:cNvSpPr>
          <p:nvPr/>
        </p:nvSpPr>
        <p:spPr bwMode="auto">
          <a:xfrm>
            <a:off x="674688" y="4267200"/>
            <a:ext cx="7781925" cy="2590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Convert 30 into radians (rad) and convert 1.75 rad to degrees.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SOLUTION: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 30( </a:t>
            </a:r>
            <a:r>
              <a:rPr lang="en-US">
                <a:cs typeface="Courier New" pitchFamily="49" charset="0"/>
                <a:sym typeface="Symbol" pitchFamily="18" charset="2"/>
              </a:rPr>
              <a:t></a:t>
            </a:r>
            <a:r>
              <a:rPr lang="en-US" i="1"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cs typeface="Courier New" pitchFamily="49" charset="0"/>
                <a:sym typeface="Symbol" pitchFamily="18" charset="2"/>
              </a:rPr>
              <a:t>rad</a:t>
            </a:r>
            <a:r>
              <a:rPr lang="en-US" i="1">
                <a:cs typeface="Courier New" pitchFamily="49" charset="0"/>
                <a:sym typeface="Symbol" pitchFamily="18" charset="2"/>
              </a:rPr>
              <a:t> / </a:t>
            </a:r>
            <a:r>
              <a:rPr lang="en-US">
                <a:cs typeface="Courier New" pitchFamily="49" charset="0"/>
                <a:sym typeface="Symbol" pitchFamily="18" charset="2"/>
              </a:rPr>
              <a:t>180° ) = 0.52 rad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 1.75 rad ( </a:t>
            </a:r>
            <a:r>
              <a:rPr lang="en-US">
                <a:cs typeface="Courier New" pitchFamily="49" charset="0"/>
                <a:sym typeface="Symbol" pitchFamily="18" charset="2"/>
              </a:rPr>
              <a:t>180° </a:t>
            </a:r>
            <a:r>
              <a:rPr lang="en-US" i="1">
                <a:cs typeface="Courier New" pitchFamily="49" charset="0"/>
                <a:sym typeface="Symbol" pitchFamily="18" charset="2"/>
              </a:rPr>
              <a:t>/</a:t>
            </a:r>
            <a:r>
              <a:rPr lang="en-US">
                <a:cs typeface="Courier New" pitchFamily="49" charset="0"/>
                <a:sym typeface="Symbol" pitchFamily="18" charset="2"/>
              </a:rPr>
              <a:t>  </a:t>
            </a:r>
            <a:r>
              <a:rPr lang="en-US" i="1"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cs typeface="Courier New" pitchFamily="49" charset="0"/>
                <a:sym typeface="Symbol" pitchFamily="18" charset="2"/>
              </a:rPr>
              <a:t>rad ) = 100°.</a:t>
            </a:r>
          </a:p>
        </p:txBody>
      </p:sp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2732088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Angular displacement and arc length</a:t>
            </a:r>
            <a:r>
              <a:rPr lang="en-US">
                <a:ea typeface="Calibri" pitchFamily="34" charset="0"/>
                <a:cs typeface="Arial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Arial" charset="0"/>
                <a:sym typeface="Symbol" pitchFamily="18" charset="2"/>
              </a:rPr>
              <a:t>At this point it is useful to define a new way to measure angles – called </a:t>
            </a:r>
            <a:r>
              <a:rPr lang="en-US" b="1">
                <a:ea typeface="Calibri" pitchFamily="34" charset="0"/>
                <a:cs typeface="Arial" charset="0"/>
                <a:sym typeface="Symbol" pitchFamily="18" charset="2"/>
              </a:rPr>
              <a:t>radians</a:t>
            </a:r>
            <a:r>
              <a:rPr lang="en-US">
                <a:ea typeface="Calibri" pitchFamily="34" charset="0"/>
                <a:cs typeface="Arial" charset="0"/>
                <a:sym typeface="Symbol" pitchFamily="18" charset="2"/>
              </a:rPr>
              <a:t>.</a:t>
            </a:r>
            <a:endParaRPr lang="en-US">
              <a:ea typeface="Calibri" pitchFamily="34" charset="0"/>
              <a:cs typeface="Courier New" pitchFamily="49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>
              <a:ea typeface="Calibri" pitchFamily="34" charset="0"/>
              <a:cs typeface="Courier New" pitchFamily="49" charset="0"/>
              <a:sym typeface="Symbol" pitchFamily="18" charset="2"/>
            </a:endParaRPr>
          </a:p>
          <a:p>
            <a:pPr eaLnBrk="0" hangingPunct="0">
              <a:spcBef>
                <a:spcPts val="20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</a:t>
            </a:r>
            <a:r>
              <a:rPr lang="en-US">
                <a:ea typeface="Calibri" pitchFamily="34" charset="0"/>
                <a:cs typeface="Courier New" pitchFamily="49" charset="0"/>
              </a:rPr>
              <a:t>Looking at the above conversions we see that there are </a:t>
            </a:r>
            <a:r>
              <a:rPr lang="en-US">
                <a:cs typeface="Courier New" pitchFamily="49" charset="0"/>
                <a:sym typeface="Symbol" pitchFamily="18" charset="2"/>
              </a:rPr>
              <a:t>2</a:t>
            </a:r>
            <a:r>
              <a:rPr lang="en-US" i="1"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cs typeface="Courier New" pitchFamily="49" charset="0"/>
                <a:sym typeface="Symbol" pitchFamily="18" charset="2"/>
              </a:rPr>
              <a:t>rad</a:t>
            </a:r>
            <a:r>
              <a:rPr lang="en-US" i="1"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cs typeface="Courier New" pitchFamily="49" charset="0"/>
                <a:sym typeface="Symbol" pitchFamily="18" charset="2"/>
              </a:rPr>
              <a:t>in 360</a:t>
            </a:r>
            <a:r>
              <a:rPr lang="en-US" i="1">
                <a:cs typeface="Courier New" pitchFamily="49" charset="0"/>
                <a:sym typeface="Symbol" pitchFamily="18" charset="2"/>
              </a:rPr>
              <a:t>˚.</a:t>
            </a:r>
            <a:endParaRPr lang="en-US"/>
          </a:p>
          <a:p>
            <a:pPr eaLnBrk="0" hangingPunct="0">
              <a:spcBef>
                <a:spcPct val="20000"/>
              </a:spcBef>
            </a:pPr>
            <a:r>
              <a:rPr lang="en-US"/>
              <a:t>                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788988" y="2762250"/>
            <a:ext cx="7464425" cy="669925"/>
            <a:chOff x="523" y="2651"/>
            <a:chExt cx="4702" cy="422"/>
          </a:xfrm>
        </p:grpSpPr>
        <p:sp>
          <p:nvSpPr>
            <p:cNvPr id="20486" name="Rectangle 10"/>
            <p:cNvSpPr>
              <a:spLocks noChangeArrowheads="1"/>
            </p:cNvSpPr>
            <p:nvPr/>
          </p:nvSpPr>
          <p:spPr bwMode="auto">
            <a:xfrm>
              <a:off x="721" y="2651"/>
              <a:ext cx="2280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cs typeface="Courier New" pitchFamily="49" charset="0"/>
                  <a:sym typeface="Symbol" pitchFamily="18" charset="2"/>
                </a:rPr>
                <a:t>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rad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=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180° </a:t>
              </a:r>
              <a:r>
                <a:rPr lang="en-US">
                  <a:solidFill>
                    <a:schemeClr val="accent2"/>
                  </a:solidFill>
                  <a:cs typeface="Courier New" pitchFamily="49" charset="0"/>
                  <a:sym typeface="Symbol" pitchFamily="18" charset="2"/>
                </a:rPr>
                <a:t>= 1</a:t>
              </a:r>
              <a:r>
                <a:rPr lang="en-US" i="1">
                  <a:solidFill>
                    <a:schemeClr val="accent2"/>
                  </a:solidFill>
                  <a:cs typeface="Courier New" pitchFamily="49" charset="0"/>
                  <a:sym typeface="Symbol" pitchFamily="18" charset="2"/>
                </a:rPr>
                <a:t>/</a:t>
              </a:r>
              <a:r>
                <a:rPr lang="en-US" i="1" baseline="-25000">
                  <a:solidFill>
                    <a:schemeClr val="accent2"/>
                  </a:solidFill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solidFill>
                    <a:schemeClr val="accent2"/>
                  </a:solidFill>
                  <a:cs typeface="Courier New" pitchFamily="49" charset="0"/>
                  <a:sym typeface="Symbol" pitchFamily="18" charset="2"/>
                </a:rPr>
                <a:t>2 rev</a:t>
              </a:r>
            </a:p>
          </p:txBody>
        </p:sp>
        <p:sp>
          <p:nvSpPr>
            <p:cNvPr id="20487" name="Text Box 11"/>
            <p:cNvSpPr txBox="1">
              <a:spLocks noChangeArrowheads="1"/>
            </p:cNvSpPr>
            <p:nvPr/>
          </p:nvSpPr>
          <p:spPr bwMode="auto">
            <a:xfrm>
              <a:off x="3018" y="2669"/>
              <a:ext cx="2207" cy="404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>
                  <a:solidFill>
                    <a:schemeClr val="bg1"/>
                  </a:solidFill>
                </a:rPr>
                <a:t>radian-degree-revolution conversions</a:t>
              </a:r>
            </a:p>
          </p:txBody>
        </p:sp>
        <p:sp>
          <p:nvSpPr>
            <p:cNvPr id="20488" name="Rectangle 12"/>
            <p:cNvSpPr>
              <a:spLocks noChangeArrowheads="1"/>
            </p:cNvSpPr>
            <p:nvPr/>
          </p:nvSpPr>
          <p:spPr bwMode="auto">
            <a:xfrm>
              <a:off x="523" y="2671"/>
              <a:ext cx="4701" cy="3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9" name="Rectangle 13"/>
            <p:cNvSpPr>
              <a:spLocks noChangeArrowheads="1"/>
            </p:cNvSpPr>
            <p:nvPr/>
          </p:nvSpPr>
          <p:spPr bwMode="auto">
            <a:xfrm>
              <a:off x="625" y="2844"/>
              <a:ext cx="265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cs typeface="Courier New" pitchFamily="49" charset="0"/>
                  <a:sym typeface="Symbol" pitchFamily="18" charset="2"/>
                </a:rPr>
                <a:t>2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rad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=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360° </a:t>
              </a:r>
              <a:r>
                <a:rPr lang="en-US">
                  <a:solidFill>
                    <a:schemeClr val="accent2"/>
                  </a:solidFill>
                  <a:cs typeface="Courier New" pitchFamily="49" charset="0"/>
                  <a:sym typeface="Symbol" pitchFamily="18" charset="2"/>
                </a:rPr>
                <a:t>= 1 rev</a:t>
              </a:r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3"/>
          <p:cNvSpPr>
            <a:spLocks noChangeArrowheads="1"/>
          </p:cNvSpPr>
          <p:nvPr/>
        </p:nvSpPr>
        <p:spPr bwMode="auto">
          <a:xfrm>
            <a:off x="674688" y="4308475"/>
            <a:ext cx="7781925" cy="25495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Suppose the </a:t>
            </a:r>
            <a:r>
              <a:rPr lang="en-US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red line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is located                    at a radius of 1.50 m and the </a:t>
            </a:r>
            <a:r>
              <a:rPr lang="en-US">
                <a:solidFill>
                  <a:srgbClr val="008000"/>
                </a:solidFill>
                <a:cs typeface="Times New Roman" pitchFamily="18" charset="0"/>
                <a:sym typeface="Symbol" pitchFamily="18" charset="2"/>
              </a:rPr>
              <a:t>green line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is                              located at 1.25 m. Find their lengths.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SOLUTION:  90( </a:t>
            </a:r>
            <a:r>
              <a:rPr lang="en-US">
                <a:cs typeface="Courier New" pitchFamily="49" charset="0"/>
                <a:sym typeface="Symbol" pitchFamily="18" charset="2"/>
              </a:rPr>
              <a:t></a:t>
            </a:r>
            <a:r>
              <a:rPr lang="en-US" i="1"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cs typeface="Courier New" pitchFamily="49" charset="0"/>
                <a:sym typeface="Symbol" pitchFamily="18" charset="2"/>
              </a:rPr>
              <a:t>rad</a:t>
            </a:r>
            <a:r>
              <a:rPr lang="en-US" i="1">
                <a:cs typeface="Courier New" pitchFamily="49" charset="0"/>
                <a:sym typeface="Symbol" pitchFamily="18" charset="2"/>
              </a:rPr>
              <a:t> / </a:t>
            </a:r>
            <a:r>
              <a:rPr lang="en-US">
                <a:cs typeface="Courier New" pitchFamily="49" charset="0"/>
                <a:sym typeface="Symbol" pitchFamily="18" charset="2"/>
              </a:rPr>
              <a:t>180°) = 1.57 rad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i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s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= </a:t>
            </a:r>
            <a:r>
              <a:rPr lang="en-US" i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r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>
                <a:cs typeface="Courier New" pitchFamily="49" charset="0"/>
                <a:sym typeface="Symbol" pitchFamily="18" charset="2"/>
              </a:rPr>
              <a:t> = 1.501.57 = 2.4 m.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i="1">
                <a:solidFill>
                  <a:srgbClr val="008000"/>
                </a:solidFill>
                <a:cs typeface="Times New Roman" pitchFamily="18" charset="0"/>
                <a:sym typeface="Symbol" pitchFamily="18" charset="2"/>
              </a:rPr>
              <a:t>s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= </a:t>
            </a:r>
            <a:r>
              <a:rPr lang="en-US" i="1">
                <a:solidFill>
                  <a:srgbClr val="008000"/>
                </a:solidFill>
                <a:cs typeface="Times New Roman" pitchFamily="18" charset="0"/>
                <a:sym typeface="Symbol" pitchFamily="18" charset="2"/>
              </a:rPr>
              <a:t>r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>
                <a:cs typeface="Courier New" pitchFamily="49" charset="0"/>
                <a:sym typeface="Symbol" pitchFamily="18" charset="2"/>
              </a:rPr>
              <a:t> = 1.251.57 = 2.0 m.</a:t>
            </a:r>
          </a:p>
          <a:p>
            <a:pPr>
              <a:spcBef>
                <a:spcPct val="20000"/>
              </a:spcBef>
            </a:pPr>
            <a:endParaRPr lang="en-US">
              <a:cs typeface="Courier New" pitchFamily="49" charset="0"/>
              <a:sym typeface="Symbol" pitchFamily="18" charset="2"/>
            </a:endParaRPr>
          </a:p>
        </p:txBody>
      </p:sp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27876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Angular displacement and arc length</a:t>
            </a:r>
            <a:r>
              <a:rPr lang="en-US">
                <a:ea typeface="Calibri" pitchFamily="34" charset="0"/>
                <a:cs typeface="Arial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endParaRPr lang="en-US">
              <a:ea typeface="Calibri" pitchFamily="34" charset="0"/>
              <a:cs typeface="Arial" charset="0"/>
              <a:sym typeface="Symbol" pitchFamily="18" charset="2"/>
            </a:endParaRPr>
          </a:p>
          <a:p>
            <a:pPr eaLnBrk="0" hangingPunct="0">
              <a:spcBef>
                <a:spcPts val="20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</a:t>
            </a:r>
            <a:r>
              <a:rPr lang="en-US">
                <a:ea typeface="Calibri" pitchFamily="34" charset="0"/>
                <a:cs typeface="Courier New" pitchFamily="49" charset="0"/>
              </a:rPr>
              <a:t>The relationship between angular displacement 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 and arc length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s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is</a:t>
            </a:r>
          </a:p>
          <a:p>
            <a:pPr eaLnBrk="0" hangingPunct="0">
              <a:spcBef>
                <a:spcPts val="575"/>
              </a:spcBef>
            </a:pPr>
            <a:endParaRPr lang="en-US">
              <a:solidFill>
                <a:srgbClr val="000000"/>
              </a:solidFill>
              <a:cs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ts val="575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where r is the radius.</a:t>
            </a:r>
            <a:endParaRPr lang="en-US">
              <a:sym typeface="Symbol" pitchFamily="18" charset="2"/>
            </a:endParaRPr>
          </a:p>
          <a:p>
            <a:pPr eaLnBrk="0" hangingPunct="0">
              <a:spcBef>
                <a:spcPts val="600"/>
              </a:spcBef>
            </a:pPr>
            <a:endParaRPr lang="en-US">
              <a:sym typeface="Symbol" pitchFamily="18" charset="2"/>
            </a:endParaRPr>
          </a:p>
          <a:p>
            <a:pPr eaLnBrk="0" hangingPunct="0">
              <a:spcBef>
                <a:spcPts val="600"/>
              </a:spcBef>
            </a:pPr>
            <a:endParaRPr lang="en-US">
              <a:sym typeface="Symbol" pitchFamily="18" charset="2"/>
            </a:endParaRPr>
          </a:p>
          <a:p>
            <a:pPr eaLnBrk="0" hangingPunct="0">
              <a:spcBef>
                <a:spcPts val="2000"/>
              </a:spcBef>
            </a:pPr>
            <a:endParaRPr lang="en-US">
              <a:sym typeface="Symbol" pitchFamily="18" charset="2"/>
            </a:endParaRPr>
          </a:p>
          <a:p>
            <a:pPr eaLnBrk="0" hangingPunct="0">
              <a:spcBef>
                <a:spcPts val="2000"/>
              </a:spcBef>
            </a:pPr>
            <a:endParaRPr lang="en-US"/>
          </a:p>
          <a:p>
            <a:pPr eaLnBrk="0" hangingPunct="0">
              <a:spcBef>
                <a:spcPct val="20000"/>
              </a:spcBef>
            </a:pPr>
            <a:r>
              <a:rPr lang="en-US"/>
              <a:t>                </a:t>
            </a: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806450" y="3414713"/>
            <a:ext cx="7464425" cy="457200"/>
            <a:chOff x="833438" y="3880603"/>
            <a:chExt cx="7464425" cy="456906"/>
          </a:xfrm>
        </p:grpSpPr>
        <p:sp>
          <p:nvSpPr>
            <p:cNvPr id="21512" name="Rectangle 5"/>
            <p:cNvSpPr>
              <a:spLocks noChangeArrowheads="1"/>
            </p:cNvSpPr>
            <p:nvPr/>
          </p:nvSpPr>
          <p:spPr bwMode="auto">
            <a:xfrm>
              <a:off x="838201" y="3901241"/>
              <a:ext cx="2428875" cy="407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s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 </a:t>
              </a:r>
              <a:endParaRPr lang="en-US" i="1">
                <a:cs typeface="Courier New" pitchFamily="49" charset="0"/>
                <a:sym typeface="Symbol" pitchFamily="18" charset="2"/>
              </a:endParaRPr>
            </a:p>
          </p:txBody>
        </p:sp>
        <p:sp>
          <p:nvSpPr>
            <p:cNvPr id="21513" name="Text Box 6"/>
            <p:cNvSpPr txBox="1">
              <a:spLocks noChangeArrowheads="1"/>
            </p:cNvSpPr>
            <p:nvPr/>
          </p:nvSpPr>
          <p:spPr bwMode="auto">
            <a:xfrm>
              <a:off x="4710113" y="3880603"/>
              <a:ext cx="3587750" cy="456906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relation between </a:t>
              </a:r>
              <a:r>
                <a:rPr lang="en-US" i="1">
                  <a:solidFill>
                    <a:schemeClr val="bg1"/>
                  </a:solidFill>
                  <a:sym typeface="Symbol" pitchFamily="18" charset="2"/>
                </a:rPr>
                <a:t>s</a:t>
              </a:r>
              <a:r>
                <a:rPr lang="en-US">
                  <a:solidFill>
                    <a:schemeClr val="bg1"/>
                  </a:solidFill>
                  <a:sym typeface="Symbol" pitchFamily="18" charset="2"/>
                </a:rPr>
                <a:t> and</a:t>
              </a:r>
              <a:r>
                <a:rPr lang="en-US">
                  <a:solidFill>
                    <a:schemeClr val="bg1"/>
                  </a:solidFill>
                </a:rPr>
                <a:t> </a:t>
              </a:r>
              <a:r>
                <a:rPr lang="en-US">
                  <a:solidFill>
                    <a:schemeClr val="bg1"/>
                  </a:solidFill>
                  <a:cs typeface="Courier New" pitchFamily="49" charset="0"/>
                  <a:sym typeface="Symbol" pitchFamily="18" charset="2"/>
                </a:rPr>
                <a:t></a:t>
              </a: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14" name="Rectangle 7"/>
            <p:cNvSpPr>
              <a:spLocks noChangeArrowheads="1"/>
            </p:cNvSpPr>
            <p:nvPr/>
          </p:nvSpPr>
          <p:spPr bwMode="auto">
            <a:xfrm>
              <a:off x="833438" y="3883778"/>
              <a:ext cx="7462838" cy="4526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2643188" y="3902814"/>
              <a:ext cx="2055813" cy="406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r"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solidFill>
                    <a:srgbClr val="2D2D8A"/>
                  </a:solidFill>
                  <a:cs typeface="Courier New" pitchFamily="49" charset="0"/>
                  <a:sym typeface="Symbol" pitchFamily="18" charset="2"/>
                </a:rPr>
                <a:t></a:t>
              </a:r>
              <a:r>
                <a:rPr lang="en-US" i="1">
                  <a:solidFill>
                    <a:srgbClr val="2D2D8A"/>
                  </a:solidFill>
                  <a:cs typeface="Courier New" pitchFamily="49" charset="0"/>
                  <a:sym typeface="Symbol" pitchFamily="18" charset="2"/>
                </a:rPr>
                <a:t> in </a:t>
              </a:r>
              <a:r>
                <a:rPr lang="en-US">
                  <a:solidFill>
                    <a:srgbClr val="2D2D8A"/>
                  </a:solidFill>
                  <a:cs typeface="Courier New" pitchFamily="49" charset="0"/>
                  <a:sym typeface="Symbol" pitchFamily="18" charset="2"/>
                </a:rPr>
                <a:t>radians</a:t>
              </a:r>
            </a:p>
          </p:txBody>
        </p:sp>
      </p:grp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35775" y="4779963"/>
            <a:ext cx="2062163" cy="204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808038" y="1971675"/>
            <a:ext cx="7464425" cy="669925"/>
            <a:chOff x="523" y="2651"/>
            <a:chExt cx="4702" cy="422"/>
          </a:xfrm>
        </p:grpSpPr>
        <p:sp>
          <p:nvSpPr>
            <p:cNvPr id="21522" name="Rectangle 10"/>
            <p:cNvSpPr>
              <a:spLocks noChangeArrowheads="1"/>
            </p:cNvSpPr>
            <p:nvPr/>
          </p:nvSpPr>
          <p:spPr bwMode="auto">
            <a:xfrm>
              <a:off x="721" y="2651"/>
              <a:ext cx="2280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cs typeface="Courier New" pitchFamily="49" charset="0"/>
                  <a:sym typeface="Symbol" pitchFamily="18" charset="2"/>
                </a:rPr>
                <a:t>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rad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=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180° </a:t>
              </a:r>
              <a:r>
                <a:rPr lang="en-US">
                  <a:solidFill>
                    <a:schemeClr val="accent2"/>
                  </a:solidFill>
                  <a:cs typeface="Courier New" pitchFamily="49" charset="0"/>
                  <a:sym typeface="Symbol" pitchFamily="18" charset="2"/>
                </a:rPr>
                <a:t>= 1</a:t>
              </a:r>
              <a:r>
                <a:rPr lang="en-US" i="1">
                  <a:solidFill>
                    <a:schemeClr val="accent2"/>
                  </a:solidFill>
                  <a:cs typeface="Courier New" pitchFamily="49" charset="0"/>
                  <a:sym typeface="Symbol" pitchFamily="18" charset="2"/>
                </a:rPr>
                <a:t>/</a:t>
              </a:r>
              <a:r>
                <a:rPr lang="en-US" i="1" baseline="-25000">
                  <a:solidFill>
                    <a:schemeClr val="accent2"/>
                  </a:solidFill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solidFill>
                    <a:schemeClr val="accent2"/>
                  </a:solidFill>
                  <a:cs typeface="Courier New" pitchFamily="49" charset="0"/>
                  <a:sym typeface="Symbol" pitchFamily="18" charset="2"/>
                </a:rPr>
                <a:t>2 rev</a:t>
              </a:r>
            </a:p>
          </p:txBody>
        </p:sp>
        <p:sp>
          <p:nvSpPr>
            <p:cNvPr id="21523" name="Text Box 11"/>
            <p:cNvSpPr txBox="1">
              <a:spLocks noChangeArrowheads="1"/>
            </p:cNvSpPr>
            <p:nvPr/>
          </p:nvSpPr>
          <p:spPr bwMode="auto">
            <a:xfrm>
              <a:off x="3018" y="2669"/>
              <a:ext cx="2207" cy="404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>
                  <a:solidFill>
                    <a:schemeClr val="bg1"/>
                  </a:solidFill>
                </a:rPr>
                <a:t>radian-degree-revolution conversions</a:t>
              </a:r>
            </a:p>
          </p:txBody>
        </p:sp>
        <p:sp>
          <p:nvSpPr>
            <p:cNvPr id="21524" name="Rectangle 12"/>
            <p:cNvSpPr>
              <a:spLocks noChangeArrowheads="1"/>
            </p:cNvSpPr>
            <p:nvPr/>
          </p:nvSpPr>
          <p:spPr bwMode="auto">
            <a:xfrm>
              <a:off x="523" y="2671"/>
              <a:ext cx="4701" cy="3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5" name="Rectangle 13"/>
            <p:cNvSpPr>
              <a:spLocks noChangeArrowheads="1"/>
            </p:cNvSpPr>
            <p:nvPr/>
          </p:nvSpPr>
          <p:spPr bwMode="auto">
            <a:xfrm>
              <a:off x="625" y="2844"/>
              <a:ext cx="265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cs typeface="Courier New" pitchFamily="49" charset="0"/>
                  <a:sym typeface="Symbol" pitchFamily="18" charset="2"/>
                </a:rPr>
                <a:t>2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rad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=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360° </a:t>
              </a:r>
              <a:r>
                <a:rPr lang="en-US">
                  <a:solidFill>
                    <a:schemeClr val="accent2"/>
                  </a:solidFill>
                  <a:cs typeface="Courier New" pitchFamily="49" charset="0"/>
                  <a:sym typeface="Symbol" pitchFamily="18" charset="2"/>
                </a:rPr>
                <a:t>= 1 rev</a:t>
              </a:r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4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Angular speed and speed</a:t>
            </a:r>
            <a:r>
              <a:rPr lang="en-US">
                <a:ea typeface="Calibri" pitchFamily="34" charset="0"/>
                <a:cs typeface="Arial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endParaRPr lang="en-US">
              <a:ea typeface="Calibri" pitchFamily="34" charset="0"/>
              <a:cs typeface="Arial" charset="0"/>
              <a:sym typeface="Symbol" pitchFamily="18" charset="2"/>
            </a:endParaRPr>
          </a:p>
          <a:p>
            <a:pPr eaLnBrk="0" hangingPunct="0">
              <a:spcBef>
                <a:spcPts val="6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The arc length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s 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is simply the displacement we learned about in Topic 2, and is the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s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that is in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s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=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ut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+ (1/2)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at</a:t>
            </a:r>
            <a:r>
              <a:rPr lang="en-US" baseline="30000">
                <a:ea typeface="Calibri" pitchFamily="34" charset="0"/>
                <a:cs typeface="Courier New" pitchFamily="49" charset="0"/>
                <a:sym typeface="Symbol" pitchFamily="18" charset="2"/>
              </a:rPr>
              <a:t> 2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.</a:t>
            </a:r>
          </a:p>
          <a:p>
            <a:pPr eaLnBrk="0" hangingPunct="0">
              <a:spcBef>
                <a:spcPts val="6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Because </a:t>
            </a:r>
            <a:r>
              <a:rPr lang="en-US" b="1">
                <a:ea typeface="Calibri" pitchFamily="34" charset="0"/>
                <a:cs typeface="Courier New" pitchFamily="49" charset="0"/>
                <a:sym typeface="Symbol" pitchFamily="18" charset="2"/>
              </a:rPr>
              <a:t>speed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is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v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=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s / t, 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we see that </a:t>
            </a:r>
          </a:p>
          <a:p>
            <a:pPr eaLnBrk="0" hangingPunct="0">
              <a:spcBef>
                <a:spcPts val="600"/>
              </a:spcBef>
            </a:pP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	v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=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s / t	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lang="en-US">
                <a:solidFill>
                  <a:schemeClr val="hlink"/>
                </a:solidFill>
                <a:ea typeface="Calibri" pitchFamily="34" charset="0"/>
                <a:cs typeface="Courier New" pitchFamily="49" charset="0"/>
                <a:sym typeface="Symbol" pitchFamily="18" charset="2"/>
              </a:rPr>
              <a:t>definition of speed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</a:p>
          <a:p>
            <a:pPr eaLnBrk="0" hangingPunct="0">
              <a:spcBef>
                <a:spcPts val="600"/>
              </a:spcBef>
            </a:pP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	   = 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(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r 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 )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 / t	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lang="en-US">
                <a:solidFill>
                  <a:schemeClr val="hlink"/>
                </a:solidFill>
                <a:ea typeface="Calibri" pitchFamily="34" charset="0"/>
                <a:cs typeface="Courier New" pitchFamily="49" charset="0"/>
                <a:sym typeface="Symbol" pitchFamily="18" charset="2"/>
              </a:rPr>
              <a:t>substitution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</a:p>
          <a:p>
            <a:pPr eaLnBrk="0" hangingPunct="0">
              <a:spcBef>
                <a:spcPts val="6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	   =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r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( 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 / t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)	(</a:t>
            </a:r>
            <a:r>
              <a:rPr lang="en-US">
                <a:solidFill>
                  <a:schemeClr val="hlink"/>
                </a:solidFill>
                <a:ea typeface="Calibri" pitchFamily="34" charset="0"/>
                <a:cs typeface="Courier New" pitchFamily="49" charset="0"/>
                <a:sym typeface="Symbol" pitchFamily="18" charset="2"/>
              </a:rPr>
              <a:t>associative property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</a:p>
          <a:p>
            <a:pPr eaLnBrk="0" hangingPunct="0">
              <a:spcBef>
                <a:spcPts val="6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	   = </a:t>
            </a:r>
            <a:r>
              <a:rPr lang="en-US" i="1">
                <a:ea typeface="Calibri" pitchFamily="34" charset="0"/>
                <a:cs typeface="Courier New" pitchFamily="49" charset="0"/>
                <a:sym typeface="Symbol" pitchFamily="18" charset="2"/>
              </a:rPr>
              <a:t>r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 		(</a:t>
            </a:r>
            <a:r>
              <a:rPr lang="en-US">
                <a:solidFill>
                  <a:schemeClr val="hlink"/>
                </a:solidFill>
                <a:ea typeface="Calibri" pitchFamily="34" charset="0"/>
                <a:cs typeface="Courier New" pitchFamily="49" charset="0"/>
                <a:sym typeface="Symbol" pitchFamily="18" charset="2"/>
              </a:rPr>
              <a:t>define    </a:t>
            </a:r>
            <a:r>
              <a:rPr lang="en-US" i="1">
                <a:solidFill>
                  <a:schemeClr val="hlink"/>
                </a:solidFill>
                <a:ea typeface="Calibri" pitchFamily="34" charset="0"/>
                <a:cs typeface="Courier New" pitchFamily="49" charset="0"/>
                <a:sym typeface="Symbol" pitchFamily="18" charset="2"/>
              </a:rPr>
              <a:t>/ </a:t>
            </a:r>
            <a:r>
              <a:rPr lang="en-US" i="1" baseline="-25000">
                <a:solidFill>
                  <a:schemeClr val="hlink"/>
                </a:solidFill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ea typeface="Calibri" pitchFamily="34" charset="0"/>
                <a:cs typeface="Courier New" pitchFamily="49" charset="0"/>
                <a:sym typeface="Symbol" pitchFamily="18" charset="2"/>
              </a:rPr>
              <a:t>t 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</a:p>
          <a:p>
            <a:pPr eaLnBrk="0" hangingPunct="0">
              <a:spcBef>
                <a:spcPts val="6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Thus</a:t>
            </a:r>
          </a:p>
          <a:p>
            <a:pPr eaLnBrk="0" hangingPunct="0">
              <a:spcBef>
                <a:spcPts val="600"/>
              </a:spcBef>
            </a:pPr>
            <a:endParaRPr lang="en-US">
              <a:ea typeface="Calibri" pitchFamily="34" charset="0"/>
              <a:cs typeface="Courier New" pitchFamily="49" charset="0"/>
              <a:sym typeface="Symbol" pitchFamily="18" charset="2"/>
            </a:endParaRPr>
          </a:p>
          <a:p>
            <a:pPr eaLnBrk="0" hangingPunct="0">
              <a:spcBef>
                <a:spcPts val="6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We call  the </a:t>
            </a:r>
            <a:r>
              <a:rPr lang="en-US" b="1">
                <a:ea typeface="Calibri" pitchFamily="34" charset="0"/>
                <a:cs typeface="Courier New" pitchFamily="49" charset="0"/>
                <a:sym typeface="Symbol" pitchFamily="18" charset="2"/>
              </a:rPr>
              <a:t>angular speed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.</a:t>
            </a:r>
            <a:r>
              <a:rPr lang="en-US"/>
              <a:t>                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806450" y="1997075"/>
            <a:ext cx="7464425" cy="461963"/>
            <a:chOff x="833438" y="3880603"/>
            <a:chExt cx="7464425" cy="461665"/>
          </a:xfrm>
        </p:grpSpPr>
        <p:sp>
          <p:nvSpPr>
            <p:cNvPr id="22538" name="Rectangle 5"/>
            <p:cNvSpPr>
              <a:spLocks noChangeArrowheads="1"/>
            </p:cNvSpPr>
            <p:nvPr/>
          </p:nvSpPr>
          <p:spPr bwMode="auto">
            <a:xfrm>
              <a:off x="838201" y="3901241"/>
              <a:ext cx="2428875" cy="407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s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 </a:t>
              </a:r>
              <a:endParaRPr lang="en-US" i="1">
                <a:cs typeface="Courier New" pitchFamily="49" charset="0"/>
                <a:sym typeface="Symbol" pitchFamily="18" charset="2"/>
              </a:endParaRPr>
            </a:p>
          </p:txBody>
        </p:sp>
        <p:sp>
          <p:nvSpPr>
            <p:cNvPr id="22539" name="Text Box 6"/>
            <p:cNvSpPr txBox="1">
              <a:spLocks noChangeArrowheads="1"/>
            </p:cNvSpPr>
            <p:nvPr/>
          </p:nvSpPr>
          <p:spPr bwMode="auto">
            <a:xfrm>
              <a:off x="4710113" y="3880603"/>
              <a:ext cx="3587750" cy="461665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relation between </a:t>
              </a:r>
              <a:r>
                <a:rPr lang="en-US" i="1">
                  <a:solidFill>
                    <a:schemeClr val="bg1"/>
                  </a:solidFill>
                  <a:sym typeface="Symbol" pitchFamily="18" charset="2"/>
                </a:rPr>
                <a:t>s</a:t>
              </a:r>
              <a:r>
                <a:rPr lang="en-US">
                  <a:solidFill>
                    <a:schemeClr val="bg1"/>
                  </a:solidFill>
                  <a:sym typeface="Symbol" pitchFamily="18" charset="2"/>
                </a:rPr>
                <a:t> and</a:t>
              </a:r>
              <a:r>
                <a:rPr lang="en-US">
                  <a:solidFill>
                    <a:schemeClr val="bg1"/>
                  </a:solidFill>
                </a:rPr>
                <a:t> </a:t>
              </a:r>
              <a:r>
                <a:rPr lang="en-US">
                  <a:solidFill>
                    <a:schemeClr val="bg1"/>
                  </a:solidFill>
                  <a:cs typeface="Courier New" pitchFamily="49" charset="0"/>
                  <a:sym typeface="Symbol" pitchFamily="18" charset="2"/>
                </a:rPr>
                <a:t></a:t>
              </a: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540" name="Rectangle 7"/>
            <p:cNvSpPr>
              <a:spLocks noChangeArrowheads="1"/>
            </p:cNvSpPr>
            <p:nvPr/>
          </p:nvSpPr>
          <p:spPr bwMode="auto">
            <a:xfrm>
              <a:off x="833438" y="3883778"/>
              <a:ext cx="7462838" cy="4526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2643188" y="3902814"/>
              <a:ext cx="2055813" cy="406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r"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solidFill>
                    <a:srgbClr val="2D2D8A"/>
                  </a:solidFill>
                  <a:cs typeface="Courier New" pitchFamily="49" charset="0"/>
                  <a:sym typeface="Symbol" pitchFamily="18" charset="2"/>
                </a:rPr>
                <a:t></a:t>
              </a:r>
              <a:r>
                <a:rPr lang="en-US" i="1">
                  <a:solidFill>
                    <a:srgbClr val="2D2D8A"/>
                  </a:solidFill>
                  <a:cs typeface="Courier New" pitchFamily="49" charset="0"/>
                  <a:sym typeface="Symbol" pitchFamily="18" charset="2"/>
                </a:rPr>
                <a:t> in </a:t>
              </a:r>
              <a:r>
                <a:rPr lang="en-US">
                  <a:solidFill>
                    <a:srgbClr val="2D2D8A"/>
                  </a:solidFill>
                  <a:cs typeface="Courier New" pitchFamily="49" charset="0"/>
                  <a:sym typeface="Symbol" pitchFamily="18" charset="2"/>
                </a:rPr>
                <a:t>radians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806450" y="5884863"/>
            <a:ext cx="7464425" cy="457200"/>
            <a:chOff x="833438" y="3880603"/>
            <a:chExt cx="7464425" cy="456906"/>
          </a:xfrm>
        </p:grpSpPr>
        <p:sp>
          <p:nvSpPr>
            <p:cNvPr id="22544" name="Rectangle 5"/>
            <p:cNvSpPr>
              <a:spLocks noChangeArrowheads="1"/>
            </p:cNvSpPr>
            <p:nvPr/>
          </p:nvSpPr>
          <p:spPr bwMode="auto">
            <a:xfrm>
              <a:off x="838201" y="3901241"/>
              <a:ext cx="2428875" cy="407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v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ea typeface="Calibri" pitchFamily="34" charset="0"/>
                  <a:cs typeface="Courier New" pitchFamily="49" charset="0"/>
                  <a:sym typeface="Symbol" pitchFamily="18" charset="2"/>
                </a:rPr>
                <a:t></a:t>
              </a:r>
              <a:endParaRPr lang="en-US" i="1">
                <a:cs typeface="Courier New" pitchFamily="49" charset="0"/>
                <a:sym typeface="Symbol" pitchFamily="18" charset="2"/>
              </a:endParaRPr>
            </a:p>
          </p:txBody>
        </p:sp>
        <p:sp>
          <p:nvSpPr>
            <p:cNvPr id="22545" name="Text Box 6"/>
            <p:cNvSpPr txBox="1">
              <a:spLocks noChangeArrowheads="1"/>
            </p:cNvSpPr>
            <p:nvPr/>
          </p:nvSpPr>
          <p:spPr bwMode="auto">
            <a:xfrm>
              <a:off x="4710113" y="3880603"/>
              <a:ext cx="3587750" cy="456906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relation between </a:t>
              </a:r>
              <a:r>
                <a:rPr lang="en-US" i="1">
                  <a:solidFill>
                    <a:schemeClr val="bg1"/>
                  </a:solidFill>
                  <a:sym typeface="Symbol" pitchFamily="18" charset="2"/>
                </a:rPr>
                <a:t>v</a:t>
              </a:r>
              <a:r>
                <a:rPr lang="en-US">
                  <a:solidFill>
                    <a:schemeClr val="bg1"/>
                  </a:solidFill>
                  <a:sym typeface="Symbol" pitchFamily="18" charset="2"/>
                </a:rPr>
                <a:t> and</a:t>
              </a:r>
              <a:r>
                <a:rPr lang="en-US">
                  <a:solidFill>
                    <a:schemeClr val="bg1"/>
                  </a:solidFill>
                </a:rPr>
                <a:t> </a:t>
              </a:r>
              <a:r>
                <a:rPr lang="en-US">
                  <a:solidFill>
                    <a:schemeClr val="bg1"/>
                  </a:solidFill>
                  <a:cs typeface="Courier New" pitchFamily="49" charset="0"/>
                  <a:sym typeface="Symbol" pitchFamily="18" charset="2"/>
                </a:rPr>
                <a:t></a:t>
              </a: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546" name="Rectangle 7"/>
            <p:cNvSpPr>
              <a:spLocks noChangeArrowheads="1"/>
            </p:cNvSpPr>
            <p:nvPr/>
          </p:nvSpPr>
          <p:spPr bwMode="auto">
            <a:xfrm>
              <a:off x="833438" y="3883778"/>
              <a:ext cx="7462838" cy="4526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8"/>
            <p:cNvSpPr>
              <a:spLocks noChangeArrowheads="1"/>
            </p:cNvSpPr>
            <p:nvPr/>
          </p:nvSpPr>
          <p:spPr bwMode="auto">
            <a:xfrm>
              <a:off x="2078038" y="3902814"/>
              <a:ext cx="2620963" cy="406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r"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</a:t>
              </a:r>
              <a:r>
                <a:rPr lang="en-US" i="1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 = </a:t>
              </a: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</a:t>
              </a:r>
              <a:r>
                <a:rPr lang="en-US" i="1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 / t </a:t>
              </a: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(rad s</a:t>
              </a:r>
              <a:r>
                <a:rPr lang="en-US" baseline="30000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-1</a:t>
              </a: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)</a:t>
              </a:r>
              <a:endParaRPr lang="en-US" baseline="30000">
                <a:solidFill>
                  <a:srgbClr val="2D2D8A"/>
                </a:solidFill>
                <a:ea typeface="Calibri" pitchFamily="34" charset="0"/>
                <a:cs typeface="Courier New" pitchFamily="49" charset="0"/>
                <a:sym typeface="Symbol" pitchFamily="18" charset="2"/>
              </a:endParaRPr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2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2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28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28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28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28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674688" y="2535238"/>
            <a:ext cx="7781925" cy="432276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Consider the following point mass moving at a constant speed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v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in a circle of radius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r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as shown. 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Find … </a:t>
            </a:r>
          </a:p>
          <a:p>
            <a:pPr>
              <a:spcBef>
                <a:spcPct val="20000"/>
              </a:spcBef>
              <a:buFontTx/>
              <a:buAutoNum type="alphaLcParenBoth"/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the period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T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of the point mass, and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(b) the frequency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f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of the point mass, and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(c) the angular speed  of the point mass.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SOLUTION:  We need a time piece.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For one revolution the period is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T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= 12 s.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Frequency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f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= 1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/ T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= 1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/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12 = 0.083 s.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Angular speed is  = 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/ t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= 2 rad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/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12 s = 0.52 rad s</a:t>
            </a:r>
            <a:r>
              <a:rPr lang="en-US" baseline="3000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-1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.</a:t>
            </a:r>
          </a:p>
          <a:p>
            <a:pPr>
              <a:spcBef>
                <a:spcPct val="20000"/>
              </a:spcBef>
            </a:pPr>
            <a:endParaRPr lang="en-US">
              <a:cs typeface="Courier New" pitchFamily="49" charset="0"/>
              <a:sym typeface="Symbol" pitchFamily="18" charset="2"/>
            </a:endParaRP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102711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Angular speed and speed</a:t>
            </a:r>
            <a:r>
              <a:rPr lang="en-US">
                <a:ea typeface="Calibri" pitchFamily="34" charset="0"/>
                <a:cs typeface="Arial" charset="0"/>
              </a:rPr>
              <a:t>                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806450" y="2009775"/>
            <a:ext cx="7464425" cy="461963"/>
            <a:chOff x="833438" y="3880603"/>
            <a:chExt cx="7464425" cy="461665"/>
          </a:xfrm>
        </p:grpSpPr>
        <p:sp>
          <p:nvSpPr>
            <p:cNvPr id="23586" name="Rectangle 5"/>
            <p:cNvSpPr>
              <a:spLocks noChangeArrowheads="1"/>
            </p:cNvSpPr>
            <p:nvPr/>
          </p:nvSpPr>
          <p:spPr bwMode="auto">
            <a:xfrm>
              <a:off x="838201" y="3901241"/>
              <a:ext cx="2428875" cy="407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v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ea typeface="Calibri" pitchFamily="34" charset="0"/>
                  <a:cs typeface="Courier New" pitchFamily="49" charset="0"/>
                  <a:sym typeface="Symbol" pitchFamily="18" charset="2"/>
                </a:rPr>
                <a:t></a:t>
              </a:r>
              <a:endParaRPr lang="en-US" i="1">
                <a:cs typeface="Courier New" pitchFamily="49" charset="0"/>
                <a:sym typeface="Symbol" pitchFamily="18" charset="2"/>
              </a:endParaRPr>
            </a:p>
          </p:txBody>
        </p:sp>
        <p:sp>
          <p:nvSpPr>
            <p:cNvPr id="23587" name="Text Box 6"/>
            <p:cNvSpPr txBox="1">
              <a:spLocks noChangeArrowheads="1"/>
            </p:cNvSpPr>
            <p:nvPr/>
          </p:nvSpPr>
          <p:spPr bwMode="auto">
            <a:xfrm>
              <a:off x="4710113" y="3880603"/>
              <a:ext cx="3587750" cy="461665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relation between </a:t>
              </a:r>
              <a:r>
                <a:rPr lang="en-US" i="1">
                  <a:solidFill>
                    <a:schemeClr val="bg1"/>
                  </a:solidFill>
                  <a:sym typeface="Symbol" pitchFamily="18" charset="2"/>
                </a:rPr>
                <a:t>v</a:t>
              </a:r>
              <a:r>
                <a:rPr lang="en-US">
                  <a:solidFill>
                    <a:schemeClr val="bg1"/>
                  </a:solidFill>
                  <a:sym typeface="Symbol" pitchFamily="18" charset="2"/>
                </a:rPr>
                <a:t> and</a:t>
              </a:r>
              <a:r>
                <a:rPr lang="en-US">
                  <a:solidFill>
                    <a:schemeClr val="bg1"/>
                  </a:solidFill>
                </a:rPr>
                <a:t> </a:t>
              </a:r>
              <a:r>
                <a:rPr lang="en-US">
                  <a:solidFill>
                    <a:schemeClr val="bg1"/>
                  </a:solidFill>
                  <a:cs typeface="Courier New" pitchFamily="49" charset="0"/>
                  <a:sym typeface="Symbol" pitchFamily="18" charset="2"/>
                </a:rPr>
                <a:t></a:t>
              </a: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588" name="Rectangle 7"/>
            <p:cNvSpPr>
              <a:spLocks noChangeArrowheads="1"/>
            </p:cNvSpPr>
            <p:nvPr/>
          </p:nvSpPr>
          <p:spPr bwMode="auto">
            <a:xfrm>
              <a:off x="833438" y="3883778"/>
              <a:ext cx="7462838" cy="4526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8"/>
            <p:cNvSpPr>
              <a:spLocks noChangeArrowheads="1"/>
            </p:cNvSpPr>
            <p:nvPr/>
          </p:nvSpPr>
          <p:spPr bwMode="auto">
            <a:xfrm>
              <a:off x="2078038" y="3902814"/>
              <a:ext cx="2620963" cy="406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r"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</a:t>
              </a:r>
              <a:r>
                <a:rPr lang="en-US" i="1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 = </a:t>
              </a: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</a:t>
              </a:r>
              <a:r>
                <a:rPr lang="en-US" i="1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 / t </a:t>
              </a: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(rad s</a:t>
              </a:r>
              <a:r>
                <a:rPr lang="en-US" baseline="30000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-1</a:t>
              </a: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)</a:t>
              </a:r>
              <a:endParaRPr lang="en-US" baseline="30000">
                <a:solidFill>
                  <a:srgbClr val="2D2D8A"/>
                </a:solidFill>
                <a:ea typeface="Calibri" pitchFamily="34" charset="0"/>
                <a:cs typeface="Courier New" pitchFamily="49" charset="0"/>
                <a:sym typeface="Symbol" pitchFamily="18" charset="2"/>
              </a:endParaRPr>
            </a:p>
          </p:txBody>
        </p:sp>
      </p:grpSp>
      <p:grpSp>
        <p:nvGrpSpPr>
          <p:cNvPr id="5" name="Group 239"/>
          <p:cNvGrpSpPr>
            <a:grpSpLocks/>
          </p:cNvGrpSpPr>
          <p:nvPr/>
        </p:nvGrpSpPr>
        <p:grpSpPr bwMode="auto">
          <a:xfrm>
            <a:off x="7432675" y="4946650"/>
            <a:ext cx="1503363" cy="1503363"/>
            <a:chOff x="4100" y="2501"/>
            <a:chExt cx="947" cy="947"/>
          </a:xfrm>
        </p:grpSpPr>
        <p:sp>
          <p:nvSpPr>
            <p:cNvPr id="23564" name="Oval 240"/>
            <p:cNvSpPr>
              <a:spLocks noChangeArrowheads="1"/>
            </p:cNvSpPr>
            <p:nvPr/>
          </p:nvSpPr>
          <p:spPr bwMode="auto">
            <a:xfrm>
              <a:off x="4100" y="2501"/>
              <a:ext cx="947" cy="947"/>
            </a:xfrm>
            <a:prstGeom prst="ellipse">
              <a:avLst/>
            </a:prstGeom>
            <a:solidFill>
              <a:schemeClr val="bg1"/>
            </a:solidFill>
            <a:ln w="57150" cmpd="thickThin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Line 241"/>
            <p:cNvSpPr>
              <a:spLocks noChangeShapeType="1"/>
            </p:cNvSpPr>
            <p:nvPr/>
          </p:nvSpPr>
          <p:spPr bwMode="auto">
            <a:xfrm>
              <a:off x="4578" y="2523"/>
              <a:ext cx="0" cy="9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6" name="Line 242"/>
            <p:cNvSpPr>
              <a:spLocks noChangeShapeType="1"/>
            </p:cNvSpPr>
            <p:nvPr/>
          </p:nvSpPr>
          <p:spPr bwMode="auto">
            <a:xfrm>
              <a:off x="4122" y="2979"/>
              <a:ext cx="9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Line 243"/>
            <p:cNvSpPr>
              <a:spLocks noChangeShapeType="1"/>
            </p:cNvSpPr>
            <p:nvPr/>
          </p:nvSpPr>
          <p:spPr bwMode="auto">
            <a:xfrm flipV="1">
              <a:off x="4351" y="2588"/>
              <a:ext cx="453" cy="7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Line 244"/>
            <p:cNvSpPr>
              <a:spLocks noChangeShapeType="1"/>
            </p:cNvSpPr>
            <p:nvPr/>
          </p:nvSpPr>
          <p:spPr bwMode="auto">
            <a:xfrm flipV="1">
              <a:off x="4174" y="2756"/>
              <a:ext cx="789" cy="4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9" name="Line 245"/>
            <p:cNvSpPr>
              <a:spLocks noChangeShapeType="1"/>
            </p:cNvSpPr>
            <p:nvPr/>
          </p:nvSpPr>
          <p:spPr bwMode="auto">
            <a:xfrm flipH="1" flipV="1">
              <a:off x="4346" y="2575"/>
              <a:ext cx="453" cy="7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0" name="Line 246"/>
            <p:cNvSpPr>
              <a:spLocks noChangeShapeType="1"/>
            </p:cNvSpPr>
            <p:nvPr/>
          </p:nvSpPr>
          <p:spPr bwMode="auto">
            <a:xfrm flipH="1" flipV="1">
              <a:off x="4169" y="2743"/>
              <a:ext cx="789" cy="4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1" name="Oval 247"/>
            <p:cNvSpPr>
              <a:spLocks noChangeArrowheads="1"/>
            </p:cNvSpPr>
            <p:nvPr/>
          </p:nvSpPr>
          <p:spPr bwMode="auto">
            <a:xfrm>
              <a:off x="4203" y="2593"/>
              <a:ext cx="750" cy="750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Text Box 248"/>
            <p:cNvSpPr txBox="1">
              <a:spLocks noChangeArrowheads="1"/>
            </p:cNvSpPr>
            <p:nvPr/>
          </p:nvSpPr>
          <p:spPr bwMode="auto">
            <a:xfrm>
              <a:off x="4436" y="2528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/>
                <a:t> </a:t>
              </a:r>
            </a:p>
          </p:txBody>
        </p:sp>
        <p:sp>
          <p:nvSpPr>
            <p:cNvPr id="23573" name="Text Box 249"/>
            <p:cNvSpPr txBox="1">
              <a:spLocks noChangeArrowheads="1"/>
            </p:cNvSpPr>
            <p:nvPr/>
          </p:nvSpPr>
          <p:spPr bwMode="auto">
            <a:xfrm>
              <a:off x="4798" y="2863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 </a:t>
              </a:r>
            </a:p>
          </p:txBody>
        </p:sp>
        <p:sp>
          <p:nvSpPr>
            <p:cNvPr id="23574" name="Text Box 250"/>
            <p:cNvSpPr txBox="1">
              <a:spLocks noChangeArrowheads="1"/>
            </p:cNvSpPr>
            <p:nvPr/>
          </p:nvSpPr>
          <p:spPr bwMode="auto">
            <a:xfrm>
              <a:off x="4470" y="3167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 </a:t>
              </a:r>
            </a:p>
          </p:txBody>
        </p:sp>
        <p:sp>
          <p:nvSpPr>
            <p:cNvPr id="23575" name="Text Box 251"/>
            <p:cNvSpPr txBox="1">
              <a:spLocks noChangeArrowheads="1"/>
            </p:cNvSpPr>
            <p:nvPr/>
          </p:nvSpPr>
          <p:spPr bwMode="auto">
            <a:xfrm>
              <a:off x="4154" y="2859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 </a:t>
              </a:r>
            </a:p>
          </p:txBody>
        </p:sp>
      </p:grpSp>
      <p:grpSp>
        <p:nvGrpSpPr>
          <p:cNvPr id="6" name="Group 252"/>
          <p:cNvGrpSpPr>
            <a:grpSpLocks/>
          </p:cNvGrpSpPr>
          <p:nvPr/>
        </p:nvGrpSpPr>
        <p:grpSpPr bwMode="auto">
          <a:xfrm>
            <a:off x="8143875" y="5041900"/>
            <a:ext cx="96838" cy="1311275"/>
            <a:chOff x="4532" y="2501"/>
            <a:chExt cx="61" cy="826"/>
          </a:xfrm>
        </p:grpSpPr>
        <p:sp>
          <p:nvSpPr>
            <p:cNvPr id="23561" name="Line 253"/>
            <p:cNvSpPr>
              <a:spLocks noChangeShapeType="1"/>
            </p:cNvSpPr>
            <p:nvPr/>
          </p:nvSpPr>
          <p:spPr bwMode="auto">
            <a:xfrm>
              <a:off x="4563" y="2501"/>
              <a:ext cx="0" cy="4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Rectangle 254"/>
            <p:cNvSpPr>
              <a:spLocks noChangeArrowheads="1"/>
            </p:cNvSpPr>
            <p:nvPr/>
          </p:nvSpPr>
          <p:spPr bwMode="auto">
            <a:xfrm>
              <a:off x="4540" y="2918"/>
              <a:ext cx="48" cy="4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3" name="Oval 255"/>
            <p:cNvSpPr>
              <a:spLocks noChangeArrowheads="1"/>
            </p:cNvSpPr>
            <p:nvPr/>
          </p:nvSpPr>
          <p:spPr bwMode="auto">
            <a:xfrm>
              <a:off x="4532" y="2887"/>
              <a:ext cx="61" cy="61"/>
            </a:xfrm>
            <a:prstGeom prst="ellipse">
              <a:avLst/>
            </a:prstGeom>
            <a:solidFill>
              <a:srgbClr val="FF33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15"/>
          <p:cNvGrpSpPr>
            <a:grpSpLocks/>
          </p:cNvGrpSpPr>
          <p:nvPr/>
        </p:nvGrpSpPr>
        <p:grpSpPr bwMode="auto">
          <a:xfrm>
            <a:off x="7245350" y="3117850"/>
            <a:ext cx="1770063" cy="1768475"/>
            <a:chOff x="1933" y="2380"/>
            <a:chExt cx="1182" cy="1182"/>
          </a:xfrm>
        </p:grpSpPr>
        <p:sp>
          <p:nvSpPr>
            <p:cNvPr id="23576" name="Oval 216"/>
            <p:cNvSpPr>
              <a:spLocks noChangeArrowheads="1"/>
            </p:cNvSpPr>
            <p:nvPr/>
          </p:nvSpPr>
          <p:spPr bwMode="auto">
            <a:xfrm>
              <a:off x="1933" y="2380"/>
              <a:ext cx="1182" cy="118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217"/>
            <p:cNvSpPr>
              <a:spLocks noChangeArrowheads="1"/>
            </p:cNvSpPr>
            <p:nvPr/>
          </p:nvSpPr>
          <p:spPr bwMode="auto">
            <a:xfrm>
              <a:off x="2978" y="2911"/>
              <a:ext cx="128" cy="129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46275"/>
                    <a:invGamma/>
                  </a:schemeClr>
                </a:gs>
              </a:gsLst>
              <a:lin ang="189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78" name="Line 218"/>
            <p:cNvSpPr>
              <a:spLocks noChangeShapeType="1"/>
            </p:cNvSpPr>
            <p:nvPr/>
          </p:nvSpPr>
          <p:spPr bwMode="auto">
            <a:xfrm>
              <a:off x="2516" y="2971"/>
              <a:ext cx="531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579" name="Group 219"/>
            <p:cNvGrpSpPr>
              <a:grpSpLocks/>
            </p:cNvGrpSpPr>
            <p:nvPr/>
          </p:nvGrpSpPr>
          <p:grpSpPr bwMode="auto">
            <a:xfrm>
              <a:off x="2464" y="2926"/>
              <a:ext cx="114" cy="106"/>
              <a:chOff x="789" y="2403"/>
              <a:chExt cx="114" cy="106"/>
            </a:xfrm>
          </p:grpSpPr>
          <p:sp>
            <p:nvSpPr>
              <p:cNvPr id="23584" name="Line 220"/>
              <p:cNvSpPr>
                <a:spLocks noChangeShapeType="1"/>
              </p:cNvSpPr>
              <p:nvPr/>
            </p:nvSpPr>
            <p:spPr bwMode="auto">
              <a:xfrm>
                <a:off x="796" y="2403"/>
                <a:ext cx="107" cy="1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5" name="Line 221"/>
              <p:cNvSpPr>
                <a:spLocks noChangeShapeType="1"/>
              </p:cNvSpPr>
              <p:nvPr/>
            </p:nvSpPr>
            <p:spPr bwMode="auto">
              <a:xfrm flipH="1">
                <a:off x="789" y="2403"/>
                <a:ext cx="114" cy="1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580" name="Rectangle 222"/>
            <p:cNvSpPr>
              <a:spLocks noChangeArrowheads="1"/>
            </p:cNvSpPr>
            <p:nvPr/>
          </p:nvSpPr>
          <p:spPr bwMode="auto">
            <a:xfrm>
              <a:off x="2683" y="2880"/>
              <a:ext cx="189" cy="189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Text Box 223"/>
            <p:cNvSpPr txBox="1">
              <a:spLocks noChangeArrowheads="1"/>
            </p:cNvSpPr>
            <p:nvPr/>
          </p:nvSpPr>
          <p:spPr bwMode="auto">
            <a:xfrm>
              <a:off x="2677" y="2810"/>
              <a:ext cx="192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chemeClr val="accent6"/>
                  </a:solidFill>
                </a:rPr>
                <a:t>r</a:t>
              </a:r>
            </a:p>
          </p:txBody>
        </p:sp>
        <p:sp>
          <p:nvSpPr>
            <p:cNvPr id="23582" name="Line 224"/>
            <p:cNvSpPr>
              <a:spLocks noChangeShapeType="1"/>
            </p:cNvSpPr>
            <p:nvPr/>
          </p:nvSpPr>
          <p:spPr bwMode="auto">
            <a:xfrm flipV="1">
              <a:off x="3039" y="2493"/>
              <a:ext cx="0" cy="47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Text Box 225"/>
            <p:cNvSpPr txBox="1">
              <a:spLocks noChangeArrowheads="1"/>
            </p:cNvSpPr>
            <p:nvPr/>
          </p:nvSpPr>
          <p:spPr bwMode="auto">
            <a:xfrm>
              <a:off x="2792" y="2476"/>
              <a:ext cx="22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FF0000"/>
                  </a:solidFill>
                </a:rPr>
                <a:t>v</a:t>
              </a:r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2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3"/>
          <p:cNvSpPr>
            <a:spLocks noChangeArrowheads="1"/>
          </p:cNvSpPr>
          <p:nvPr/>
        </p:nvSpPr>
        <p:spPr bwMode="auto">
          <a:xfrm>
            <a:off x="682625" y="6021388"/>
            <a:ext cx="7764463" cy="836612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b="1" i="1"/>
              <a:t>FYI  </a:t>
            </a:r>
            <a:r>
              <a:rPr lang="en-US" b="1">
                <a:sym typeface="Symbol" pitchFamily="18" charset="2"/>
              </a:rPr>
              <a:t></a:t>
            </a:r>
            <a:r>
              <a:rPr lang="en-US">
                <a:sym typeface="Symbol" pitchFamily="18" charset="2"/>
              </a:rPr>
              <a:t>Speed depends on length or position but</a:t>
            </a:r>
            <a:r>
              <a:rPr lang="en-US" b="1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angular speed does not. </a:t>
            </a:r>
            <a:endParaRPr lang="en-US" i="1">
              <a:sym typeface="Symbol" pitchFamily="18" charset="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674688" y="2535238"/>
            <a:ext cx="7781925" cy="35274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Find the angular speed of the second                    hand on a clock. Then find the speed of the tip of                  the hand if it is 18.0 cm long.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SOLUTION:  A second hand turns </a:t>
            </a:r>
            <a:r>
              <a:rPr lang="en-US"/>
              <a:t>2</a:t>
            </a:r>
            <a:r>
              <a:rPr lang="en-US">
                <a:sym typeface="Symbol" pitchFamily="18" charset="2"/>
              </a:rPr>
              <a:t> rad each 60 s.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Thus </a:t>
            </a:r>
            <a:r>
              <a:rPr lang="en-US">
                <a:cs typeface="Courier New" pitchFamily="49" charset="0"/>
                <a:sym typeface="Symbol" pitchFamily="18" charset="2"/>
              </a:rPr>
              <a:t>it has an angular speed given by </a:t>
            </a:r>
          </a:p>
          <a:p>
            <a:pPr>
              <a:spcBef>
                <a:spcPct val="20000"/>
              </a:spcBef>
            </a:pPr>
            <a:r>
              <a:rPr lang="en-US">
                <a:cs typeface="Courier New" pitchFamily="49" charset="0"/>
                <a:sym typeface="Symbol" pitchFamily="18" charset="2"/>
              </a:rPr>
              <a:t>	    =</a:t>
            </a:r>
            <a:r>
              <a:rPr lang="en-US" i="1">
                <a:cs typeface="Courier New" pitchFamily="49" charset="0"/>
                <a:sym typeface="Symbol" pitchFamily="18" charset="2"/>
              </a:rPr>
              <a:t> </a:t>
            </a:r>
            <a:r>
              <a:rPr lang="en-US"/>
              <a:t>2</a:t>
            </a:r>
            <a:r>
              <a:rPr lang="en-US">
                <a:sym typeface="Symbol" pitchFamily="18" charset="2"/>
              </a:rPr>
              <a:t> </a:t>
            </a:r>
            <a:r>
              <a:rPr lang="en-US" i="1">
                <a:cs typeface="Courier New" pitchFamily="49" charset="0"/>
                <a:sym typeface="Symbol" pitchFamily="18" charset="2"/>
              </a:rPr>
              <a:t>/ T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= </a:t>
            </a:r>
            <a:r>
              <a:rPr lang="en-US"/>
              <a:t>2</a:t>
            </a:r>
            <a:r>
              <a:rPr lang="en-US">
                <a:sym typeface="Symbol" pitchFamily="18" charset="2"/>
              </a:rPr>
              <a:t> </a:t>
            </a:r>
            <a:r>
              <a:rPr lang="en-US" i="1">
                <a:cs typeface="Courier New" pitchFamily="49" charset="0"/>
                <a:sym typeface="Symbol" pitchFamily="18" charset="2"/>
              </a:rPr>
              <a:t>/ </a:t>
            </a:r>
            <a:r>
              <a:rPr lang="en-US">
                <a:cs typeface="Courier New" pitchFamily="49" charset="0"/>
                <a:sym typeface="Symbol" pitchFamily="18" charset="2"/>
              </a:rPr>
              <a:t>60 = 0.105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rad</a:t>
            </a:r>
            <a:r>
              <a:rPr lang="en-US" baseline="-2500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s</a:t>
            </a:r>
            <a:r>
              <a:rPr lang="en-US" baseline="3000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-1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T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he speed of the tip is given by </a:t>
            </a:r>
          </a:p>
          <a:p>
            <a:pPr>
              <a:spcBef>
                <a:spcPct val="20000"/>
              </a:spcBef>
            </a:pPr>
            <a:r>
              <a:rPr lang="en-US" i="1">
                <a:solidFill>
                  <a:srgbClr val="000000"/>
                </a:solidFill>
                <a:cs typeface="Courier New" pitchFamily="49" charset="0"/>
                <a:sym typeface="Symbol" pitchFamily="18" charset="2"/>
              </a:rPr>
              <a:t>	  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=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r </a:t>
            </a:r>
            <a:r>
              <a:rPr lang="en-US">
                <a:sym typeface="Symbol" pitchFamily="18" charset="2"/>
              </a:rPr>
              <a:t> = 0.180(0.105) = 0.0189 ms</a:t>
            </a:r>
            <a:r>
              <a:rPr lang="en-US" baseline="30000">
                <a:sym typeface="Symbol" pitchFamily="18" charset="2"/>
              </a:rPr>
              <a:t>-1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.</a:t>
            </a:r>
          </a:p>
          <a:p>
            <a:pPr>
              <a:spcBef>
                <a:spcPct val="20000"/>
              </a:spcBef>
            </a:pPr>
            <a:endParaRPr lang="en-US">
              <a:solidFill>
                <a:srgbClr val="000000"/>
              </a:solidFill>
              <a:cs typeface="Times New Roman" pitchFamily="18" charset="0"/>
              <a:sym typeface="Symbol" pitchFamily="18" charset="2"/>
            </a:endParaRPr>
          </a:p>
          <a:p>
            <a:pPr>
              <a:spcBef>
                <a:spcPct val="20000"/>
              </a:spcBef>
            </a:pPr>
            <a:endParaRPr lang="en-US">
              <a:cs typeface="Courier New" pitchFamily="49" charset="0"/>
              <a:sym typeface="Symbol" pitchFamily="18" charset="2"/>
            </a:endParaRPr>
          </a:p>
        </p:txBody>
      </p:sp>
      <p:sp>
        <p:nvSpPr>
          <p:cNvPr id="24580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102711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Angular speed and speed</a:t>
            </a:r>
            <a:r>
              <a:rPr lang="en-US">
                <a:ea typeface="Calibri" pitchFamily="34" charset="0"/>
                <a:cs typeface="Arial" charset="0"/>
              </a:rPr>
              <a:t>	</a:t>
            </a:r>
            <a:endParaRPr lang="en-US">
              <a:ea typeface="Calibri" pitchFamily="34" charset="0"/>
              <a:cs typeface="Arial" charset="0"/>
              <a:sym typeface="Symbol" pitchFamily="18" charset="2"/>
            </a:endParaRPr>
          </a:p>
          <a:p>
            <a:pPr eaLnBrk="0" hangingPunct="0">
              <a:spcBef>
                <a:spcPts val="600"/>
              </a:spcBef>
            </a:pPr>
            <a:endParaRPr lang="en-US">
              <a:ea typeface="Calibri" pitchFamily="34" charset="0"/>
              <a:cs typeface="Arial" charset="0"/>
              <a:sym typeface="Symbol" pitchFamily="18" charset="2"/>
            </a:endParaRPr>
          </a:p>
          <a:p>
            <a:pPr eaLnBrk="0" hangingPunct="0">
              <a:spcBef>
                <a:spcPts val="2000"/>
              </a:spcBef>
            </a:pPr>
            <a:endParaRPr lang="en-US">
              <a:ea typeface="Calibri" pitchFamily="34" charset="0"/>
              <a:cs typeface="Arial" charset="0"/>
              <a:sym typeface="Symbol" pitchFamily="18" charset="2"/>
            </a:endParaRPr>
          </a:p>
          <a:p>
            <a:pPr eaLnBrk="0" hangingPunct="0">
              <a:spcBef>
                <a:spcPts val="2000"/>
              </a:spcBef>
            </a:pPr>
            <a:endParaRPr lang="en-US">
              <a:ea typeface="Calibri" pitchFamily="34" charset="0"/>
              <a:cs typeface="Arial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Arial" charset="0"/>
              </a:rPr>
              <a:t>                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806450" y="2009775"/>
            <a:ext cx="7464425" cy="461963"/>
            <a:chOff x="833438" y="3880603"/>
            <a:chExt cx="7464425" cy="461665"/>
          </a:xfrm>
        </p:grpSpPr>
        <p:sp>
          <p:nvSpPr>
            <p:cNvPr id="24588" name="Rectangle 5"/>
            <p:cNvSpPr>
              <a:spLocks noChangeArrowheads="1"/>
            </p:cNvSpPr>
            <p:nvPr/>
          </p:nvSpPr>
          <p:spPr bwMode="auto">
            <a:xfrm>
              <a:off x="838201" y="3901241"/>
              <a:ext cx="2428875" cy="407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v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ea typeface="Calibri" pitchFamily="34" charset="0"/>
                  <a:cs typeface="Courier New" pitchFamily="49" charset="0"/>
                  <a:sym typeface="Symbol" pitchFamily="18" charset="2"/>
                </a:rPr>
                <a:t></a:t>
              </a:r>
              <a:endParaRPr lang="en-US" i="1">
                <a:cs typeface="Courier New" pitchFamily="49" charset="0"/>
                <a:sym typeface="Symbol" pitchFamily="18" charset="2"/>
              </a:endParaRPr>
            </a:p>
          </p:txBody>
        </p:sp>
        <p:sp>
          <p:nvSpPr>
            <p:cNvPr id="24589" name="Text Box 6"/>
            <p:cNvSpPr txBox="1">
              <a:spLocks noChangeArrowheads="1"/>
            </p:cNvSpPr>
            <p:nvPr/>
          </p:nvSpPr>
          <p:spPr bwMode="auto">
            <a:xfrm>
              <a:off x="4710113" y="3880603"/>
              <a:ext cx="3587750" cy="461665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relation between </a:t>
              </a:r>
              <a:r>
                <a:rPr lang="en-US" i="1">
                  <a:solidFill>
                    <a:schemeClr val="bg1"/>
                  </a:solidFill>
                  <a:sym typeface="Symbol" pitchFamily="18" charset="2"/>
                </a:rPr>
                <a:t>v</a:t>
              </a:r>
              <a:r>
                <a:rPr lang="en-US">
                  <a:solidFill>
                    <a:schemeClr val="bg1"/>
                  </a:solidFill>
                  <a:sym typeface="Symbol" pitchFamily="18" charset="2"/>
                </a:rPr>
                <a:t> and</a:t>
              </a:r>
              <a:r>
                <a:rPr lang="en-US">
                  <a:solidFill>
                    <a:schemeClr val="bg1"/>
                  </a:solidFill>
                </a:rPr>
                <a:t> </a:t>
              </a:r>
              <a:r>
                <a:rPr lang="en-US">
                  <a:solidFill>
                    <a:schemeClr val="bg1"/>
                  </a:solidFill>
                  <a:cs typeface="Courier New" pitchFamily="49" charset="0"/>
                  <a:sym typeface="Symbol" pitchFamily="18" charset="2"/>
                </a:rPr>
                <a:t></a:t>
              </a: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590" name="Rectangle 7"/>
            <p:cNvSpPr>
              <a:spLocks noChangeArrowheads="1"/>
            </p:cNvSpPr>
            <p:nvPr/>
          </p:nvSpPr>
          <p:spPr bwMode="auto">
            <a:xfrm>
              <a:off x="833438" y="3883778"/>
              <a:ext cx="7462838" cy="4526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8"/>
            <p:cNvSpPr>
              <a:spLocks noChangeArrowheads="1"/>
            </p:cNvSpPr>
            <p:nvPr/>
          </p:nvSpPr>
          <p:spPr bwMode="auto">
            <a:xfrm>
              <a:off x="2078038" y="3902814"/>
              <a:ext cx="2620963" cy="406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r"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</a:t>
              </a:r>
              <a:r>
                <a:rPr lang="en-US" i="1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 = </a:t>
              </a: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</a:t>
              </a:r>
              <a:r>
                <a:rPr lang="en-US" i="1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 / t </a:t>
              </a: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(rad s</a:t>
              </a:r>
              <a:r>
                <a:rPr lang="en-US" baseline="30000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-1</a:t>
              </a: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)</a:t>
              </a:r>
              <a:endParaRPr lang="en-US" baseline="30000">
                <a:solidFill>
                  <a:srgbClr val="2D2D8A"/>
                </a:solidFill>
                <a:ea typeface="Calibri" pitchFamily="34" charset="0"/>
                <a:cs typeface="Courier New" pitchFamily="49" charset="0"/>
                <a:sym typeface="Symbol" pitchFamily="18" charset="2"/>
              </a:endParaRPr>
            </a:p>
          </p:txBody>
        </p:sp>
      </p:grpSp>
      <p:pic>
        <p:nvPicPr>
          <p:cNvPr id="24605" name="Picture 29" descr="https://encrypted-tbn1.gstatic.com/images?q=tbn:ANd9GcRqVS8-Dv8FGdsHnqaKhe2CIZgu6FuTW9BNB8AH40GmkteFflB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16775" y="4122738"/>
            <a:ext cx="1927225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52"/>
          <p:cNvGrpSpPr>
            <a:grpSpLocks/>
          </p:cNvGrpSpPr>
          <p:nvPr/>
        </p:nvGrpSpPr>
        <p:grpSpPr bwMode="auto">
          <a:xfrm rot="5160000">
            <a:off x="8116094" y="4409281"/>
            <a:ext cx="96838" cy="1311275"/>
            <a:chOff x="4532" y="2501"/>
            <a:chExt cx="61" cy="826"/>
          </a:xfrm>
        </p:grpSpPr>
        <p:sp>
          <p:nvSpPr>
            <p:cNvPr id="24585" name="Line 253"/>
            <p:cNvSpPr>
              <a:spLocks noChangeShapeType="1"/>
            </p:cNvSpPr>
            <p:nvPr/>
          </p:nvSpPr>
          <p:spPr bwMode="auto">
            <a:xfrm>
              <a:off x="4563" y="2501"/>
              <a:ext cx="0" cy="41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6" name="Rectangle 254"/>
            <p:cNvSpPr>
              <a:spLocks noChangeArrowheads="1"/>
            </p:cNvSpPr>
            <p:nvPr/>
          </p:nvSpPr>
          <p:spPr bwMode="auto">
            <a:xfrm>
              <a:off x="4540" y="2918"/>
              <a:ext cx="48" cy="4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7" name="Oval 255"/>
            <p:cNvSpPr>
              <a:spLocks noChangeArrowheads="1"/>
            </p:cNvSpPr>
            <p:nvPr/>
          </p:nvSpPr>
          <p:spPr bwMode="auto">
            <a:xfrm>
              <a:off x="4532" y="2887"/>
              <a:ext cx="61" cy="61"/>
            </a:xfrm>
            <a:prstGeom prst="ellipse">
              <a:avLst/>
            </a:prstGeom>
            <a:solidFill>
              <a:srgbClr val="FF33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674688" y="2535238"/>
            <a:ext cx="7781925" cy="432276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A car rounds a                                                     90</a:t>
            </a:r>
            <a:r>
              <a:rPr lang="en-US">
                <a:solidFill>
                  <a:srgbClr val="000000"/>
                </a:solidFill>
                <a:cs typeface="Courier New" pitchFamily="49" charset="0"/>
                <a:sym typeface="Symbol" pitchFamily="18" charset="2"/>
              </a:rPr>
              <a:t>° turn in 6.0 seconds.                                                     What is its angular speed                                              during the turn?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SOLUTION: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Since  needs radians we                                                  begin by converting </a:t>
            </a:r>
            <a:r>
              <a:rPr lang="en-US">
                <a:cs typeface="Courier New" pitchFamily="49" charset="0"/>
                <a:sym typeface="Symbol" pitchFamily="18" charset="2"/>
              </a:rPr>
              <a:t>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:</a:t>
            </a:r>
          </a:p>
          <a:p>
            <a:pPr>
              <a:spcBef>
                <a:spcPct val="20000"/>
              </a:spcBef>
            </a:pPr>
            <a:r>
              <a:rPr lang="en-US" i="1">
                <a:cs typeface="Courier New" pitchFamily="49" charset="0"/>
                <a:sym typeface="Symbol" pitchFamily="18" charset="2"/>
              </a:rPr>
              <a:t>                </a:t>
            </a:r>
            <a:r>
              <a:rPr lang="en-US">
                <a:cs typeface="Courier New" pitchFamily="49" charset="0"/>
                <a:sym typeface="Symbol" pitchFamily="18" charset="2"/>
              </a:rPr>
              <a:t>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= 90</a:t>
            </a:r>
            <a:r>
              <a:rPr lang="en-US">
                <a:solidFill>
                  <a:srgbClr val="000000"/>
                </a:solidFill>
                <a:cs typeface="Courier New" pitchFamily="49" charset="0"/>
                <a:sym typeface="Symbol" pitchFamily="18" charset="2"/>
              </a:rPr>
              <a:t>°( </a:t>
            </a:r>
            <a:r>
              <a:rPr lang="en-US">
                <a:cs typeface="Courier New" pitchFamily="49" charset="0"/>
                <a:sym typeface="Symbol" pitchFamily="18" charset="2"/>
              </a:rPr>
              <a:t></a:t>
            </a:r>
            <a:r>
              <a:rPr lang="en-US" i="1"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cs typeface="Courier New" pitchFamily="49" charset="0"/>
                <a:sym typeface="Symbol" pitchFamily="18" charset="2"/>
              </a:rPr>
              <a:t>rad</a:t>
            </a:r>
            <a:r>
              <a:rPr lang="en-US" i="1">
                <a:cs typeface="Courier New" pitchFamily="49" charset="0"/>
                <a:sym typeface="Symbol" pitchFamily="18" charset="2"/>
              </a:rPr>
              <a:t> / </a:t>
            </a:r>
            <a:r>
              <a:rPr lang="en-US">
                <a:cs typeface="Courier New" pitchFamily="49" charset="0"/>
                <a:sym typeface="Symbol" pitchFamily="18" charset="2"/>
              </a:rPr>
              <a:t>180° </a:t>
            </a:r>
            <a:r>
              <a:rPr lang="en-US">
                <a:solidFill>
                  <a:srgbClr val="000000"/>
                </a:solidFill>
                <a:cs typeface="Courier New" pitchFamily="49" charset="0"/>
                <a:sym typeface="Symbol" pitchFamily="18" charset="2"/>
              </a:rPr>
              <a:t>) = 1.57 rad.</a:t>
            </a:r>
          </a:p>
          <a:p>
            <a:pPr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Now we use</a:t>
            </a:r>
          </a:p>
          <a:p>
            <a:pPr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          </a:t>
            </a:r>
            <a:r>
              <a:rPr lang="en-US">
                <a:sym typeface="Symbol" pitchFamily="18" charset="2"/>
              </a:rPr>
              <a:t></a:t>
            </a:r>
            <a:r>
              <a:rPr lang="en-US" i="1"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cs typeface="Courier New" pitchFamily="49" charset="0"/>
                <a:sym typeface="Symbol" pitchFamily="18" charset="2"/>
              </a:rPr>
              <a:t>=</a:t>
            </a:r>
            <a:r>
              <a:rPr lang="en-US" i="1"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cs typeface="Courier New" pitchFamily="49" charset="0"/>
                <a:sym typeface="Symbol" pitchFamily="18" charset="2"/>
              </a:rPr>
              <a:t> </a:t>
            </a:r>
            <a:r>
              <a:rPr lang="en-US" i="1">
                <a:cs typeface="Courier New" pitchFamily="49" charset="0"/>
                <a:sym typeface="Symbol" pitchFamily="18" charset="2"/>
              </a:rPr>
              <a:t>/ t</a:t>
            </a:r>
            <a:r>
              <a:rPr lang="en-US">
                <a:cs typeface="Courier New" pitchFamily="49" charset="0"/>
                <a:sym typeface="Symbol" pitchFamily="18" charset="2"/>
              </a:rPr>
              <a:t> = 1.57 </a:t>
            </a:r>
            <a:r>
              <a:rPr lang="en-US" i="1">
                <a:cs typeface="Courier New" pitchFamily="49" charset="0"/>
                <a:sym typeface="Symbol" pitchFamily="18" charset="2"/>
              </a:rPr>
              <a:t>/</a:t>
            </a:r>
            <a:r>
              <a:rPr lang="en-US">
                <a:cs typeface="Courier New" pitchFamily="49" charset="0"/>
                <a:sym typeface="Symbol" pitchFamily="18" charset="2"/>
              </a:rPr>
              <a:t>  6.0 = 0.26 rad</a:t>
            </a:r>
            <a:r>
              <a:rPr lang="en-US" baseline="-25000"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cs typeface="Courier New" pitchFamily="49" charset="0"/>
                <a:sym typeface="Symbol" pitchFamily="18" charset="2"/>
              </a:rPr>
              <a:t>s</a:t>
            </a:r>
            <a:r>
              <a:rPr lang="en-US" baseline="30000">
                <a:cs typeface="Courier New" pitchFamily="49" charset="0"/>
                <a:sym typeface="Symbol" pitchFamily="18" charset="2"/>
              </a:rPr>
              <a:t>-1</a:t>
            </a:r>
            <a:r>
              <a:rPr lang="en-US">
                <a:cs typeface="Courier New" pitchFamily="49" charset="0"/>
                <a:sym typeface="Symbol" pitchFamily="18" charset="2"/>
              </a:rPr>
              <a:t>.</a:t>
            </a:r>
            <a:endParaRPr lang="en-US" i="1">
              <a:cs typeface="Courier New" pitchFamily="49" charset="0"/>
              <a:sym typeface="Symbol" pitchFamily="18" charset="2"/>
            </a:endParaRPr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102711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Angular speed and speed</a:t>
            </a:r>
            <a:r>
              <a:rPr lang="en-US">
                <a:ea typeface="Calibri" pitchFamily="34" charset="0"/>
                <a:cs typeface="Arial" charset="0"/>
              </a:rPr>
              <a:t>	</a:t>
            </a:r>
            <a:endParaRPr lang="en-US">
              <a:ea typeface="Calibri" pitchFamily="34" charset="0"/>
              <a:cs typeface="Arial" charset="0"/>
              <a:sym typeface="Symbol" pitchFamily="18" charset="2"/>
            </a:endParaRPr>
          </a:p>
          <a:p>
            <a:pPr eaLnBrk="0" hangingPunct="0">
              <a:spcBef>
                <a:spcPts val="600"/>
              </a:spcBef>
            </a:pPr>
            <a:endParaRPr lang="en-US">
              <a:ea typeface="Calibri" pitchFamily="34" charset="0"/>
              <a:cs typeface="Arial" charset="0"/>
              <a:sym typeface="Symbol" pitchFamily="18" charset="2"/>
            </a:endParaRPr>
          </a:p>
          <a:p>
            <a:pPr eaLnBrk="0" hangingPunct="0">
              <a:spcBef>
                <a:spcPts val="2000"/>
              </a:spcBef>
            </a:pPr>
            <a:endParaRPr lang="en-US">
              <a:ea typeface="Calibri" pitchFamily="34" charset="0"/>
              <a:cs typeface="Arial" charset="0"/>
              <a:sym typeface="Symbol" pitchFamily="18" charset="2"/>
            </a:endParaRPr>
          </a:p>
          <a:p>
            <a:pPr eaLnBrk="0" hangingPunct="0">
              <a:spcBef>
                <a:spcPts val="2000"/>
              </a:spcBef>
            </a:pPr>
            <a:endParaRPr lang="en-US">
              <a:ea typeface="Calibri" pitchFamily="34" charset="0"/>
              <a:cs typeface="Arial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Arial" charset="0"/>
              </a:rPr>
              <a:t>                </a:t>
            </a:r>
          </a:p>
        </p:txBody>
      </p:sp>
      <p:grpSp>
        <p:nvGrpSpPr>
          <p:cNvPr id="25605" name="Group 14"/>
          <p:cNvGrpSpPr>
            <a:grpSpLocks/>
          </p:cNvGrpSpPr>
          <p:nvPr/>
        </p:nvGrpSpPr>
        <p:grpSpPr bwMode="auto">
          <a:xfrm>
            <a:off x="806450" y="2009775"/>
            <a:ext cx="7464425" cy="461963"/>
            <a:chOff x="833438" y="3880603"/>
            <a:chExt cx="7464425" cy="461665"/>
          </a:xfrm>
        </p:grpSpPr>
        <p:sp>
          <p:nvSpPr>
            <p:cNvPr id="25607" name="Rectangle 5"/>
            <p:cNvSpPr>
              <a:spLocks noChangeArrowheads="1"/>
            </p:cNvSpPr>
            <p:nvPr/>
          </p:nvSpPr>
          <p:spPr bwMode="auto">
            <a:xfrm>
              <a:off x="838201" y="3901241"/>
              <a:ext cx="2428875" cy="407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v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ea typeface="Calibri" pitchFamily="34" charset="0"/>
                  <a:cs typeface="Courier New" pitchFamily="49" charset="0"/>
                  <a:sym typeface="Symbol" pitchFamily="18" charset="2"/>
                </a:rPr>
                <a:t></a:t>
              </a:r>
              <a:endParaRPr lang="en-US" i="1">
                <a:cs typeface="Courier New" pitchFamily="49" charset="0"/>
                <a:sym typeface="Symbol" pitchFamily="18" charset="2"/>
              </a:endParaRPr>
            </a:p>
          </p:txBody>
        </p:sp>
        <p:sp>
          <p:nvSpPr>
            <p:cNvPr id="25608" name="Text Box 6"/>
            <p:cNvSpPr txBox="1">
              <a:spLocks noChangeArrowheads="1"/>
            </p:cNvSpPr>
            <p:nvPr/>
          </p:nvSpPr>
          <p:spPr bwMode="auto">
            <a:xfrm>
              <a:off x="4710113" y="3880603"/>
              <a:ext cx="3587750" cy="461665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relation between </a:t>
              </a:r>
              <a:r>
                <a:rPr lang="en-US" i="1">
                  <a:solidFill>
                    <a:schemeClr val="bg1"/>
                  </a:solidFill>
                  <a:sym typeface="Symbol" pitchFamily="18" charset="2"/>
                </a:rPr>
                <a:t>v</a:t>
              </a:r>
              <a:r>
                <a:rPr lang="en-US">
                  <a:solidFill>
                    <a:schemeClr val="bg1"/>
                  </a:solidFill>
                  <a:sym typeface="Symbol" pitchFamily="18" charset="2"/>
                </a:rPr>
                <a:t> and</a:t>
              </a:r>
              <a:r>
                <a:rPr lang="en-US">
                  <a:solidFill>
                    <a:schemeClr val="bg1"/>
                  </a:solidFill>
                </a:rPr>
                <a:t> </a:t>
              </a:r>
              <a:r>
                <a:rPr lang="en-US">
                  <a:solidFill>
                    <a:schemeClr val="bg1"/>
                  </a:solidFill>
                  <a:cs typeface="Courier New" pitchFamily="49" charset="0"/>
                  <a:sym typeface="Symbol" pitchFamily="18" charset="2"/>
                </a:rPr>
                <a:t></a:t>
              </a: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609" name="Rectangle 7"/>
            <p:cNvSpPr>
              <a:spLocks noChangeArrowheads="1"/>
            </p:cNvSpPr>
            <p:nvPr/>
          </p:nvSpPr>
          <p:spPr bwMode="auto">
            <a:xfrm>
              <a:off x="833438" y="3883778"/>
              <a:ext cx="7462838" cy="4526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8"/>
            <p:cNvSpPr>
              <a:spLocks noChangeArrowheads="1"/>
            </p:cNvSpPr>
            <p:nvPr/>
          </p:nvSpPr>
          <p:spPr bwMode="auto">
            <a:xfrm>
              <a:off x="2078038" y="3902814"/>
              <a:ext cx="2620963" cy="406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r"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</a:t>
              </a:r>
              <a:r>
                <a:rPr lang="en-US" i="1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 = </a:t>
              </a: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</a:t>
              </a:r>
              <a:r>
                <a:rPr lang="en-US" i="1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 / t </a:t>
              </a: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(rad s</a:t>
              </a:r>
              <a:r>
                <a:rPr lang="en-US" baseline="30000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-1</a:t>
              </a:r>
              <a:r>
                <a:rPr lang="en-US">
                  <a:solidFill>
                    <a:srgbClr val="2D2D8A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)</a:t>
              </a:r>
              <a:endParaRPr lang="en-US" baseline="30000">
                <a:solidFill>
                  <a:srgbClr val="2D2D8A"/>
                </a:solidFill>
                <a:ea typeface="Calibri" pitchFamily="34" charset="0"/>
                <a:cs typeface="Courier New" pitchFamily="49" charset="0"/>
                <a:sym typeface="Symbol" pitchFamily="18" charset="2"/>
              </a:endParaRPr>
            </a:p>
          </p:txBody>
        </p:sp>
      </p:grpSp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18050" y="2825750"/>
            <a:ext cx="3570288" cy="2224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2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2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Banking</a:t>
            </a:r>
            <a:endParaRPr lang="en-US" altLang="en-US">
              <a:ea typeface="Calibri" pitchFamily="34" charset="0"/>
              <a:cs typeface="Arial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Arial" charset="0"/>
                <a:sym typeface="Symbol" pitchFamily="18" charset="2"/>
              </a:rPr>
              <a:t>The car is able to round the                                          curve because of the friction                                       between tire and pavement.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Arial" charset="0"/>
                <a:sym typeface="Symbol" pitchFamily="18" charset="2"/>
              </a:rPr>
              <a:t>The friction always points to                                             the center of the circle.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Arial" charset="0"/>
                <a:sym typeface="Symbol" pitchFamily="18" charset="2"/>
              </a:rPr>
              <a:t>So, how does a plane follow                                                a circular trajectory?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Arial" charset="0"/>
                <a:sym typeface="Symbol" pitchFamily="18" charset="2"/>
              </a:rPr>
              <a:t>There is no sideways friction force that the plane can use because there is no solid friction between the air and the plane.</a:t>
            </a:r>
          </a:p>
        </p:txBody>
      </p:sp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94250" y="2019300"/>
            <a:ext cx="3570288" cy="2224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0363" name="Arc 11"/>
          <p:cNvSpPr>
            <a:spLocks/>
          </p:cNvSpPr>
          <p:nvPr/>
        </p:nvSpPr>
        <p:spPr bwMode="auto">
          <a:xfrm flipH="1" flipV="1">
            <a:off x="4922838" y="3357563"/>
            <a:ext cx="3441700" cy="7604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33299"/>
              <a:gd name="T2" fmla="*/ 18157 w 21600"/>
              <a:gd name="T3" fmla="*/ 33299 h 33299"/>
              <a:gd name="T4" fmla="*/ 0 w 21600"/>
              <a:gd name="T5" fmla="*/ 21600 h 33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3299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749"/>
                  <a:pt x="20404" y="29811"/>
                  <a:pt x="18157" y="33299"/>
                </a:cubicBezTo>
              </a:path>
              <a:path w="21600" h="33299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749"/>
                  <a:pt x="20404" y="29811"/>
                  <a:pt x="18157" y="33299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0364" name="Line 12"/>
          <p:cNvSpPr>
            <a:spLocks noChangeShapeType="1"/>
          </p:cNvSpPr>
          <p:nvPr/>
        </p:nvSpPr>
        <p:spPr bwMode="auto">
          <a:xfrm flipV="1">
            <a:off x="6588125" y="3794125"/>
            <a:ext cx="301625" cy="952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0365" name="Line 13"/>
          <p:cNvSpPr>
            <a:spLocks noChangeShapeType="1"/>
          </p:cNvSpPr>
          <p:nvPr/>
        </p:nvSpPr>
        <p:spPr bwMode="auto">
          <a:xfrm flipV="1">
            <a:off x="5692775" y="3705225"/>
            <a:ext cx="338138" cy="476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0366" name="Line 14"/>
          <p:cNvSpPr>
            <a:spLocks noChangeShapeType="1"/>
          </p:cNvSpPr>
          <p:nvPr/>
        </p:nvSpPr>
        <p:spPr bwMode="auto">
          <a:xfrm flipV="1">
            <a:off x="7734300" y="3616325"/>
            <a:ext cx="290513" cy="7143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2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0"/>
                                        <p:tgtEl>
                                          <p:spTgt spid="10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3" grpId="0" animBg="1"/>
      <p:bldP spid="100364" grpId="0" animBg="1"/>
      <p:bldP spid="100365" grpId="0" animBg="1"/>
      <p:bldP spid="10036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27" name="Picture 31" descr="Mercedes Benz amg sls Roadster.jpg (660×402)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2150" y="4654550"/>
            <a:ext cx="4052888" cy="2203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5" name="Rectangle 43"/>
          <p:cNvSpPr>
            <a:spLocks noChangeArrowheads="1"/>
          </p:cNvSpPr>
          <p:nvPr/>
        </p:nvSpPr>
        <p:spPr bwMode="auto">
          <a:xfrm>
            <a:off x="4481513" y="5245100"/>
            <a:ext cx="3965575" cy="1612900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b="1" i="1" dirty="0"/>
              <a:t>FYI   </a:t>
            </a:r>
            <a:r>
              <a:rPr lang="en-US" b="1" dirty="0">
                <a:sym typeface="Symbol" pitchFamily="18" charset="2"/>
              </a:rPr>
              <a:t></a:t>
            </a:r>
            <a:r>
              <a:rPr lang="en-US" dirty="0">
                <a:sym typeface="Symbol" pitchFamily="18" charset="2"/>
              </a:rPr>
              <a:t>A banked curve can be designed so that a car can make the turn even if it is perfectly frictionless!</a:t>
            </a:r>
            <a:endParaRPr lang="en-US" i="1" dirty="0">
              <a:sym typeface="Symbol" pitchFamily="18" charset="2"/>
            </a:endParaRPr>
          </a:p>
        </p:txBody>
      </p:sp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31146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Banking</a:t>
            </a:r>
            <a:endParaRPr lang="en-US" altLang="en-US">
              <a:ea typeface="Calibri" pitchFamily="34" charset="0"/>
              <a:cs typeface="Arial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Arial" charset="0"/>
                <a:sym typeface="Symbol" pitchFamily="18" charset="2"/>
              </a:rPr>
              <a:t>Even though cars use friction,                                         roads are </a:t>
            </a:r>
            <a:r>
              <a:rPr lang="en-US" b="1">
                <a:ea typeface="Calibri" pitchFamily="34" charset="0"/>
                <a:cs typeface="Arial" charset="0"/>
                <a:sym typeface="Symbol" pitchFamily="18" charset="2"/>
              </a:rPr>
              <a:t>banked</a:t>
            </a:r>
            <a:r>
              <a:rPr lang="en-US">
                <a:ea typeface="Calibri" pitchFamily="34" charset="0"/>
                <a:cs typeface="Arial" charset="0"/>
                <a:sym typeface="Symbol" pitchFamily="18" charset="2"/>
              </a:rPr>
              <a:t> so that the                                           need for friction is reduced.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Arial" charset="0"/>
                <a:sym typeface="Symbol" pitchFamily="18" charset="2"/>
              </a:rPr>
              <a:t>Instead of a component of the LIFT                                   force providing a centripetal force,                                     a component of the NORMAL force                                 does so.</a:t>
            </a:r>
          </a:p>
        </p:txBody>
      </p:sp>
      <p:pic>
        <p:nvPicPr>
          <p:cNvPr id="106525" name="Picture 29" descr="197px-Banked_tur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1482" y="1170655"/>
            <a:ext cx="3390314" cy="41304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6528" name="Line 32"/>
          <p:cNvSpPr>
            <a:spLocks noChangeShapeType="1"/>
          </p:cNvSpPr>
          <p:nvPr/>
        </p:nvSpPr>
        <p:spPr bwMode="auto">
          <a:xfrm>
            <a:off x="2268538" y="6389688"/>
            <a:ext cx="1587" cy="46831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6529" name="Line 33"/>
          <p:cNvSpPr>
            <a:spLocks noChangeShapeType="1"/>
          </p:cNvSpPr>
          <p:nvPr/>
        </p:nvSpPr>
        <p:spPr bwMode="auto">
          <a:xfrm flipH="1" flipV="1">
            <a:off x="1230313" y="5661025"/>
            <a:ext cx="660400" cy="230188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6530" name="Line 34"/>
          <p:cNvSpPr>
            <a:spLocks noChangeShapeType="1"/>
          </p:cNvSpPr>
          <p:nvPr/>
        </p:nvSpPr>
        <p:spPr bwMode="auto">
          <a:xfrm flipH="1">
            <a:off x="1309688" y="6307138"/>
            <a:ext cx="407987" cy="71437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6531" name="Text Box 35"/>
          <p:cNvSpPr txBox="1">
            <a:spLocks noChangeArrowheads="1"/>
          </p:cNvSpPr>
          <p:nvPr/>
        </p:nvSpPr>
        <p:spPr bwMode="auto">
          <a:xfrm>
            <a:off x="2319338" y="6457950"/>
            <a:ext cx="471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W</a:t>
            </a:r>
          </a:p>
        </p:txBody>
      </p:sp>
      <p:sp>
        <p:nvSpPr>
          <p:cNvPr id="106533" name="Text Box 37"/>
          <p:cNvSpPr txBox="1">
            <a:spLocks noChangeArrowheads="1"/>
          </p:cNvSpPr>
          <p:nvPr/>
        </p:nvSpPr>
        <p:spPr bwMode="auto">
          <a:xfrm>
            <a:off x="820738" y="5376863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hlink"/>
                </a:solidFill>
              </a:rPr>
              <a:t>R</a:t>
            </a:r>
          </a:p>
        </p:txBody>
      </p:sp>
      <p:sp>
        <p:nvSpPr>
          <p:cNvPr id="106534" name="Text Box 38"/>
          <p:cNvSpPr txBox="1">
            <a:spLocks noChangeArrowheads="1"/>
          </p:cNvSpPr>
          <p:nvPr/>
        </p:nvSpPr>
        <p:spPr bwMode="auto">
          <a:xfrm>
            <a:off x="892175" y="6230938"/>
            <a:ext cx="5159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F</a:t>
            </a:r>
            <a:r>
              <a:rPr lang="en-US" b="1" baseline="-25000">
                <a:solidFill>
                  <a:srgbClr val="FFFF00"/>
                </a:solidFill>
              </a:rPr>
              <a:t>C</a:t>
            </a:r>
            <a:endParaRPr lang="en-US" b="1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6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6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6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6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6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6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6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6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06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6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6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0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6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6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28" grpId="0" animBg="1"/>
      <p:bldP spid="106529" grpId="0" animBg="1"/>
      <p:bldP spid="106530" grpId="0" animBg="1"/>
      <p:bldP spid="106531" grpId="0"/>
      <p:bldP spid="106533" grpId="0"/>
      <p:bldP spid="1065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Angular speed and centripetal acceleration</a:t>
            </a:r>
            <a:r>
              <a:rPr lang="en-US">
                <a:ea typeface="Calibri" pitchFamily="34" charset="0"/>
                <a:cs typeface="Arial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Arial" charset="0"/>
                <a:sym typeface="Symbol" pitchFamily="18" charset="2"/>
              </a:rPr>
              <a:t>Sometimes the angular speed of an object in circular motion is given, rather than its velocity.</a:t>
            </a:r>
            <a:endParaRPr lang="en-US">
              <a:ea typeface="Calibri" pitchFamily="34" charset="0"/>
              <a:cs typeface="Courier New" pitchFamily="49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</a:t>
            </a:r>
            <a:r>
              <a:rPr lang="en-US">
                <a:ea typeface="Calibri" pitchFamily="34" charset="0"/>
                <a:cs typeface="Courier New" pitchFamily="49" charset="0"/>
              </a:rPr>
              <a:t>From </a:t>
            </a:r>
            <a:r>
              <a:rPr lang="en-US" i="1">
                <a:ea typeface="Calibri" pitchFamily="34" charset="0"/>
                <a:cs typeface="Courier New" pitchFamily="49" charset="0"/>
              </a:rPr>
              <a:t>v</a:t>
            </a:r>
            <a:r>
              <a:rPr lang="en-US">
                <a:ea typeface="Calibri" pitchFamily="34" charset="0"/>
                <a:cs typeface="Courier New" pitchFamily="49" charset="0"/>
              </a:rPr>
              <a:t> = </a:t>
            </a:r>
            <a:r>
              <a:rPr lang="en-US" i="1">
                <a:ea typeface="Calibri" pitchFamily="34" charset="0"/>
                <a:cs typeface="Courier New" pitchFamily="49" charset="0"/>
              </a:rPr>
              <a:t>r </a:t>
            </a:r>
            <a:r>
              <a:rPr lang="en-US">
                <a:ea typeface="Calibri" pitchFamily="34" charset="0"/>
                <a:cs typeface="Courier New" pitchFamily="49" charset="0"/>
                <a:sym typeface="Symbol" pitchFamily="18" charset="2"/>
              </a:rPr>
              <a:t> </a:t>
            </a:r>
            <a:r>
              <a:rPr lang="en-US"/>
              <a:t>we get </a:t>
            </a:r>
            <a:r>
              <a:rPr lang="en-US" i="1"/>
              <a:t>v</a:t>
            </a:r>
            <a:r>
              <a:rPr lang="en-US" baseline="30000"/>
              <a:t> 2</a:t>
            </a:r>
            <a:r>
              <a:rPr lang="en-US"/>
              <a:t> = </a:t>
            </a:r>
            <a:r>
              <a:rPr lang="en-US" i="1"/>
              <a:t>r</a:t>
            </a:r>
            <a:r>
              <a:rPr lang="en-US" baseline="30000">
                <a:sym typeface="Symbol" pitchFamily="18" charset="2"/>
              </a:rPr>
              <a:t> 2 </a:t>
            </a:r>
            <a:r>
              <a:rPr lang="en-US">
                <a:sym typeface="Symbol" pitchFamily="18" charset="2"/>
              </a:rPr>
              <a:t></a:t>
            </a:r>
            <a:r>
              <a:rPr lang="en-US" baseline="30000">
                <a:sym typeface="Symbol" pitchFamily="18" charset="2"/>
              </a:rPr>
              <a:t> 2</a:t>
            </a:r>
            <a:r>
              <a:rPr lang="en-US"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From </a:t>
            </a:r>
            <a:r>
              <a:rPr lang="en-US" i="1"/>
              <a:t>a</a:t>
            </a:r>
            <a:r>
              <a:rPr lang="en-US" baseline="-25000"/>
              <a:t>c 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 i="1"/>
              <a:t>v</a:t>
            </a:r>
            <a:r>
              <a:rPr lang="en-US" baseline="30000"/>
              <a:t> 2 </a:t>
            </a:r>
            <a:r>
              <a:rPr lang="en-US" i="1"/>
              <a:t>/</a:t>
            </a:r>
            <a:r>
              <a:rPr lang="en-US"/>
              <a:t> </a:t>
            </a:r>
            <a:r>
              <a:rPr lang="en-US" i="1"/>
              <a:t>r</a:t>
            </a:r>
            <a:r>
              <a:rPr lang="en-US"/>
              <a:t>  we get</a:t>
            </a:r>
          </a:p>
          <a:p>
            <a:pPr eaLnBrk="0" hangingPunct="0">
              <a:spcBef>
                <a:spcPct val="20000"/>
              </a:spcBef>
            </a:pPr>
            <a:r>
              <a:rPr lang="en-US"/>
              <a:t> 			</a:t>
            </a:r>
            <a:r>
              <a:rPr lang="en-US" i="1"/>
              <a:t>a</a:t>
            </a:r>
            <a:r>
              <a:rPr lang="en-US" baseline="-25000"/>
              <a:t>c </a:t>
            </a:r>
            <a:r>
              <a:rPr lang="en-US"/>
              <a:t>= </a:t>
            </a:r>
            <a:r>
              <a:rPr lang="en-US" i="1"/>
              <a:t>r</a:t>
            </a:r>
            <a:r>
              <a:rPr lang="en-US" baseline="30000">
                <a:sym typeface="Symbol" pitchFamily="18" charset="2"/>
              </a:rPr>
              <a:t> 2 </a:t>
            </a:r>
            <a:r>
              <a:rPr lang="en-US">
                <a:sym typeface="Symbol" pitchFamily="18" charset="2"/>
              </a:rPr>
              <a:t></a:t>
            </a:r>
            <a:r>
              <a:rPr lang="en-US" baseline="30000">
                <a:sym typeface="Symbol" pitchFamily="18" charset="2"/>
              </a:rPr>
              <a:t> 2  </a:t>
            </a:r>
            <a:r>
              <a:rPr lang="en-US" i="1">
                <a:sym typeface="Symbol" pitchFamily="18" charset="2"/>
              </a:rPr>
              <a:t>/  r</a:t>
            </a: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			</a:t>
            </a:r>
            <a:r>
              <a:rPr lang="en-US" i="1"/>
              <a:t>a</a:t>
            </a:r>
            <a:r>
              <a:rPr lang="en-US" baseline="-25000"/>
              <a:t>c </a:t>
            </a:r>
            <a:r>
              <a:rPr lang="en-US">
                <a:sym typeface="Symbol" pitchFamily="18" charset="2"/>
              </a:rPr>
              <a:t>=</a:t>
            </a:r>
            <a:r>
              <a:rPr lang="en-US" i="1">
                <a:sym typeface="Symbol" pitchFamily="18" charset="2"/>
              </a:rPr>
              <a:t> r </a:t>
            </a:r>
            <a:r>
              <a:rPr lang="en-US">
                <a:sym typeface="Symbol" pitchFamily="18" charset="2"/>
              </a:rPr>
              <a:t></a:t>
            </a:r>
            <a:r>
              <a:rPr lang="en-US" baseline="30000">
                <a:sym typeface="Symbol" pitchFamily="18" charset="2"/>
              </a:rPr>
              <a:t> 2</a:t>
            </a:r>
            <a:r>
              <a:rPr lang="en-US"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Putting it all together we have</a:t>
            </a:r>
          </a:p>
        </p:txBody>
      </p:sp>
      <p:sp>
        <p:nvSpPr>
          <p:cNvPr id="122889" name="Line 9"/>
          <p:cNvSpPr>
            <a:spLocks noChangeShapeType="1"/>
          </p:cNvSpPr>
          <p:nvPr/>
        </p:nvSpPr>
        <p:spPr bwMode="auto">
          <a:xfrm flipV="1">
            <a:off x="5132388" y="3895725"/>
            <a:ext cx="206375" cy="825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890" name="Line 10"/>
          <p:cNvSpPr>
            <a:spLocks noChangeShapeType="1"/>
          </p:cNvSpPr>
          <p:nvPr/>
        </p:nvSpPr>
        <p:spPr bwMode="auto">
          <a:xfrm flipV="1">
            <a:off x="4260850" y="3787775"/>
            <a:ext cx="133350" cy="1079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6640" name="Group 16"/>
          <p:cNvGrpSpPr>
            <a:grpSpLocks/>
          </p:cNvGrpSpPr>
          <p:nvPr/>
        </p:nvGrpSpPr>
        <p:grpSpPr bwMode="auto">
          <a:xfrm>
            <a:off x="828675" y="5043488"/>
            <a:ext cx="7464425" cy="1198562"/>
            <a:chOff x="522" y="2873"/>
            <a:chExt cx="4702" cy="755"/>
          </a:xfrm>
        </p:grpSpPr>
        <p:sp>
          <p:nvSpPr>
            <p:cNvPr id="26631" name="Rectangle 5"/>
            <p:cNvSpPr>
              <a:spLocks noChangeArrowheads="1"/>
            </p:cNvSpPr>
            <p:nvPr/>
          </p:nvSpPr>
          <p:spPr bwMode="auto">
            <a:xfrm>
              <a:off x="608" y="2875"/>
              <a:ext cx="143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/>
                <a:t>a</a:t>
              </a:r>
              <a:r>
                <a:rPr lang="en-US" baseline="-25000"/>
                <a:t>c </a:t>
              </a:r>
              <a:r>
                <a:rPr lang="en-US"/>
                <a:t>=</a:t>
              </a:r>
              <a:r>
                <a:rPr lang="en-US" baseline="-25000"/>
                <a:t> </a:t>
              </a:r>
              <a:r>
                <a:rPr lang="en-US" i="1"/>
                <a:t>v</a:t>
              </a:r>
              <a:r>
                <a:rPr lang="en-US" baseline="30000"/>
                <a:t> 2 </a:t>
              </a:r>
              <a:r>
                <a:rPr lang="en-US" i="1"/>
                <a:t>/</a:t>
              </a:r>
              <a:r>
                <a:rPr lang="en-US"/>
                <a:t> </a:t>
              </a:r>
              <a:r>
                <a:rPr lang="en-US" i="1"/>
                <a:t>r</a:t>
              </a:r>
              <a:endParaRPr lang="en-US" baseline="-25000"/>
            </a:p>
          </p:txBody>
        </p:sp>
        <p:sp>
          <p:nvSpPr>
            <p:cNvPr id="26632" name="Text Box 6"/>
            <p:cNvSpPr txBox="1">
              <a:spLocks noChangeArrowheads="1"/>
            </p:cNvSpPr>
            <p:nvPr/>
          </p:nvSpPr>
          <p:spPr bwMode="auto">
            <a:xfrm>
              <a:off x="4082" y="2877"/>
              <a:ext cx="1142" cy="74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solidFill>
                    <a:schemeClr val="bg1"/>
                  </a:solidFill>
                </a:rPr>
                <a:t>a</a:t>
              </a:r>
              <a:r>
                <a:rPr lang="en-US" baseline="-25000">
                  <a:solidFill>
                    <a:schemeClr val="bg1"/>
                  </a:solidFill>
                </a:rPr>
                <a:t>c</a:t>
              </a:r>
              <a:r>
                <a:rPr lang="en-US">
                  <a:solidFill>
                    <a:schemeClr val="bg1"/>
                  </a:solidFill>
                </a:rPr>
                <a:t> and </a:t>
              </a:r>
              <a:r>
                <a:rPr lang="en-US" i="1">
                  <a:solidFill>
                    <a:schemeClr val="bg1"/>
                  </a:solidFill>
                </a:rPr>
                <a:t>F</a:t>
              </a:r>
              <a:r>
                <a:rPr lang="en-US" baseline="-25000">
                  <a:solidFill>
                    <a:schemeClr val="bg1"/>
                  </a:solidFill>
                </a:rPr>
                <a:t>c</a:t>
              </a:r>
              <a:r>
                <a:rPr lang="en-US">
                  <a:solidFill>
                    <a:schemeClr val="bg1"/>
                  </a:solidFill>
                </a:rPr>
                <a:t>    (all three forms)</a:t>
              </a:r>
            </a:p>
          </p:txBody>
        </p:sp>
        <p:sp>
          <p:nvSpPr>
            <p:cNvPr id="26633" name="Rectangle 7"/>
            <p:cNvSpPr>
              <a:spLocks noChangeArrowheads="1"/>
            </p:cNvSpPr>
            <p:nvPr/>
          </p:nvSpPr>
          <p:spPr bwMode="auto">
            <a:xfrm>
              <a:off x="522" y="2879"/>
              <a:ext cx="4701" cy="74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4" name="Rectangle 8"/>
            <p:cNvSpPr>
              <a:spLocks noChangeArrowheads="1"/>
            </p:cNvSpPr>
            <p:nvPr/>
          </p:nvSpPr>
          <p:spPr bwMode="auto">
            <a:xfrm>
              <a:off x="618" y="3114"/>
              <a:ext cx="1426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/>
                <a:t>a</a:t>
              </a:r>
              <a:r>
                <a:rPr lang="en-US" baseline="-25000"/>
                <a:t>c </a:t>
              </a:r>
              <a:r>
                <a:rPr lang="en-US"/>
                <a:t>=</a:t>
              </a:r>
              <a:r>
                <a:rPr lang="en-US" baseline="-25000"/>
                <a:t> </a:t>
              </a:r>
              <a:r>
                <a:rPr lang="en-US"/>
                <a:t>4</a:t>
              </a:r>
              <a:r>
                <a:rPr lang="en-US">
                  <a:sym typeface="Symbol" pitchFamily="18" charset="2"/>
                </a:rPr>
                <a:t></a:t>
              </a:r>
              <a:r>
                <a:rPr lang="en-US" baseline="30000">
                  <a:sym typeface="Symbol" pitchFamily="18" charset="2"/>
                </a:rPr>
                <a:t> 2 </a:t>
              </a:r>
              <a:r>
                <a:rPr lang="en-US" i="1">
                  <a:sym typeface="Symbol" pitchFamily="18" charset="2"/>
                </a:rPr>
                <a:t>r / T </a:t>
              </a:r>
              <a:r>
                <a:rPr lang="en-US" baseline="30000">
                  <a:sym typeface="Symbol" pitchFamily="18" charset="2"/>
                </a:rPr>
                <a:t>2</a:t>
              </a:r>
            </a:p>
          </p:txBody>
        </p:sp>
        <p:sp>
          <p:nvSpPr>
            <p:cNvPr id="26635" name="Rectangle 8"/>
            <p:cNvSpPr>
              <a:spLocks noChangeArrowheads="1"/>
            </p:cNvSpPr>
            <p:nvPr/>
          </p:nvSpPr>
          <p:spPr bwMode="auto">
            <a:xfrm>
              <a:off x="617" y="3370"/>
              <a:ext cx="1392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/>
                <a:t>a</a:t>
              </a:r>
              <a:r>
                <a:rPr lang="en-US" baseline="-25000"/>
                <a:t>c </a:t>
              </a:r>
              <a:r>
                <a:rPr lang="en-US"/>
                <a:t>=</a:t>
              </a:r>
              <a:r>
                <a:rPr lang="en-US" baseline="-25000"/>
                <a:t> </a:t>
              </a:r>
              <a:r>
                <a:rPr lang="en-US" i="1">
                  <a:ea typeface="Calibri" pitchFamily="34" charset="0"/>
                  <a:cs typeface="Courier New" pitchFamily="49" charset="0"/>
                  <a:sym typeface="Symbol" pitchFamily="18" charset="2"/>
                </a:rPr>
                <a:t>r </a:t>
              </a:r>
              <a:r>
                <a:rPr lang="en-US">
                  <a:ea typeface="Calibri" pitchFamily="34" charset="0"/>
                  <a:cs typeface="Courier New" pitchFamily="49" charset="0"/>
                  <a:sym typeface="Symbol" pitchFamily="18" charset="2"/>
                </a:rPr>
                <a:t></a:t>
              </a:r>
              <a:r>
                <a:rPr lang="en-US" baseline="30000">
                  <a:ea typeface="Calibri" pitchFamily="34" charset="0"/>
                  <a:cs typeface="Courier New" pitchFamily="49" charset="0"/>
                  <a:sym typeface="Symbol" pitchFamily="18" charset="2"/>
                </a:rPr>
                <a:t> 2</a:t>
              </a:r>
              <a:endParaRPr lang="en-US" baseline="30000">
                <a:sym typeface="Symbol" pitchFamily="18" charset="2"/>
              </a:endParaRPr>
            </a:p>
          </p:txBody>
        </p:sp>
        <p:sp>
          <p:nvSpPr>
            <p:cNvPr id="26637" name="Rectangle 5"/>
            <p:cNvSpPr>
              <a:spLocks noChangeArrowheads="1"/>
            </p:cNvSpPr>
            <p:nvPr/>
          </p:nvSpPr>
          <p:spPr bwMode="auto">
            <a:xfrm>
              <a:off x="2391" y="2873"/>
              <a:ext cx="143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olidFill>
                    <a:schemeClr val="accent2"/>
                  </a:solidFill>
                </a:rPr>
                <a:t>F</a:t>
              </a:r>
              <a:r>
                <a:rPr lang="en-US" baseline="-25000">
                  <a:solidFill>
                    <a:schemeClr val="accent2"/>
                  </a:solidFill>
                </a:rPr>
                <a:t>c </a:t>
              </a:r>
              <a:r>
                <a:rPr lang="en-US">
                  <a:solidFill>
                    <a:schemeClr val="accent2"/>
                  </a:solidFill>
                </a:rPr>
                <a:t>=</a:t>
              </a:r>
              <a:r>
                <a:rPr lang="en-US" baseline="-25000">
                  <a:solidFill>
                    <a:schemeClr val="accent2"/>
                  </a:solidFill>
                </a:rPr>
                <a:t> </a:t>
              </a:r>
              <a:r>
                <a:rPr lang="en-US" i="1">
                  <a:solidFill>
                    <a:schemeClr val="accent2"/>
                  </a:solidFill>
                </a:rPr>
                <a:t>mv</a:t>
              </a:r>
              <a:r>
                <a:rPr lang="en-US" baseline="30000">
                  <a:solidFill>
                    <a:schemeClr val="accent2"/>
                  </a:solidFill>
                </a:rPr>
                <a:t> 2 </a:t>
              </a:r>
              <a:r>
                <a:rPr lang="en-US" i="1">
                  <a:solidFill>
                    <a:schemeClr val="accent2"/>
                  </a:solidFill>
                </a:rPr>
                <a:t>/</a:t>
              </a:r>
              <a:r>
                <a:rPr lang="en-US">
                  <a:solidFill>
                    <a:schemeClr val="accent2"/>
                  </a:solidFill>
                </a:rPr>
                <a:t> </a:t>
              </a:r>
              <a:r>
                <a:rPr lang="en-US" i="1">
                  <a:solidFill>
                    <a:schemeClr val="accent2"/>
                  </a:solidFill>
                </a:rPr>
                <a:t>r</a:t>
              </a:r>
              <a:endParaRPr lang="en-US" baseline="-25000">
                <a:solidFill>
                  <a:schemeClr val="accent2"/>
                </a:solidFill>
              </a:endParaRPr>
            </a:p>
          </p:txBody>
        </p:sp>
        <p:sp>
          <p:nvSpPr>
            <p:cNvPr id="26638" name="Rectangle 8"/>
            <p:cNvSpPr>
              <a:spLocks noChangeArrowheads="1"/>
            </p:cNvSpPr>
            <p:nvPr/>
          </p:nvSpPr>
          <p:spPr bwMode="auto">
            <a:xfrm>
              <a:off x="2401" y="3112"/>
              <a:ext cx="1618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olidFill>
                    <a:schemeClr val="accent2"/>
                  </a:solidFill>
                </a:rPr>
                <a:t>F</a:t>
              </a:r>
              <a:r>
                <a:rPr lang="en-US" baseline="-25000">
                  <a:solidFill>
                    <a:schemeClr val="accent2"/>
                  </a:solidFill>
                </a:rPr>
                <a:t>c </a:t>
              </a:r>
              <a:r>
                <a:rPr lang="en-US">
                  <a:solidFill>
                    <a:schemeClr val="accent2"/>
                  </a:solidFill>
                </a:rPr>
                <a:t>=</a:t>
              </a:r>
              <a:r>
                <a:rPr lang="en-US" baseline="-25000">
                  <a:solidFill>
                    <a:schemeClr val="accent2"/>
                  </a:solidFill>
                </a:rPr>
                <a:t> </a:t>
              </a:r>
              <a:r>
                <a:rPr lang="en-US">
                  <a:solidFill>
                    <a:schemeClr val="accent2"/>
                  </a:solidFill>
                </a:rPr>
                <a:t>4</a:t>
              </a:r>
              <a:r>
                <a:rPr lang="en-US">
                  <a:solidFill>
                    <a:schemeClr val="accent2"/>
                  </a:solidFill>
                  <a:sym typeface="Symbol" pitchFamily="18" charset="2"/>
                </a:rPr>
                <a:t></a:t>
              </a:r>
              <a:r>
                <a:rPr lang="en-US" baseline="30000">
                  <a:solidFill>
                    <a:schemeClr val="accent2"/>
                  </a:solidFill>
                  <a:sym typeface="Symbol" pitchFamily="18" charset="2"/>
                </a:rPr>
                <a:t> 2 </a:t>
              </a:r>
              <a:r>
                <a:rPr lang="en-US" i="1">
                  <a:solidFill>
                    <a:schemeClr val="accent2"/>
                  </a:solidFill>
                  <a:sym typeface="Symbol" pitchFamily="18" charset="2"/>
                </a:rPr>
                <a:t>mr / T </a:t>
              </a:r>
              <a:r>
                <a:rPr lang="en-US" baseline="30000">
                  <a:solidFill>
                    <a:schemeClr val="accent2"/>
                  </a:solidFill>
                  <a:sym typeface="Symbol" pitchFamily="18" charset="2"/>
                </a:rPr>
                <a:t>2</a:t>
              </a:r>
            </a:p>
          </p:txBody>
        </p:sp>
        <p:sp>
          <p:nvSpPr>
            <p:cNvPr id="26639" name="Rectangle 8"/>
            <p:cNvSpPr>
              <a:spLocks noChangeArrowheads="1"/>
            </p:cNvSpPr>
            <p:nvPr/>
          </p:nvSpPr>
          <p:spPr bwMode="auto">
            <a:xfrm>
              <a:off x="2400" y="3368"/>
              <a:ext cx="1392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olidFill>
                    <a:schemeClr val="accent2"/>
                  </a:solidFill>
                </a:rPr>
                <a:t>F</a:t>
              </a:r>
              <a:r>
                <a:rPr lang="en-US" baseline="-25000">
                  <a:solidFill>
                    <a:schemeClr val="accent2"/>
                  </a:solidFill>
                </a:rPr>
                <a:t>c </a:t>
              </a:r>
              <a:r>
                <a:rPr lang="en-US">
                  <a:solidFill>
                    <a:schemeClr val="accent2"/>
                  </a:solidFill>
                </a:rPr>
                <a:t>=</a:t>
              </a:r>
              <a:r>
                <a:rPr lang="en-US" baseline="-25000">
                  <a:solidFill>
                    <a:schemeClr val="accent2"/>
                  </a:solidFill>
                </a:rPr>
                <a:t> </a:t>
              </a:r>
              <a:r>
                <a:rPr lang="en-US" i="1">
                  <a:solidFill>
                    <a:schemeClr val="accent2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m </a:t>
              </a:r>
              <a:r>
                <a:rPr lang="en-US">
                  <a:solidFill>
                    <a:schemeClr val="accent2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</a:t>
              </a:r>
              <a:r>
                <a:rPr lang="en-US" baseline="30000">
                  <a:solidFill>
                    <a:schemeClr val="accent2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 2</a:t>
              </a:r>
              <a:r>
                <a:rPr lang="en-US" baseline="-25000">
                  <a:solidFill>
                    <a:schemeClr val="accent2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 i="1">
                  <a:solidFill>
                    <a:schemeClr val="accent2"/>
                  </a:solidFill>
                  <a:ea typeface="Calibri" pitchFamily="34" charset="0"/>
                  <a:cs typeface="Courier New" pitchFamily="49" charset="0"/>
                  <a:sym typeface="Symbol" pitchFamily="18" charset="2"/>
                </a:rPr>
                <a:t>r</a:t>
              </a:r>
              <a:endParaRPr lang="en-US" baseline="30000">
                <a:solidFill>
                  <a:schemeClr val="accent2"/>
                </a:solidFill>
                <a:sym typeface="Symbol" pitchFamily="18" charset="2"/>
              </a:endParaRPr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6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6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9" grpId="0" animBg="1"/>
      <p:bldP spid="12289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Angular velocity</a:t>
            </a:r>
          </a:p>
          <a:p>
            <a:pPr eaLnBrk="0" hangingPunct="0">
              <a:spcBef>
                <a:spcPct val="20000"/>
              </a:spcBef>
            </a:pPr>
            <a:endParaRPr lang="en-US" i="1">
              <a:solidFill>
                <a:schemeClr val="accent2"/>
              </a:solidFill>
              <a:ea typeface="Calibri" pitchFamily="34" charset="0"/>
              <a:cs typeface="Arial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As speed with a direction is called velocity, angular speed with a direction is called </a:t>
            </a:r>
            <a:r>
              <a:rPr lang="en-US" b="1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angular velocity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.</a:t>
            </a:r>
            <a:endParaRPr lang="en-US">
              <a:ea typeface="Calibri" pitchFamily="34" charset="0"/>
              <a:cs typeface="Arial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To assign a direction to a rotation we                                  use a </a:t>
            </a:r>
            <a:r>
              <a:rPr lang="en-US" b="1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right hand rule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 as follows:</a:t>
            </a:r>
          </a:p>
          <a:p>
            <a:pPr eaLnBrk="0" hangingPunct="0">
              <a:spcBef>
                <a:spcPct val="20000"/>
              </a:spcBef>
              <a:buFontTx/>
              <a:buAutoNum type="arabicPeriod"/>
            </a:pP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 Rest the heel of your </a:t>
            </a:r>
            <a:r>
              <a:rPr lang="en-US" i="1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right hand 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on the                              rotating object.</a:t>
            </a:r>
          </a:p>
          <a:p>
            <a:pPr eaLnBrk="0" hangingPunct="0">
              <a:spcBef>
                <a:spcPct val="20000"/>
              </a:spcBef>
              <a:buFontTx/>
              <a:buAutoNum type="arabicPeriod"/>
            </a:pP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 Make sure your fingers are curled                                        in the </a:t>
            </a:r>
            <a:r>
              <a:rPr lang="en-US" i="1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direction of rotation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  <a:buFontTx/>
              <a:buAutoNum type="arabicPeriod"/>
            </a:pP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 Your extended </a:t>
            </a:r>
            <a:r>
              <a:rPr lang="en-US" i="1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thumb points                                           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in the direction of the angular                                     velocity.</a:t>
            </a:r>
            <a:endParaRPr lang="en-US">
              <a:ea typeface="Calibri" pitchFamily="34" charset="0"/>
              <a:cs typeface="Arial" charset="0"/>
            </a:endParaRPr>
          </a:p>
        </p:txBody>
      </p:sp>
      <p:sp>
        <p:nvSpPr>
          <p:cNvPr id="35" name="Rectangle 43"/>
          <p:cNvSpPr>
            <a:spLocks noChangeArrowheads="1"/>
          </p:cNvSpPr>
          <p:nvPr/>
        </p:nvSpPr>
        <p:spPr bwMode="auto">
          <a:xfrm>
            <a:off x="5103813" y="5318125"/>
            <a:ext cx="3343275" cy="1539875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b="1" i="1"/>
              <a:t>FYI           </a:t>
            </a:r>
            <a:r>
              <a:rPr lang="en-US" b="1">
                <a:sym typeface="Symbol" pitchFamily="18" charset="2"/>
              </a:rPr>
              <a:t></a:t>
            </a:r>
            <a:r>
              <a:rPr lang="en-US">
                <a:sym typeface="Symbol" pitchFamily="18" charset="2"/>
              </a:rPr>
              <a:t>Angular velocity always points perpendicular to the plane of motion!</a:t>
            </a:r>
            <a:endParaRPr lang="en-US" i="1">
              <a:sym typeface="Symbol" pitchFamily="18" charset="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3438" y="2009775"/>
            <a:ext cx="7464425" cy="461963"/>
            <a:chOff x="525" y="2291"/>
            <a:chExt cx="4702" cy="291"/>
          </a:xfrm>
        </p:grpSpPr>
        <p:sp>
          <p:nvSpPr>
            <p:cNvPr id="27670" name="Rectangle 5"/>
            <p:cNvSpPr>
              <a:spLocks noChangeArrowheads="1"/>
            </p:cNvSpPr>
            <p:nvPr/>
          </p:nvSpPr>
          <p:spPr bwMode="auto">
            <a:xfrm>
              <a:off x="528" y="2304"/>
              <a:ext cx="2166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sym typeface="Symbol" pitchFamily="18" charset="2"/>
                </a:rPr>
                <a:t>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=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/>
                <a:t>2</a:t>
              </a:r>
              <a:r>
                <a:rPr lang="en-US">
                  <a:sym typeface="Symbol" pitchFamily="18" charset="2"/>
                </a:rPr>
                <a:t> 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/ T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= </a:t>
              </a:r>
              <a:r>
                <a:rPr lang="en-US"/>
                <a:t>2</a:t>
              </a:r>
              <a:r>
                <a:rPr lang="en-US">
                  <a:sym typeface="Symbol" pitchFamily="18" charset="2"/>
                </a:rPr>
                <a:t>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f =  / t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</a:pPr>
              <a:endParaRPr lang="en-US" i="1">
                <a:cs typeface="Courier New" pitchFamily="49" charset="0"/>
                <a:sym typeface="Symbol" pitchFamily="18" charset="2"/>
              </a:endParaRPr>
            </a:p>
          </p:txBody>
        </p:sp>
        <p:sp>
          <p:nvSpPr>
            <p:cNvPr id="27671" name="Text Box 6"/>
            <p:cNvSpPr txBox="1">
              <a:spLocks noChangeArrowheads="1"/>
            </p:cNvSpPr>
            <p:nvPr/>
          </p:nvSpPr>
          <p:spPr bwMode="auto">
            <a:xfrm>
              <a:off x="2685" y="2291"/>
              <a:ext cx="2542" cy="291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relation between </a:t>
              </a:r>
              <a:r>
                <a:rPr lang="en-US">
                  <a:solidFill>
                    <a:schemeClr val="bg1"/>
                  </a:solidFill>
                  <a:sym typeface="Symbol" pitchFamily="18" charset="2"/>
                </a:rPr>
                <a:t>,</a:t>
              </a:r>
              <a:r>
                <a:rPr lang="en-US">
                  <a:solidFill>
                    <a:schemeClr val="bg1"/>
                  </a:solidFill>
                </a:rPr>
                <a:t> </a:t>
              </a:r>
              <a:r>
                <a:rPr lang="en-US" i="1">
                  <a:solidFill>
                    <a:schemeClr val="bg1"/>
                  </a:solidFill>
                </a:rPr>
                <a:t>T</a:t>
              </a:r>
              <a:r>
                <a:rPr lang="en-US">
                  <a:solidFill>
                    <a:schemeClr val="bg1"/>
                  </a:solidFill>
                </a:rPr>
                <a:t> and </a:t>
              </a:r>
              <a:r>
                <a:rPr lang="en-US" i="1">
                  <a:solidFill>
                    <a:schemeClr val="bg1"/>
                  </a:solidFill>
                </a:rPr>
                <a:t>f</a:t>
              </a:r>
            </a:p>
          </p:txBody>
        </p:sp>
        <p:sp>
          <p:nvSpPr>
            <p:cNvPr id="27672" name="Rectangle 7"/>
            <p:cNvSpPr>
              <a:spLocks noChangeArrowheads="1"/>
            </p:cNvSpPr>
            <p:nvPr/>
          </p:nvSpPr>
          <p:spPr bwMode="auto">
            <a:xfrm>
              <a:off x="525" y="2293"/>
              <a:ext cx="4701" cy="28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3" name="Rectangle 8"/>
            <p:cNvSpPr>
              <a:spLocks noChangeArrowheads="1"/>
            </p:cNvSpPr>
            <p:nvPr/>
          </p:nvSpPr>
          <p:spPr bwMode="auto">
            <a:xfrm>
              <a:off x="1665" y="2305"/>
              <a:ext cx="129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>
                <a:lnSpc>
                  <a:spcPct val="90000"/>
                </a:lnSpc>
                <a:spcBef>
                  <a:spcPct val="20000"/>
                </a:spcBef>
              </a:pPr>
              <a:endParaRPr lang="en-US" i="1">
                <a:cs typeface="Courier New" pitchFamily="49" charset="0"/>
                <a:sym typeface="Symbol" pitchFamily="18" charset="2"/>
              </a:endParaRPr>
            </a:p>
          </p:txBody>
        </p:sp>
      </p:grpSp>
      <p:grpSp>
        <p:nvGrpSpPr>
          <p:cNvPr id="3" name="Group 215"/>
          <p:cNvGrpSpPr>
            <a:grpSpLocks/>
          </p:cNvGrpSpPr>
          <p:nvPr/>
        </p:nvGrpSpPr>
        <p:grpSpPr bwMode="auto">
          <a:xfrm>
            <a:off x="7216775" y="3117850"/>
            <a:ext cx="1770063" cy="1768475"/>
            <a:chOff x="1933" y="2380"/>
            <a:chExt cx="1182" cy="1182"/>
          </a:xfrm>
        </p:grpSpPr>
        <p:sp>
          <p:nvSpPr>
            <p:cNvPr id="27660" name="Oval 216"/>
            <p:cNvSpPr>
              <a:spLocks noChangeArrowheads="1"/>
            </p:cNvSpPr>
            <p:nvPr/>
          </p:nvSpPr>
          <p:spPr bwMode="auto">
            <a:xfrm>
              <a:off x="1933" y="2380"/>
              <a:ext cx="1182" cy="118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217"/>
            <p:cNvSpPr>
              <a:spLocks noChangeArrowheads="1"/>
            </p:cNvSpPr>
            <p:nvPr/>
          </p:nvSpPr>
          <p:spPr bwMode="auto">
            <a:xfrm>
              <a:off x="2978" y="2911"/>
              <a:ext cx="128" cy="129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46275"/>
                    <a:invGamma/>
                  </a:schemeClr>
                </a:gs>
              </a:gsLst>
              <a:lin ang="189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662" name="Line 218"/>
            <p:cNvSpPr>
              <a:spLocks noChangeShapeType="1"/>
            </p:cNvSpPr>
            <p:nvPr/>
          </p:nvSpPr>
          <p:spPr bwMode="auto">
            <a:xfrm>
              <a:off x="2516" y="2971"/>
              <a:ext cx="531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663" name="Group 219"/>
            <p:cNvGrpSpPr>
              <a:grpSpLocks/>
            </p:cNvGrpSpPr>
            <p:nvPr/>
          </p:nvGrpSpPr>
          <p:grpSpPr bwMode="auto">
            <a:xfrm>
              <a:off x="2464" y="2926"/>
              <a:ext cx="114" cy="106"/>
              <a:chOff x="789" y="2403"/>
              <a:chExt cx="114" cy="106"/>
            </a:xfrm>
          </p:grpSpPr>
          <p:sp>
            <p:nvSpPr>
              <p:cNvPr id="27668" name="Line 220"/>
              <p:cNvSpPr>
                <a:spLocks noChangeShapeType="1"/>
              </p:cNvSpPr>
              <p:nvPr/>
            </p:nvSpPr>
            <p:spPr bwMode="auto">
              <a:xfrm>
                <a:off x="796" y="2403"/>
                <a:ext cx="107" cy="1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69" name="Line 221"/>
              <p:cNvSpPr>
                <a:spLocks noChangeShapeType="1"/>
              </p:cNvSpPr>
              <p:nvPr/>
            </p:nvSpPr>
            <p:spPr bwMode="auto">
              <a:xfrm flipH="1">
                <a:off x="789" y="2403"/>
                <a:ext cx="114" cy="1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664" name="Rectangle 222"/>
            <p:cNvSpPr>
              <a:spLocks noChangeArrowheads="1"/>
            </p:cNvSpPr>
            <p:nvPr/>
          </p:nvSpPr>
          <p:spPr bwMode="auto">
            <a:xfrm>
              <a:off x="2683" y="2880"/>
              <a:ext cx="189" cy="189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Text Box 223"/>
            <p:cNvSpPr txBox="1">
              <a:spLocks noChangeArrowheads="1"/>
            </p:cNvSpPr>
            <p:nvPr/>
          </p:nvSpPr>
          <p:spPr bwMode="auto">
            <a:xfrm>
              <a:off x="2677" y="2810"/>
              <a:ext cx="192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chemeClr val="accent6"/>
                  </a:solidFill>
                </a:rPr>
                <a:t>r</a:t>
              </a:r>
            </a:p>
          </p:txBody>
        </p:sp>
        <p:sp>
          <p:nvSpPr>
            <p:cNvPr id="27666" name="Line 224"/>
            <p:cNvSpPr>
              <a:spLocks noChangeShapeType="1"/>
            </p:cNvSpPr>
            <p:nvPr/>
          </p:nvSpPr>
          <p:spPr bwMode="auto">
            <a:xfrm flipV="1">
              <a:off x="3039" y="2493"/>
              <a:ext cx="0" cy="47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7" name="Text Box 225"/>
            <p:cNvSpPr txBox="1">
              <a:spLocks noChangeArrowheads="1"/>
            </p:cNvSpPr>
            <p:nvPr/>
          </p:nvSpPr>
          <p:spPr bwMode="auto">
            <a:xfrm>
              <a:off x="2792" y="2476"/>
              <a:ext cx="22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FF0000"/>
                  </a:solidFill>
                </a:rPr>
                <a:t>v</a:t>
              </a:r>
            </a:p>
          </p:txBody>
        </p:sp>
      </p:grpSp>
      <p:pic>
        <p:nvPicPr>
          <p:cNvPr id="17" name="Picture 16" descr="right hand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26338" y="3513138"/>
            <a:ext cx="1150937" cy="2035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0" name="Arc 29"/>
          <p:cNvSpPr/>
          <p:nvPr/>
        </p:nvSpPr>
        <p:spPr>
          <a:xfrm>
            <a:off x="7821613" y="3713163"/>
            <a:ext cx="633412" cy="633412"/>
          </a:xfrm>
          <a:prstGeom prst="arc">
            <a:avLst>
              <a:gd name="adj1" fmla="val 12490704"/>
              <a:gd name="adj2" fmla="val 0"/>
            </a:avLst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7975600" y="4164013"/>
            <a:ext cx="431800" cy="1395412"/>
            <a:chOff x="7666891" y="4797082"/>
            <a:chExt cx="431528" cy="1395418"/>
          </a:xfrm>
        </p:grpSpPr>
        <p:sp>
          <p:nvSpPr>
            <p:cNvPr id="27658" name="TextBox 30"/>
            <p:cNvSpPr txBox="1">
              <a:spLocks noChangeArrowheads="1"/>
            </p:cNvSpPr>
            <p:nvPr/>
          </p:nvSpPr>
          <p:spPr bwMode="auto">
            <a:xfrm>
              <a:off x="7666891" y="5669280"/>
              <a:ext cx="431528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>
                  <a:solidFill>
                    <a:srgbClr val="D60093"/>
                  </a:solidFill>
                  <a:sym typeface="Symbol" pitchFamily="18" charset="2"/>
                </a:rPr>
                <a:t></a:t>
              </a:r>
              <a:endParaRPr lang="en-US" sz="2800" b="1">
                <a:solidFill>
                  <a:srgbClr val="D60093"/>
                </a:solidFill>
              </a:endParaRP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rot="16200000" flipH="1">
              <a:off x="7371499" y="5247951"/>
              <a:ext cx="957266" cy="55528"/>
            </a:xfrm>
            <a:prstGeom prst="straightConnector1">
              <a:avLst/>
            </a:prstGeom>
            <a:ln w="57150">
              <a:solidFill>
                <a:srgbClr val="D6009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5"/>
          <p:cNvSpPr>
            <a:spLocks noChangeArrowheads="1"/>
          </p:cNvSpPr>
          <p:nvPr/>
        </p:nvSpPr>
        <p:spPr bwMode="auto">
          <a:xfrm>
            <a:off x="685800" y="2560638"/>
            <a:ext cx="7772400" cy="429736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dirty="0"/>
              <a:t>PRACTICE: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Find the angular velocity                                   (in </a:t>
            </a:r>
            <a:r>
              <a:rPr lang="en-US" dirty="0" err="1">
                <a:solidFill>
                  <a:srgbClr val="000000"/>
                </a:solidFill>
                <a:sym typeface="Symbol" pitchFamily="18" charset="2"/>
              </a:rPr>
              <a:t>rad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 s</a:t>
            </a:r>
            <a:r>
              <a:rPr lang="en-US" baseline="30000" dirty="0">
                <a:solidFill>
                  <a:srgbClr val="000000"/>
                </a:solidFill>
                <a:sym typeface="Symbol" pitchFamily="18" charset="2"/>
              </a:rPr>
              <a:t>-1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) of the wheel on the shaft.                                            It is rotating at 30.0 rpm (revolutions                                              per minute).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SOLUTION: 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The magnitude of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/>
              </a:rPr>
              <a:t> is given by</a:t>
            </a:r>
            <a:endParaRPr lang="en-US" dirty="0">
              <a:solidFill>
                <a:srgbClr val="000000"/>
              </a:solidFill>
              <a:sym typeface="Symbol" pitchFamily="18" charset="2"/>
            </a:endParaRP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sym typeface="Symbol"/>
              </a:rPr>
              <a:t>     = (30.0 rev </a:t>
            </a:r>
            <a:r>
              <a:rPr lang="en-US" i="1" dirty="0">
                <a:solidFill>
                  <a:srgbClr val="000000"/>
                </a:solidFill>
                <a:sym typeface="Symbol"/>
              </a:rPr>
              <a:t>/</a:t>
            </a:r>
            <a:r>
              <a:rPr lang="en-US" dirty="0">
                <a:solidFill>
                  <a:srgbClr val="000000"/>
                </a:solidFill>
                <a:sym typeface="Symbol"/>
              </a:rPr>
              <a:t> 60 s)(2 </a:t>
            </a:r>
            <a:r>
              <a:rPr lang="en-US" dirty="0" err="1">
                <a:solidFill>
                  <a:srgbClr val="000000"/>
                </a:solidFill>
                <a:sym typeface="Symbol"/>
              </a:rPr>
              <a:t>rad</a:t>
            </a:r>
            <a:r>
              <a:rPr lang="en-US" dirty="0">
                <a:solidFill>
                  <a:srgbClr val="000000"/>
                </a:solidFill>
                <a:sym typeface="Symbol"/>
              </a:rPr>
              <a:t> </a:t>
            </a:r>
            <a:r>
              <a:rPr lang="en-US" i="1" dirty="0">
                <a:solidFill>
                  <a:srgbClr val="000000"/>
                </a:solidFill>
                <a:sym typeface="Symbol"/>
              </a:rPr>
              <a:t>/ </a:t>
            </a:r>
            <a:r>
              <a:rPr lang="en-US" dirty="0">
                <a:solidFill>
                  <a:srgbClr val="000000"/>
                </a:solidFill>
                <a:sym typeface="Symbol"/>
              </a:rPr>
              <a:t>rev)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sym typeface="Symbol"/>
              </a:rPr>
              <a:t>      </a:t>
            </a:r>
            <a:r>
              <a:rPr lang="en-US" baseline="-25000" dirty="0">
                <a:solidFill>
                  <a:srgbClr val="000000"/>
                </a:solidFill>
                <a:sym typeface="Symbol"/>
              </a:rPr>
              <a:t> </a:t>
            </a:r>
            <a:r>
              <a:rPr lang="en-US" dirty="0">
                <a:solidFill>
                  <a:srgbClr val="000000"/>
                </a:solidFill>
                <a:sym typeface="Symbol"/>
              </a:rPr>
              <a:t> = 3.14 </a:t>
            </a:r>
            <a:r>
              <a:rPr lang="en-US" dirty="0" err="1">
                <a:solidFill>
                  <a:srgbClr val="000000"/>
                </a:solidFill>
                <a:sym typeface="Symbol"/>
              </a:rPr>
              <a:t>rad</a:t>
            </a:r>
            <a:r>
              <a:rPr lang="en-US" dirty="0">
                <a:solidFill>
                  <a:srgbClr val="000000"/>
                </a:solidFill>
                <a:sym typeface="Symbol"/>
              </a:rPr>
              <a:t> s</a:t>
            </a:r>
            <a:r>
              <a:rPr lang="en-US" baseline="30000" dirty="0">
                <a:solidFill>
                  <a:srgbClr val="000000"/>
                </a:solidFill>
                <a:sym typeface="Symbol"/>
              </a:rPr>
              <a:t>-1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.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The direction of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/>
              </a:rPr>
              <a:t> is given by the right hand rule:</a:t>
            </a:r>
          </a:p>
          <a:p>
            <a:pPr>
              <a:spcBef>
                <a:spcPts val="600"/>
              </a:spcBef>
              <a:defRPr/>
            </a:pPr>
            <a:r>
              <a:rPr lang="en-US" i="1" dirty="0">
                <a:solidFill>
                  <a:schemeClr val="accent6"/>
                </a:solidFill>
                <a:cs typeface="Times New Roman" pitchFamily="18" charset="0"/>
                <a:sym typeface="Symbol"/>
              </a:rPr>
              <a:t>	“Place heel of right hand so fingers are curled in 	 direction of rotation. Thumb gives the direction.”</a:t>
            </a:r>
            <a:endParaRPr lang="en-US" i="1" dirty="0">
              <a:solidFill>
                <a:schemeClr val="accent6"/>
              </a:solidFill>
              <a:sym typeface="Symbol" pitchFamily="18" charset="2"/>
            </a:endParaRPr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1011238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Angular velocity</a:t>
            </a:r>
          </a:p>
          <a:p>
            <a:pPr eaLnBrk="0" hangingPunct="0">
              <a:spcBef>
                <a:spcPct val="20000"/>
              </a:spcBef>
            </a:pPr>
            <a:endParaRPr lang="en-US" i="1">
              <a:solidFill>
                <a:schemeClr val="accent2"/>
              </a:solidFill>
              <a:ea typeface="Calibri" pitchFamily="34" charset="0"/>
              <a:cs typeface="Arial" charset="0"/>
            </a:endParaRPr>
          </a:p>
        </p:txBody>
      </p:sp>
      <p:grpSp>
        <p:nvGrpSpPr>
          <p:cNvPr id="28677" name="Group 4"/>
          <p:cNvGrpSpPr>
            <a:grpSpLocks/>
          </p:cNvGrpSpPr>
          <p:nvPr/>
        </p:nvGrpSpPr>
        <p:grpSpPr bwMode="auto">
          <a:xfrm>
            <a:off x="833438" y="2009775"/>
            <a:ext cx="7464425" cy="461963"/>
            <a:chOff x="525" y="2291"/>
            <a:chExt cx="4702" cy="291"/>
          </a:xfrm>
        </p:grpSpPr>
        <p:sp>
          <p:nvSpPr>
            <p:cNvPr id="28681" name="Rectangle 5"/>
            <p:cNvSpPr>
              <a:spLocks noChangeArrowheads="1"/>
            </p:cNvSpPr>
            <p:nvPr/>
          </p:nvSpPr>
          <p:spPr bwMode="auto">
            <a:xfrm>
              <a:off x="528" y="2304"/>
              <a:ext cx="2166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sym typeface="Symbol" pitchFamily="18" charset="2"/>
                </a:rPr>
                <a:t>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=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/>
                <a:t>2</a:t>
              </a:r>
              <a:r>
                <a:rPr lang="en-US">
                  <a:sym typeface="Symbol" pitchFamily="18" charset="2"/>
                </a:rPr>
                <a:t> 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/ T </a:t>
              </a:r>
              <a:r>
                <a:rPr lang="en-US">
                  <a:cs typeface="Courier New" pitchFamily="49" charset="0"/>
                  <a:sym typeface="Symbol" pitchFamily="18" charset="2"/>
                </a:rPr>
                <a:t>= </a:t>
              </a:r>
              <a:r>
                <a:rPr lang="en-US"/>
                <a:t>2</a:t>
              </a:r>
              <a:r>
                <a:rPr lang="en-US">
                  <a:sym typeface="Symbol" pitchFamily="18" charset="2"/>
                </a:rPr>
                <a:t>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f =  / t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</a:pPr>
              <a:endParaRPr lang="en-US" i="1">
                <a:cs typeface="Courier New" pitchFamily="49" charset="0"/>
                <a:sym typeface="Symbol" pitchFamily="18" charset="2"/>
              </a:endParaRPr>
            </a:p>
          </p:txBody>
        </p:sp>
        <p:sp>
          <p:nvSpPr>
            <p:cNvPr id="28682" name="Text Box 6"/>
            <p:cNvSpPr txBox="1">
              <a:spLocks noChangeArrowheads="1"/>
            </p:cNvSpPr>
            <p:nvPr/>
          </p:nvSpPr>
          <p:spPr bwMode="auto">
            <a:xfrm>
              <a:off x="2685" y="2291"/>
              <a:ext cx="2542" cy="291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relation between </a:t>
              </a:r>
              <a:r>
                <a:rPr lang="en-US">
                  <a:solidFill>
                    <a:schemeClr val="bg1"/>
                  </a:solidFill>
                  <a:sym typeface="Symbol" pitchFamily="18" charset="2"/>
                </a:rPr>
                <a:t>,</a:t>
              </a:r>
              <a:r>
                <a:rPr lang="en-US">
                  <a:solidFill>
                    <a:schemeClr val="bg1"/>
                  </a:solidFill>
                </a:rPr>
                <a:t> </a:t>
              </a:r>
              <a:r>
                <a:rPr lang="en-US" i="1">
                  <a:solidFill>
                    <a:schemeClr val="bg1"/>
                  </a:solidFill>
                </a:rPr>
                <a:t>T</a:t>
              </a:r>
              <a:r>
                <a:rPr lang="en-US">
                  <a:solidFill>
                    <a:schemeClr val="bg1"/>
                  </a:solidFill>
                </a:rPr>
                <a:t> and </a:t>
              </a:r>
              <a:r>
                <a:rPr lang="en-US" i="1">
                  <a:solidFill>
                    <a:schemeClr val="bg1"/>
                  </a:solidFill>
                </a:rPr>
                <a:t>f</a:t>
              </a:r>
            </a:p>
          </p:txBody>
        </p:sp>
        <p:sp>
          <p:nvSpPr>
            <p:cNvPr id="28683" name="Rectangle 7"/>
            <p:cNvSpPr>
              <a:spLocks noChangeArrowheads="1"/>
            </p:cNvSpPr>
            <p:nvPr/>
          </p:nvSpPr>
          <p:spPr bwMode="auto">
            <a:xfrm>
              <a:off x="525" y="2293"/>
              <a:ext cx="4701" cy="28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4" name="Rectangle 8"/>
            <p:cNvSpPr>
              <a:spLocks noChangeArrowheads="1"/>
            </p:cNvSpPr>
            <p:nvPr/>
          </p:nvSpPr>
          <p:spPr bwMode="auto">
            <a:xfrm>
              <a:off x="1665" y="2305"/>
              <a:ext cx="129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>
                <a:lnSpc>
                  <a:spcPct val="90000"/>
                </a:lnSpc>
                <a:spcBef>
                  <a:spcPct val="20000"/>
                </a:spcBef>
              </a:pPr>
              <a:endParaRPr lang="en-US" i="1">
                <a:cs typeface="Courier New" pitchFamily="49" charset="0"/>
                <a:sym typeface="Symbol" pitchFamily="18" charset="2"/>
              </a:endParaRPr>
            </a:p>
          </p:txBody>
        </p:sp>
      </p:grpSp>
      <p:pic>
        <p:nvPicPr>
          <p:cNvPr id="9318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5981" y="2628461"/>
            <a:ext cx="3157538" cy="2454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5981" y="2614174"/>
            <a:ext cx="3157538" cy="2454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Rectangle 33"/>
          <p:cNvSpPr>
            <a:spLocks noChangeAspect="1"/>
          </p:cNvSpPr>
          <p:nvPr/>
        </p:nvSpPr>
        <p:spPr>
          <a:xfrm>
            <a:off x="5894556" y="4473136"/>
            <a:ext cx="452438" cy="447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889" name="Line 9"/>
          <p:cNvSpPr>
            <a:spLocks noChangeShapeType="1"/>
          </p:cNvSpPr>
          <p:nvPr/>
        </p:nvSpPr>
        <p:spPr bwMode="auto">
          <a:xfrm flipV="1">
            <a:off x="5038725" y="4856163"/>
            <a:ext cx="328613" cy="3143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890" name="Line 10"/>
          <p:cNvSpPr>
            <a:spLocks noChangeShapeType="1"/>
          </p:cNvSpPr>
          <p:nvPr/>
        </p:nvSpPr>
        <p:spPr bwMode="auto">
          <a:xfrm flipV="1">
            <a:off x="2413000" y="4878388"/>
            <a:ext cx="457200" cy="2921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122889" grpId="0" animBg="1"/>
      <p:bldP spid="12289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674688" y="1970088"/>
            <a:ext cx="7781925" cy="48879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PRACTICE: </a:t>
            </a:r>
          </a:p>
          <a:p>
            <a:pPr eaLnBrk="0" hangingPunct="0">
              <a:spcBef>
                <a:spcPts val="400"/>
              </a:spcBef>
            </a:pPr>
            <a:r>
              <a:rPr lang="en-US">
                <a:sym typeface="Symbol" pitchFamily="18" charset="2"/>
              </a:rPr>
              <a:t>Identify at least five forces that are centripetal in nature:</a:t>
            </a:r>
          </a:p>
          <a:p>
            <a:pPr eaLnBrk="0" hangingPunct="0">
              <a:spcBef>
                <a:spcPts val="400"/>
              </a:spcBef>
            </a:pPr>
            <a:r>
              <a:rPr lang="en-US">
                <a:sym typeface="Symbol" pitchFamily="18" charset="2"/>
              </a:rPr>
              <a:t>SOLUTION:</a:t>
            </a:r>
          </a:p>
          <a:p>
            <a:pPr eaLnBrk="0" hangingPunct="0">
              <a:spcBef>
                <a:spcPts val="400"/>
              </a:spcBef>
            </a:pPr>
            <a:r>
              <a:rPr lang="en-US">
                <a:sym typeface="Symbol" pitchFamily="18" charset="2"/>
              </a:rPr>
              <a:t>The tension force (Albert the physics cat and Arnold).</a:t>
            </a:r>
          </a:p>
          <a:p>
            <a:pPr eaLnBrk="0" hangingPunct="0">
              <a:spcBef>
                <a:spcPts val="400"/>
              </a:spcBef>
            </a:pPr>
            <a:r>
              <a:rPr lang="en-US">
                <a:sym typeface="Symbol" pitchFamily="18" charset="2"/>
              </a:rPr>
              <a:t>The friction force (the race car making the turn).</a:t>
            </a:r>
          </a:p>
          <a:p>
            <a:pPr eaLnBrk="0" hangingPunct="0">
              <a:spcBef>
                <a:spcPts val="400"/>
              </a:spcBef>
            </a:pPr>
            <a:r>
              <a:rPr lang="en-US">
                <a:sym typeface="Symbol" pitchFamily="18" charset="2"/>
              </a:rPr>
              <a:t>The gravitational force (the baseball and the earth).</a:t>
            </a:r>
          </a:p>
          <a:p>
            <a:pPr eaLnBrk="0" hangingPunct="0">
              <a:spcBef>
                <a:spcPts val="400"/>
              </a:spcBef>
            </a:pPr>
            <a:r>
              <a:rPr lang="en-US">
                <a:sym typeface="Symbol" pitchFamily="18" charset="2"/>
              </a:rPr>
              <a:t>The electric force (an electron orbiting a nucleus).</a:t>
            </a:r>
          </a:p>
          <a:p>
            <a:pPr eaLnBrk="0" hangingPunct="0">
              <a:spcBef>
                <a:spcPts val="400"/>
              </a:spcBef>
            </a:pPr>
            <a:r>
              <a:rPr lang="en-US">
                <a:sym typeface="Symbol" pitchFamily="18" charset="2"/>
              </a:rPr>
              <a:t>The magnetic force (a moving charge in a B-field).</a:t>
            </a:r>
          </a:p>
        </p:txBody>
      </p:sp>
      <p:sp>
        <p:nvSpPr>
          <p:cNvPr id="145411" name="Rectangle 3"/>
          <p:cNvSpPr>
            <a:spLocks noChangeArrowheads="1"/>
          </p:cNvSpPr>
          <p:nvPr/>
        </p:nvSpPr>
        <p:spPr bwMode="auto">
          <a:xfrm>
            <a:off x="685800" y="1549400"/>
            <a:ext cx="7772400" cy="439738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  <a:ea typeface="Calibri" pitchFamily="34" charset="0"/>
                <a:cs typeface="Arial" charset="0"/>
              </a:rPr>
              <a:t>Identifying the forces providing centripetal forces</a:t>
            </a:r>
            <a:r>
              <a:rPr lang="en-US" altLang="en-US">
                <a:solidFill>
                  <a:schemeClr val="accent2"/>
                </a:solidFill>
                <a:ea typeface="Calibri" pitchFamily="34" charset="0"/>
                <a:cs typeface="Arial" charset="0"/>
              </a:rPr>
              <a:t> </a:t>
            </a:r>
            <a:r>
              <a:rPr lang="en-US" sz="2000">
                <a:latin typeface="Courier New" pitchFamily="49" charset="0"/>
                <a:ea typeface="Calibri" pitchFamily="34" charset="0"/>
                <a:cs typeface="Arial" charset="0"/>
              </a:rPr>
              <a:t>	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965200" y="5851525"/>
            <a:ext cx="1335088" cy="1006475"/>
            <a:chOff x="1542" y="2991"/>
            <a:chExt cx="1621" cy="1233"/>
          </a:xfrm>
        </p:grpSpPr>
        <p:pic>
          <p:nvPicPr>
            <p:cNvPr id="29716" name="Picture 20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542" y="3594"/>
              <a:ext cx="1620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9717" name="Picture 21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543" y="2991"/>
              <a:ext cx="1620" cy="6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45441" name="Picture 3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95575" y="5975350"/>
            <a:ext cx="1385888" cy="74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444" name="Picture 36" descr="MCj0330249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28575" y="5278438"/>
            <a:ext cx="1250950" cy="1122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451" name="Picture 43" descr="Earth view-white background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6250" y="5562600"/>
            <a:ext cx="1081088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452" name="Picture 44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37100" y="5341938"/>
            <a:ext cx="180975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5684838" y="5591175"/>
            <a:ext cx="1103312" cy="1031875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Oval 9"/>
          <p:cNvSpPr>
            <a:spLocks noChangeArrowheads="1"/>
          </p:cNvSpPr>
          <p:nvPr/>
        </p:nvSpPr>
        <p:spPr bwMode="auto">
          <a:xfrm>
            <a:off x="6154738" y="6088063"/>
            <a:ext cx="134937" cy="134937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Oval 10"/>
          <p:cNvSpPr>
            <a:spLocks noChangeArrowheads="1"/>
          </p:cNvSpPr>
          <p:nvPr/>
        </p:nvSpPr>
        <p:spPr bwMode="auto">
          <a:xfrm>
            <a:off x="6408738" y="6550025"/>
            <a:ext cx="63500" cy="63500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6" name="Oval 12"/>
          <p:cNvSpPr>
            <a:spLocks noChangeArrowheads="1"/>
          </p:cNvSpPr>
          <p:nvPr/>
        </p:nvSpPr>
        <p:spPr bwMode="auto">
          <a:xfrm>
            <a:off x="5856288" y="5735638"/>
            <a:ext cx="762000" cy="760412"/>
          </a:xfrm>
          <a:prstGeom prst="ellipse">
            <a:avLst/>
          </a:prstGeom>
          <a:solidFill>
            <a:srgbClr val="DDDDDD">
              <a:alpha val="39999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12"/>
          <p:cNvGrpSpPr>
            <a:grpSpLocks/>
          </p:cNvGrpSpPr>
          <p:nvPr/>
        </p:nvGrpSpPr>
        <p:grpSpPr bwMode="auto">
          <a:xfrm>
            <a:off x="7153275" y="5378450"/>
            <a:ext cx="1727200" cy="1549400"/>
            <a:chOff x="2798" y="1214"/>
            <a:chExt cx="2962" cy="2655"/>
          </a:xfrm>
        </p:grpSpPr>
        <p:sp>
          <p:nvSpPr>
            <p:cNvPr id="29714" name="Rectangle 111"/>
            <p:cNvSpPr>
              <a:spLocks noChangeArrowheads="1"/>
            </p:cNvSpPr>
            <p:nvPr/>
          </p:nvSpPr>
          <p:spPr bwMode="auto">
            <a:xfrm>
              <a:off x="2933" y="1220"/>
              <a:ext cx="2827" cy="234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9715" name="Picture 109"/>
            <p:cNvPicPr>
              <a:picLocks noChangeAspect="1" noChangeArrowheads="1"/>
            </p:cNvPicPr>
            <p:nvPr/>
          </p:nvPicPr>
          <p:blipFill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798" y="1214"/>
              <a:ext cx="2962" cy="26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0" name="Oval 113"/>
          <p:cNvSpPr>
            <a:spLocks noChangeArrowheads="1"/>
          </p:cNvSpPr>
          <p:nvPr/>
        </p:nvSpPr>
        <p:spPr bwMode="auto">
          <a:xfrm>
            <a:off x="7451725" y="6662738"/>
            <a:ext cx="44450" cy="46037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AutoShape 114"/>
          <p:cNvSpPr>
            <a:spLocks noChangeArrowheads="1"/>
          </p:cNvSpPr>
          <p:nvPr/>
        </p:nvSpPr>
        <p:spPr bwMode="auto">
          <a:xfrm>
            <a:off x="8559800" y="6042025"/>
            <a:ext cx="93663" cy="130175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2" name="Picture 6" descr="j0232898[1]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 flipH="1">
            <a:off x="1931988" y="5360988"/>
            <a:ext cx="730250" cy="149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5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5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5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5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5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5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5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5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5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5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5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5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5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5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5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5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5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5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5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45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5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-3.7037E-6 C 0.03836 -3.7037E-6 0.07066 0.04236 0.07066 0.09491 C 0.07066 0.14699 0.03836 0.19005 -0.0007 0.19005 C -0.04011 0.19005 -0.07188 0.14699 -0.07188 0.09491 C -0.07188 0.04236 -0.04011 -3.7037E-6 -0.0007 -3.7037E-6 Z " pathEditMode="relative" rAng="0" ptsTypes="fffff">
                                      <p:cBhvr>
                                        <p:cTn id="86" dur="2000" fill="hold"/>
                                        <p:tgtEl>
                                          <p:spTgt spid="1454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45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45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500"/>
                            </p:stCondLst>
                            <p:childTnLst>
                              <p:par>
                                <p:cTn id="110" presetID="1" presetClass="pat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205 1.48148E-6 C 0.0066 1.48148E-6 0.03038 -0.03079 0.03038 -0.06829 C 0.03038 -0.10602 0.0066 -0.13658 -0.02205 -0.13658 C -0.05087 -0.13658 -0.07413 -0.10602 -0.07413 -0.06829 C -0.07413 -0.03079 -0.05087 1.48148E-6 -0.02205 1.48148E-6 Z " pathEditMode="relative" rAng="0" ptsTypes="fffff">
                                      <p:cBhvr>
                                        <p:cTn id="1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45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45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0" presetClass="pat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33333E-6 C -3.61111E-6 -0.01041 -3.61111E-6 -0.0206 -3.61111E-6 -0.02801 C -3.61111E-6 -0.03518 -3.61111E-6 -0.03703 -3.61111E-6 -0.04398 C -3.61111E-6 -0.05115 -3.61111E-6 -0.06365 -3.61111E-6 -0.07106 C -3.61111E-6 -0.07824 -3.61111E-6 -0.08217 -3.61111E-6 -0.08703 C 0.00018 -0.09236 0.00018 -0.09652 0.00105 -0.10208 C 0.00191 -0.10764 0.00382 -0.11481 0.00539 -0.1199 C 0.00712 -0.12523 0.00868 -0.12893 0.01077 -0.1331 C 0.01302 -0.13773 0.01528 -0.14189 0.01841 -0.14583 C 0.02136 -0.14977 0.025 -0.1537 0.02865 -0.15671 C 0.03212 -0.15972 0.03594 -0.16227 0.03976 -0.16412 C 0.04375 -0.1662 0.04809 -0.16782 0.05226 -0.16898 C 0.05643 -0.1699 0.06059 -0.17037 0.06476 -0.17037 C 0.06893 -0.17037 0.07327 -0.1699 0.07726 -0.16898 C 0.08143 -0.16782 0.08542 -0.16597 0.08924 -0.16365 C 0.09323 -0.16157 0.09723 -0.15902 0.10087 -0.15555 C 0.10469 -0.15231 0.10816 -0.14861 0.11129 -0.14467 C 0.11424 -0.14074 0.11702 -0.13611 0.11927 -0.13148 C 0.12153 -0.12685 0.12379 -0.12245 0.125 -0.11713 C 0.12622 -0.1118 0.12639 -0.10486 0.12674 -0.10023 C 0.12726 -0.09606 0.12743 -0.09352 0.12778 -0.09051 " pathEditMode="relative" rAng="0" ptsTypes="aaaaaaaaaaaaaaaaaaaaA">
                                      <p:cBhvr>
                                        <p:cTn id="13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" y="-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500"/>
                            </p:stCondLst>
                            <p:childTnLst>
                              <p:par>
                                <p:cTn id="13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45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5" grpId="1" animBg="1"/>
      <p:bldP spid="16" grpId="0" animBg="1"/>
      <p:bldP spid="20" grpId="0" animBg="1"/>
      <p:bldP spid="20" grpId="1" animBg="1"/>
      <p:bldP spid="21" grpId="0" animBg="1"/>
      <p:bldP spid="21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ChangeArrowheads="1"/>
          </p:cNvSpPr>
          <p:nvPr/>
        </p:nvSpPr>
        <p:spPr bwMode="auto">
          <a:xfrm>
            <a:off x="674688" y="1970088"/>
            <a:ext cx="7781925" cy="48879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PRACTICE: Dobson is watching a 16-pound bowling ball being swung around at 50 m/s by Arnold. If the string is cut at the instant the ball is next to the ice cream, what will the ball do?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(a) It will follow path A and strike Dobson's ice cream.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(b) It will fly outward along curve path B.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(c) It will fly tangent to the original circular path along C.</a:t>
            </a:r>
            <a:endParaRPr lang="en-US">
              <a:cs typeface="Courier New" pitchFamily="49" charset="0"/>
            </a:endParaRPr>
          </a:p>
        </p:txBody>
      </p:sp>
      <p:sp>
        <p:nvSpPr>
          <p:cNvPr id="30723" name="Rectangle 4"/>
          <p:cNvSpPr>
            <a:spLocks noChangeArrowheads="1"/>
          </p:cNvSpPr>
          <p:nvPr/>
        </p:nvSpPr>
        <p:spPr bwMode="auto">
          <a:xfrm>
            <a:off x="685800" y="1549400"/>
            <a:ext cx="7772400" cy="439738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sz="2000">
              <a:latin typeface="Courier New" pitchFamily="49" charset="0"/>
            </a:endParaRPr>
          </a:p>
        </p:txBody>
      </p:sp>
      <p:pic>
        <p:nvPicPr>
          <p:cNvPr id="30724" name="Picture 2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47925" y="5705475"/>
            <a:ext cx="2571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79" name="Oval 3"/>
          <p:cNvSpPr>
            <a:spLocks noChangeArrowheads="1"/>
          </p:cNvSpPr>
          <p:nvPr/>
        </p:nvSpPr>
        <p:spPr bwMode="auto">
          <a:xfrm>
            <a:off x="227013" y="5108575"/>
            <a:ext cx="6196012" cy="962025"/>
          </a:xfrm>
          <a:prstGeom prst="ellips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26982" name="Picture 6" descr="j0232898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flipH="1">
            <a:off x="6850063" y="4867275"/>
            <a:ext cx="911225" cy="186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424613" y="5602288"/>
            <a:ext cx="2428875" cy="1204912"/>
            <a:chOff x="3751" y="2908"/>
            <a:chExt cx="1530" cy="759"/>
          </a:xfrm>
        </p:grpSpPr>
        <p:sp>
          <p:nvSpPr>
            <p:cNvPr id="30738" name="Freeform 8"/>
            <p:cNvSpPr>
              <a:spLocks/>
            </p:cNvSpPr>
            <p:nvPr/>
          </p:nvSpPr>
          <p:spPr bwMode="auto">
            <a:xfrm>
              <a:off x="3751" y="2908"/>
              <a:ext cx="1363" cy="759"/>
            </a:xfrm>
            <a:custGeom>
              <a:avLst/>
              <a:gdLst>
                <a:gd name="T0" fmla="*/ 0 w 1363"/>
                <a:gd name="T1" fmla="*/ 0 h 759"/>
                <a:gd name="T2" fmla="*/ 576 w 1363"/>
                <a:gd name="T3" fmla="*/ 84 h 759"/>
                <a:gd name="T4" fmla="*/ 1033 w 1363"/>
                <a:gd name="T5" fmla="*/ 415 h 759"/>
                <a:gd name="T6" fmla="*/ 1363 w 1363"/>
                <a:gd name="T7" fmla="*/ 759 h 7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63"/>
                <a:gd name="T13" fmla="*/ 0 h 759"/>
                <a:gd name="T14" fmla="*/ 1363 w 1363"/>
                <a:gd name="T15" fmla="*/ 759 h 7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63" h="759">
                  <a:moveTo>
                    <a:pt x="0" y="0"/>
                  </a:moveTo>
                  <a:cubicBezTo>
                    <a:pt x="202" y="7"/>
                    <a:pt x="404" y="15"/>
                    <a:pt x="576" y="84"/>
                  </a:cubicBezTo>
                  <a:cubicBezTo>
                    <a:pt x="748" y="153"/>
                    <a:pt x="902" y="302"/>
                    <a:pt x="1033" y="415"/>
                  </a:cubicBezTo>
                  <a:cubicBezTo>
                    <a:pt x="1164" y="528"/>
                    <a:pt x="1263" y="643"/>
                    <a:pt x="1363" y="759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9" name="Text Box 9"/>
            <p:cNvSpPr txBox="1">
              <a:spLocks noChangeArrowheads="1"/>
            </p:cNvSpPr>
            <p:nvPr/>
          </p:nvSpPr>
          <p:spPr bwMode="auto">
            <a:xfrm>
              <a:off x="5069" y="3428"/>
              <a:ext cx="21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B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6435725" y="5122863"/>
            <a:ext cx="1811338" cy="469900"/>
            <a:chOff x="3758" y="3155"/>
            <a:chExt cx="1141" cy="296"/>
          </a:xfrm>
        </p:grpSpPr>
        <p:sp>
          <p:nvSpPr>
            <p:cNvPr id="30736" name="Line 11"/>
            <p:cNvSpPr>
              <a:spLocks noChangeShapeType="1"/>
            </p:cNvSpPr>
            <p:nvPr/>
          </p:nvSpPr>
          <p:spPr bwMode="auto">
            <a:xfrm flipV="1">
              <a:off x="3758" y="3296"/>
              <a:ext cx="929" cy="15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7" name="Text Box 12"/>
            <p:cNvSpPr txBox="1">
              <a:spLocks noChangeArrowheads="1"/>
            </p:cNvSpPr>
            <p:nvPr/>
          </p:nvSpPr>
          <p:spPr bwMode="auto">
            <a:xfrm>
              <a:off x="4687" y="3155"/>
              <a:ext cx="21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accent2"/>
                  </a:solidFill>
                </a:rPr>
                <a:t>A</a:t>
              </a:r>
            </a:p>
          </p:txBody>
        </p:sp>
      </p:grpSp>
      <p:pic>
        <p:nvPicPr>
          <p:cNvPr id="126989" name="Picture 13" descr="MC900437067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98788" y="4754563"/>
            <a:ext cx="717550" cy="71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6405563" y="5611813"/>
            <a:ext cx="449262" cy="966787"/>
            <a:chOff x="3778" y="3462"/>
            <a:chExt cx="283" cy="609"/>
          </a:xfrm>
        </p:grpSpPr>
        <p:sp>
          <p:nvSpPr>
            <p:cNvPr id="30734" name="Line 15"/>
            <p:cNvSpPr>
              <a:spLocks noChangeShapeType="1"/>
            </p:cNvSpPr>
            <p:nvPr/>
          </p:nvSpPr>
          <p:spPr bwMode="auto">
            <a:xfrm>
              <a:off x="3795" y="3462"/>
              <a:ext cx="266" cy="60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5" name="Text Box 16"/>
            <p:cNvSpPr txBox="1">
              <a:spLocks noChangeArrowheads="1"/>
            </p:cNvSpPr>
            <p:nvPr/>
          </p:nvSpPr>
          <p:spPr bwMode="auto">
            <a:xfrm>
              <a:off x="3778" y="3787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</a:rPr>
                <a:t>C</a:t>
              </a:r>
            </a:p>
          </p:txBody>
        </p:sp>
      </p:grpSp>
      <p:sp>
        <p:nvSpPr>
          <p:cNvPr id="126993" name="Oval 17"/>
          <p:cNvSpPr>
            <a:spLocks noChangeArrowheads="1"/>
          </p:cNvSpPr>
          <p:nvPr/>
        </p:nvSpPr>
        <p:spPr bwMode="auto">
          <a:xfrm>
            <a:off x="723900" y="4425950"/>
            <a:ext cx="444500" cy="444500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30733" name="Picture 2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49513" y="4748213"/>
            <a:ext cx="2571750" cy="963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6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C 0.18698 -2.22222E-6 0.33907 0.03148 0.33907 0.07014 C 0.33907 0.1088 0.18698 0.14051 -2.5E-6 0.14051 C -0.1868 0.14051 -0.33854 0.1088 -0.33854 0.07014 C -0.33854 0.03148 -0.1868 -2.22222E-6 -2.5E-6 -2.22222E-6 Z " pathEditMode="relative" rAng="0" ptsTypes="fffff">
                                      <p:cBhvr>
                                        <p:cTn id="29" dur="5000" fill="hold"/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6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6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6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animBg="1"/>
      <p:bldP spid="12699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18" name="Picture 2" descr="Die Nordseite vom Weg zum Basislager aus gesehen">
            <a:hlinkClick r:id="rId4" tooltip="Die Nordseite vom Weg zum Basislager aus gesehen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86500" y="0"/>
            <a:ext cx="28575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7219" name="Rectangle 3"/>
          <p:cNvSpPr>
            <a:spLocks noChangeArrowheads="1"/>
          </p:cNvSpPr>
          <p:nvPr/>
        </p:nvSpPr>
        <p:spPr bwMode="auto">
          <a:xfrm>
            <a:off x="674688" y="1970088"/>
            <a:ext cx="7781925" cy="48879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Suppose a 0.500-kg baseball is placed in a circular orbit around the earth at slightly higher that the tallest point, Mount Everest (8850 m). Given that the earth has a radius of </a:t>
            </a:r>
            <a:r>
              <a:rPr lang="en-US" i="1">
                <a:sym typeface="Symbol" pitchFamily="18" charset="2"/>
              </a:rPr>
              <a:t>R</a:t>
            </a:r>
            <a:r>
              <a:rPr lang="en-US" baseline="-25000">
                <a:sym typeface="Symbol" pitchFamily="18" charset="2"/>
              </a:rPr>
              <a:t>E</a:t>
            </a:r>
            <a:r>
              <a:rPr lang="en-US">
                <a:sym typeface="Symbol" pitchFamily="18" charset="2"/>
              </a:rPr>
              <a:t> = 6400000 m, find the speed of the ball.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SOLUTION:  The ball is traveling in a circle                       of radius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= 6408850 m.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</a:t>
            </a:r>
            <a:r>
              <a:rPr lang="en-US" i="1">
                <a:sym typeface="Symbol" pitchFamily="18" charset="2"/>
              </a:rPr>
              <a:t>F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is caused by the weight of the ball so                           that </a:t>
            </a:r>
            <a:r>
              <a:rPr lang="en-US" i="1">
                <a:sym typeface="Symbol" pitchFamily="18" charset="2"/>
              </a:rPr>
              <a:t>F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mg</a:t>
            </a:r>
            <a:r>
              <a:rPr lang="en-US">
                <a:sym typeface="Symbol" pitchFamily="18" charset="2"/>
              </a:rPr>
              <a:t> = (0.5)(10) = 5 n.</a:t>
            </a:r>
            <a:endParaRPr lang="en-US" i="1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Since 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F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mv</a:t>
            </a:r>
            <a:r>
              <a:rPr lang="en-US" baseline="30000">
                <a:sym typeface="Symbol" pitchFamily="18" charset="2"/>
              </a:rPr>
              <a:t> 2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 i="1"/>
              <a:t> </a:t>
            </a:r>
            <a:r>
              <a:rPr lang="en-US"/>
              <a:t>we have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              5 = (0.5)</a:t>
            </a:r>
            <a:r>
              <a:rPr lang="en-US" i="1">
                <a:sym typeface="Symbol" pitchFamily="18" charset="2"/>
              </a:rPr>
              <a:t>v</a:t>
            </a:r>
            <a:r>
              <a:rPr lang="en-US" baseline="30000">
                <a:sym typeface="Symbol" pitchFamily="18" charset="2"/>
              </a:rPr>
              <a:t> 2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6408850</a:t>
            </a: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        v</a:t>
            </a:r>
            <a:r>
              <a:rPr lang="en-US">
                <a:sym typeface="Symbol" pitchFamily="18" charset="2"/>
              </a:rPr>
              <a:t> = 8000 m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s</a:t>
            </a:r>
            <a:r>
              <a:rPr lang="en-US" baseline="30000">
                <a:sym typeface="Symbol" pitchFamily="18" charset="2"/>
              </a:rPr>
              <a:t>-1</a:t>
            </a:r>
            <a:r>
              <a:rPr lang="en-US">
                <a:sym typeface="Symbol" pitchFamily="18" charset="2"/>
              </a:rPr>
              <a:t>!</a:t>
            </a:r>
            <a:endParaRPr lang="en-US" i="1">
              <a:sym typeface="Symbol" pitchFamily="18" charset="2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685800" y="1549400"/>
            <a:ext cx="7772400" cy="427038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sz="2000">
              <a:latin typeface="Courier New" pitchFamily="49" charset="0"/>
            </a:endParaRPr>
          </a:p>
        </p:txBody>
      </p:sp>
      <p:pic>
        <p:nvPicPr>
          <p:cNvPr id="137222" name="Picture 6" descr="Earth view-white background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24625" y="4279900"/>
            <a:ext cx="2117725" cy="204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7223" name="Picture 7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04100" y="3854450"/>
            <a:ext cx="354013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val 7"/>
          <p:cNvSpPr/>
          <p:nvPr/>
        </p:nvSpPr>
        <p:spPr>
          <a:xfrm>
            <a:off x="6178550" y="179388"/>
            <a:ext cx="84138" cy="841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3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pat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44444E-6 C 0.07778 -4.44444E-6 0.14149 0.08334 0.14149 0.18588 C 0.14149 0.2882 0.07778 0.37176 1.38889E-6 0.37176 C -0.07795 0.37176 -0.14115 0.2882 -0.14115 0.18588 C -0.14115 0.08334 -0.07795 -4.44444E-6 1.38889E-6 -4.44444E-6 Z " pathEditMode="relative" rAng="0" ptsTypes="fffff">
                                      <p:cBhvr>
                                        <p:cTn id="21" dur="3000" fill="hold"/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xit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3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Die Nordseite vom Weg zum Basislager aus gesehen">
            <a:hlinkClick r:id="rId4" tooltip="Die Nordseite vom Weg zum Basislager aus gesehen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86500" y="0"/>
            <a:ext cx="28575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9267" name="Rectangle 3"/>
          <p:cNvSpPr>
            <a:spLocks noChangeArrowheads="1"/>
          </p:cNvSpPr>
          <p:nvPr/>
        </p:nvSpPr>
        <p:spPr bwMode="auto">
          <a:xfrm>
            <a:off x="674688" y="1957388"/>
            <a:ext cx="7781925" cy="49006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Suppose a 0.500-kg baseball is placed in a circular orbit around the earth at slightly higher that the tallest point, Mount Everest (8850 m). How long will it take the ball to return to Everest?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SOLUTION: We want to find the period </a:t>
            </a:r>
            <a:r>
              <a:rPr lang="en-US" i="1">
                <a:sym typeface="Symbol" pitchFamily="18" charset="2"/>
              </a:rPr>
              <a:t>T</a:t>
            </a:r>
            <a:r>
              <a:rPr lang="en-US"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We know that </a:t>
            </a:r>
            <a:r>
              <a:rPr lang="en-US" i="1">
                <a:sym typeface="Symbol" pitchFamily="18" charset="2"/>
              </a:rPr>
              <a:t>v</a:t>
            </a:r>
            <a:r>
              <a:rPr lang="en-US">
                <a:sym typeface="Symbol" pitchFamily="18" charset="2"/>
              </a:rPr>
              <a:t> = 8000 m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s</a:t>
            </a:r>
            <a:r>
              <a:rPr lang="en-US" baseline="30000">
                <a:sym typeface="Symbol" pitchFamily="18" charset="2"/>
              </a:rPr>
              <a:t>-1</a:t>
            </a:r>
            <a:r>
              <a:rPr lang="en-US">
                <a:sym typeface="Symbol" pitchFamily="18" charset="2"/>
              </a:rPr>
              <a:t>. 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We also know that </a:t>
            </a:r>
            <a:r>
              <a:rPr lang="en-US" i="1">
                <a:sym typeface="Symbol" pitchFamily="18" charset="2"/>
              </a:rPr>
              <a:t>r</a:t>
            </a:r>
            <a:r>
              <a:rPr lang="en-US" i="1"/>
              <a:t> </a:t>
            </a:r>
            <a:r>
              <a:rPr lang="en-US"/>
              <a:t>=</a:t>
            </a:r>
            <a:r>
              <a:rPr lang="en-US">
                <a:sym typeface="Symbol" pitchFamily="18" charset="2"/>
              </a:rPr>
              <a:t> 6408850 m.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Since </a:t>
            </a:r>
            <a:r>
              <a:rPr lang="en-US" i="1">
                <a:sym typeface="Symbol" pitchFamily="18" charset="2"/>
              </a:rPr>
              <a:t>v</a:t>
            </a:r>
            <a:r>
              <a:rPr lang="en-US">
                <a:sym typeface="Symbol" pitchFamily="18" charset="2"/>
              </a:rPr>
              <a:t> = </a:t>
            </a:r>
            <a:r>
              <a:rPr lang="en-US"/>
              <a:t>2</a:t>
            </a:r>
            <a:r>
              <a:rPr lang="en-US">
                <a:sym typeface="Symbol" pitchFamily="18" charset="2"/>
              </a:rPr>
              <a:t></a:t>
            </a:r>
            <a:r>
              <a:rPr lang="en-US" i="1">
                <a:sym typeface="Symbol" pitchFamily="18" charset="2"/>
              </a:rPr>
              <a:t>r / T</a:t>
            </a:r>
            <a:r>
              <a:rPr lang="en-US">
                <a:sym typeface="Symbol" pitchFamily="18" charset="2"/>
              </a:rPr>
              <a:t> we have</a:t>
            </a: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 T</a:t>
            </a:r>
            <a:r>
              <a:rPr lang="en-US">
                <a:sym typeface="Symbol" pitchFamily="18" charset="2"/>
              </a:rPr>
              <a:t> = </a:t>
            </a:r>
            <a:r>
              <a:rPr lang="en-US"/>
              <a:t>2</a:t>
            </a:r>
            <a:r>
              <a:rPr lang="en-US">
                <a:sym typeface="Symbol" pitchFamily="18" charset="2"/>
              </a:rPr>
              <a:t></a:t>
            </a:r>
            <a:r>
              <a:rPr lang="en-US" i="1">
                <a:sym typeface="Symbol" pitchFamily="18" charset="2"/>
              </a:rPr>
              <a:t>r / v</a:t>
            </a: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 T</a:t>
            </a:r>
            <a:r>
              <a:rPr lang="en-US">
                <a:sym typeface="Symbol" pitchFamily="18" charset="2"/>
              </a:rPr>
              <a:t> = </a:t>
            </a:r>
            <a:r>
              <a:rPr lang="en-US"/>
              <a:t>2</a:t>
            </a:r>
            <a:r>
              <a:rPr lang="en-US">
                <a:sym typeface="Symbol" pitchFamily="18" charset="2"/>
              </a:rPr>
              <a:t>(6408850)</a:t>
            </a:r>
            <a:r>
              <a:rPr lang="en-US" i="1">
                <a:sym typeface="Symbol" pitchFamily="18" charset="2"/>
              </a:rPr>
              <a:t>/ </a:t>
            </a:r>
            <a:r>
              <a:rPr lang="en-US">
                <a:sym typeface="Symbol" pitchFamily="18" charset="2"/>
              </a:rPr>
              <a:t>8000</a:t>
            </a: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    </a:t>
            </a:r>
            <a:r>
              <a:rPr lang="en-US">
                <a:sym typeface="Symbol" pitchFamily="18" charset="2"/>
              </a:rPr>
              <a:t>= (5030 s)(1 h / 3600 s) = 1.40 h.</a:t>
            </a:r>
            <a:endParaRPr lang="en-US" i="1">
              <a:sym typeface="Symbol" pitchFamily="18" charset="2"/>
            </a:endParaRP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685800" y="1549400"/>
            <a:ext cx="7772400" cy="4381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sz="2000">
              <a:latin typeface="Courier New" pitchFamily="49" charset="0"/>
            </a:endParaRPr>
          </a:p>
        </p:txBody>
      </p:sp>
      <p:pic>
        <p:nvPicPr>
          <p:cNvPr id="139270" name="Picture 6" descr="Earth view-white background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24625" y="4279900"/>
            <a:ext cx="2117725" cy="204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9271" name="Picture 7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04100" y="3854450"/>
            <a:ext cx="354013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val 7"/>
          <p:cNvSpPr/>
          <p:nvPr/>
        </p:nvSpPr>
        <p:spPr>
          <a:xfrm>
            <a:off x="6178550" y="179388"/>
            <a:ext cx="84138" cy="841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3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44444E-6 C 0.07778 -4.44444E-6 0.14149 0.08334 0.14149 0.18588 C 0.14149 0.2882 0.07778 0.37176 1.38889E-6 0.37176 C -0.07795 0.37176 -0.14115 0.2882 -0.14115 0.18588 C -0.14115 0.08334 -0.07795 -4.44444E-6 1.38889E-6 -4.44444E-6 Z " pathEditMode="relative" rAng="0" ptsTypes="fffff">
                                      <p:cBhvr>
                                        <p:cTn id="16" dur="3000" fill="hold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" presetClass="exit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3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674688" y="1993900"/>
            <a:ext cx="7781925" cy="48641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Explain how an object can remain in orbit yet always be falling.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SOLUTION: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Throw the ball at progressively larger speeds.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In all instances the force of gravity will draw                    the ball toward the center of the earth.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When the ball is finally thrown at a                                 great enough speed, the curvature of                              the ball’s path will match the curvature                              of the earth’s surface.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The ball is effectively falling </a:t>
            </a:r>
            <a:r>
              <a:rPr lang="en-US" u="sng">
                <a:sym typeface="Symbol" pitchFamily="18" charset="2"/>
              </a:rPr>
              <a:t>around</a:t>
            </a:r>
            <a:r>
              <a:rPr lang="en-US">
                <a:sym typeface="Symbol" pitchFamily="18" charset="2"/>
              </a:rPr>
              <a:t>                                  the earth!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sz="2000">
              <a:latin typeface="Courier New" pitchFamily="49" charset="0"/>
            </a:endParaRPr>
          </a:p>
        </p:txBody>
      </p:sp>
      <p:pic>
        <p:nvPicPr>
          <p:cNvPr id="141317" name="Picture 5" descr="Earth view-white background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4622" b="20631"/>
          <a:stretch>
            <a:fillRect/>
          </a:stretch>
        </p:blipFill>
        <p:spPr bwMode="auto">
          <a:xfrm>
            <a:off x="6191250" y="3389313"/>
            <a:ext cx="2952750" cy="346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18" name="Picture 6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16913" y="2865438"/>
            <a:ext cx="3032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19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18500" y="2854325"/>
            <a:ext cx="3032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20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08975" y="2859088"/>
            <a:ext cx="3032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3.7037E-7 C -0.01875 -0.00023 -0.03733 -0.00047 -0.0566 0.00509 C -0.07587 0.01065 -0.09688 0.01875 -0.1158 0.03333 C -0.13472 0.04791 -0.15573 0.07153 -0.16979 0.09282 C -0.18386 0.11412 -0.19271 0.14236 -0.2 0.16134 C -0.20729 0.18032 -0.21024 0.19352 -0.2132 0.20694 " pathEditMode="relative" ptsTypes="aaaaaA">
                                      <p:cBhvr>
                                        <p:cTn id="30" dur="2000" fill="hold"/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2.59259E-6 C -0.02118 -0.00301 -0.04236 -0.00579 -0.07101 0.00694 C -0.09965 0.01967 -0.14306 0.04629 -0.1724 0.07708 C -0.20174 0.10787 -0.22986 0.14444 -0.2474 0.1912 C -0.26493 0.23796 -0.27812 0.3037 -0.2776 0.35787 C -0.27708 0.41203 -0.26059 0.48078 -0.24479 0.51574 C -0.22899 0.55069 -0.2059 0.55949 -0.18281 0.56828 " pathEditMode="relative" ptsTypes="aaaaaaA">
                                      <p:cBhvr>
                                        <p:cTn id="45" dur="2000" fill="hold"/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pat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0.00093 C -0.16302 0.00093 -0.28802 0.16343 -0.28802 0.36343 C -0.28802 0.56389 -0.16302 0.72709 0.00087 0.72709 C 0.15539 0.72709 0.29063 0.56389 0.29063 0.36343 C 0.29063 0.16343 0.15539 0.00093 0.00087 0.00093 Z " pathEditMode="relative" rAng="0" ptsTypes="fffff">
                                      <p:cBhvr>
                                        <p:cTn id="60" dur="3000" fill="hold"/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ChangeArrowheads="1"/>
          </p:cNvSpPr>
          <p:nvPr/>
        </p:nvSpPr>
        <p:spPr bwMode="auto"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sz="2000">
              <a:latin typeface="Courier New" pitchFamily="49" charset="0"/>
            </a:endParaRP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685800" y="2011363"/>
            <a:ext cx="7772400" cy="484663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/>
              <a:t>PRACTICE: 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Find the angular speed of the minute                  hand of a clock, and the rotation of the earth in                         one day.</a:t>
            </a:r>
          </a:p>
          <a:p>
            <a:r>
              <a:rPr lang="en-US">
                <a:solidFill>
                  <a:srgbClr val="000000"/>
                </a:solidFill>
                <a:sym typeface="Symbol" pitchFamily="18" charset="2"/>
              </a:rPr>
              <a:t>SOLUTION:</a:t>
            </a:r>
          </a:p>
          <a:p>
            <a:r>
              <a:rPr lang="en-US">
                <a:solidFill>
                  <a:srgbClr val="000000"/>
                </a:solidFill>
                <a:sym typeface="Symbol" pitchFamily="18" charset="2"/>
              </a:rPr>
              <a:t>The minute hand takes 1 hour to go around one time. Thus</a:t>
            </a:r>
          </a:p>
          <a:p>
            <a:pPr>
              <a:buFont typeface="Symbol" pitchFamily="18" charset="2"/>
              <a:buNone/>
            </a:pPr>
            <a:r>
              <a:rPr lang="en-US">
                <a:sym typeface="Symbol" pitchFamily="18" charset="2"/>
              </a:rPr>
              <a:t>       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</a:t>
            </a:r>
            <a:r>
              <a:rPr lang="en-US">
                <a:sym typeface="Symbol" pitchFamily="18" charset="2"/>
              </a:rPr>
              <a:t> =</a:t>
            </a:r>
            <a:r>
              <a:rPr lang="en-US" i="1">
                <a:sym typeface="Symbol" pitchFamily="18" charset="2"/>
              </a:rPr>
              <a:t> </a:t>
            </a:r>
            <a:r>
              <a:rPr lang="en-US"/>
              <a:t>2</a:t>
            </a:r>
            <a:r>
              <a:rPr lang="en-US">
                <a:sym typeface="Symbol" pitchFamily="18" charset="2"/>
              </a:rPr>
              <a:t> </a:t>
            </a:r>
            <a:r>
              <a:rPr lang="en-US" i="1">
                <a:sym typeface="Symbol" pitchFamily="18" charset="2"/>
              </a:rPr>
              <a:t>/ T</a:t>
            </a:r>
            <a:r>
              <a:rPr lang="en-US">
                <a:sym typeface="Symbol" pitchFamily="18" charset="2"/>
              </a:rPr>
              <a:t> = </a:t>
            </a:r>
            <a:r>
              <a:rPr lang="en-US"/>
              <a:t>2</a:t>
            </a:r>
            <a:r>
              <a:rPr lang="en-US">
                <a:sym typeface="Symbol" pitchFamily="18" charset="2"/>
              </a:rPr>
              <a:t> </a:t>
            </a:r>
            <a:r>
              <a:rPr lang="en-US" i="1">
                <a:sym typeface="Symbol" pitchFamily="18" charset="2"/>
              </a:rPr>
              <a:t>/ </a:t>
            </a:r>
            <a:r>
              <a:rPr lang="en-US">
                <a:sym typeface="Symbol" pitchFamily="18" charset="2"/>
              </a:rPr>
              <a:t>3600 s = 0.00175 rad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s</a:t>
            </a:r>
            <a:r>
              <a:rPr lang="en-US" baseline="30000">
                <a:sym typeface="Symbol" pitchFamily="18" charset="2"/>
              </a:rPr>
              <a:t>-1</a:t>
            </a:r>
            <a:r>
              <a:rPr lang="en-US">
                <a:sym typeface="Symbol" pitchFamily="18" charset="2"/>
              </a:rPr>
              <a:t>.</a:t>
            </a:r>
          </a:p>
          <a:p>
            <a:pPr>
              <a:buFont typeface="Symbol" pitchFamily="18" charset="2"/>
              <a:buNone/>
            </a:pPr>
            <a:r>
              <a:rPr lang="en-US">
                <a:solidFill>
                  <a:srgbClr val="000000"/>
                </a:solidFill>
                <a:sym typeface="Symbol" pitchFamily="18" charset="2"/>
              </a:rPr>
              <a:t>The earth takes 24 h for each revolution so that</a:t>
            </a:r>
          </a:p>
          <a:p>
            <a:pPr>
              <a:buFont typeface="Symbol" pitchFamily="18" charset="2"/>
              <a:buNone/>
            </a:pPr>
            <a:r>
              <a:rPr lang="en-US">
                <a:solidFill>
                  <a:srgbClr val="000000"/>
                </a:solidFill>
                <a:sym typeface="Symbol" pitchFamily="18" charset="2"/>
              </a:rPr>
              <a:t>       </a:t>
            </a:r>
            <a:r>
              <a:rPr lang="en-US">
                <a:sym typeface="Symbol" pitchFamily="18" charset="2"/>
              </a:rPr>
              <a:t> =</a:t>
            </a:r>
            <a:r>
              <a:rPr lang="en-US" i="1">
                <a:sym typeface="Symbol" pitchFamily="18" charset="2"/>
              </a:rPr>
              <a:t> </a:t>
            </a:r>
            <a:r>
              <a:rPr lang="en-US"/>
              <a:t>2</a:t>
            </a:r>
            <a:r>
              <a:rPr lang="en-US">
                <a:sym typeface="Symbol" pitchFamily="18" charset="2"/>
              </a:rPr>
              <a:t> </a:t>
            </a:r>
            <a:r>
              <a:rPr lang="en-US" i="1">
                <a:sym typeface="Symbol" pitchFamily="18" charset="2"/>
              </a:rPr>
              <a:t>/ T</a:t>
            </a:r>
            <a:r>
              <a:rPr lang="en-US">
                <a:sym typeface="Symbol" pitchFamily="18" charset="2"/>
              </a:rPr>
              <a:t> </a:t>
            </a:r>
          </a:p>
          <a:p>
            <a:pPr>
              <a:buFont typeface="Symbol" pitchFamily="18" charset="2"/>
              <a:buNone/>
            </a:pPr>
            <a:r>
              <a:rPr lang="en-US">
                <a:sym typeface="Symbol" pitchFamily="18" charset="2"/>
              </a:rPr>
              <a:t>          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= ( </a:t>
            </a:r>
            <a:r>
              <a:rPr lang="en-US"/>
              <a:t>2</a:t>
            </a:r>
            <a:r>
              <a:rPr lang="en-US">
                <a:sym typeface="Symbol" pitchFamily="18" charset="2"/>
              </a:rPr>
              <a:t> </a:t>
            </a:r>
            <a:r>
              <a:rPr lang="en-US" i="1">
                <a:sym typeface="Symbol" pitchFamily="18" charset="2"/>
              </a:rPr>
              <a:t>/ </a:t>
            </a:r>
            <a:r>
              <a:rPr lang="en-US">
                <a:sym typeface="Symbol" pitchFamily="18" charset="2"/>
              </a:rPr>
              <a:t>24 h )( 1 h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3600 s ) </a:t>
            </a:r>
          </a:p>
          <a:p>
            <a:pPr>
              <a:buFont typeface="Symbol" pitchFamily="18" charset="2"/>
              <a:buNone/>
            </a:pPr>
            <a:r>
              <a:rPr lang="en-US">
                <a:sym typeface="Symbol" pitchFamily="18" charset="2"/>
              </a:rPr>
              <a:t>          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= 0.0000727 rad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s</a:t>
            </a:r>
            <a:r>
              <a:rPr lang="en-US" baseline="30000">
                <a:sym typeface="Symbol" pitchFamily="18" charset="2"/>
              </a:rPr>
              <a:t>-1</a:t>
            </a:r>
            <a:r>
              <a:rPr lang="en-US">
                <a:sym typeface="Symbol" pitchFamily="18" charset="2"/>
              </a:rPr>
              <a:t>.</a:t>
            </a:r>
          </a:p>
          <a:p>
            <a:pPr>
              <a:buFont typeface="Symbol" pitchFamily="18" charset="2"/>
              <a:buNone/>
            </a:pPr>
            <a:r>
              <a:rPr lang="en-US">
                <a:solidFill>
                  <a:srgbClr val="000000"/>
                </a:solidFill>
                <a:sym typeface="Symbol" pitchFamily="18" charset="2"/>
              </a:rPr>
              <a:t>This small angular speed is why we can’t really feel the earth as it spins.</a:t>
            </a:r>
            <a:endParaRPr lang="en-US">
              <a:sym typeface="Symbol" pitchFamily="18" charset="2"/>
            </a:endParaRPr>
          </a:p>
        </p:txBody>
      </p:sp>
      <p:pic>
        <p:nvPicPr>
          <p:cNvPr id="9" name="Picture 2" descr="http://mail.colonial.net/~hkaiter/aa_newest_images/spineart.gif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02538" y="2060575"/>
            <a:ext cx="1541462" cy="1543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674688" y="1993900"/>
            <a:ext cx="7781925" cy="48641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Find the apparent weight of                        someone standing on an equatorial scale                               if his weight is 882 N at the north pole.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SOLUTION: Recall that  = 0.0000727                                     rad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s</a:t>
            </a:r>
            <a:r>
              <a:rPr lang="en-US" baseline="30000">
                <a:sym typeface="Symbol" pitchFamily="18" charset="2"/>
              </a:rPr>
              <a:t>-1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anywhere</a:t>
            </a:r>
            <a:r>
              <a:rPr lang="en-US">
                <a:sym typeface="Symbol" pitchFamily="18" charset="2"/>
              </a:rPr>
              <a:t> on the earth.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The blue arcs represent the lines of                                 latitude.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The white line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represents the earth’s radius.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The yellow line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represents the radius of the circle a point at a latitude of  follows.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Note that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cos , and that at the equator,  = 0˚ and at the pole,  = 90˚.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sz="2000">
              <a:latin typeface="Courier New" pitchFamily="49" charset="0"/>
            </a:endParaRPr>
          </a:p>
        </p:txBody>
      </p:sp>
      <p:pic>
        <p:nvPicPr>
          <p:cNvPr id="10" name="Picture 2" descr="http://mail.colonial.net/~hkaiter/aa_newest_images/spineart.gif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62700" y="2330450"/>
            <a:ext cx="2452688" cy="2452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7" name="Straight Connector 16"/>
          <p:cNvCxnSpPr/>
          <p:nvPr/>
        </p:nvCxnSpPr>
        <p:spPr>
          <a:xfrm rot="5400000" flipH="1" flipV="1">
            <a:off x="7090569" y="3032919"/>
            <a:ext cx="1001712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7596188" y="3516313"/>
            <a:ext cx="1492250" cy="28575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endCxn id="12" idx="2"/>
          </p:cNvCxnSpPr>
          <p:nvPr/>
        </p:nvCxnSpPr>
        <p:spPr>
          <a:xfrm flipV="1">
            <a:off x="7589838" y="2868613"/>
            <a:ext cx="1017587" cy="676275"/>
          </a:xfrm>
          <a:prstGeom prst="line">
            <a:avLst/>
          </a:prstGeom>
          <a:ln w="28575">
            <a:solidFill>
              <a:srgbClr val="FFFF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10"/>
          <p:cNvSpPr/>
          <p:nvPr/>
        </p:nvSpPr>
        <p:spPr>
          <a:xfrm flipV="1">
            <a:off x="7032625" y="2238375"/>
            <a:ext cx="1141413" cy="488950"/>
          </a:xfrm>
          <a:prstGeom prst="arc">
            <a:avLst>
              <a:gd name="adj1" fmla="val 10850545"/>
              <a:gd name="adj2" fmla="val 0"/>
            </a:avLst>
          </a:prstGeom>
          <a:ln w="381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Arc 11"/>
          <p:cNvSpPr/>
          <p:nvPr/>
        </p:nvSpPr>
        <p:spPr>
          <a:xfrm flipV="1">
            <a:off x="6562725" y="2430463"/>
            <a:ext cx="2044700" cy="876300"/>
          </a:xfrm>
          <a:prstGeom prst="arc">
            <a:avLst>
              <a:gd name="adj1" fmla="val 10850545"/>
              <a:gd name="adj2" fmla="val 0"/>
            </a:avLst>
          </a:prstGeom>
          <a:ln w="381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Arc 12"/>
          <p:cNvSpPr/>
          <p:nvPr/>
        </p:nvSpPr>
        <p:spPr>
          <a:xfrm flipV="1">
            <a:off x="6357938" y="2997200"/>
            <a:ext cx="2457450" cy="1025525"/>
          </a:xfrm>
          <a:prstGeom prst="arc">
            <a:avLst>
              <a:gd name="adj1" fmla="val 10850545"/>
              <a:gd name="adj2" fmla="val 0"/>
            </a:avLst>
          </a:prstGeom>
          <a:ln w="381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7962900" y="3136900"/>
            <a:ext cx="3698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FFFF00"/>
                </a:solidFill>
                <a:sym typeface="Symbol" pitchFamily="18" charset="2"/>
              </a:rPr>
              <a:t></a:t>
            </a:r>
            <a:endParaRPr lang="en-US" sz="2800" b="1">
              <a:solidFill>
                <a:srgbClr val="FFFF00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rot="10800000" flipH="1" flipV="1">
            <a:off x="7594600" y="2889250"/>
            <a:ext cx="1001713" cy="0"/>
          </a:xfrm>
          <a:prstGeom prst="line">
            <a:avLst/>
          </a:prstGeom>
          <a:ln w="28575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7721600" y="2881313"/>
            <a:ext cx="406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bg1"/>
                </a:solidFill>
                <a:sym typeface="Symbol" pitchFamily="18" charset="2"/>
              </a:rPr>
              <a:t>R</a:t>
            </a:r>
            <a:endParaRPr lang="en-US" i="1">
              <a:solidFill>
                <a:schemeClr val="bg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40625" y="2419350"/>
            <a:ext cx="112713" cy="69850"/>
          </a:xfrm>
          <a:prstGeom prst="ellipse">
            <a:avLst/>
          </a:prstGeom>
          <a:solidFill>
            <a:srgbClr val="33CCFF"/>
          </a:solidFill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 rot="5400000" flipH="1" flipV="1">
            <a:off x="7384256" y="2231232"/>
            <a:ext cx="417513" cy="63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7958138" y="2513013"/>
            <a:ext cx="2873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FFFF00"/>
                </a:solidFill>
                <a:sym typeface="Symbol" pitchFamily="18" charset="2"/>
              </a:rPr>
              <a:t>r</a:t>
            </a:r>
            <a:endParaRPr lang="en-US" i="1">
              <a:solidFill>
                <a:srgbClr val="FFFF00"/>
              </a:solidFill>
            </a:endParaRP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7721600" y="1784350"/>
            <a:ext cx="4302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  <a:sym typeface="Symbol" pitchFamily="18" charset="2"/>
              </a:rPr>
              <a:t>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5945188" y="3244850"/>
            <a:ext cx="501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hlink"/>
                </a:solidFill>
                <a:sym typeface="Symbol" pitchFamily="18" charset="2"/>
              </a:rPr>
              <a:t>0˚</a:t>
            </a:r>
            <a:endParaRPr lang="en-US" sz="2800">
              <a:solidFill>
                <a:schemeClr val="hlink"/>
              </a:solidFill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927850" y="1906588"/>
            <a:ext cx="70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hlink"/>
                </a:solidFill>
                <a:sym typeface="Symbol" pitchFamily="18" charset="2"/>
              </a:rPr>
              <a:t>90˚</a:t>
            </a:r>
            <a:endParaRPr lang="en-US" sz="2800">
              <a:solidFill>
                <a:schemeClr val="hlink"/>
              </a:solidFill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7974013" y="2782888"/>
            <a:ext cx="342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  <a:sym typeface="Symbol" pitchFamily="18" charset="2"/>
              </a:rPr>
              <a:t></a:t>
            </a:r>
            <a:endParaRPr lang="en-US" b="1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674688" y="1993900"/>
            <a:ext cx="7781925" cy="48641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Find the apparent weight of                        someone standing on an equatorial scale                               if his weight is 882 N at the north pole.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SOLUTION: Recall that  = 0.0000727                                     rad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s</a:t>
            </a:r>
            <a:r>
              <a:rPr lang="en-US" baseline="30000">
                <a:sym typeface="Symbol" pitchFamily="18" charset="2"/>
              </a:rPr>
              <a:t>-1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anywhere</a:t>
            </a:r>
            <a:r>
              <a:rPr lang="en-US">
                <a:sym typeface="Symbol" pitchFamily="18" charset="2"/>
              </a:rPr>
              <a:t> on the earth.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Thus, at the equator,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, and at the                                     pole,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= 0. Furthermore, </a:t>
            </a:r>
            <a:r>
              <a:rPr lang="en-US" i="1">
                <a:sym typeface="Symbol" pitchFamily="18" charset="2"/>
              </a:rPr>
              <a:t>R </a:t>
            </a:r>
            <a:r>
              <a:rPr lang="en-US">
                <a:sym typeface="Symbol" pitchFamily="18" charset="2"/>
              </a:rPr>
              <a:t>= 6400000 m.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Then, at the equator, </a:t>
            </a: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 a</a:t>
            </a:r>
            <a:r>
              <a:rPr lang="en-US" baseline="-25000">
                <a:sym typeface="Symbol" pitchFamily="18" charset="2"/>
              </a:rPr>
              <a:t>c </a:t>
            </a:r>
            <a:r>
              <a:rPr lang="en-US">
                <a:sym typeface="Symbol" pitchFamily="18" charset="2"/>
              </a:rPr>
              <a:t>=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</a:t>
            </a:r>
            <a:r>
              <a:rPr lang="en-US" baseline="30000">
                <a:sym typeface="Symbol" pitchFamily="18" charset="2"/>
              </a:rPr>
              <a:t>2 </a:t>
            </a:r>
            <a:r>
              <a:rPr lang="en-US">
                <a:sym typeface="Symbol" pitchFamily="18" charset="2"/>
              </a:rPr>
              <a:t>= 6400000 0.0000727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 = 0.0338 ms</a:t>
            </a:r>
            <a:r>
              <a:rPr lang="en-US" baseline="30000">
                <a:sym typeface="Symbol" pitchFamily="18" charset="2"/>
              </a:rPr>
              <a:t>-2</a:t>
            </a:r>
            <a:r>
              <a:rPr lang="en-US"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Then, at the pole, </a:t>
            </a: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 a</a:t>
            </a:r>
            <a:r>
              <a:rPr lang="en-US" baseline="-25000">
                <a:sym typeface="Symbol" pitchFamily="18" charset="2"/>
              </a:rPr>
              <a:t>c </a:t>
            </a:r>
            <a:r>
              <a:rPr lang="en-US">
                <a:sym typeface="Symbol" pitchFamily="18" charset="2"/>
              </a:rPr>
              <a:t>=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</a:t>
            </a:r>
            <a:r>
              <a:rPr lang="en-US" baseline="30000">
                <a:sym typeface="Symbol" pitchFamily="18" charset="2"/>
              </a:rPr>
              <a:t>2 </a:t>
            </a:r>
            <a:r>
              <a:rPr lang="en-US">
                <a:sym typeface="Symbol" pitchFamily="18" charset="2"/>
              </a:rPr>
              <a:t>= 0 0.0000727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 = 0.000 ms</a:t>
            </a:r>
            <a:r>
              <a:rPr lang="en-US" baseline="30000">
                <a:sym typeface="Symbol" pitchFamily="18" charset="2"/>
              </a:rPr>
              <a:t>-2</a:t>
            </a:r>
            <a:r>
              <a:rPr lang="en-US"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endParaRPr lang="en-US">
              <a:sym typeface="Symbol" pitchFamily="18" charset="2"/>
            </a:endParaRP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sz="2000">
              <a:latin typeface="Courier New" pitchFamily="49" charset="0"/>
            </a:endParaRPr>
          </a:p>
        </p:txBody>
      </p:sp>
      <p:pic>
        <p:nvPicPr>
          <p:cNvPr id="10" name="Picture 2" descr="http://mail.colonial.net/~hkaiter/aa_newest_images/spineart.gif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62700" y="2330450"/>
            <a:ext cx="2452688" cy="2452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7" name="Straight Connector 16"/>
          <p:cNvCxnSpPr/>
          <p:nvPr/>
        </p:nvCxnSpPr>
        <p:spPr>
          <a:xfrm rot="5400000" flipH="1" flipV="1">
            <a:off x="7090569" y="3032919"/>
            <a:ext cx="1001712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7596188" y="3516313"/>
            <a:ext cx="1492250" cy="28575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endCxn id="12" idx="2"/>
          </p:cNvCxnSpPr>
          <p:nvPr/>
        </p:nvCxnSpPr>
        <p:spPr>
          <a:xfrm flipV="1">
            <a:off x="7589838" y="2868613"/>
            <a:ext cx="1017587" cy="676275"/>
          </a:xfrm>
          <a:prstGeom prst="line">
            <a:avLst/>
          </a:prstGeom>
          <a:ln w="28575">
            <a:solidFill>
              <a:srgbClr val="FFFF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10"/>
          <p:cNvSpPr/>
          <p:nvPr/>
        </p:nvSpPr>
        <p:spPr>
          <a:xfrm flipV="1">
            <a:off x="7032625" y="2238375"/>
            <a:ext cx="1141413" cy="488950"/>
          </a:xfrm>
          <a:prstGeom prst="arc">
            <a:avLst>
              <a:gd name="adj1" fmla="val 10850545"/>
              <a:gd name="adj2" fmla="val 0"/>
            </a:avLst>
          </a:prstGeom>
          <a:ln w="381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Arc 11"/>
          <p:cNvSpPr/>
          <p:nvPr/>
        </p:nvSpPr>
        <p:spPr>
          <a:xfrm flipV="1">
            <a:off x="6562725" y="2430463"/>
            <a:ext cx="2044700" cy="876300"/>
          </a:xfrm>
          <a:prstGeom prst="arc">
            <a:avLst>
              <a:gd name="adj1" fmla="val 10850545"/>
              <a:gd name="adj2" fmla="val 0"/>
            </a:avLst>
          </a:prstGeom>
          <a:ln w="381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Arc 12"/>
          <p:cNvSpPr/>
          <p:nvPr/>
        </p:nvSpPr>
        <p:spPr>
          <a:xfrm flipV="1">
            <a:off x="6357938" y="2997200"/>
            <a:ext cx="2457450" cy="1025525"/>
          </a:xfrm>
          <a:prstGeom prst="arc">
            <a:avLst>
              <a:gd name="adj1" fmla="val 10850545"/>
              <a:gd name="adj2" fmla="val 0"/>
            </a:avLst>
          </a:prstGeom>
          <a:ln w="381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76" name="TextBox 27"/>
          <p:cNvSpPr txBox="1">
            <a:spLocks noChangeArrowheads="1"/>
          </p:cNvSpPr>
          <p:nvPr/>
        </p:nvSpPr>
        <p:spPr bwMode="auto">
          <a:xfrm>
            <a:off x="7962900" y="3136900"/>
            <a:ext cx="3698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FFFF00"/>
                </a:solidFill>
                <a:sym typeface="Symbol" pitchFamily="18" charset="2"/>
              </a:rPr>
              <a:t></a:t>
            </a:r>
            <a:endParaRPr lang="en-US" sz="2800" b="1">
              <a:solidFill>
                <a:srgbClr val="FFFF00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rot="10800000" flipH="1" flipV="1">
            <a:off x="7594600" y="2889250"/>
            <a:ext cx="1001713" cy="0"/>
          </a:xfrm>
          <a:prstGeom prst="line">
            <a:avLst/>
          </a:prstGeom>
          <a:ln w="28575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8" name="TextBox 30"/>
          <p:cNvSpPr txBox="1">
            <a:spLocks noChangeArrowheads="1"/>
          </p:cNvSpPr>
          <p:nvPr/>
        </p:nvSpPr>
        <p:spPr bwMode="auto">
          <a:xfrm>
            <a:off x="7721600" y="2881313"/>
            <a:ext cx="406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bg1"/>
                </a:solidFill>
                <a:sym typeface="Symbol" pitchFamily="18" charset="2"/>
              </a:rPr>
              <a:t>R</a:t>
            </a:r>
            <a:endParaRPr lang="en-US" i="1">
              <a:solidFill>
                <a:schemeClr val="bg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40625" y="2419350"/>
            <a:ext cx="112713" cy="69850"/>
          </a:xfrm>
          <a:prstGeom prst="ellipse">
            <a:avLst/>
          </a:prstGeom>
          <a:solidFill>
            <a:srgbClr val="33CCFF"/>
          </a:solidFill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 rot="5400000" flipH="1" flipV="1">
            <a:off x="7384256" y="2231232"/>
            <a:ext cx="417513" cy="63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81" name="TextBox 32"/>
          <p:cNvSpPr txBox="1">
            <a:spLocks noChangeArrowheads="1"/>
          </p:cNvSpPr>
          <p:nvPr/>
        </p:nvSpPr>
        <p:spPr bwMode="auto">
          <a:xfrm>
            <a:off x="7958138" y="2513013"/>
            <a:ext cx="2873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FFFF00"/>
                </a:solidFill>
                <a:sym typeface="Symbol" pitchFamily="18" charset="2"/>
              </a:rPr>
              <a:t>r</a:t>
            </a:r>
            <a:endParaRPr lang="en-US" i="1">
              <a:solidFill>
                <a:srgbClr val="FFFF00"/>
              </a:solidFill>
            </a:endParaRPr>
          </a:p>
        </p:txBody>
      </p:sp>
      <p:sp>
        <p:nvSpPr>
          <p:cNvPr id="36882" name="TextBox 18"/>
          <p:cNvSpPr txBox="1">
            <a:spLocks noChangeArrowheads="1"/>
          </p:cNvSpPr>
          <p:nvPr/>
        </p:nvSpPr>
        <p:spPr bwMode="auto">
          <a:xfrm>
            <a:off x="7721600" y="1784350"/>
            <a:ext cx="4302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  <a:sym typeface="Symbol" pitchFamily="18" charset="2"/>
              </a:rPr>
              <a:t>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6883" name="TextBox 20"/>
          <p:cNvSpPr txBox="1">
            <a:spLocks noChangeArrowheads="1"/>
          </p:cNvSpPr>
          <p:nvPr/>
        </p:nvSpPr>
        <p:spPr bwMode="auto">
          <a:xfrm>
            <a:off x="7974013" y="2782888"/>
            <a:ext cx="342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  <a:sym typeface="Symbol" pitchFamily="18" charset="2"/>
              </a:rPr>
              <a:t></a:t>
            </a:r>
            <a:endParaRPr lang="en-US" b="1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1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1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674688" y="1993900"/>
            <a:ext cx="7781925" cy="48641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Find the apparent weight of                        someone standing on an equatorial scale                               if his weight is 882 N at the north pole.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SOLUTION: Make a free-body                                            diagram at the equator…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Scales read the normal force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:</a:t>
            </a:r>
            <a:endParaRPr lang="en-US" b="1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	</a:t>
            </a:r>
            <a:r>
              <a:rPr lang="en-US" b="1">
                <a:sym typeface="Symbol" pitchFamily="18" charset="2"/>
              </a:rPr>
              <a:t>F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m</a:t>
            </a:r>
            <a:r>
              <a:rPr lang="en-US" b="1">
                <a:sym typeface="Symbol" pitchFamily="18" charset="2"/>
              </a:rPr>
              <a:t>a</a:t>
            </a:r>
          </a:p>
          <a:p>
            <a:pPr eaLnBrk="0" hangingPunct="0">
              <a:spcBef>
                <a:spcPct val="20000"/>
              </a:spcBef>
            </a:pPr>
            <a:r>
              <a:rPr lang="en-US" b="1" i="1">
                <a:sym typeface="Symbol" pitchFamily="18" charset="2"/>
              </a:rPr>
              <a:t>    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– </a:t>
            </a:r>
            <a:r>
              <a:rPr lang="en-US" i="1">
                <a:sym typeface="Symbol" pitchFamily="18" charset="2"/>
              </a:rPr>
              <a:t>W</a:t>
            </a:r>
            <a:r>
              <a:rPr lang="en-US">
                <a:sym typeface="Symbol" pitchFamily="18" charset="2"/>
              </a:rPr>
              <a:t> = - </a:t>
            </a:r>
            <a:r>
              <a:rPr lang="en-US" i="1">
                <a:sym typeface="Symbol" pitchFamily="18" charset="2"/>
              </a:rPr>
              <a:t>ma</a:t>
            </a:r>
            <a:r>
              <a:rPr lang="en-US" baseline="-25000">
                <a:sym typeface="Symbol" pitchFamily="18" charset="2"/>
              </a:rPr>
              <a:t>c</a:t>
            </a: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      </a:t>
            </a:r>
            <a:r>
              <a:rPr lang="en-US" i="1" baseline="-25000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W</a:t>
            </a:r>
            <a:r>
              <a:rPr lang="en-US">
                <a:sym typeface="Symbol" pitchFamily="18" charset="2"/>
              </a:rPr>
              <a:t> –  </a:t>
            </a:r>
            <a:r>
              <a:rPr lang="en-US" i="1">
                <a:sym typeface="Symbol" pitchFamily="18" charset="2"/>
              </a:rPr>
              <a:t>ma</a:t>
            </a:r>
            <a:r>
              <a:rPr lang="en-US" baseline="-25000">
                <a:sym typeface="Symbol" pitchFamily="18" charset="2"/>
              </a:rPr>
              <a:t>c</a:t>
            </a:r>
            <a:endParaRPr lang="en-US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Then,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= 882 – ( 882 </a:t>
            </a:r>
            <a:r>
              <a:rPr lang="en-US" i="1">
                <a:sym typeface="Symbol" pitchFamily="18" charset="2"/>
              </a:rPr>
              <a:t>/ </a:t>
            </a:r>
            <a:r>
              <a:rPr lang="en-US">
                <a:sym typeface="Symbol" pitchFamily="18" charset="2"/>
              </a:rPr>
              <a:t>9.8 )  0.0338 = 879 N.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The man has apparently “lost” about 3 N!</a:t>
            </a:r>
            <a:endParaRPr lang="en-US" i="1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>
              <a:sym typeface="Symbol" pitchFamily="18" charset="2"/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sz="2000">
              <a:latin typeface="Courier New" pitchFamily="49" charset="0"/>
            </a:endParaRPr>
          </a:p>
        </p:txBody>
      </p:sp>
      <p:pic>
        <p:nvPicPr>
          <p:cNvPr id="84998" name="Picture 6" descr="https://encrypted-tbn0.gstatic.com/images?q=tbn:ANd9GcQu6fMLEr1OoZLnhTqb4aXpKuNlM4fD6oVArqEAMdjW7_xgxkpzDw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40588" y="2147888"/>
            <a:ext cx="1684337" cy="2994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5570538" y="3063875"/>
            <a:ext cx="900112" cy="461963"/>
            <a:chOff x="5739624" y="3064412"/>
            <a:chExt cx="900331" cy="461665"/>
          </a:xfrm>
        </p:grpSpPr>
        <p:cxnSp>
          <p:nvCxnSpPr>
            <p:cNvPr id="25" name="Straight Arrow Connector 24"/>
            <p:cNvCxnSpPr/>
            <p:nvPr/>
          </p:nvCxnSpPr>
          <p:spPr>
            <a:xfrm rot="10800000">
              <a:off x="5739624" y="3475310"/>
              <a:ext cx="900331" cy="15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03" name="TextBox 40"/>
            <p:cNvSpPr txBox="1">
              <a:spLocks noChangeArrowheads="1"/>
            </p:cNvSpPr>
            <p:nvPr/>
          </p:nvSpPr>
          <p:spPr bwMode="auto">
            <a:xfrm>
              <a:off x="6060831" y="3064412"/>
              <a:ext cx="47481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ym typeface="Symbol" pitchFamily="18" charset="2"/>
                </a:rPr>
                <a:t>W</a:t>
              </a:r>
              <a:endParaRPr lang="en-US" b="1"/>
            </a:p>
          </p:txBody>
        </p:sp>
      </p:grp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6456363" y="3062288"/>
            <a:ext cx="658812" cy="461962"/>
            <a:chOff x="6625883" y="3062067"/>
            <a:chExt cx="658841" cy="461665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6625883" y="3458687"/>
              <a:ext cx="658841" cy="15865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01" name="TextBox 41"/>
            <p:cNvSpPr txBox="1">
              <a:spLocks noChangeArrowheads="1"/>
            </p:cNvSpPr>
            <p:nvPr/>
          </p:nvSpPr>
          <p:spPr bwMode="auto">
            <a:xfrm>
              <a:off x="6719667" y="3062067"/>
              <a:ext cx="40748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B050"/>
                  </a:solidFill>
                  <a:sym typeface="Symbol" pitchFamily="18" charset="2"/>
                </a:rPr>
                <a:t>R</a:t>
              </a:r>
              <a:endParaRPr lang="en-US" b="1">
                <a:solidFill>
                  <a:srgbClr val="00B050"/>
                </a:solidFill>
              </a:endParaRPr>
            </a:p>
          </p:txBody>
        </p: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5722938" y="3735388"/>
            <a:ext cx="606425" cy="461962"/>
            <a:chOff x="5892025" y="3734969"/>
            <a:chExt cx="605980" cy="461665"/>
          </a:xfrm>
        </p:grpSpPr>
        <p:cxnSp>
          <p:nvCxnSpPr>
            <p:cNvPr id="37" name="Straight Arrow Connector 36"/>
            <p:cNvCxnSpPr/>
            <p:nvPr/>
          </p:nvCxnSpPr>
          <p:spPr>
            <a:xfrm rot="10800000">
              <a:off x="5892025" y="3795255"/>
              <a:ext cx="536181" cy="1586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899" name="TextBox 42"/>
            <p:cNvSpPr txBox="1">
              <a:spLocks noChangeArrowheads="1"/>
            </p:cNvSpPr>
            <p:nvPr/>
          </p:nvSpPr>
          <p:spPr bwMode="auto">
            <a:xfrm>
              <a:off x="6028005" y="3734969"/>
              <a:ext cx="470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808080"/>
                  </a:solidFill>
                  <a:sym typeface="Symbol" pitchFamily="18" charset="2"/>
                </a:rPr>
                <a:t>a</a:t>
              </a:r>
              <a:r>
                <a:rPr lang="en-US" b="1" baseline="-25000">
                  <a:solidFill>
                    <a:srgbClr val="808080"/>
                  </a:solidFill>
                  <a:sym typeface="Symbol" pitchFamily="18" charset="2"/>
                </a:rPr>
                <a:t>c</a:t>
              </a:r>
              <a:endParaRPr lang="en-US" b="1">
                <a:solidFill>
                  <a:srgbClr val="808080"/>
                </a:solidFill>
              </a:endParaRPr>
            </a:p>
          </p:txBody>
        </p:sp>
      </p:grpSp>
      <p:sp>
        <p:nvSpPr>
          <p:cNvPr id="23" name="Oval 22"/>
          <p:cNvSpPr/>
          <p:nvPr/>
        </p:nvSpPr>
        <p:spPr>
          <a:xfrm>
            <a:off x="6386513" y="3376613"/>
            <a:ext cx="196850" cy="196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1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1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1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1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ChangeArrowheads="1"/>
          </p:cNvSpPr>
          <p:nvPr/>
        </p:nvSpPr>
        <p:spPr bwMode="auto"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sz="2000">
              <a:latin typeface="Courier New" pitchFamily="49" charset="0"/>
            </a:endParaRP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685800" y="2011363"/>
            <a:ext cx="7772400" cy="484663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  <a:sym typeface="Symbol" pitchFamily="18" charset="2"/>
            </a:endParaRPr>
          </a:p>
        </p:txBody>
      </p:sp>
      <p:pic>
        <p:nvPicPr>
          <p:cNvPr id="88071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5325" y="2027238"/>
            <a:ext cx="7734300" cy="3057525"/>
          </a:xfrm>
          <a:prstGeom prst="rect">
            <a:avLst/>
          </a:prstGeom>
          <a:noFill/>
        </p:spPr>
      </p:pic>
      <p:pic>
        <p:nvPicPr>
          <p:cNvPr id="88072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3263" y="5251450"/>
            <a:ext cx="7724775" cy="1577975"/>
          </a:xfrm>
          <a:prstGeom prst="rect">
            <a:avLst/>
          </a:prstGeom>
          <a:noFill/>
        </p:spPr>
      </p:pic>
      <p:sp>
        <p:nvSpPr>
          <p:cNvPr id="88073" name="Text Box 9"/>
          <p:cNvSpPr txBox="1">
            <a:spLocks noChangeArrowheads="1"/>
          </p:cNvSpPr>
          <p:nvPr/>
        </p:nvSpPr>
        <p:spPr bwMode="auto">
          <a:xfrm>
            <a:off x="1335088" y="5768975"/>
            <a:ext cx="7600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sz="2000" i="1">
                <a:solidFill>
                  <a:schemeClr val="hlink"/>
                </a:solidFill>
              </a:rPr>
              <a:t>kx = F</a:t>
            </a:r>
            <a:r>
              <a:rPr lang="en-US" sz="2000" baseline="-25000">
                <a:solidFill>
                  <a:schemeClr val="hlink"/>
                </a:solidFill>
              </a:rPr>
              <a:t>C</a:t>
            </a:r>
            <a:r>
              <a:rPr lang="en-US" sz="2000">
                <a:solidFill>
                  <a:schemeClr val="hlink"/>
                </a:solidFill>
              </a:rPr>
              <a:t> = </a:t>
            </a:r>
            <a:r>
              <a:rPr lang="en-US" sz="2000" i="1">
                <a:solidFill>
                  <a:schemeClr val="hlink"/>
                </a:solidFill>
              </a:rPr>
              <a:t>mv</a:t>
            </a:r>
            <a:r>
              <a:rPr lang="en-US" sz="2000" baseline="30000">
                <a:solidFill>
                  <a:schemeClr val="hlink"/>
                </a:solidFill>
              </a:rPr>
              <a:t> 2</a:t>
            </a:r>
            <a:r>
              <a:rPr lang="en-US" sz="2000" i="1">
                <a:solidFill>
                  <a:schemeClr val="hlink"/>
                </a:solidFill>
              </a:rPr>
              <a:t>/ r</a:t>
            </a:r>
            <a:r>
              <a:rPr lang="en-US" sz="2000">
                <a:solidFill>
                  <a:schemeClr val="hlink"/>
                </a:solidFill>
              </a:rPr>
              <a:t>  implies that as </a:t>
            </a:r>
            <a:r>
              <a:rPr lang="en-US" sz="2000" i="1">
                <a:solidFill>
                  <a:schemeClr val="hlink"/>
                </a:solidFill>
              </a:rPr>
              <a:t>v</a:t>
            </a:r>
            <a:r>
              <a:rPr lang="en-US" sz="2000">
                <a:solidFill>
                  <a:schemeClr val="hlink"/>
                </a:solidFill>
              </a:rPr>
              <a:t> increases, so does the centripetal force </a:t>
            </a:r>
            <a:r>
              <a:rPr lang="en-US" sz="2000" i="1">
                <a:solidFill>
                  <a:schemeClr val="hlink"/>
                </a:solidFill>
              </a:rPr>
              <a:t>F</a:t>
            </a:r>
            <a:r>
              <a:rPr lang="en-US" sz="2000" baseline="-25000">
                <a:solidFill>
                  <a:schemeClr val="hlink"/>
                </a:solidFill>
              </a:rPr>
              <a:t>C</a:t>
            </a:r>
            <a:r>
              <a:rPr lang="en-US" sz="2000">
                <a:solidFill>
                  <a:schemeClr val="hlink"/>
                </a:solidFill>
              </a:rPr>
              <a:t> needed to move it in a circle.</a:t>
            </a:r>
          </a:p>
        </p:txBody>
      </p:sp>
      <p:sp>
        <p:nvSpPr>
          <p:cNvPr id="88074" name="Text Box 10"/>
          <p:cNvSpPr txBox="1">
            <a:spLocks noChangeArrowheads="1"/>
          </p:cNvSpPr>
          <p:nvPr/>
        </p:nvSpPr>
        <p:spPr bwMode="auto">
          <a:xfrm>
            <a:off x="1333500" y="6388100"/>
            <a:ext cx="6854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sz="2000">
                <a:solidFill>
                  <a:schemeClr val="hlink"/>
                </a:solidFill>
              </a:rPr>
              <a:t>Thus, </a:t>
            </a:r>
            <a:r>
              <a:rPr lang="en-US" sz="2000" i="1">
                <a:solidFill>
                  <a:schemeClr val="hlink"/>
                </a:solidFill>
              </a:rPr>
              <a:t>x</a:t>
            </a:r>
            <a:r>
              <a:rPr lang="en-US" sz="2000">
                <a:solidFill>
                  <a:schemeClr val="hlink"/>
                </a:solidFill>
              </a:rPr>
              <a:t> increases.</a:t>
            </a:r>
          </a:p>
        </p:txBody>
      </p:sp>
      <p:sp>
        <p:nvSpPr>
          <p:cNvPr id="88075" name="Text Box 11"/>
          <p:cNvSpPr txBox="1">
            <a:spLocks noChangeArrowheads="1"/>
          </p:cNvSpPr>
          <p:nvPr/>
        </p:nvSpPr>
        <p:spPr bwMode="auto">
          <a:xfrm>
            <a:off x="3476625" y="5567363"/>
            <a:ext cx="37766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FF3300"/>
                </a:solidFill>
                <a:sym typeface="Symbol" pitchFamily="18" charset="2"/>
              </a:rPr>
              <a:t></a:t>
            </a:r>
            <a:r>
              <a:rPr lang="en-US" sz="2000">
                <a:solidFill>
                  <a:srgbClr val="FF3300"/>
                </a:solidFill>
              </a:rPr>
              <a:t>Use</a:t>
            </a:r>
            <a:r>
              <a:rPr lang="en-US" sz="2000" i="1">
                <a:solidFill>
                  <a:srgbClr val="FF3300"/>
                </a:solidFill>
              </a:rPr>
              <a:t> F</a:t>
            </a:r>
            <a:r>
              <a:rPr lang="en-US" sz="2000">
                <a:solidFill>
                  <a:srgbClr val="FF3300"/>
                </a:solidFill>
              </a:rPr>
              <a:t> = </a:t>
            </a:r>
            <a:r>
              <a:rPr lang="en-US" sz="2000" i="1">
                <a:solidFill>
                  <a:srgbClr val="FF3300"/>
                </a:solidFill>
              </a:rPr>
              <a:t>kx</a:t>
            </a:r>
            <a:r>
              <a:rPr lang="en-US" sz="2000">
                <a:solidFill>
                  <a:srgbClr val="FF3300"/>
                </a:solidFill>
                <a:sym typeface="Symbol" pitchFamily="18" charset="2"/>
              </a:rPr>
              <a:t>   (</a:t>
            </a:r>
            <a:r>
              <a:rPr lang="en-US" sz="2000" i="1">
                <a:solidFill>
                  <a:srgbClr val="FF3300"/>
                </a:solidFill>
                <a:sym typeface="Symbol" pitchFamily="18" charset="2"/>
              </a:rPr>
              <a:t>k</a:t>
            </a:r>
            <a:r>
              <a:rPr lang="en-US" sz="2000">
                <a:solidFill>
                  <a:srgbClr val="FF3300"/>
                </a:solidFill>
                <a:sym typeface="Symbol" pitchFamily="18" charset="2"/>
              </a:rPr>
              <a:t> = CONST).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8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3" grpId="0"/>
      <p:bldP spid="88074" grpId="0"/>
      <p:bldP spid="8807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3"/>
          <p:cNvSpPr>
            <a:spLocks noChangeArrowheads="1"/>
          </p:cNvSpPr>
          <p:nvPr/>
        </p:nvSpPr>
        <p:spPr bwMode="auto"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sz="2000">
              <a:latin typeface="Courier New" pitchFamily="49" charset="0"/>
            </a:endParaRP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685800" y="2011363"/>
            <a:ext cx="7772400" cy="484663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  <a:sym typeface="Symbol" pitchFamily="18" charset="2"/>
            </a:endParaRPr>
          </a:p>
        </p:txBody>
      </p:sp>
      <p:pic>
        <p:nvPicPr>
          <p:cNvPr id="90117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5325" y="2027238"/>
            <a:ext cx="7734300" cy="3057525"/>
          </a:xfrm>
          <a:prstGeom prst="rect">
            <a:avLst/>
          </a:prstGeom>
          <a:noFill/>
        </p:spPr>
      </p:pic>
      <p:pic>
        <p:nvPicPr>
          <p:cNvPr id="90119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6913" y="5130800"/>
            <a:ext cx="7754937" cy="1598613"/>
          </a:xfrm>
          <a:prstGeom prst="rect">
            <a:avLst/>
          </a:prstGeom>
          <a:noFill/>
        </p:spPr>
      </p:pic>
      <p:sp>
        <p:nvSpPr>
          <p:cNvPr id="90120" name="Text Box 8"/>
          <p:cNvSpPr txBox="1">
            <a:spLocks noChangeArrowheads="1"/>
          </p:cNvSpPr>
          <p:nvPr/>
        </p:nvSpPr>
        <p:spPr bwMode="auto">
          <a:xfrm>
            <a:off x="1371600" y="5341938"/>
            <a:ext cx="72294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sz="2000" i="1">
                <a:solidFill>
                  <a:schemeClr val="hlink"/>
                </a:solidFill>
              </a:rPr>
              <a:t>kx = F</a:t>
            </a:r>
            <a:r>
              <a:rPr lang="en-US" sz="2000">
                <a:solidFill>
                  <a:schemeClr val="hlink"/>
                </a:solidFill>
              </a:rPr>
              <a:t> </a:t>
            </a:r>
            <a:r>
              <a:rPr lang="en-US" sz="2000">
                <a:solidFill>
                  <a:schemeClr val="hlink"/>
                </a:solidFill>
                <a:sym typeface="Symbol" pitchFamily="18" charset="2"/>
              </a:rPr>
              <a:t></a:t>
            </a:r>
            <a:r>
              <a:rPr lang="en-US" sz="2000">
                <a:solidFill>
                  <a:schemeClr val="hlink"/>
                </a:solidFill>
              </a:rPr>
              <a:t> </a:t>
            </a:r>
            <a:r>
              <a:rPr lang="en-US" sz="2000" i="1">
                <a:solidFill>
                  <a:schemeClr val="hlink"/>
                </a:solidFill>
              </a:rPr>
              <a:t>k = F</a:t>
            </a:r>
            <a:r>
              <a:rPr lang="en-US" sz="2000" baseline="-25000">
                <a:solidFill>
                  <a:schemeClr val="hlink"/>
                </a:solidFill>
              </a:rPr>
              <a:t> </a:t>
            </a:r>
            <a:r>
              <a:rPr lang="en-US" sz="2000" i="1">
                <a:solidFill>
                  <a:schemeClr val="hlink"/>
                </a:solidFill>
              </a:rPr>
              <a:t>/ </a:t>
            </a:r>
            <a:r>
              <a:rPr lang="en-US" sz="2000">
                <a:solidFill>
                  <a:schemeClr val="hlink"/>
                </a:solidFill>
              </a:rPr>
              <a:t>x</a:t>
            </a:r>
            <a:r>
              <a:rPr lang="en-US" sz="2000" i="1">
                <a:solidFill>
                  <a:schemeClr val="hlink"/>
                </a:solidFill>
              </a:rPr>
              <a:t> = </a:t>
            </a:r>
            <a:r>
              <a:rPr lang="en-US" sz="2000">
                <a:solidFill>
                  <a:schemeClr val="hlink"/>
                </a:solidFill>
              </a:rPr>
              <a:t>18</a:t>
            </a:r>
            <a:r>
              <a:rPr lang="en-US" sz="2000" i="1">
                <a:solidFill>
                  <a:schemeClr val="hlink"/>
                </a:solidFill>
              </a:rPr>
              <a:t> / </a:t>
            </a:r>
            <a:r>
              <a:rPr lang="en-US" sz="2000">
                <a:solidFill>
                  <a:schemeClr val="hlink"/>
                </a:solidFill>
              </a:rPr>
              <a:t>0.010</a:t>
            </a:r>
            <a:r>
              <a:rPr lang="en-US" sz="2000" i="1">
                <a:solidFill>
                  <a:schemeClr val="hlink"/>
                </a:solidFill>
              </a:rPr>
              <a:t> = </a:t>
            </a:r>
            <a:r>
              <a:rPr lang="en-US" sz="2000">
                <a:solidFill>
                  <a:schemeClr val="hlink"/>
                </a:solidFill>
              </a:rPr>
              <a:t>1800 Nm</a:t>
            </a:r>
            <a:r>
              <a:rPr lang="en-US" sz="2000" baseline="30000">
                <a:solidFill>
                  <a:schemeClr val="hlink"/>
                </a:solidFill>
              </a:rPr>
              <a:t>-1</a:t>
            </a:r>
            <a:r>
              <a:rPr lang="en-US" sz="2000">
                <a:solidFill>
                  <a:schemeClr val="hlink"/>
                </a:solidFill>
              </a:rPr>
              <a:t>.</a:t>
            </a:r>
          </a:p>
        </p:txBody>
      </p:sp>
      <p:sp>
        <p:nvSpPr>
          <p:cNvPr id="90121" name="Text Box 9"/>
          <p:cNvSpPr txBox="1">
            <a:spLocks noChangeArrowheads="1"/>
          </p:cNvSpPr>
          <p:nvPr/>
        </p:nvSpPr>
        <p:spPr bwMode="auto">
          <a:xfrm>
            <a:off x="1379538" y="5627688"/>
            <a:ext cx="72294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sz="2000" i="1">
                <a:solidFill>
                  <a:schemeClr val="hlink"/>
                </a:solidFill>
                <a:sym typeface="Symbol" pitchFamily="18" charset="2"/>
              </a:rPr>
              <a:t>F</a:t>
            </a:r>
            <a:r>
              <a:rPr lang="en-US" sz="2000" baseline="-25000">
                <a:solidFill>
                  <a:schemeClr val="hlink"/>
                </a:solidFill>
                <a:sym typeface="Symbol" pitchFamily="18" charset="2"/>
              </a:rPr>
              <a:t>C</a:t>
            </a:r>
            <a:r>
              <a:rPr lang="en-US" sz="2000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sz="2000" i="1">
                <a:solidFill>
                  <a:schemeClr val="hlink"/>
                </a:solidFill>
              </a:rPr>
              <a:t>kx = </a:t>
            </a:r>
            <a:r>
              <a:rPr lang="en-US" sz="2000">
                <a:solidFill>
                  <a:schemeClr val="hlink"/>
                </a:solidFill>
              </a:rPr>
              <a:t>1800( 0.265 – 0.250 ) = 27 N.</a:t>
            </a:r>
          </a:p>
        </p:txBody>
      </p:sp>
      <p:sp>
        <p:nvSpPr>
          <p:cNvPr id="90122" name="Text Box 10"/>
          <p:cNvSpPr txBox="1">
            <a:spLocks noChangeArrowheads="1"/>
          </p:cNvSpPr>
          <p:nvPr/>
        </p:nvSpPr>
        <p:spPr bwMode="auto">
          <a:xfrm>
            <a:off x="1374775" y="5932488"/>
            <a:ext cx="72294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sz="2000" i="1">
                <a:solidFill>
                  <a:schemeClr val="hlink"/>
                </a:solidFill>
                <a:sym typeface="Symbol" pitchFamily="18" charset="2"/>
              </a:rPr>
              <a:t>F</a:t>
            </a:r>
            <a:r>
              <a:rPr lang="en-US" sz="2000" baseline="-25000">
                <a:solidFill>
                  <a:schemeClr val="hlink"/>
                </a:solidFill>
                <a:sym typeface="Symbol" pitchFamily="18" charset="2"/>
              </a:rPr>
              <a:t>C</a:t>
            </a:r>
            <a:r>
              <a:rPr lang="en-US" sz="2000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sz="2000" i="1">
                <a:solidFill>
                  <a:schemeClr val="hlink"/>
                </a:solidFill>
              </a:rPr>
              <a:t>v</a:t>
            </a:r>
            <a:r>
              <a:rPr lang="en-US" sz="2000" baseline="30000">
                <a:solidFill>
                  <a:schemeClr val="hlink"/>
                </a:solidFill>
              </a:rPr>
              <a:t> 2</a:t>
            </a:r>
            <a:r>
              <a:rPr lang="en-US" sz="2000" i="1">
                <a:solidFill>
                  <a:schemeClr val="hlink"/>
                </a:solidFill>
              </a:rPr>
              <a:t>/ r </a:t>
            </a:r>
            <a:r>
              <a:rPr lang="en-US" sz="2000">
                <a:solidFill>
                  <a:schemeClr val="hlink"/>
                </a:solidFill>
                <a:sym typeface="Symbol" pitchFamily="18" charset="2"/>
              </a:rPr>
              <a:t></a:t>
            </a:r>
            <a:r>
              <a:rPr lang="en-US" sz="2000" i="1">
                <a:solidFill>
                  <a:schemeClr val="hlink"/>
                </a:solidFill>
              </a:rPr>
              <a:t> v</a:t>
            </a:r>
            <a:r>
              <a:rPr lang="en-US" sz="2000" baseline="30000">
                <a:solidFill>
                  <a:schemeClr val="hlink"/>
                </a:solidFill>
              </a:rPr>
              <a:t> 2</a:t>
            </a:r>
            <a:r>
              <a:rPr lang="en-US" sz="2000">
                <a:solidFill>
                  <a:schemeClr val="hlink"/>
                </a:solidFill>
              </a:rPr>
              <a:t> = </a:t>
            </a:r>
            <a:r>
              <a:rPr lang="en-US" sz="2000" i="1">
                <a:solidFill>
                  <a:schemeClr val="hlink"/>
                </a:solidFill>
              </a:rPr>
              <a:t>r F</a:t>
            </a:r>
            <a:r>
              <a:rPr lang="en-US" sz="2000" baseline="-25000">
                <a:solidFill>
                  <a:schemeClr val="hlink"/>
                </a:solidFill>
              </a:rPr>
              <a:t>C</a:t>
            </a:r>
            <a:r>
              <a:rPr lang="en-US" sz="2000">
                <a:solidFill>
                  <a:schemeClr val="hlink"/>
                </a:solidFill>
              </a:rPr>
              <a:t> = 0.265(27) = 7.155</a:t>
            </a:r>
            <a:endParaRPr lang="en-US" sz="2000" i="1">
              <a:solidFill>
                <a:schemeClr val="hlink"/>
              </a:solidFill>
            </a:endParaRPr>
          </a:p>
        </p:txBody>
      </p:sp>
      <p:sp>
        <p:nvSpPr>
          <p:cNvPr id="90123" name="Text Box 11"/>
          <p:cNvSpPr txBox="1">
            <a:spLocks noChangeArrowheads="1"/>
          </p:cNvSpPr>
          <p:nvPr/>
        </p:nvSpPr>
        <p:spPr bwMode="auto">
          <a:xfrm>
            <a:off x="1384300" y="6235700"/>
            <a:ext cx="72294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sz="2000" i="1">
                <a:solidFill>
                  <a:schemeClr val="hlink"/>
                </a:solidFill>
              </a:rPr>
              <a:t>v</a:t>
            </a:r>
            <a:r>
              <a:rPr lang="en-US" sz="2000" baseline="30000">
                <a:solidFill>
                  <a:schemeClr val="hlink"/>
                </a:solidFill>
              </a:rPr>
              <a:t> </a:t>
            </a:r>
            <a:r>
              <a:rPr lang="en-US" sz="2000">
                <a:solidFill>
                  <a:schemeClr val="hlink"/>
                </a:solidFill>
              </a:rPr>
              <a:t>= 2.7 ms</a:t>
            </a:r>
            <a:r>
              <a:rPr lang="en-US" sz="2000" baseline="30000">
                <a:solidFill>
                  <a:schemeClr val="hlink"/>
                </a:solidFill>
              </a:rPr>
              <a:t>-1</a:t>
            </a:r>
            <a:r>
              <a:rPr lang="en-US" sz="2000">
                <a:solidFill>
                  <a:schemeClr val="hlink"/>
                </a:solidFill>
              </a:rPr>
              <a:t>.</a:t>
            </a:r>
            <a:endParaRPr lang="en-US" sz="2000" i="1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0" grpId="0"/>
      <p:bldP spid="90121" grpId="0"/>
      <p:bldP spid="90122" grpId="0"/>
      <p:bldP spid="9012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ChangeArrowheads="1"/>
          </p:cNvSpPr>
          <p:nvPr/>
        </p:nvSpPr>
        <p:spPr bwMode="auto"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sz="2000">
              <a:latin typeface="Courier New" pitchFamily="49" charset="0"/>
            </a:endParaRP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685800" y="2011363"/>
            <a:ext cx="7772400" cy="484663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  <a:sym typeface="Symbol" pitchFamily="18" charset="2"/>
            </a:endParaRPr>
          </a:p>
        </p:txBody>
      </p:sp>
      <p:pic>
        <p:nvPicPr>
          <p:cNvPr id="92169" name="Picture 9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213" y="2024063"/>
            <a:ext cx="7785100" cy="3941762"/>
          </a:xfrm>
          <a:prstGeom prst="rect">
            <a:avLst/>
          </a:prstGeom>
          <a:noFill/>
        </p:spPr>
      </p:pic>
      <p:pic>
        <p:nvPicPr>
          <p:cNvPr id="92170" name="Picture 10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5325" y="4822825"/>
            <a:ext cx="5113338" cy="2038350"/>
          </a:xfrm>
          <a:prstGeom prst="rect">
            <a:avLst/>
          </a:prstGeom>
          <a:noFill/>
        </p:spPr>
      </p:pic>
      <p:sp>
        <p:nvSpPr>
          <p:cNvPr id="92171" name="Text Box 11"/>
          <p:cNvSpPr txBox="1">
            <a:spLocks noChangeArrowheads="1"/>
          </p:cNvSpPr>
          <p:nvPr/>
        </p:nvSpPr>
        <p:spPr bwMode="auto">
          <a:xfrm>
            <a:off x="4643438" y="874713"/>
            <a:ext cx="37766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FF3300"/>
                </a:solidFill>
                <a:sym typeface="Symbol" pitchFamily="18" charset="2"/>
              </a:rPr>
              <a:t></a:t>
            </a:r>
            <a:r>
              <a:rPr lang="en-US" sz="2000">
                <a:solidFill>
                  <a:srgbClr val="FF3300"/>
                </a:solidFill>
              </a:rPr>
              <a:t>Use</a:t>
            </a:r>
            <a:r>
              <a:rPr lang="en-US" sz="2000" i="1">
                <a:solidFill>
                  <a:srgbClr val="FF3300"/>
                </a:solidFill>
              </a:rPr>
              <a:t> v</a:t>
            </a:r>
            <a:r>
              <a:rPr lang="en-US" sz="2000">
                <a:solidFill>
                  <a:srgbClr val="FF3300"/>
                </a:solidFill>
              </a:rPr>
              <a:t> = </a:t>
            </a:r>
            <a:r>
              <a:rPr lang="en-US" sz="2000" i="1">
                <a:solidFill>
                  <a:srgbClr val="FF3300"/>
                </a:solidFill>
              </a:rPr>
              <a:t>r</a:t>
            </a:r>
            <a:r>
              <a:rPr lang="en-US" sz="2000" i="1">
                <a:solidFill>
                  <a:srgbClr val="FF3300"/>
                </a:solidFill>
                <a:sym typeface="Symbol" pitchFamily="18" charset="2"/>
              </a:rPr>
              <a:t></a:t>
            </a:r>
            <a:r>
              <a:rPr lang="en-US" sz="2000">
                <a:solidFill>
                  <a:srgbClr val="FF3300"/>
                </a:solidFill>
                <a:sym typeface="Symbol" pitchFamily="18" charset="2"/>
              </a:rPr>
              <a:t>   ( = CONST).</a:t>
            </a:r>
          </a:p>
        </p:txBody>
      </p:sp>
      <p:sp>
        <p:nvSpPr>
          <p:cNvPr id="92172" name="Text Box 12"/>
          <p:cNvSpPr txBox="1">
            <a:spLocks noChangeArrowheads="1"/>
          </p:cNvSpPr>
          <p:nvPr/>
        </p:nvSpPr>
        <p:spPr bwMode="auto">
          <a:xfrm>
            <a:off x="4638675" y="1187450"/>
            <a:ext cx="37766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FF3300"/>
                </a:solidFill>
                <a:sym typeface="Symbol" pitchFamily="18" charset="2"/>
              </a:rPr>
              <a:t></a:t>
            </a:r>
            <a:r>
              <a:rPr lang="en-US" sz="2000">
                <a:solidFill>
                  <a:srgbClr val="FF3300"/>
                </a:solidFill>
              </a:rPr>
              <a:t>Use</a:t>
            </a:r>
            <a:r>
              <a:rPr lang="en-US" sz="2000" i="1">
                <a:solidFill>
                  <a:srgbClr val="FF3300"/>
                </a:solidFill>
              </a:rPr>
              <a:t> a</a:t>
            </a:r>
            <a:r>
              <a:rPr lang="en-US" sz="2000">
                <a:solidFill>
                  <a:srgbClr val="FF3300"/>
                </a:solidFill>
              </a:rPr>
              <a:t> = </a:t>
            </a:r>
            <a:r>
              <a:rPr lang="en-US" sz="2000" i="1">
                <a:solidFill>
                  <a:srgbClr val="FF3300"/>
                </a:solidFill>
              </a:rPr>
              <a:t>r</a:t>
            </a:r>
            <a:r>
              <a:rPr lang="en-US" sz="2000" i="1">
                <a:solidFill>
                  <a:srgbClr val="FF3300"/>
                </a:solidFill>
                <a:sym typeface="Symbol" pitchFamily="18" charset="2"/>
              </a:rPr>
              <a:t></a:t>
            </a:r>
            <a:r>
              <a:rPr lang="en-US" sz="2000">
                <a:solidFill>
                  <a:srgbClr val="FF3300"/>
                </a:solidFill>
                <a:sym typeface="Symbol" pitchFamily="18" charset="2"/>
              </a:rPr>
              <a:t></a:t>
            </a:r>
            <a:r>
              <a:rPr lang="en-US" sz="2000" baseline="30000">
                <a:solidFill>
                  <a:srgbClr val="FF3300"/>
                </a:solidFill>
                <a:sym typeface="Symbol" pitchFamily="18" charset="2"/>
              </a:rPr>
              <a:t> 2</a:t>
            </a:r>
            <a:r>
              <a:rPr lang="en-US" sz="2000">
                <a:solidFill>
                  <a:srgbClr val="FF3300"/>
                </a:solidFill>
                <a:sym typeface="Symbol" pitchFamily="18" charset="2"/>
              </a:rPr>
              <a:t> ( = CONST).</a:t>
            </a:r>
          </a:p>
        </p:txBody>
      </p:sp>
      <p:sp>
        <p:nvSpPr>
          <p:cNvPr id="92173" name="Text Box 13"/>
          <p:cNvSpPr txBox="1">
            <a:spLocks noChangeArrowheads="1"/>
          </p:cNvSpPr>
          <p:nvPr/>
        </p:nvSpPr>
        <p:spPr bwMode="auto">
          <a:xfrm>
            <a:off x="5559425" y="5546725"/>
            <a:ext cx="149066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2000">
                <a:solidFill>
                  <a:srgbClr val="FF3300"/>
                </a:solidFill>
                <a:sym typeface="Symbol" pitchFamily="18" charset="2"/>
              </a:rPr>
              <a:t></a:t>
            </a:r>
            <a:r>
              <a:rPr lang="en-US" sz="2000">
                <a:solidFill>
                  <a:srgbClr val="FF3300"/>
                </a:solidFill>
              </a:rPr>
              <a:t>At </a:t>
            </a:r>
            <a:r>
              <a:rPr lang="en-US" sz="2000" i="1">
                <a:solidFill>
                  <a:srgbClr val="FF3300"/>
                </a:solidFill>
              </a:rPr>
              <a:t>P</a:t>
            </a:r>
          </a:p>
          <a:p>
            <a:pPr algn="r"/>
            <a:r>
              <a:rPr lang="en-US" sz="2000" i="1">
                <a:solidFill>
                  <a:srgbClr val="FF3300"/>
                </a:solidFill>
              </a:rPr>
              <a:t>r</a:t>
            </a:r>
            <a:r>
              <a:rPr lang="en-US" sz="2000">
                <a:solidFill>
                  <a:srgbClr val="FF3300"/>
                </a:solidFill>
              </a:rPr>
              <a:t> = </a:t>
            </a:r>
            <a:r>
              <a:rPr lang="en-US" sz="2000" i="1">
                <a:solidFill>
                  <a:srgbClr val="FF3300"/>
                </a:solidFill>
              </a:rPr>
              <a:t>R </a:t>
            </a:r>
          </a:p>
          <a:p>
            <a:pPr algn="r"/>
            <a:r>
              <a:rPr lang="en-US" sz="2000" i="1">
                <a:solidFill>
                  <a:srgbClr val="FF3300"/>
                </a:solidFill>
              </a:rPr>
              <a:t>v</a:t>
            </a:r>
            <a:r>
              <a:rPr lang="en-US" sz="2000">
                <a:solidFill>
                  <a:srgbClr val="FF3300"/>
                </a:solidFill>
              </a:rPr>
              <a:t> = </a:t>
            </a:r>
            <a:r>
              <a:rPr lang="en-US" sz="2000" i="1">
                <a:solidFill>
                  <a:srgbClr val="FF3300"/>
                </a:solidFill>
              </a:rPr>
              <a:t>R</a:t>
            </a:r>
            <a:r>
              <a:rPr lang="en-US" sz="2000">
                <a:solidFill>
                  <a:srgbClr val="FF3300"/>
                </a:solidFill>
                <a:sym typeface="Symbol" pitchFamily="18" charset="2"/>
              </a:rPr>
              <a:t></a:t>
            </a:r>
            <a:r>
              <a:rPr lang="en-US" sz="2000" i="1">
                <a:solidFill>
                  <a:srgbClr val="FF3300"/>
                </a:solidFill>
              </a:rPr>
              <a:t> </a:t>
            </a:r>
          </a:p>
          <a:p>
            <a:pPr algn="r"/>
            <a:r>
              <a:rPr lang="en-US" sz="2000" i="1">
                <a:solidFill>
                  <a:srgbClr val="FF3300"/>
                </a:solidFill>
              </a:rPr>
              <a:t>a </a:t>
            </a:r>
            <a:r>
              <a:rPr lang="en-US" sz="2000">
                <a:solidFill>
                  <a:srgbClr val="FF3300"/>
                </a:solidFill>
              </a:rPr>
              <a:t>= </a:t>
            </a:r>
            <a:r>
              <a:rPr lang="en-US" sz="2000" i="1">
                <a:solidFill>
                  <a:srgbClr val="FF3300"/>
                </a:solidFill>
              </a:rPr>
              <a:t>R </a:t>
            </a:r>
            <a:r>
              <a:rPr lang="en-US" sz="2000">
                <a:solidFill>
                  <a:srgbClr val="FF3300"/>
                </a:solidFill>
                <a:sym typeface="Symbol" pitchFamily="18" charset="2"/>
              </a:rPr>
              <a:t></a:t>
            </a:r>
            <a:r>
              <a:rPr lang="en-US" sz="2000" baseline="30000">
                <a:solidFill>
                  <a:srgbClr val="FF3300"/>
                </a:solidFill>
                <a:sym typeface="Symbol" pitchFamily="18" charset="2"/>
              </a:rPr>
              <a:t> 2</a:t>
            </a:r>
            <a:endParaRPr lang="en-US" sz="2000" baseline="30000">
              <a:solidFill>
                <a:srgbClr val="FF3300"/>
              </a:solidFill>
            </a:endParaRPr>
          </a:p>
        </p:txBody>
      </p:sp>
      <p:sp>
        <p:nvSpPr>
          <p:cNvPr id="92174" name="Text Box 14"/>
          <p:cNvSpPr txBox="1">
            <a:spLocks noChangeArrowheads="1"/>
          </p:cNvSpPr>
          <p:nvPr/>
        </p:nvSpPr>
        <p:spPr bwMode="auto">
          <a:xfrm>
            <a:off x="7194550" y="5546725"/>
            <a:ext cx="21272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chemeClr val="hlink"/>
                </a:solidFill>
                <a:sym typeface="Symbol" pitchFamily="18" charset="2"/>
              </a:rPr>
              <a:t>    </a:t>
            </a:r>
            <a:r>
              <a:rPr lang="en-US" sz="2000">
                <a:solidFill>
                  <a:schemeClr val="hlink"/>
                </a:solidFill>
              </a:rPr>
              <a:t>At</a:t>
            </a:r>
            <a:r>
              <a:rPr lang="en-US" sz="2000" i="1">
                <a:solidFill>
                  <a:schemeClr val="hlink"/>
                </a:solidFill>
              </a:rPr>
              <a:t> Q</a:t>
            </a:r>
          </a:p>
          <a:p>
            <a:r>
              <a:rPr lang="en-US" sz="2000" i="1">
                <a:solidFill>
                  <a:schemeClr val="hlink"/>
                </a:solidFill>
              </a:rPr>
              <a:t>r</a:t>
            </a:r>
            <a:r>
              <a:rPr lang="en-US" sz="2000">
                <a:solidFill>
                  <a:schemeClr val="hlink"/>
                </a:solidFill>
              </a:rPr>
              <a:t> = 2</a:t>
            </a:r>
            <a:r>
              <a:rPr lang="en-US" sz="2000" i="1">
                <a:solidFill>
                  <a:schemeClr val="hlink"/>
                </a:solidFill>
              </a:rPr>
              <a:t>R</a:t>
            </a:r>
          </a:p>
          <a:p>
            <a:r>
              <a:rPr lang="en-US" sz="2000" i="1">
                <a:solidFill>
                  <a:schemeClr val="hlink"/>
                </a:solidFill>
              </a:rPr>
              <a:t>v </a:t>
            </a:r>
            <a:r>
              <a:rPr lang="en-US" sz="2000">
                <a:solidFill>
                  <a:schemeClr val="hlink"/>
                </a:solidFill>
              </a:rPr>
              <a:t>= 2</a:t>
            </a:r>
            <a:r>
              <a:rPr lang="en-US" sz="2000" i="1">
                <a:solidFill>
                  <a:schemeClr val="hlink"/>
                </a:solidFill>
              </a:rPr>
              <a:t>R</a:t>
            </a:r>
            <a:r>
              <a:rPr lang="en-US" sz="2000">
                <a:solidFill>
                  <a:schemeClr val="hlink"/>
                </a:solidFill>
                <a:sym typeface="Symbol" pitchFamily="18" charset="2"/>
              </a:rPr>
              <a:t> = 2</a:t>
            </a:r>
            <a:r>
              <a:rPr lang="en-US" sz="2000" i="1">
                <a:solidFill>
                  <a:schemeClr val="hlink"/>
                </a:solidFill>
                <a:sym typeface="Symbol" pitchFamily="18" charset="2"/>
              </a:rPr>
              <a:t>v</a:t>
            </a:r>
            <a:endParaRPr lang="en-US" sz="2000" i="1">
              <a:solidFill>
                <a:schemeClr val="hlink"/>
              </a:solidFill>
            </a:endParaRPr>
          </a:p>
          <a:p>
            <a:r>
              <a:rPr lang="en-US" sz="2000" i="1">
                <a:solidFill>
                  <a:schemeClr val="hlink"/>
                </a:solidFill>
              </a:rPr>
              <a:t>a </a:t>
            </a:r>
            <a:r>
              <a:rPr lang="en-US" sz="2000">
                <a:solidFill>
                  <a:schemeClr val="hlink"/>
                </a:solidFill>
              </a:rPr>
              <a:t>= 2</a:t>
            </a:r>
            <a:r>
              <a:rPr lang="en-US" sz="2000" i="1">
                <a:solidFill>
                  <a:schemeClr val="hlink"/>
                </a:solidFill>
              </a:rPr>
              <a:t>R</a:t>
            </a:r>
            <a:r>
              <a:rPr lang="en-US" sz="2000">
                <a:solidFill>
                  <a:schemeClr val="hlink"/>
                </a:solidFill>
                <a:sym typeface="Symbol" pitchFamily="18" charset="2"/>
              </a:rPr>
              <a:t></a:t>
            </a:r>
            <a:r>
              <a:rPr lang="en-US" sz="2000" baseline="30000">
                <a:solidFill>
                  <a:schemeClr val="hlink"/>
                </a:solidFill>
                <a:sym typeface="Symbol" pitchFamily="18" charset="2"/>
              </a:rPr>
              <a:t> 2</a:t>
            </a:r>
            <a:r>
              <a:rPr lang="en-US" sz="2000">
                <a:solidFill>
                  <a:schemeClr val="hlink"/>
                </a:solidFill>
                <a:sym typeface="Symbol" pitchFamily="18" charset="2"/>
              </a:rPr>
              <a:t> = 2</a:t>
            </a:r>
            <a:r>
              <a:rPr lang="en-US" sz="2000" i="1">
                <a:solidFill>
                  <a:schemeClr val="hlink"/>
                </a:solidFill>
                <a:sym typeface="Symbol" pitchFamily="18" charset="2"/>
              </a:rPr>
              <a:t>a</a:t>
            </a:r>
            <a:endParaRPr lang="en-US" sz="2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92175" name="Oval 15"/>
          <p:cNvSpPr>
            <a:spLocks noChangeArrowheads="1"/>
          </p:cNvSpPr>
          <p:nvPr/>
        </p:nvSpPr>
        <p:spPr bwMode="auto">
          <a:xfrm>
            <a:off x="758825" y="6100763"/>
            <a:ext cx="385763" cy="3857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1" grpId="0"/>
      <p:bldP spid="92172" grpId="0"/>
      <p:bldP spid="92173" grpId="0"/>
      <p:bldP spid="92174" grpId="0"/>
      <p:bldP spid="9217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3"/>
          <p:cNvSpPr>
            <a:spLocks noChangeArrowheads="1"/>
          </p:cNvSpPr>
          <p:nvPr/>
        </p:nvSpPr>
        <p:spPr bwMode="auto"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</a:rPr>
              <a:t>Solving centripetal acceleration and force problems</a:t>
            </a:r>
            <a:endParaRPr lang="en-US" sz="2000">
              <a:latin typeface="Courier New" pitchFamily="49" charset="0"/>
            </a:endParaRP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685800" y="2011363"/>
            <a:ext cx="7772400" cy="484663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  <a:sym typeface="Symbol" pitchFamily="18" charset="2"/>
            </a:endParaRPr>
          </a:p>
        </p:txBody>
      </p:sp>
      <p:pic>
        <p:nvPicPr>
          <p:cNvPr id="94215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2012950"/>
            <a:ext cx="7772400" cy="4035425"/>
          </a:xfrm>
          <a:prstGeom prst="rect">
            <a:avLst/>
          </a:prstGeom>
          <a:noFill/>
        </p:spPr>
      </p:pic>
      <p:sp>
        <p:nvSpPr>
          <p:cNvPr id="94216" name="Text Box 8"/>
          <p:cNvSpPr txBox="1">
            <a:spLocks noChangeArrowheads="1"/>
          </p:cNvSpPr>
          <p:nvPr/>
        </p:nvSpPr>
        <p:spPr bwMode="auto">
          <a:xfrm>
            <a:off x="841375" y="6011863"/>
            <a:ext cx="75914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sz="2000">
                <a:solidFill>
                  <a:schemeClr val="hlink"/>
                </a:solidFill>
              </a:rPr>
              <a:t>Objects moving in uniform circular motion feel a centripetal (center-seeking) force.</a:t>
            </a:r>
            <a:endParaRPr lang="en-US" sz="2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94217" name="Oval 9"/>
          <p:cNvSpPr>
            <a:spLocks noChangeArrowheads="1"/>
          </p:cNvSpPr>
          <p:nvPr/>
        </p:nvSpPr>
        <p:spPr bwMode="auto">
          <a:xfrm>
            <a:off x="6534150" y="4138613"/>
            <a:ext cx="385763" cy="3857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6" grpId="0"/>
      <p:bldP spid="94217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3983</TotalTime>
  <Words>3279</Words>
  <Application>Microsoft Macintosh PowerPoint</Application>
  <PresentationFormat>On-screen Show (4:3)</PresentationFormat>
  <Paragraphs>401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Blackadder ITC</vt:lpstr>
      <vt:lpstr>Cambria Math</vt:lpstr>
      <vt:lpstr>Courier New</vt:lpstr>
      <vt:lpstr>Symbol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Bay View High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Motion Along a Straight Line Position, Displacement, Average Speed</dc:title>
  <dc:creator>Timothy K Lund</dc:creator>
  <cp:lastModifiedBy>Raymund Dimayuga</cp:lastModifiedBy>
  <cp:revision>280</cp:revision>
  <dcterms:created xsi:type="dcterms:W3CDTF">2006-01-31T23:43:34Z</dcterms:created>
  <dcterms:modified xsi:type="dcterms:W3CDTF">2025-10-22T04:54:06Z</dcterms:modified>
</cp:coreProperties>
</file>