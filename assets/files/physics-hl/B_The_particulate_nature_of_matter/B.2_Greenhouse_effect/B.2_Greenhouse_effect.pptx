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427" r:id="rId2"/>
    <p:sldId id="719" r:id="rId3"/>
    <p:sldId id="720" r:id="rId4"/>
    <p:sldId id="721" r:id="rId5"/>
    <p:sldId id="692" r:id="rId6"/>
    <p:sldId id="693" r:id="rId7"/>
    <p:sldId id="695" r:id="rId8"/>
    <p:sldId id="696" r:id="rId9"/>
    <p:sldId id="698" r:id="rId10"/>
    <p:sldId id="697" r:id="rId11"/>
    <p:sldId id="700" r:id="rId12"/>
    <p:sldId id="701" r:id="rId13"/>
    <p:sldId id="694" r:id="rId14"/>
    <p:sldId id="699" r:id="rId15"/>
    <p:sldId id="705" r:id="rId16"/>
    <p:sldId id="706" r:id="rId17"/>
    <p:sldId id="707" r:id="rId18"/>
    <p:sldId id="718" r:id="rId19"/>
    <p:sldId id="710" r:id="rId20"/>
    <p:sldId id="711" r:id="rId21"/>
    <p:sldId id="712" r:id="rId22"/>
    <p:sldId id="713" r:id="rId23"/>
    <p:sldId id="714" r:id="rId24"/>
    <p:sldId id="715" r:id="rId25"/>
    <p:sldId id="716" r:id="rId26"/>
    <p:sldId id="717" r:id="rId27"/>
    <p:sldId id="724" r:id="rId28"/>
    <p:sldId id="725" r:id="rId29"/>
    <p:sldId id="726" r:id="rId30"/>
    <p:sldId id="727" r:id="rId31"/>
    <p:sldId id="728" r:id="rId32"/>
    <p:sldId id="738" r:id="rId33"/>
    <p:sldId id="729" r:id="rId34"/>
    <p:sldId id="734" r:id="rId35"/>
    <p:sldId id="735" r:id="rId36"/>
    <p:sldId id="736" r:id="rId37"/>
    <p:sldId id="737" r:id="rId38"/>
    <p:sldId id="739" r:id="rId39"/>
    <p:sldId id="740" r:id="rId40"/>
    <p:sldId id="741" r:id="rId41"/>
    <p:sldId id="742" r:id="rId42"/>
    <p:sldId id="743" r:id="rId43"/>
    <p:sldId id="744" r:id="rId44"/>
    <p:sldId id="745" r:id="rId45"/>
    <p:sldId id="746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CCFFCC"/>
    <a:srgbClr val="FF0000"/>
    <a:srgbClr val="00CC00"/>
    <a:srgbClr val="FF00FF"/>
    <a:srgbClr val="FFFF00"/>
    <a:srgbClr val="FF660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14"/>
    <p:restoredTop sz="94648"/>
  </p:normalViewPr>
  <p:slideViewPr>
    <p:cSldViewPr snapToGrid="0">
      <p:cViewPr>
        <p:scale>
          <a:sx n="87" d="100"/>
          <a:sy n="87" d="100"/>
        </p:scale>
        <p:origin x="1512" y="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4BFB85B-D293-4025-B41D-C8ABDD3A63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819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83CD68-58CD-4C64-BE53-24FE120EC27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77BBA04-10A5-4A57-A88C-590965906B47}" type="slidenum">
              <a:rPr lang="en-US" sz="1200">
                <a:latin typeface="Arial" charset="0"/>
              </a:rPr>
              <a:pPr algn="r"/>
              <a:t>3</a:t>
            </a:fld>
            <a:endParaRPr lang="en-US" sz="1200">
              <a:latin typeface="Arial" charset="0"/>
            </a:endParaRPr>
          </a:p>
        </p:txBody>
      </p:sp>
      <p:sp>
        <p:nvSpPr>
          <p:cNvPr id="343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AB8CE89-873E-4A37-85CF-A6524915700D}" type="slidenum">
              <a:rPr lang="en-US" sz="1200">
                <a:latin typeface="Arial" charset="0"/>
              </a:rPr>
              <a:pPr algn="r"/>
              <a:t>7</a:t>
            </a:fld>
            <a:endParaRPr lang="en-US" sz="1200">
              <a:latin typeface="Arial" charset="0"/>
            </a:endParaRPr>
          </a:p>
        </p:txBody>
      </p:sp>
      <p:sp>
        <p:nvSpPr>
          <p:cNvPr id="291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F088EB0-A5FA-489F-990D-BD667BCD8B9B}" type="slidenum">
              <a:rPr lang="en-US" sz="1200">
                <a:latin typeface="Arial" charset="0"/>
              </a:rPr>
              <a:pPr algn="r"/>
              <a:t>8</a:t>
            </a:fld>
            <a:endParaRPr lang="en-US" sz="1200">
              <a:latin typeface="Arial" charset="0"/>
            </a:endParaRPr>
          </a:p>
        </p:txBody>
      </p:sp>
      <p:sp>
        <p:nvSpPr>
          <p:cNvPr id="293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1772F2D-521E-4F49-BE4C-4AC97ACA26B6}" type="slidenum">
              <a:rPr lang="en-US" sz="1200">
                <a:latin typeface="Arial" charset="0"/>
              </a:rPr>
              <a:pPr algn="r"/>
              <a:t>9</a:t>
            </a:fld>
            <a:endParaRPr lang="en-US" sz="1200">
              <a:latin typeface="Arial" charset="0"/>
            </a:endParaRPr>
          </a:p>
        </p:txBody>
      </p:sp>
      <p:sp>
        <p:nvSpPr>
          <p:cNvPr id="297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88157D0-A1E8-4888-B517-46AC792F0010}" type="slidenum">
              <a:rPr lang="en-US" sz="1200">
                <a:latin typeface="Arial" charset="0"/>
              </a:rPr>
              <a:pPr algn="r"/>
              <a:t>10</a:t>
            </a:fld>
            <a:endParaRPr lang="en-US" sz="1200">
              <a:latin typeface="Arial" charset="0"/>
            </a:endParaRPr>
          </a:p>
        </p:txBody>
      </p:sp>
      <p:sp>
        <p:nvSpPr>
          <p:cNvPr id="295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35B3298-96EA-4997-8758-A086C9BEDC17}" type="slidenum">
              <a:rPr lang="en-US" sz="1200">
                <a:latin typeface="Arial" charset="0"/>
              </a:rPr>
              <a:pPr algn="r"/>
              <a:t>14</a:t>
            </a:fld>
            <a:endParaRPr lang="en-US" sz="1200">
              <a:latin typeface="Arial" charset="0"/>
            </a:endParaRPr>
          </a:p>
        </p:txBody>
      </p:sp>
      <p:sp>
        <p:nvSpPr>
          <p:cNvPr id="300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92C78-87B4-45A1-9D35-4FF252FB3D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4AFD3-EC5B-4FEA-9B36-2DF77E958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A15EB-3CF2-4069-B36C-024780528F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75003-4978-4FCE-90DB-11FF9E7F7F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ABA7FA-2BE3-4B4D-AF0F-25CCBD9C55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E70C9-D2A1-4948-B353-AD336E396A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17CF6-4025-4854-8316-D9DCEFBA9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0F5BFB-044A-46D1-B4DF-4D47AC4C85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1E0C6-81CB-49E3-9AED-4FEB943CE2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20371-D1D9-4D2B-96C4-B3BF85F0D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D8795-3676-4DEE-8829-96D6BDE0AB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447B1E26-5E72-4D32-9635-9129FFE9B4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sndAc>
      <p:stSnd>
        <p:snd r:embed="rId13" name="camera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hyperlink" Target="ftp://ftp.cmdl.noaa.gov/ccg/co2/trends/co2_mm_gl.txt" TargetMode="External"/><Relationship Id="rId4" Type="http://schemas.openxmlformats.org/officeDocument/2006/relationships/image" Target="../media/image14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audio" Target="../media/audio1.wav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1.wav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audio" Target="../media/audio1.wav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audio" Target="../media/audio1.wav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970E20-B1F5-B648-99DA-ACE39B28C4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32"/>
          <a:stretch/>
        </p:blipFill>
        <p:spPr>
          <a:xfrm>
            <a:off x="-1" y="0"/>
            <a:ext cx="9157864" cy="3696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38D5DF-FE73-5247-B0A9-91ABA218F3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1" b="-42"/>
          <a:stretch/>
        </p:blipFill>
        <p:spPr>
          <a:xfrm>
            <a:off x="0" y="369651"/>
            <a:ext cx="9157864" cy="6128425"/>
          </a:xfrm>
          <a:prstGeom prst="rect">
            <a:avLst/>
          </a:prstGeom>
        </p:spPr>
      </p:pic>
    </p:spTree>
  </p:cSld>
  <p:clrMapOvr>
    <a:masterClrMapping/>
  </p:clrMapOvr>
  <p:transition>
    <p:sndAc>
      <p:stSnd>
        <p:snd r:embed="rId3" name="camera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ChangeArrowheads="1"/>
          </p:cNvSpPr>
          <p:nvPr/>
        </p:nvSpPr>
        <p:spPr bwMode="auto">
          <a:xfrm>
            <a:off x="685800" y="1819275"/>
            <a:ext cx="7772400" cy="50387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>
                <a:latin typeface="Arial" charset="0"/>
              </a:rPr>
              <a:t>PRACTICE: The sun radiates energy at a rate of 3.90</a:t>
            </a:r>
            <a:r>
              <a:rPr lang="en-US" sz="2400">
                <a:latin typeface="Arial" charset="0"/>
                <a:sym typeface="Symbol" pitchFamily="18" charset="2"/>
              </a:rPr>
              <a:t>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26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W.  What is the rate at which energy from the sun reaches Earth if our orbital radius is </a:t>
            </a:r>
            <a:r>
              <a:rPr lang="en-US" sz="2400">
                <a:latin typeface="Arial" charset="0"/>
              </a:rPr>
              <a:t>1.5</a:t>
            </a:r>
            <a:r>
              <a:rPr lang="en-US" sz="2400">
                <a:latin typeface="Arial" charset="0"/>
                <a:sym typeface="Symbol" pitchFamily="18" charset="2"/>
              </a:rPr>
              <a:t>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11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m? </a:t>
            </a:r>
          </a:p>
          <a:p>
            <a:pPr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  </a:t>
            </a:r>
            <a:r>
              <a:rPr lang="en-US" sz="2400" i="1">
                <a:latin typeface="Arial" charset="0"/>
              </a:rPr>
              <a:t>A</a:t>
            </a:r>
            <a:r>
              <a:rPr lang="en-US" sz="2400" baseline="-25000">
                <a:latin typeface="Arial" charset="0"/>
              </a:rPr>
              <a:t>SPHERE</a:t>
            </a:r>
            <a:r>
              <a:rPr lang="en-US" sz="2400">
                <a:latin typeface="Arial" charset="0"/>
              </a:rPr>
              <a:t> = 4</a:t>
            </a:r>
            <a:r>
              <a:rPr lang="en-US" sz="2400">
                <a:latin typeface="Arial" charset="0"/>
                <a:sym typeface="Symbol" pitchFamily="18" charset="2"/>
              </a:rPr>
              <a:t></a:t>
            </a:r>
            <a:r>
              <a:rPr lang="en-US" sz="2400" i="1">
                <a:latin typeface="Arial" charset="0"/>
                <a:sym typeface="Symbol" pitchFamily="18" charset="2"/>
              </a:rPr>
              <a:t>r</a:t>
            </a:r>
            <a:r>
              <a:rPr lang="en-US" sz="2400" baseline="30000">
                <a:latin typeface="Arial" charset="0"/>
                <a:sym typeface="Symbol" pitchFamily="18" charset="2"/>
              </a:rPr>
              <a:t>2</a:t>
            </a:r>
            <a:r>
              <a:rPr lang="en-US" sz="2400">
                <a:latin typeface="Arial" charset="0"/>
                <a:sym typeface="Symbol" pitchFamily="18" charset="2"/>
              </a:rPr>
              <a:t>.</a:t>
            </a:r>
          </a:p>
          <a:p>
            <a:pPr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Recall that intensity is the rate at which energy is being gained per unit area.</a:t>
            </a:r>
            <a:r>
              <a:rPr lang="en-US" sz="2400" i="1">
                <a:latin typeface="Arial" charset="0"/>
                <a:sym typeface="Symbol" pitchFamily="18" charset="2"/>
              </a:rPr>
              <a:t> </a:t>
            </a:r>
            <a:endParaRPr lang="en-US" sz="2400">
              <a:latin typeface="Arial" charset="0"/>
              <a:sym typeface="Symbol" pitchFamily="18" charset="2"/>
            </a:endParaRPr>
          </a:p>
          <a:p>
            <a:pPr>
              <a:spcBef>
                <a:spcPct val="15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>
              <a:spcBef>
                <a:spcPct val="2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Then</a:t>
            </a:r>
            <a:r>
              <a:rPr lang="en-US" sz="2400" i="1">
                <a:latin typeface="Arial" charset="0"/>
                <a:sym typeface="Symbol" pitchFamily="18" charset="2"/>
              </a:rPr>
              <a:t> I</a:t>
            </a:r>
            <a:r>
              <a:rPr lang="en-US" sz="2400"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latin typeface="Arial" charset="0"/>
                <a:sym typeface="Symbol" pitchFamily="18" charset="2"/>
              </a:rPr>
              <a:t>P / </a:t>
            </a:r>
            <a:r>
              <a:rPr lang="en-US" sz="2400">
                <a:latin typeface="Arial" charset="0"/>
                <a:sym typeface="Symbol" pitchFamily="18" charset="2"/>
              </a:rPr>
              <a:t>[ </a:t>
            </a:r>
            <a:r>
              <a:rPr lang="en-US" sz="2400">
                <a:latin typeface="Arial" charset="0"/>
              </a:rPr>
              <a:t>4</a:t>
            </a:r>
            <a:r>
              <a:rPr lang="en-US" sz="2400">
                <a:latin typeface="Arial" charset="0"/>
                <a:sym typeface="Symbol" pitchFamily="18" charset="2"/>
              </a:rPr>
              <a:t></a:t>
            </a:r>
            <a:r>
              <a:rPr lang="en-US" sz="2400" i="1">
                <a:latin typeface="Arial" charset="0"/>
                <a:sym typeface="Symbol" pitchFamily="18" charset="2"/>
              </a:rPr>
              <a:t>r</a:t>
            </a:r>
            <a:r>
              <a:rPr lang="en-US" sz="2400" baseline="30000">
                <a:latin typeface="Arial" charset="0"/>
                <a:sym typeface="Symbol" pitchFamily="18" charset="2"/>
              </a:rPr>
              <a:t>2 </a:t>
            </a:r>
            <a:r>
              <a:rPr lang="en-US" sz="2400">
                <a:latin typeface="Arial" charset="0"/>
                <a:sym typeface="Symbol" pitchFamily="18" charset="2"/>
              </a:rPr>
              <a:t>] </a:t>
            </a:r>
          </a:p>
          <a:p>
            <a:pPr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             = </a:t>
            </a:r>
            <a:r>
              <a:rPr lang="en-US" sz="2400">
                <a:latin typeface="Arial" charset="0"/>
              </a:rPr>
              <a:t>3.90</a:t>
            </a:r>
            <a:r>
              <a:rPr lang="en-US" sz="2400">
                <a:latin typeface="Arial" charset="0"/>
                <a:sym typeface="Symbol" pitchFamily="18" charset="2"/>
              </a:rPr>
              <a:t>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26 </a:t>
            </a:r>
            <a:r>
              <a:rPr lang="en-US" sz="2400" i="1">
                <a:latin typeface="Arial" charset="0"/>
                <a:sym typeface="Symbol" pitchFamily="18" charset="2"/>
              </a:rPr>
              <a:t>/</a:t>
            </a:r>
            <a:r>
              <a:rPr lang="en-US" sz="2400">
                <a:latin typeface="Arial" charset="0"/>
                <a:sym typeface="Symbol" pitchFamily="18" charset="2"/>
              </a:rPr>
              <a:t> [ </a:t>
            </a:r>
            <a:r>
              <a:rPr lang="en-US" sz="2400">
                <a:latin typeface="Arial" charset="0"/>
              </a:rPr>
              <a:t>4</a:t>
            </a:r>
            <a:r>
              <a:rPr lang="en-US" sz="2400">
                <a:latin typeface="Arial" charset="0"/>
                <a:sym typeface="Symbol" pitchFamily="18" charset="2"/>
              </a:rPr>
              <a:t>(</a:t>
            </a:r>
            <a:r>
              <a:rPr lang="en-US" sz="2400">
                <a:latin typeface="Arial" charset="0"/>
              </a:rPr>
              <a:t>1.5</a:t>
            </a:r>
            <a:r>
              <a:rPr lang="en-US" sz="2400">
                <a:latin typeface="Arial" charset="0"/>
                <a:sym typeface="Symbol" pitchFamily="18" charset="2"/>
              </a:rPr>
              <a:t>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11</a:t>
            </a:r>
            <a:r>
              <a:rPr lang="en-US" sz="2400">
                <a:latin typeface="Arial" charset="0"/>
                <a:sym typeface="Symbol" pitchFamily="18" charset="2"/>
              </a:rPr>
              <a:t>)</a:t>
            </a:r>
            <a:r>
              <a:rPr lang="en-US" sz="2400" baseline="30000">
                <a:latin typeface="Arial" charset="0"/>
                <a:sym typeface="Symbol" pitchFamily="18" charset="2"/>
              </a:rPr>
              <a:t>2 </a:t>
            </a:r>
            <a:r>
              <a:rPr lang="en-US" sz="2400">
                <a:latin typeface="Arial" charset="0"/>
                <a:sym typeface="Symbol" pitchFamily="18" charset="2"/>
              </a:rPr>
              <a:t>]</a:t>
            </a:r>
          </a:p>
          <a:p>
            <a:pPr>
              <a:spcBef>
                <a:spcPct val="15000"/>
              </a:spcBef>
            </a:pPr>
            <a:r>
              <a:rPr lang="en-US" sz="2400" i="1">
                <a:latin typeface="Arial" charset="0"/>
                <a:sym typeface="Symbol" pitchFamily="18" charset="2"/>
              </a:rPr>
              <a:t>             </a:t>
            </a:r>
            <a:r>
              <a:rPr lang="en-US" sz="2400">
                <a:latin typeface="Arial" charset="0"/>
                <a:sym typeface="Symbol" pitchFamily="18" charset="2"/>
              </a:rPr>
              <a:t>= 1380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.</a:t>
            </a:r>
          </a:p>
          <a:p>
            <a:pPr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This value is called the </a:t>
            </a:r>
            <a:r>
              <a:rPr lang="en-US" sz="2400" b="1">
                <a:latin typeface="Arial" charset="0"/>
                <a:sym typeface="Symbol" pitchFamily="18" charset="2"/>
              </a:rPr>
              <a:t>solar constant</a:t>
            </a:r>
            <a:r>
              <a:rPr lang="en-US" sz="2400">
                <a:latin typeface="Arial" charset="0"/>
                <a:sym typeface="Symbol" pitchFamily="18" charset="2"/>
              </a:rPr>
              <a:t>.</a:t>
            </a:r>
          </a:p>
        </p:txBody>
      </p:sp>
      <p:sp>
        <p:nvSpPr>
          <p:cNvPr id="339971" name="Rectangle 3"/>
          <p:cNvSpPr>
            <a:spLocks noChangeArrowheads="1"/>
          </p:cNvSpPr>
          <p:nvPr/>
        </p:nvSpPr>
        <p:spPr bwMode="auto">
          <a:xfrm>
            <a:off x="6783388" y="4786313"/>
            <a:ext cx="2360612" cy="20716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3997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34388" y="5972175"/>
            <a:ext cx="709612" cy="698500"/>
          </a:xfrm>
          <a:prstGeom prst="rect">
            <a:avLst/>
          </a:prstGeom>
          <a:noFill/>
        </p:spPr>
      </p:pic>
      <p:sp>
        <p:nvSpPr>
          <p:cNvPr id="339974" name="Oval 6"/>
          <p:cNvSpPr>
            <a:spLocks noChangeArrowheads="1"/>
          </p:cNvSpPr>
          <p:nvPr/>
        </p:nvSpPr>
        <p:spPr bwMode="auto">
          <a:xfrm>
            <a:off x="8461375" y="5980113"/>
            <a:ext cx="682625" cy="649287"/>
          </a:xfrm>
          <a:prstGeom prst="ellipse">
            <a:avLst/>
          </a:prstGeom>
          <a:gradFill rotWithShape="1">
            <a:gsLst>
              <a:gs pos="0">
                <a:srgbClr val="FFFF00">
                  <a:alpha val="17999"/>
                </a:srgbClr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39975" name="Picture 7" descr="Earth view-white background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27900" y="6089650"/>
            <a:ext cx="249238" cy="241300"/>
          </a:xfrm>
          <a:prstGeom prst="rect">
            <a:avLst/>
          </a:prstGeom>
          <a:noFill/>
        </p:spPr>
      </p:pic>
      <p:sp>
        <p:nvSpPr>
          <p:cNvPr id="339976" name="Rectangle 8"/>
          <p:cNvSpPr>
            <a:spLocks noChangeArrowheads="1"/>
          </p:cNvSpPr>
          <p:nvPr/>
        </p:nvSpPr>
        <p:spPr bwMode="auto">
          <a:xfrm>
            <a:off x="685800" y="1401763"/>
            <a:ext cx="7772400" cy="4524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The solar constant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47725" y="4217988"/>
            <a:ext cx="7464425" cy="457200"/>
            <a:chOff x="510" y="2848"/>
            <a:chExt cx="4702" cy="288"/>
          </a:xfrm>
        </p:grpSpPr>
        <p:sp>
          <p:nvSpPr>
            <p:cNvPr id="339978" name="Rectangle 6"/>
            <p:cNvSpPr>
              <a:spLocks noChangeArrowheads="1"/>
            </p:cNvSpPr>
            <p:nvPr/>
          </p:nvSpPr>
          <p:spPr bwMode="auto">
            <a:xfrm>
              <a:off x="592" y="2861"/>
              <a:ext cx="371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sz="2400" i="1">
                  <a:solidFill>
                    <a:schemeClr val="accent2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intensity</a:t>
              </a:r>
              <a:r>
                <a:rPr lang="en-US" sz="2400">
                  <a:solidFill>
                    <a:schemeClr val="accent2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 = </a:t>
              </a:r>
              <a:r>
                <a:rPr lang="en-US" sz="2400" i="1">
                  <a:solidFill>
                    <a:schemeClr val="accent2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power</a:t>
              </a:r>
              <a:r>
                <a:rPr lang="en-US" sz="2400">
                  <a:solidFill>
                    <a:schemeClr val="accent2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en-US" sz="2400" i="1">
                  <a:solidFill>
                    <a:schemeClr val="accent2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/ A</a:t>
              </a:r>
              <a:endParaRPr lang="en-US" sz="2400" i="1" baseline="30000">
                <a:solidFill>
                  <a:schemeClr val="accent2"/>
                </a:solidFill>
                <a:latin typeface="Arial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339979" name="Text Box 7"/>
            <p:cNvSpPr txBox="1">
              <a:spLocks noChangeArrowheads="1"/>
            </p:cNvSpPr>
            <p:nvPr/>
          </p:nvSpPr>
          <p:spPr bwMode="auto">
            <a:xfrm>
              <a:off x="4050" y="2848"/>
              <a:ext cx="1162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bg1"/>
                  </a:solidFill>
                  <a:latin typeface="Arial" charset="0"/>
                </a:rPr>
                <a:t>intensity</a:t>
              </a:r>
            </a:p>
          </p:txBody>
        </p:sp>
        <p:sp>
          <p:nvSpPr>
            <p:cNvPr id="339980" name="Rectangle 8"/>
            <p:cNvSpPr>
              <a:spLocks noChangeArrowheads="1"/>
            </p:cNvSpPr>
            <p:nvPr/>
          </p:nvSpPr>
          <p:spPr bwMode="auto">
            <a:xfrm>
              <a:off x="510" y="2850"/>
              <a:ext cx="4701" cy="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9981" name="Group 13"/>
          <p:cNvGrpSpPr>
            <a:grpSpLocks/>
          </p:cNvGrpSpPr>
          <p:nvPr/>
        </p:nvGrpSpPr>
        <p:grpSpPr bwMode="auto">
          <a:xfrm>
            <a:off x="835025" y="6296025"/>
            <a:ext cx="5784850" cy="474663"/>
            <a:chOff x="526" y="3934"/>
            <a:chExt cx="3644" cy="299"/>
          </a:xfrm>
        </p:grpSpPr>
        <p:sp>
          <p:nvSpPr>
            <p:cNvPr id="339982" name="Rectangle 15"/>
            <p:cNvSpPr>
              <a:spLocks noChangeArrowheads="1"/>
            </p:cNvSpPr>
            <p:nvPr/>
          </p:nvSpPr>
          <p:spPr bwMode="auto">
            <a:xfrm>
              <a:off x="560" y="3934"/>
              <a:ext cx="311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sz="2400" i="1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P</a:t>
              </a:r>
              <a:r>
                <a:rPr lang="en-US" sz="2400" baseline="-25000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sun</a:t>
              </a:r>
              <a:r>
                <a:rPr lang="en-US" sz="2400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 = 1380 W m</a:t>
              </a:r>
              <a:r>
                <a:rPr lang="en-US" sz="2400" baseline="30000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-2</a:t>
              </a:r>
              <a:endParaRPr lang="en-US" sz="2400">
                <a:latin typeface="Arial" charset="0"/>
                <a:sym typeface="Symbol" pitchFamily="18" charset="2"/>
              </a:endParaRPr>
            </a:p>
          </p:txBody>
        </p:sp>
        <p:sp>
          <p:nvSpPr>
            <p:cNvPr id="339983" name="Text Box 16"/>
            <p:cNvSpPr txBox="1">
              <a:spLocks noChangeArrowheads="1"/>
            </p:cNvSpPr>
            <p:nvPr/>
          </p:nvSpPr>
          <p:spPr bwMode="auto">
            <a:xfrm>
              <a:off x="2407" y="3945"/>
              <a:ext cx="1760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bg1"/>
                  </a:solidFill>
                  <a:latin typeface="Arial" charset="0"/>
                </a:rPr>
                <a:t>the solar constant</a:t>
              </a:r>
            </a:p>
          </p:txBody>
        </p:sp>
        <p:sp>
          <p:nvSpPr>
            <p:cNvPr id="339984" name="Rectangle 17"/>
            <p:cNvSpPr>
              <a:spLocks noChangeArrowheads="1"/>
            </p:cNvSpPr>
            <p:nvPr/>
          </p:nvSpPr>
          <p:spPr bwMode="auto">
            <a:xfrm>
              <a:off x="526" y="3947"/>
              <a:ext cx="3644" cy="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9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9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9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9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9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9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3000" fill="hold"/>
                                        <p:tgtEl>
                                          <p:spTgt spid="339974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9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9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9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9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9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9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9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9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39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9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9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39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1" grpId="0" animBg="1"/>
      <p:bldP spid="339974" grpId="0" animBg="1"/>
      <p:bldP spid="33997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7" name="Rectangle 3"/>
          <p:cNvSpPr>
            <a:spLocks noChangeArrowheads="1"/>
          </p:cNvSpPr>
          <p:nvPr/>
        </p:nvSpPr>
        <p:spPr bwMode="auto">
          <a:xfrm>
            <a:off x="685800" y="1849438"/>
            <a:ext cx="7772400" cy="50085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sz="2400">
                <a:latin typeface="Arial" charset="0"/>
              </a:rPr>
              <a:t>PRACTICE: </a:t>
            </a:r>
          </a:p>
          <a:p>
            <a:pPr>
              <a:spcBef>
                <a:spcPct val="15000"/>
              </a:spcBef>
            </a:pPr>
            <a:r>
              <a:rPr lang="en-US" sz="2400">
                <a:latin typeface="Arial" charset="0"/>
              </a:rPr>
              <a:t>Explain why the solar intensity is different for different latitudes.</a:t>
            </a:r>
            <a:r>
              <a:rPr lang="en-US" sz="2400">
                <a:latin typeface="Arial" charset="0"/>
                <a:sym typeface="Symbol" pitchFamily="18" charset="2"/>
              </a:rPr>
              <a:t> </a:t>
            </a:r>
          </a:p>
          <a:p>
            <a:pPr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</a:t>
            </a:r>
          </a:p>
          <a:p>
            <a:pPr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The following diagram shows how the same intensity is spread out over more area the higher the latitude.</a:t>
            </a:r>
          </a:p>
        </p:txBody>
      </p:sp>
      <p:sp>
        <p:nvSpPr>
          <p:cNvPr id="1378308" name="Rectangle 4"/>
          <p:cNvSpPr>
            <a:spLocks noChangeArrowheads="1"/>
          </p:cNvSpPr>
          <p:nvPr/>
        </p:nvSpPr>
        <p:spPr bwMode="auto">
          <a:xfrm>
            <a:off x="5091113" y="5929313"/>
            <a:ext cx="1990725" cy="49053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8309" name="Rectangle 5"/>
          <p:cNvSpPr>
            <a:spLocks noChangeArrowheads="1"/>
          </p:cNvSpPr>
          <p:nvPr/>
        </p:nvSpPr>
        <p:spPr bwMode="auto">
          <a:xfrm>
            <a:off x="5102225" y="5189538"/>
            <a:ext cx="1990725" cy="49053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8310" name="Rectangle 6"/>
          <p:cNvSpPr>
            <a:spLocks noChangeArrowheads="1"/>
          </p:cNvSpPr>
          <p:nvPr/>
        </p:nvSpPr>
        <p:spPr bwMode="auto">
          <a:xfrm>
            <a:off x="5091113" y="4449763"/>
            <a:ext cx="1990725" cy="49053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8311" name="AutoShape 7"/>
          <p:cNvSpPr>
            <a:spLocks noChangeArrowheads="1"/>
          </p:cNvSpPr>
          <p:nvPr/>
        </p:nvSpPr>
        <p:spPr bwMode="auto">
          <a:xfrm rot="5400000">
            <a:off x="4723606" y="4566445"/>
            <a:ext cx="479425" cy="271462"/>
          </a:xfrm>
          <a:custGeom>
            <a:avLst/>
            <a:gdLst>
              <a:gd name="T0" fmla="*/ 9310988 w 21600"/>
              <a:gd name="T1" fmla="*/ 1705825 h 21600"/>
              <a:gd name="T2" fmla="*/ 5320574 w 21600"/>
              <a:gd name="T3" fmla="*/ 3411649 h 21600"/>
              <a:gd name="T4" fmla="*/ 1330138 w 21600"/>
              <a:gd name="T5" fmla="*/ 1705825 h 21600"/>
              <a:gd name="T6" fmla="*/ 532057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8312" name="AutoShape 8"/>
          <p:cNvSpPr>
            <a:spLocks noChangeArrowheads="1"/>
          </p:cNvSpPr>
          <p:nvPr/>
        </p:nvSpPr>
        <p:spPr bwMode="auto">
          <a:xfrm rot="5400000">
            <a:off x="4723606" y="5307807"/>
            <a:ext cx="479425" cy="271462"/>
          </a:xfrm>
          <a:custGeom>
            <a:avLst/>
            <a:gdLst>
              <a:gd name="T0" fmla="*/ 9310988 w 21600"/>
              <a:gd name="T1" fmla="*/ 1705825 h 21600"/>
              <a:gd name="T2" fmla="*/ 5320574 w 21600"/>
              <a:gd name="T3" fmla="*/ 3411649 h 21600"/>
              <a:gd name="T4" fmla="*/ 1330138 w 21600"/>
              <a:gd name="T5" fmla="*/ 1705825 h 21600"/>
              <a:gd name="T6" fmla="*/ 532057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8313" name="AutoShape 9"/>
          <p:cNvSpPr>
            <a:spLocks noChangeArrowheads="1"/>
          </p:cNvSpPr>
          <p:nvPr/>
        </p:nvSpPr>
        <p:spPr bwMode="auto">
          <a:xfrm rot="5400000">
            <a:off x="4723606" y="6045995"/>
            <a:ext cx="479425" cy="271462"/>
          </a:xfrm>
          <a:custGeom>
            <a:avLst/>
            <a:gdLst>
              <a:gd name="T0" fmla="*/ 9310988 w 21600"/>
              <a:gd name="T1" fmla="*/ 1705825 h 21600"/>
              <a:gd name="T2" fmla="*/ 5320574 w 21600"/>
              <a:gd name="T3" fmla="*/ 3411649 h 21600"/>
              <a:gd name="T4" fmla="*/ 1330138 w 21600"/>
              <a:gd name="T5" fmla="*/ 1705825 h 21600"/>
              <a:gd name="T6" fmla="*/ 532057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378314" name="Picture 10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24097"/>
          <a:stretch>
            <a:fillRect/>
          </a:stretch>
        </p:blipFill>
        <p:spPr bwMode="auto">
          <a:xfrm>
            <a:off x="5449888" y="4457700"/>
            <a:ext cx="3267075" cy="2400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78315" name="Line 11"/>
          <p:cNvSpPr>
            <a:spLocks noChangeShapeType="1"/>
          </p:cNvSpPr>
          <p:nvPr/>
        </p:nvSpPr>
        <p:spPr bwMode="auto">
          <a:xfrm>
            <a:off x="976313" y="5456238"/>
            <a:ext cx="4005262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78316" name="Line 12"/>
          <p:cNvSpPr>
            <a:spLocks noChangeShapeType="1"/>
          </p:cNvSpPr>
          <p:nvPr/>
        </p:nvSpPr>
        <p:spPr bwMode="auto">
          <a:xfrm>
            <a:off x="976313" y="4684713"/>
            <a:ext cx="4005262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78317" name="Line 13"/>
          <p:cNvSpPr>
            <a:spLocks noChangeShapeType="1"/>
          </p:cNvSpPr>
          <p:nvPr/>
        </p:nvSpPr>
        <p:spPr bwMode="auto">
          <a:xfrm>
            <a:off x="965200" y="6181725"/>
            <a:ext cx="4005263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78318" name="Arc 14"/>
          <p:cNvSpPr>
            <a:spLocks/>
          </p:cNvSpPr>
          <p:nvPr/>
        </p:nvSpPr>
        <p:spPr bwMode="auto">
          <a:xfrm>
            <a:off x="5919788" y="4452938"/>
            <a:ext cx="1162050" cy="1620837"/>
          </a:xfrm>
          <a:custGeom>
            <a:avLst/>
            <a:gdLst>
              <a:gd name="T0" fmla="*/ 0 w 15481"/>
              <a:gd name="T1" fmla="*/ 36768558 h 21582"/>
              <a:gd name="T2" fmla="*/ 82279927 w 15481"/>
              <a:gd name="T3" fmla="*/ 0 h 21582"/>
              <a:gd name="T4" fmla="*/ 87226952 w 15481"/>
              <a:gd name="T5" fmla="*/ 121727015 h 21582"/>
              <a:gd name="T6" fmla="*/ 0 60000 65536"/>
              <a:gd name="T7" fmla="*/ 0 60000 65536"/>
              <a:gd name="T8" fmla="*/ 0 60000 65536"/>
              <a:gd name="T9" fmla="*/ 0 w 15481"/>
              <a:gd name="T10" fmla="*/ 0 h 21582"/>
              <a:gd name="T11" fmla="*/ 15481 w 15481"/>
              <a:gd name="T12" fmla="*/ 21582 h 215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481" h="21582" fill="none" extrusionOk="0">
                <a:moveTo>
                  <a:pt x="-1" y="6518"/>
                </a:moveTo>
                <a:cubicBezTo>
                  <a:pt x="3854" y="2557"/>
                  <a:pt x="9080" y="224"/>
                  <a:pt x="14602" y="-1"/>
                </a:cubicBezTo>
              </a:path>
              <a:path w="15481" h="21582" stroke="0" extrusionOk="0">
                <a:moveTo>
                  <a:pt x="-1" y="6518"/>
                </a:moveTo>
                <a:cubicBezTo>
                  <a:pt x="3854" y="2557"/>
                  <a:pt x="9080" y="224"/>
                  <a:pt x="14602" y="-1"/>
                </a:cubicBezTo>
                <a:lnTo>
                  <a:pt x="15481" y="2158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8319" name="Line 15"/>
          <p:cNvSpPr>
            <a:spLocks noChangeShapeType="1"/>
          </p:cNvSpPr>
          <p:nvPr/>
        </p:nvSpPr>
        <p:spPr bwMode="auto">
          <a:xfrm>
            <a:off x="5111750" y="4449763"/>
            <a:ext cx="0" cy="4905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78320" name="Line 16"/>
          <p:cNvSpPr>
            <a:spLocks noChangeShapeType="1"/>
          </p:cNvSpPr>
          <p:nvPr/>
        </p:nvSpPr>
        <p:spPr bwMode="auto">
          <a:xfrm>
            <a:off x="5100638" y="5189538"/>
            <a:ext cx="0" cy="4905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78321" name="Line 17"/>
          <p:cNvSpPr>
            <a:spLocks noChangeShapeType="1"/>
          </p:cNvSpPr>
          <p:nvPr/>
        </p:nvSpPr>
        <p:spPr bwMode="auto">
          <a:xfrm>
            <a:off x="5099050" y="5942013"/>
            <a:ext cx="0" cy="4905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78322" name="Arc 18"/>
          <p:cNvSpPr>
            <a:spLocks/>
          </p:cNvSpPr>
          <p:nvPr/>
        </p:nvSpPr>
        <p:spPr bwMode="auto">
          <a:xfrm>
            <a:off x="5505450" y="5192713"/>
            <a:ext cx="1565275" cy="892175"/>
          </a:xfrm>
          <a:custGeom>
            <a:avLst/>
            <a:gdLst>
              <a:gd name="T0" fmla="*/ 0 w 20855"/>
              <a:gd name="T1" fmla="*/ 35271020 h 11882"/>
              <a:gd name="T2" fmla="*/ 15863278 w 20855"/>
              <a:gd name="T3" fmla="*/ 0 h 11882"/>
              <a:gd name="T4" fmla="*/ 117481932 w 20855"/>
              <a:gd name="T5" fmla="*/ 66990085 h 11882"/>
              <a:gd name="T6" fmla="*/ 0 60000 65536"/>
              <a:gd name="T7" fmla="*/ 0 60000 65536"/>
              <a:gd name="T8" fmla="*/ 0 60000 65536"/>
              <a:gd name="T9" fmla="*/ 0 w 20855"/>
              <a:gd name="T10" fmla="*/ 0 h 11882"/>
              <a:gd name="T11" fmla="*/ 20855 w 20855"/>
              <a:gd name="T12" fmla="*/ 11882 h 118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55" h="11882" fill="none" extrusionOk="0">
                <a:moveTo>
                  <a:pt x="0" y="6256"/>
                </a:moveTo>
                <a:cubicBezTo>
                  <a:pt x="599" y="4034"/>
                  <a:pt x="1550" y="1922"/>
                  <a:pt x="2816" y="0"/>
                </a:cubicBezTo>
              </a:path>
              <a:path w="20855" h="11882" stroke="0" extrusionOk="0">
                <a:moveTo>
                  <a:pt x="0" y="6256"/>
                </a:moveTo>
                <a:cubicBezTo>
                  <a:pt x="599" y="4034"/>
                  <a:pt x="1550" y="1922"/>
                  <a:pt x="2816" y="0"/>
                </a:cubicBezTo>
                <a:lnTo>
                  <a:pt x="20855" y="1188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8323" name="Arc 19"/>
          <p:cNvSpPr>
            <a:spLocks/>
          </p:cNvSpPr>
          <p:nvPr/>
        </p:nvSpPr>
        <p:spPr bwMode="auto">
          <a:xfrm>
            <a:off x="5454650" y="5927725"/>
            <a:ext cx="1620838" cy="504825"/>
          </a:xfrm>
          <a:custGeom>
            <a:avLst/>
            <a:gdLst>
              <a:gd name="T0" fmla="*/ 2719706 w 21600"/>
              <a:gd name="T1" fmla="*/ 37952088 h 6715"/>
              <a:gd name="T2" fmla="*/ 619370 w 21600"/>
              <a:gd name="T3" fmla="*/ 0 h 6715"/>
              <a:gd name="T4" fmla="*/ 121625726 w 21600"/>
              <a:gd name="T5" fmla="*/ 12287133 h 6715"/>
              <a:gd name="T6" fmla="*/ 0 60000 65536"/>
              <a:gd name="T7" fmla="*/ 0 60000 65536"/>
              <a:gd name="T8" fmla="*/ 0 60000 65536"/>
              <a:gd name="T9" fmla="*/ 0 w 21600"/>
              <a:gd name="T10" fmla="*/ 0 h 6715"/>
              <a:gd name="T11" fmla="*/ 21600 w 21600"/>
              <a:gd name="T12" fmla="*/ 6715 h 67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6715" fill="none" extrusionOk="0">
                <a:moveTo>
                  <a:pt x="482" y="6715"/>
                </a:moveTo>
                <a:cubicBezTo>
                  <a:pt x="161" y="5222"/>
                  <a:pt x="0" y="3700"/>
                  <a:pt x="0" y="2174"/>
                </a:cubicBezTo>
                <a:cubicBezTo>
                  <a:pt x="-1" y="1447"/>
                  <a:pt x="36" y="722"/>
                  <a:pt x="109" y="-1"/>
                </a:cubicBezTo>
              </a:path>
              <a:path w="21600" h="6715" stroke="0" extrusionOk="0">
                <a:moveTo>
                  <a:pt x="482" y="6715"/>
                </a:moveTo>
                <a:cubicBezTo>
                  <a:pt x="161" y="5222"/>
                  <a:pt x="0" y="3700"/>
                  <a:pt x="0" y="2174"/>
                </a:cubicBezTo>
                <a:cubicBezTo>
                  <a:pt x="-1" y="1447"/>
                  <a:pt x="36" y="722"/>
                  <a:pt x="109" y="-1"/>
                </a:cubicBezTo>
                <a:lnTo>
                  <a:pt x="21600" y="2174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8324" name="Rectangle 20"/>
          <p:cNvSpPr>
            <a:spLocks noChangeArrowheads="1"/>
          </p:cNvSpPr>
          <p:nvPr/>
        </p:nvSpPr>
        <p:spPr bwMode="auto">
          <a:xfrm rot="5400000">
            <a:off x="3440112" y="5272088"/>
            <a:ext cx="1927225" cy="342900"/>
          </a:xfrm>
          <a:prstGeom prst="rect">
            <a:avLst/>
          </a:prstGeom>
          <a:solidFill>
            <a:srgbClr val="FFCC00">
              <a:alpha val="50195"/>
            </a:srgbClr>
          </a:solidFill>
          <a:ln w="9525">
            <a:noFill/>
            <a:prstDash val="dash"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400" b="1"/>
              <a:t>1380</a:t>
            </a:r>
            <a:r>
              <a:rPr lang="en-US" sz="2400" b="1" baseline="30000">
                <a:sym typeface="Symbol" pitchFamily="18" charset="2"/>
              </a:rPr>
              <a:t> </a:t>
            </a:r>
            <a:r>
              <a:rPr lang="en-US" sz="2400" b="1">
                <a:sym typeface="Symbol" pitchFamily="18" charset="2"/>
              </a:rPr>
              <a:t>W/m</a:t>
            </a:r>
            <a:r>
              <a:rPr lang="en-US" sz="2400" b="1" baseline="30000">
                <a:sym typeface="Symbol" pitchFamily="18" charset="2"/>
              </a:rPr>
              <a:t>2</a:t>
            </a:r>
          </a:p>
        </p:txBody>
      </p:sp>
      <p:sp>
        <p:nvSpPr>
          <p:cNvPr id="342037" name="Rectangle 21"/>
          <p:cNvSpPr>
            <a:spLocks noChangeArrowheads="1"/>
          </p:cNvSpPr>
          <p:nvPr/>
        </p:nvSpPr>
        <p:spPr bwMode="auto">
          <a:xfrm>
            <a:off x="685800" y="1401763"/>
            <a:ext cx="7772400" cy="4524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The solar constant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7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7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7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7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7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7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7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7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7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37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7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37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7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137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7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7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37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137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37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8308" grpId="0" animBg="1"/>
      <p:bldP spid="1378309" grpId="0" animBg="1"/>
      <p:bldP spid="1378310" grpId="0" animBg="1"/>
      <p:bldP spid="1378311" grpId="0" animBg="1"/>
      <p:bldP spid="1378312" grpId="0" animBg="1"/>
      <p:bldP spid="1378313" grpId="0" animBg="1"/>
      <p:bldP spid="1378315" grpId="0" animBg="1"/>
      <p:bldP spid="1378316" grpId="0" animBg="1"/>
      <p:bldP spid="1378317" grpId="0" animBg="1"/>
      <p:bldP spid="1378318" grpId="0" animBg="1"/>
      <p:bldP spid="1378319" grpId="0" animBg="1"/>
      <p:bldP spid="1378320" grpId="0" animBg="1"/>
      <p:bldP spid="1378321" grpId="0" animBg="1"/>
      <p:bldP spid="1378322" grpId="0" animBg="1"/>
      <p:bldP spid="1378323" grpId="0" animBg="1"/>
      <p:bldP spid="13783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685800" y="1831975"/>
            <a:ext cx="7772400" cy="50260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>
                <a:latin typeface="Arial" charset="0"/>
              </a:rPr>
              <a:t>PRACTICE: The sun radiates energy at a rate of 3.90</a:t>
            </a:r>
            <a:r>
              <a:rPr lang="en-US" sz="2400">
                <a:latin typeface="Arial" charset="0"/>
                <a:sym typeface="Symbol" pitchFamily="18" charset="2"/>
              </a:rPr>
              <a:t>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26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W.  What is the rate at which energy from the sun reaches Jupiter if its orbital radius is </a:t>
            </a:r>
            <a:r>
              <a:rPr lang="en-US" sz="2400">
                <a:latin typeface="Arial" charset="0"/>
              </a:rPr>
              <a:t>7.8</a:t>
            </a:r>
            <a:r>
              <a:rPr lang="en-US" sz="2400">
                <a:latin typeface="Arial" charset="0"/>
                <a:sym typeface="Symbol" pitchFamily="18" charset="2"/>
              </a:rPr>
              <a:t>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11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m? (This is Jupiter’s solar constant.)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SOLUTION: Use 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latin typeface="Arial" charset="0"/>
                <a:sym typeface="Symbol" pitchFamily="18" charset="2"/>
              </a:rPr>
              <a:t>P / </a:t>
            </a:r>
            <a:r>
              <a:rPr lang="en-US" sz="2400">
                <a:latin typeface="Arial" charset="0"/>
                <a:sym typeface="Symbol" pitchFamily="18" charset="2"/>
              </a:rPr>
              <a:t>[ </a:t>
            </a:r>
            <a:r>
              <a:rPr lang="en-US" sz="2400">
                <a:latin typeface="Arial" charset="0"/>
              </a:rPr>
              <a:t>4</a:t>
            </a:r>
            <a:r>
              <a:rPr lang="en-US" sz="2400">
                <a:latin typeface="Arial" charset="0"/>
                <a:sym typeface="Symbol" pitchFamily="18" charset="2"/>
              </a:rPr>
              <a:t></a:t>
            </a:r>
            <a:r>
              <a:rPr lang="en-US" sz="2400" i="1">
                <a:latin typeface="Arial" charset="0"/>
                <a:sym typeface="Symbol" pitchFamily="18" charset="2"/>
              </a:rPr>
              <a:t>r</a:t>
            </a:r>
            <a:r>
              <a:rPr lang="en-US" sz="2400" baseline="30000">
                <a:latin typeface="Arial" charset="0"/>
                <a:sym typeface="Symbol" pitchFamily="18" charset="2"/>
              </a:rPr>
              <a:t>2 </a:t>
            </a:r>
            <a:r>
              <a:rPr lang="en-US" sz="2400">
                <a:latin typeface="Arial" charset="0"/>
                <a:sym typeface="Symbol" pitchFamily="18" charset="2"/>
              </a:rPr>
              <a:t>] 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         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latin typeface="Arial" charset="0"/>
                <a:sym typeface="Symbol" pitchFamily="18" charset="2"/>
              </a:rPr>
              <a:t>P / </a:t>
            </a:r>
            <a:r>
              <a:rPr lang="en-US" sz="2400">
                <a:latin typeface="Arial" charset="0"/>
                <a:sym typeface="Symbol" pitchFamily="18" charset="2"/>
              </a:rPr>
              <a:t>[ </a:t>
            </a:r>
            <a:r>
              <a:rPr lang="en-US" sz="2400">
                <a:latin typeface="Arial" charset="0"/>
              </a:rPr>
              <a:t>4</a:t>
            </a:r>
            <a:r>
              <a:rPr lang="en-US" sz="2400">
                <a:latin typeface="Arial" charset="0"/>
                <a:sym typeface="Symbol" pitchFamily="18" charset="2"/>
              </a:rPr>
              <a:t></a:t>
            </a:r>
            <a:r>
              <a:rPr lang="en-US" sz="2400" i="1">
                <a:latin typeface="Arial" charset="0"/>
                <a:sym typeface="Symbol" pitchFamily="18" charset="2"/>
              </a:rPr>
              <a:t>r</a:t>
            </a:r>
            <a:r>
              <a:rPr lang="en-US" sz="2400" baseline="30000">
                <a:latin typeface="Arial" charset="0"/>
                <a:sym typeface="Symbol" pitchFamily="18" charset="2"/>
              </a:rPr>
              <a:t>2 </a:t>
            </a:r>
            <a:r>
              <a:rPr lang="en-US" sz="2400">
                <a:latin typeface="Arial" charset="0"/>
                <a:sym typeface="Symbol" pitchFamily="18" charset="2"/>
              </a:rPr>
              <a:t>] = </a:t>
            </a:r>
            <a:r>
              <a:rPr lang="en-US" sz="2400">
                <a:latin typeface="Arial" charset="0"/>
              </a:rPr>
              <a:t>3.90</a:t>
            </a:r>
            <a:r>
              <a:rPr lang="en-US" sz="2400">
                <a:latin typeface="Arial" charset="0"/>
                <a:sym typeface="Symbol" pitchFamily="18" charset="2"/>
              </a:rPr>
              <a:t>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26 </a:t>
            </a:r>
            <a:r>
              <a:rPr lang="en-US" sz="2400" i="1">
                <a:latin typeface="Arial" charset="0"/>
                <a:sym typeface="Symbol" pitchFamily="18" charset="2"/>
              </a:rPr>
              <a:t>/</a:t>
            </a:r>
            <a:r>
              <a:rPr lang="en-US" sz="2400">
                <a:latin typeface="Arial" charset="0"/>
                <a:sym typeface="Symbol" pitchFamily="18" charset="2"/>
              </a:rPr>
              <a:t> [ </a:t>
            </a:r>
            <a:r>
              <a:rPr lang="en-US" sz="2400">
                <a:latin typeface="Arial" charset="0"/>
              </a:rPr>
              <a:t>4</a:t>
            </a:r>
            <a:r>
              <a:rPr lang="en-US" sz="2400">
                <a:latin typeface="Arial" charset="0"/>
                <a:sym typeface="Symbol" pitchFamily="18" charset="2"/>
              </a:rPr>
              <a:t>(</a:t>
            </a:r>
            <a:r>
              <a:rPr lang="en-US" sz="2400">
                <a:latin typeface="Arial" charset="0"/>
              </a:rPr>
              <a:t>7.8</a:t>
            </a:r>
            <a:r>
              <a:rPr lang="en-US" sz="2400">
                <a:latin typeface="Arial" charset="0"/>
                <a:sym typeface="Symbol" pitchFamily="18" charset="2"/>
              </a:rPr>
              <a:t>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11</a:t>
            </a:r>
            <a:r>
              <a:rPr lang="en-US" sz="2400">
                <a:latin typeface="Arial" charset="0"/>
                <a:sym typeface="Symbol" pitchFamily="18" charset="2"/>
              </a:rPr>
              <a:t>)</a:t>
            </a:r>
            <a:r>
              <a:rPr lang="en-US" sz="2400" baseline="30000">
                <a:latin typeface="Arial" charset="0"/>
                <a:sym typeface="Symbol" pitchFamily="18" charset="2"/>
              </a:rPr>
              <a:t>2 </a:t>
            </a:r>
            <a:r>
              <a:rPr lang="en-US" sz="2400">
                <a:latin typeface="Arial" charset="0"/>
                <a:sym typeface="Symbol" pitchFamily="18" charset="2"/>
              </a:rPr>
              <a:t>]</a:t>
            </a:r>
          </a:p>
          <a:p>
            <a:r>
              <a:rPr lang="en-US" sz="2400" i="1">
                <a:latin typeface="Arial" charset="0"/>
                <a:sym typeface="Symbol" pitchFamily="18" charset="2"/>
              </a:rPr>
              <a:t>         I </a:t>
            </a:r>
            <a:r>
              <a:rPr lang="en-US" sz="2400">
                <a:latin typeface="Arial" charset="0"/>
                <a:sym typeface="Symbol" pitchFamily="18" charset="2"/>
              </a:rPr>
              <a:t>= 51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.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This is 51 J </a:t>
            </a:r>
            <a:r>
              <a:rPr lang="en-US" sz="2400" i="1">
                <a:latin typeface="Arial" charset="0"/>
                <a:sym typeface="Symbol" pitchFamily="18" charset="2"/>
              </a:rPr>
              <a:t>/</a:t>
            </a:r>
            <a:r>
              <a:rPr lang="en-US" sz="2400">
                <a:latin typeface="Arial" charset="0"/>
                <a:sym typeface="Symbol" pitchFamily="18" charset="2"/>
              </a:rPr>
              <a:t> s per m</a:t>
            </a:r>
            <a:r>
              <a:rPr lang="en-US" sz="2400" baseline="30000">
                <a:latin typeface="Arial" charset="0"/>
                <a:sym typeface="Symbol" pitchFamily="18" charset="2"/>
              </a:rPr>
              <a:t>2</a:t>
            </a:r>
            <a:r>
              <a:rPr lang="en-US" sz="2400">
                <a:latin typeface="Arial" charset="0"/>
                <a:sym typeface="Symbol" pitchFamily="18" charset="2"/>
              </a:rPr>
              <a:t>.</a:t>
            </a:r>
          </a:p>
        </p:txBody>
      </p:sp>
      <p:pic>
        <p:nvPicPr>
          <p:cNvPr id="344068" name="Picture 4" descr="jupiter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00750" y="4175125"/>
            <a:ext cx="2779713" cy="2682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4069" name="Rectangle 5"/>
          <p:cNvSpPr>
            <a:spLocks noChangeArrowheads="1"/>
          </p:cNvSpPr>
          <p:nvPr/>
        </p:nvSpPr>
        <p:spPr bwMode="auto">
          <a:xfrm>
            <a:off x="685800" y="1401763"/>
            <a:ext cx="7772400" cy="4524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The solar constant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Emissivity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 	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</a:t>
            </a:r>
            <a:r>
              <a:rPr lang="en-US" sz="2400" b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emissivity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of a body is a number between 0 and 1 that quantifies the emission and absorption properties of that body as compared to a blackbody of equal size.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A 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black-body is a perfect emitter / absorber                          of radiation and has an emissivity of 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= 1.	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A body that can’t emit / absorb radiation at                             all has an emissivity of 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= 0.	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emissivity of a body is the ratio of the power emitted by the body, to the power emitted by a black-body of the same size.</a:t>
            </a:r>
          </a:p>
        </p:txBody>
      </p:sp>
      <p:pic>
        <p:nvPicPr>
          <p:cNvPr id="284676" name="Picture 4" descr="grundtal-mirror__26202_PE093307_S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34" t="12866" r="5566" b="12900"/>
          <a:stretch>
            <a:fillRect/>
          </a:stretch>
        </p:blipFill>
        <p:spPr bwMode="auto">
          <a:xfrm>
            <a:off x="6748463" y="4065588"/>
            <a:ext cx="1022350" cy="534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84677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53225" y="2952750"/>
            <a:ext cx="950913" cy="933450"/>
          </a:xfrm>
          <a:prstGeom prst="rect">
            <a:avLst/>
          </a:prstGeom>
          <a:noFill/>
        </p:spPr>
      </p:pic>
      <p:sp>
        <p:nvSpPr>
          <p:cNvPr id="284678" name="Text Box 6"/>
          <p:cNvSpPr txBox="1">
            <a:spLocks noChangeArrowheads="1"/>
          </p:cNvSpPr>
          <p:nvPr/>
        </p:nvSpPr>
        <p:spPr bwMode="auto">
          <a:xfrm>
            <a:off x="7645400" y="3887788"/>
            <a:ext cx="1435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chemeClr val="hlink"/>
                </a:solidFill>
                <a:latin typeface="Arial" charset="0"/>
              </a:rPr>
              <a:t>mirror</a:t>
            </a:r>
          </a:p>
          <a:p>
            <a:pPr algn="ctr"/>
            <a:r>
              <a:rPr lang="en-US" sz="2400" i="1">
                <a:solidFill>
                  <a:schemeClr val="hlink"/>
                </a:solidFill>
                <a:latin typeface="Arial" charset="0"/>
              </a:rPr>
              <a:t>e</a:t>
            </a:r>
            <a:r>
              <a:rPr lang="en-US" sz="2400">
                <a:solidFill>
                  <a:schemeClr val="hlink"/>
                </a:solidFill>
                <a:latin typeface="Arial" charset="0"/>
              </a:rPr>
              <a:t> = 0.05</a:t>
            </a:r>
            <a:endParaRPr lang="en-US" sz="2400" i="1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284679" name="Text Box 7"/>
          <p:cNvSpPr txBox="1">
            <a:spLocks noChangeArrowheads="1"/>
          </p:cNvSpPr>
          <p:nvPr/>
        </p:nvSpPr>
        <p:spPr bwMode="auto">
          <a:xfrm>
            <a:off x="7508875" y="2951163"/>
            <a:ext cx="15589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chemeClr val="hlink"/>
                </a:solidFill>
                <a:latin typeface="Arial" charset="0"/>
              </a:rPr>
              <a:t>charcoal</a:t>
            </a:r>
          </a:p>
          <a:p>
            <a:pPr algn="ctr"/>
            <a:r>
              <a:rPr lang="en-US" sz="2400" i="1">
                <a:solidFill>
                  <a:schemeClr val="hlink"/>
                </a:solidFill>
                <a:latin typeface="Arial" charset="0"/>
              </a:rPr>
              <a:t>e</a:t>
            </a:r>
            <a:r>
              <a:rPr lang="en-US" sz="2400">
                <a:solidFill>
                  <a:schemeClr val="hlink"/>
                </a:solidFill>
                <a:latin typeface="Arial" charset="0"/>
              </a:rPr>
              <a:t> = 0.95</a:t>
            </a:r>
            <a:endParaRPr lang="en-US" sz="2400" i="1">
              <a:solidFill>
                <a:schemeClr val="hlink"/>
              </a:solidFill>
              <a:latin typeface="Arial" charset="0"/>
            </a:endParaRPr>
          </a:p>
        </p:txBody>
      </p:sp>
      <p:grpSp>
        <p:nvGrpSpPr>
          <p:cNvPr id="284687" name="Group 15"/>
          <p:cNvGrpSpPr>
            <a:grpSpLocks/>
          </p:cNvGrpSpPr>
          <p:nvPr/>
        </p:nvGrpSpPr>
        <p:grpSpPr bwMode="auto">
          <a:xfrm>
            <a:off x="835025" y="5775325"/>
            <a:ext cx="7464425" cy="942975"/>
            <a:chOff x="510" y="3606"/>
            <a:chExt cx="4702" cy="594"/>
          </a:xfrm>
        </p:grpSpPr>
        <p:sp>
          <p:nvSpPr>
            <p:cNvPr id="284681" name="Rectangle 9"/>
            <p:cNvSpPr>
              <a:spLocks noChangeArrowheads="1"/>
            </p:cNvSpPr>
            <p:nvPr/>
          </p:nvSpPr>
          <p:spPr bwMode="auto">
            <a:xfrm>
              <a:off x="567" y="3643"/>
              <a:ext cx="3169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sz="2400" i="1">
                  <a:latin typeface="Arial" charset="0"/>
                  <a:sym typeface="Symbol" pitchFamily="18" charset="2"/>
                </a:rPr>
                <a:t>e</a:t>
              </a:r>
              <a:r>
                <a:rPr lang="en-US" sz="2400">
                  <a:latin typeface="Arial" charset="0"/>
                  <a:sym typeface="Symbol" pitchFamily="18" charset="2"/>
                </a:rPr>
                <a:t> = </a:t>
              </a:r>
              <a:r>
                <a:rPr lang="en-US" sz="2400" i="1">
                  <a:latin typeface="Arial" charset="0"/>
                  <a:sym typeface="Symbol" pitchFamily="18" charset="2"/>
                </a:rPr>
                <a:t>P</a:t>
              </a:r>
              <a:r>
                <a:rPr lang="en-US" sz="2400" baseline="-25000">
                  <a:latin typeface="Arial" charset="0"/>
                  <a:sym typeface="Symbol" pitchFamily="18" charset="2"/>
                </a:rPr>
                <a:t>BODY </a:t>
              </a:r>
              <a:r>
                <a:rPr lang="en-US" sz="2400" i="1">
                  <a:latin typeface="Arial" charset="0"/>
                  <a:sym typeface="Symbol" pitchFamily="18" charset="2"/>
                </a:rPr>
                <a:t>/ P</a:t>
              </a:r>
              <a:r>
                <a:rPr lang="en-US" sz="2400" baseline="-25000">
                  <a:latin typeface="Arial" charset="0"/>
                  <a:sym typeface="Symbol" pitchFamily="18" charset="2"/>
                </a:rPr>
                <a:t>BLACK-BODY</a:t>
              </a:r>
              <a:endParaRPr lang="en-US" sz="2400" i="1" baseline="-25000">
                <a:latin typeface="Arial" charset="0"/>
                <a:sym typeface="Symbol" pitchFamily="18" charset="2"/>
              </a:endParaRPr>
            </a:p>
          </p:txBody>
        </p:sp>
        <p:sp>
          <p:nvSpPr>
            <p:cNvPr id="284682" name="Text Box 10"/>
            <p:cNvSpPr txBox="1">
              <a:spLocks noChangeArrowheads="1"/>
            </p:cNvSpPr>
            <p:nvPr/>
          </p:nvSpPr>
          <p:spPr bwMode="auto">
            <a:xfrm>
              <a:off x="4119" y="3606"/>
              <a:ext cx="1093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bg1"/>
                  </a:solidFill>
                  <a:latin typeface="Arial" charset="0"/>
                </a:rPr>
                <a:t>emissivity</a:t>
              </a:r>
            </a:p>
          </p:txBody>
        </p:sp>
        <p:sp>
          <p:nvSpPr>
            <p:cNvPr id="284683" name="Rectangle 11"/>
            <p:cNvSpPr>
              <a:spLocks noChangeArrowheads="1"/>
            </p:cNvSpPr>
            <p:nvPr/>
          </p:nvSpPr>
          <p:spPr bwMode="auto">
            <a:xfrm>
              <a:off x="510" y="3610"/>
              <a:ext cx="4701" cy="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686" name="Rectangle 14"/>
            <p:cNvSpPr>
              <a:spLocks noChangeArrowheads="1"/>
            </p:cNvSpPr>
            <p:nvPr/>
          </p:nvSpPr>
          <p:spPr bwMode="auto">
            <a:xfrm>
              <a:off x="568" y="3894"/>
              <a:ext cx="3169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sz="2400" i="1">
                  <a:latin typeface="Arial" charset="0"/>
                  <a:sym typeface="Symbol" pitchFamily="18" charset="2"/>
                </a:rPr>
                <a:t>e</a:t>
              </a:r>
              <a:r>
                <a:rPr lang="en-US" sz="2400">
                  <a:latin typeface="Arial" charset="0"/>
                  <a:sym typeface="Symbol" pitchFamily="18" charset="2"/>
                </a:rPr>
                <a:t> = </a:t>
              </a:r>
              <a:r>
                <a:rPr lang="en-US" sz="2400" i="1">
                  <a:latin typeface="Arial" charset="0"/>
                  <a:sym typeface="Symbol" pitchFamily="18" charset="2"/>
                </a:rPr>
                <a:t>P</a:t>
              </a:r>
              <a:r>
                <a:rPr lang="en-US" sz="2400" baseline="-25000">
                  <a:latin typeface="Arial" charset="0"/>
                  <a:sym typeface="Symbol" pitchFamily="18" charset="2"/>
                </a:rPr>
                <a:t>BODY </a:t>
              </a:r>
              <a:r>
                <a:rPr lang="en-US" sz="2400" i="1">
                  <a:latin typeface="Arial" charset="0"/>
                  <a:sym typeface="Symbol" pitchFamily="18" charset="2"/>
                </a:rPr>
                <a:t>/  </a:t>
              </a:r>
              <a:r>
                <a:rPr lang="en-US" sz="2400">
                  <a:latin typeface="Arial" charset="0"/>
                  <a:sym typeface="Symbol" pitchFamily="18" charset="2"/>
                </a:rPr>
                <a:t>[ </a:t>
              </a:r>
              <a:r>
                <a:rPr lang="en-US" sz="2400" i="1">
                  <a:latin typeface="Arial" charset="0"/>
                  <a:sym typeface="Symbol" pitchFamily="18" charset="2"/>
                </a:rPr>
                <a:t>AT</a:t>
              </a:r>
              <a:r>
                <a:rPr lang="en-US" sz="2400" baseline="30000">
                  <a:latin typeface="Arial" charset="0"/>
                  <a:sym typeface="Symbol" pitchFamily="18" charset="2"/>
                </a:rPr>
                <a:t> 4 </a:t>
              </a:r>
              <a:r>
                <a:rPr lang="en-US" sz="2400">
                  <a:latin typeface="Arial" charset="0"/>
                  <a:sym typeface="Symbol" pitchFamily="18" charset="2"/>
                </a:rPr>
                <a:t>]</a:t>
              </a:r>
              <a:endParaRPr lang="en-US" sz="2400" baseline="30000">
                <a:latin typeface="Arial" charset="0"/>
                <a:sym typeface="Symbol" pitchFamily="18" charset="2"/>
              </a:endParaRP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4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4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4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4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4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4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4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4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8" grpId="0"/>
      <p:bldP spid="2846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Emissivity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A black-body is a perfect emitter/absorber (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= 1).	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A small sphere covered with lamp                               black makes a pretty good black-body                                    and has an emissivity somewhat                                      close to 1.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An even better black-                                                       body is the metal-                                                            cavity black-body: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If we know 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, the                                                              Stefan-Boltzmann law                                                        can be amended:</a:t>
            </a:r>
          </a:p>
        </p:txBody>
      </p:sp>
      <p:grpSp>
        <p:nvGrpSpPr>
          <p:cNvPr id="286724" name="Group 4"/>
          <p:cNvGrpSpPr>
            <a:grpSpLocks/>
          </p:cNvGrpSpPr>
          <p:nvPr/>
        </p:nvGrpSpPr>
        <p:grpSpPr bwMode="auto">
          <a:xfrm>
            <a:off x="6824663" y="3302000"/>
            <a:ext cx="381000" cy="1219200"/>
            <a:chOff x="4128" y="1389"/>
            <a:chExt cx="240" cy="915"/>
          </a:xfrm>
        </p:grpSpPr>
        <p:sp>
          <p:nvSpPr>
            <p:cNvPr id="286725" name="Oval 5"/>
            <p:cNvSpPr>
              <a:spLocks noChangeArrowheads="1"/>
            </p:cNvSpPr>
            <p:nvPr/>
          </p:nvSpPr>
          <p:spPr bwMode="auto">
            <a:xfrm>
              <a:off x="4205" y="1389"/>
              <a:ext cx="99" cy="246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26" name="Oval 6"/>
            <p:cNvSpPr>
              <a:spLocks noChangeArrowheads="1"/>
            </p:cNvSpPr>
            <p:nvPr/>
          </p:nvSpPr>
          <p:spPr bwMode="auto">
            <a:xfrm>
              <a:off x="4214" y="1450"/>
              <a:ext cx="78" cy="194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27" name="Rectangle 7"/>
            <p:cNvSpPr>
              <a:spLocks noChangeArrowheads="1"/>
            </p:cNvSpPr>
            <p:nvPr/>
          </p:nvSpPr>
          <p:spPr bwMode="auto">
            <a:xfrm>
              <a:off x="4128" y="1632"/>
              <a:ext cx="240" cy="672"/>
            </a:xfrm>
            <a:prstGeom prst="rect">
              <a:avLst/>
            </a:prstGeom>
            <a:gradFill rotWithShape="1">
              <a:gsLst>
                <a:gs pos="0">
                  <a:srgbClr val="FFFFCC">
                    <a:gamma/>
                    <a:shade val="46275"/>
                    <a:invGamma/>
                  </a:srgbClr>
                </a:gs>
                <a:gs pos="5000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28" name="Oval 8"/>
            <p:cNvSpPr>
              <a:spLocks noChangeArrowheads="1"/>
            </p:cNvSpPr>
            <p:nvPr/>
          </p:nvSpPr>
          <p:spPr bwMode="auto">
            <a:xfrm>
              <a:off x="4223" y="1490"/>
              <a:ext cx="57" cy="142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6729" name="Group 9"/>
          <p:cNvGrpSpPr>
            <a:grpSpLocks/>
          </p:cNvGrpSpPr>
          <p:nvPr/>
        </p:nvGrpSpPr>
        <p:grpSpPr bwMode="auto">
          <a:xfrm>
            <a:off x="7977188" y="2714625"/>
            <a:ext cx="3624262" cy="468313"/>
            <a:chOff x="1763" y="3399"/>
            <a:chExt cx="2283" cy="295"/>
          </a:xfrm>
        </p:grpSpPr>
        <p:sp>
          <p:nvSpPr>
            <p:cNvPr id="286730" name="Oval 10"/>
            <p:cNvSpPr>
              <a:spLocks noChangeArrowheads="1"/>
            </p:cNvSpPr>
            <p:nvPr/>
          </p:nvSpPr>
          <p:spPr bwMode="auto">
            <a:xfrm>
              <a:off x="1763" y="3399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31" name="Line 11"/>
            <p:cNvSpPr>
              <a:spLocks noChangeShapeType="1"/>
            </p:cNvSpPr>
            <p:nvPr/>
          </p:nvSpPr>
          <p:spPr bwMode="auto">
            <a:xfrm>
              <a:off x="2065" y="3547"/>
              <a:ext cx="19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732" name="Oval 12"/>
          <p:cNvSpPr>
            <a:spLocks noChangeArrowheads="1"/>
          </p:cNvSpPr>
          <p:nvPr/>
        </p:nvSpPr>
        <p:spPr bwMode="auto">
          <a:xfrm>
            <a:off x="6791325" y="2711450"/>
            <a:ext cx="468313" cy="468313"/>
          </a:xfrm>
          <a:prstGeom prst="ellipse">
            <a:avLst/>
          </a:prstGeom>
          <a:solidFill>
            <a:schemeClr val="tx1">
              <a:alpha val="72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33" name="Text Box 13"/>
          <p:cNvSpPr txBox="1">
            <a:spLocks noChangeArrowheads="1"/>
          </p:cNvSpPr>
          <p:nvPr/>
        </p:nvSpPr>
        <p:spPr bwMode="auto">
          <a:xfrm>
            <a:off x="7783513" y="2333625"/>
            <a:ext cx="965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latin typeface="Arial" charset="0"/>
              </a:rPr>
              <a:t>e</a:t>
            </a:r>
            <a:r>
              <a:rPr lang="en-US">
                <a:latin typeface="Arial" charset="0"/>
              </a:rPr>
              <a:t> = 0.5</a:t>
            </a:r>
            <a:endParaRPr lang="en-US" i="1">
              <a:latin typeface="Arial" charset="0"/>
            </a:endParaRPr>
          </a:p>
        </p:txBody>
      </p:sp>
      <p:sp>
        <p:nvSpPr>
          <p:cNvPr id="286734" name="Text Box 14"/>
          <p:cNvSpPr txBox="1">
            <a:spLocks noChangeArrowheads="1"/>
          </p:cNvSpPr>
          <p:nvPr/>
        </p:nvSpPr>
        <p:spPr bwMode="auto">
          <a:xfrm>
            <a:off x="7138988" y="3902075"/>
            <a:ext cx="946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>
                <a:latin typeface="Arial" charset="0"/>
              </a:rPr>
              <a:t>tallow candle</a:t>
            </a:r>
          </a:p>
        </p:txBody>
      </p:sp>
      <p:sp>
        <p:nvSpPr>
          <p:cNvPr id="286735" name="Text Box 15"/>
          <p:cNvSpPr txBox="1">
            <a:spLocks noChangeArrowheads="1"/>
          </p:cNvSpPr>
          <p:nvPr/>
        </p:nvSpPr>
        <p:spPr bwMode="auto">
          <a:xfrm>
            <a:off x="6608763" y="2341563"/>
            <a:ext cx="965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latin typeface="Arial" charset="0"/>
              </a:rPr>
              <a:t>e</a:t>
            </a:r>
            <a:r>
              <a:rPr lang="en-US">
                <a:latin typeface="Arial" charset="0"/>
              </a:rPr>
              <a:t> = 0.9</a:t>
            </a:r>
            <a:endParaRPr lang="en-US" i="1">
              <a:latin typeface="Arial" charset="0"/>
            </a:endParaRPr>
          </a:p>
        </p:txBody>
      </p:sp>
      <p:sp>
        <p:nvSpPr>
          <p:cNvPr id="286736" name="Rectangle 16"/>
          <p:cNvSpPr>
            <a:spLocks noChangeArrowheads="1"/>
          </p:cNvSpPr>
          <p:nvPr/>
        </p:nvSpPr>
        <p:spPr bwMode="auto">
          <a:xfrm>
            <a:off x="5400675" y="4700588"/>
            <a:ext cx="1247775" cy="12477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37" name="Oval 17"/>
          <p:cNvSpPr>
            <a:spLocks noChangeArrowheads="1"/>
          </p:cNvSpPr>
          <p:nvPr/>
        </p:nvSpPr>
        <p:spPr bwMode="auto">
          <a:xfrm>
            <a:off x="5572125" y="4872038"/>
            <a:ext cx="904875" cy="904875"/>
          </a:xfrm>
          <a:prstGeom prst="ellipse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38" name="Rectangle 18"/>
          <p:cNvSpPr>
            <a:spLocks noChangeArrowheads="1"/>
          </p:cNvSpPr>
          <p:nvPr/>
        </p:nvSpPr>
        <p:spPr bwMode="auto">
          <a:xfrm>
            <a:off x="6467475" y="5310188"/>
            <a:ext cx="180975" cy="460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39" name="Text Box 19"/>
          <p:cNvSpPr txBox="1">
            <a:spLocks noChangeArrowheads="1"/>
          </p:cNvSpPr>
          <p:nvPr/>
        </p:nvSpPr>
        <p:spPr bwMode="auto">
          <a:xfrm>
            <a:off x="4260850" y="3941763"/>
            <a:ext cx="15398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i="1">
                <a:latin typeface="Arial" charset="0"/>
              </a:rPr>
              <a:t>better black-body</a:t>
            </a:r>
          </a:p>
        </p:txBody>
      </p:sp>
      <p:grpSp>
        <p:nvGrpSpPr>
          <p:cNvPr id="286740" name="Group 20"/>
          <p:cNvGrpSpPr>
            <a:grpSpLocks/>
          </p:cNvGrpSpPr>
          <p:nvPr/>
        </p:nvGrpSpPr>
        <p:grpSpPr bwMode="auto">
          <a:xfrm>
            <a:off x="4044950" y="4692650"/>
            <a:ext cx="1247775" cy="1247775"/>
            <a:chOff x="352" y="3106"/>
            <a:chExt cx="786" cy="786"/>
          </a:xfrm>
        </p:grpSpPr>
        <p:sp>
          <p:nvSpPr>
            <p:cNvPr id="286741" name="Rectangle 21"/>
            <p:cNvSpPr>
              <a:spLocks noChangeArrowheads="1"/>
            </p:cNvSpPr>
            <p:nvPr/>
          </p:nvSpPr>
          <p:spPr bwMode="auto">
            <a:xfrm>
              <a:off x="352" y="3106"/>
              <a:ext cx="786" cy="78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42" name="Oval 22"/>
            <p:cNvSpPr>
              <a:spLocks noChangeArrowheads="1"/>
            </p:cNvSpPr>
            <p:nvPr/>
          </p:nvSpPr>
          <p:spPr bwMode="auto">
            <a:xfrm>
              <a:off x="732" y="3484"/>
              <a:ext cx="29" cy="2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743" name="Line 23"/>
          <p:cNvSpPr>
            <a:spLocks noChangeShapeType="1"/>
          </p:cNvSpPr>
          <p:nvPr/>
        </p:nvSpPr>
        <p:spPr bwMode="auto">
          <a:xfrm rot="5400000">
            <a:off x="4500562" y="4730751"/>
            <a:ext cx="771525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44" name="Line 24"/>
          <p:cNvSpPr>
            <a:spLocks noChangeShapeType="1"/>
          </p:cNvSpPr>
          <p:nvPr/>
        </p:nvSpPr>
        <p:spPr bwMode="auto">
          <a:xfrm flipV="1">
            <a:off x="6486525" y="5065713"/>
            <a:ext cx="2443163" cy="2825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45" name="Line 25"/>
          <p:cNvSpPr>
            <a:spLocks noChangeShapeType="1"/>
          </p:cNvSpPr>
          <p:nvPr/>
        </p:nvSpPr>
        <p:spPr bwMode="auto">
          <a:xfrm>
            <a:off x="5686425" y="4995863"/>
            <a:ext cx="800100" cy="342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46" name="Line 26"/>
          <p:cNvSpPr>
            <a:spLocks noChangeShapeType="1"/>
          </p:cNvSpPr>
          <p:nvPr/>
        </p:nvSpPr>
        <p:spPr bwMode="auto">
          <a:xfrm>
            <a:off x="5715000" y="5005388"/>
            <a:ext cx="390525" cy="752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47" name="Line 27"/>
          <p:cNvSpPr>
            <a:spLocks noChangeShapeType="1"/>
          </p:cNvSpPr>
          <p:nvPr/>
        </p:nvSpPr>
        <p:spPr bwMode="auto">
          <a:xfrm flipH="1">
            <a:off x="6105525" y="4938713"/>
            <a:ext cx="152400" cy="819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48" name="Line 28"/>
          <p:cNvSpPr>
            <a:spLocks noChangeShapeType="1"/>
          </p:cNvSpPr>
          <p:nvPr/>
        </p:nvSpPr>
        <p:spPr bwMode="auto">
          <a:xfrm flipH="1">
            <a:off x="5572125" y="4967288"/>
            <a:ext cx="685800" cy="257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49" name="Line 29"/>
          <p:cNvSpPr>
            <a:spLocks noChangeShapeType="1"/>
          </p:cNvSpPr>
          <p:nvPr/>
        </p:nvSpPr>
        <p:spPr bwMode="auto">
          <a:xfrm flipH="1" flipV="1">
            <a:off x="5562600" y="5224463"/>
            <a:ext cx="504825" cy="5238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50" name="Oval 30"/>
          <p:cNvSpPr>
            <a:spLocks noChangeArrowheads="1"/>
          </p:cNvSpPr>
          <p:nvPr/>
        </p:nvSpPr>
        <p:spPr bwMode="auto">
          <a:xfrm>
            <a:off x="5568950" y="4876800"/>
            <a:ext cx="904875" cy="895350"/>
          </a:xfrm>
          <a:prstGeom prst="ellipse">
            <a:avLst/>
          </a:prstGeom>
          <a:solidFill>
            <a:srgbClr val="CC0000">
              <a:alpha val="32001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51" name="Text Box 31"/>
          <p:cNvSpPr txBox="1">
            <a:spLocks noChangeArrowheads="1"/>
          </p:cNvSpPr>
          <p:nvPr/>
        </p:nvSpPr>
        <p:spPr bwMode="auto">
          <a:xfrm rot="-320074">
            <a:off x="6697663" y="4560888"/>
            <a:ext cx="22494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>
                <a:solidFill>
                  <a:srgbClr val="CC0000"/>
                </a:solidFill>
                <a:latin typeface="Arial" charset="0"/>
              </a:rPr>
              <a:t>incident thermal radiation</a:t>
            </a:r>
          </a:p>
        </p:txBody>
      </p:sp>
      <p:sp>
        <p:nvSpPr>
          <p:cNvPr id="286752" name="Line 32"/>
          <p:cNvSpPr>
            <a:spLocks noChangeShapeType="1"/>
          </p:cNvSpPr>
          <p:nvPr/>
        </p:nvSpPr>
        <p:spPr bwMode="auto">
          <a:xfrm flipH="1" flipV="1">
            <a:off x="6475413" y="5308600"/>
            <a:ext cx="2435225" cy="1984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57" name="Line 37"/>
          <p:cNvSpPr>
            <a:spLocks noChangeShapeType="1"/>
          </p:cNvSpPr>
          <p:nvPr/>
        </p:nvSpPr>
        <p:spPr bwMode="auto">
          <a:xfrm flipH="1">
            <a:off x="6080125" y="5305425"/>
            <a:ext cx="403225" cy="4460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86758" name="Group 38"/>
          <p:cNvGrpSpPr>
            <a:grpSpLocks/>
          </p:cNvGrpSpPr>
          <p:nvPr/>
        </p:nvGrpSpPr>
        <p:grpSpPr bwMode="auto">
          <a:xfrm>
            <a:off x="835025" y="5984875"/>
            <a:ext cx="7464425" cy="822325"/>
            <a:chOff x="510" y="1479"/>
            <a:chExt cx="4702" cy="518"/>
          </a:xfrm>
        </p:grpSpPr>
        <p:sp>
          <p:nvSpPr>
            <p:cNvPr id="286759" name="Rectangle 39"/>
            <p:cNvSpPr>
              <a:spLocks noChangeArrowheads="1"/>
            </p:cNvSpPr>
            <p:nvPr/>
          </p:nvSpPr>
          <p:spPr bwMode="auto">
            <a:xfrm>
              <a:off x="592" y="1492"/>
              <a:ext cx="311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sz="2400" i="1">
                  <a:latin typeface="Arial" charset="0"/>
                  <a:sym typeface="Symbol" pitchFamily="18" charset="2"/>
                </a:rPr>
                <a:t>P</a:t>
              </a:r>
              <a:r>
                <a:rPr lang="en-US" sz="2400">
                  <a:latin typeface="Arial" charset="0"/>
                  <a:sym typeface="Symbol" pitchFamily="18" charset="2"/>
                </a:rPr>
                <a:t> = </a:t>
              </a:r>
              <a:r>
                <a:rPr lang="en-US" sz="2400" i="1">
                  <a:latin typeface="Arial" charset="0"/>
                  <a:sym typeface="Symbol" pitchFamily="18" charset="2"/>
                </a:rPr>
                <a:t>e</a:t>
              </a:r>
              <a:r>
                <a:rPr lang="en-US" sz="2400">
                  <a:latin typeface="Arial" charset="0"/>
                  <a:sym typeface="Symbol" pitchFamily="18" charset="2"/>
                </a:rPr>
                <a:t></a:t>
              </a:r>
              <a:r>
                <a:rPr lang="en-US" sz="2400" i="1">
                  <a:latin typeface="Arial" charset="0"/>
                  <a:sym typeface="Symbol" pitchFamily="18" charset="2"/>
                </a:rPr>
                <a:t>AT</a:t>
              </a:r>
              <a:r>
                <a:rPr lang="en-US" sz="2400" baseline="30000">
                  <a:latin typeface="Arial" charset="0"/>
                  <a:sym typeface="Symbol" pitchFamily="18" charset="2"/>
                </a:rPr>
                <a:t> 4</a:t>
              </a:r>
            </a:p>
          </p:txBody>
        </p:sp>
        <p:sp>
          <p:nvSpPr>
            <p:cNvPr id="286760" name="Text Box 40"/>
            <p:cNvSpPr txBox="1">
              <a:spLocks noChangeArrowheads="1"/>
            </p:cNvSpPr>
            <p:nvPr/>
          </p:nvSpPr>
          <p:spPr bwMode="auto">
            <a:xfrm>
              <a:off x="3815" y="1479"/>
              <a:ext cx="1397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bg1"/>
                  </a:solidFill>
                  <a:latin typeface="Arial" charset="0"/>
                </a:rPr>
                <a:t>the Stefan-Boltzmann law</a:t>
              </a:r>
            </a:p>
          </p:txBody>
        </p:sp>
        <p:sp>
          <p:nvSpPr>
            <p:cNvPr id="286761" name="Rectangle 41"/>
            <p:cNvSpPr>
              <a:spLocks noChangeArrowheads="1"/>
            </p:cNvSpPr>
            <p:nvPr/>
          </p:nvSpPr>
          <p:spPr bwMode="auto">
            <a:xfrm>
              <a:off x="510" y="1481"/>
              <a:ext cx="4701" cy="5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62" name="Text Box 42"/>
            <p:cNvSpPr txBox="1">
              <a:spLocks noChangeArrowheads="1"/>
            </p:cNvSpPr>
            <p:nvPr/>
          </p:nvSpPr>
          <p:spPr bwMode="auto">
            <a:xfrm>
              <a:off x="896" y="1699"/>
              <a:ext cx="290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2400" i="1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where </a:t>
              </a:r>
              <a:r>
                <a:rPr lang="en-US" sz="24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</a:t>
              </a:r>
              <a:r>
                <a:rPr lang="en-US" sz="2400" i="1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 </a:t>
              </a:r>
              <a:r>
                <a:rPr lang="en-US" sz="24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= 5.6710</a:t>
              </a:r>
              <a:r>
                <a:rPr lang="en-US" sz="2400" baseline="300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-8</a:t>
              </a:r>
              <a:r>
                <a:rPr lang="en-US" sz="24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 W</a:t>
              </a:r>
              <a:r>
                <a:rPr lang="en-US" sz="2400" baseline="-250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 </a:t>
              </a:r>
              <a:r>
                <a:rPr lang="en-US" sz="24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m</a:t>
              </a:r>
              <a:r>
                <a:rPr lang="en-US" sz="2400" baseline="300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-2 </a:t>
              </a:r>
              <a:r>
                <a:rPr lang="en-US" sz="24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K</a:t>
              </a:r>
              <a:r>
                <a:rPr lang="en-US" sz="2400" baseline="300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-4</a:t>
              </a:r>
              <a:r>
                <a:rPr lang="en-US" sz="2400">
                  <a:solidFill>
                    <a:schemeClr val="hlink"/>
                  </a:solidFill>
                  <a:latin typeface="Arial" charset="0"/>
                  <a:sym typeface="Symbol" pitchFamily="18" charset="2"/>
                </a:rPr>
                <a:t>.</a:t>
              </a:r>
              <a:endPara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endParaRP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-0.12934 -1.48148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0"/>
                                        <p:tgtEl>
                                          <p:spTgt spid="28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86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6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6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8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8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0"/>
                                        <p:tgtEl>
                                          <p:spTgt spid="28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6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6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8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8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8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8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8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00"/>
                                        <p:tgtEl>
                                          <p:spTgt spid="28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8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28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8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86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86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86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86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8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2" grpId="0" animBg="1"/>
      <p:bldP spid="286733" grpId="0"/>
      <p:bldP spid="286733" grpId="1"/>
      <p:bldP spid="286734" grpId="0"/>
      <p:bldP spid="286735" grpId="0"/>
      <p:bldP spid="286736" grpId="0" animBg="1"/>
      <p:bldP spid="286737" grpId="0" animBg="1"/>
      <p:bldP spid="286738" grpId="0" animBg="1"/>
      <p:bldP spid="286739" grpId="0"/>
      <p:bldP spid="286743" grpId="0" animBg="1"/>
      <p:bldP spid="286744" grpId="0" animBg="1"/>
      <p:bldP spid="286745" grpId="0" animBg="1"/>
      <p:bldP spid="286746" grpId="0" animBg="1"/>
      <p:bldP spid="286747" grpId="0" animBg="1"/>
      <p:bldP spid="286748" grpId="0" animBg="1"/>
      <p:bldP spid="286749" grpId="0" animBg="1"/>
      <p:bldP spid="286750" grpId="0" animBg="1"/>
      <p:bldP spid="286751" grpId="0"/>
      <p:bldP spid="286752" grpId="0" animBg="1"/>
      <p:bldP spid="2867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43" name="Rectangle 19"/>
          <p:cNvSpPr>
            <a:spLocks noChangeArrowheads="1"/>
          </p:cNvSpPr>
          <p:nvPr/>
        </p:nvSpPr>
        <p:spPr bwMode="auto">
          <a:xfrm>
            <a:off x="682625" y="5581650"/>
            <a:ext cx="7764463" cy="1276350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sz="2400" b="1" i="1">
                <a:latin typeface="Arial" charset="0"/>
              </a:rPr>
              <a:t>FYI</a:t>
            </a:r>
          </a:p>
          <a:p>
            <a:pPr>
              <a:spcBef>
                <a:spcPct val="15000"/>
              </a:spcBef>
            </a:pPr>
            <a:r>
              <a:rPr lang="en-US" sz="2400" b="1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  <a:sym typeface="Symbol" pitchFamily="18" charset="2"/>
              </a:rPr>
              <a:t>The mirror has an albedo of almost 1.</a:t>
            </a:r>
          </a:p>
          <a:p>
            <a:pPr>
              <a:spcBef>
                <a:spcPct val="15000"/>
              </a:spcBef>
            </a:pPr>
            <a:r>
              <a:rPr lang="en-US" sz="2400" b="1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  <a:sym typeface="Symbol" pitchFamily="18" charset="2"/>
              </a:rPr>
              <a:t>The black-body has an albedo of almost 0.</a:t>
            </a:r>
          </a:p>
        </p:txBody>
      </p:sp>
      <p:sp>
        <p:nvSpPr>
          <p:cNvPr id="1050626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1814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Albedo</a:t>
            </a:r>
          </a:p>
          <a:p>
            <a:pPr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When light strikes an object, some of it                             is absorbed, and some of it is scattered.</a:t>
            </a:r>
          </a:p>
          <a:p>
            <a:pPr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If light strikes a mirror, nearly all of it                               will be scattered:</a:t>
            </a:r>
          </a:p>
          <a:p>
            <a:pPr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If light strikes a surface covered with lamp                    black, nearly all of it will be absorbed:</a:t>
            </a:r>
          </a:p>
          <a:p>
            <a:pPr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We define </a:t>
            </a:r>
            <a:r>
              <a:rPr lang="en-US" sz="2400" b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albedo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in terms of scattered                         and incident power:</a:t>
            </a:r>
          </a:p>
        </p:txBody>
      </p:sp>
      <p:pic>
        <p:nvPicPr>
          <p:cNvPr id="1050629" name="Picture 5" descr="grundtal-mirror__26202_PE093307_S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34" t="12866" r="5566" b="12900"/>
          <a:stretch>
            <a:fillRect/>
          </a:stretch>
        </p:blipFill>
        <p:spPr bwMode="auto">
          <a:xfrm>
            <a:off x="6484938" y="2152650"/>
            <a:ext cx="2465387" cy="1290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50632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59550" y="4173538"/>
            <a:ext cx="2271713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0635" name="Oval 11"/>
          <p:cNvSpPr>
            <a:spLocks noChangeArrowheads="1"/>
          </p:cNvSpPr>
          <p:nvPr/>
        </p:nvSpPr>
        <p:spPr bwMode="auto">
          <a:xfrm>
            <a:off x="7496175" y="2898775"/>
            <a:ext cx="374650" cy="155575"/>
          </a:xfrm>
          <a:prstGeom prst="ellipse">
            <a:avLst/>
          </a:prstGeom>
          <a:solidFill>
            <a:srgbClr val="FF6600">
              <a:alpha val="25098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0634" name="Freeform 10"/>
          <p:cNvSpPr>
            <a:spLocks/>
          </p:cNvSpPr>
          <p:nvPr/>
        </p:nvSpPr>
        <p:spPr bwMode="auto">
          <a:xfrm>
            <a:off x="6353175" y="1274763"/>
            <a:ext cx="2405063" cy="1697037"/>
          </a:xfrm>
          <a:custGeom>
            <a:avLst/>
            <a:gdLst>
              <a:gd name="T0" fmla="*/ 0 w 1515"/>
              <a:gd name="T1" fmla="*/ 0 h 1069"/>
              <a:gd name="T2" fmla="*/ 841 w 1515"/>
              <a:gd name="T3" fmla="*/ 1069 h 1069"/>
              <a:gd name="T4" fmla="*/ 1515 w 1515"/>
              <a:gd name="T5" fmla="*/ 501 h 1069"/>
              <a:gd name="T6" fmla="*/ 0 60000 65536"/>
              <a:gd name="T7" fmla="*/ 0 60000 65536"/>
              <a:gd name="T8" fmla="*/ 0 60000 65536"/>
              <a:gd name="T9" fmla="*/ 0 w 1515"/>
              <a:gd name="T10" fmla="*/ 0 h 1069"/>
              <a:gd name="T11" fmla="*/ 1515 w 1515"/>
              <a:gd name="T12" fmla="*/ 1069 h 10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15" h="1069">
                <a:moveTo>
                  <a:pt x="0" y="0"/>
                </a:moveTo>
                <a:lnTo>
                  <a:pt x="841" y="1069"/>
                </a:lnTo>
                <a:lnTo>
                  <a:pt x="1515" y="501"/>
                </a:lnTo>
              </a:path>
            </a:pathLst>
          </a:custGeom>
          <a:noFill/>
          <a:ln w="76200" cmpd="sng">
            <a:solidFill>
              <a:srgbClr val="FF6600"/>
            </a:solidFill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0637" name="Oval 13"/>
          <p:cNvSpPr>
            <a:spLocks noChangeArrowheads="1"/>
          </p:cNvSpPr>
          <p:nvPr/>
        </p:nvSpPr>
        <p:spPr bwMode="auto">
          <a:xfrm>
            <a:off x="7269163" y="4398963"/>
            <a:ext cx="1011237" cy="420687"/>
          </a:xfrm>
          <a:prstGeom prst="ellipse">
            <a:avLst/>
          </a:prstGeom>
          <a:solidFill>
            <a:srgbClr val="FF6600">
              <a:alpha val="25098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0636" name="Line 12"/>
          <p:cNvSpPr>
            <a:spLocks noChangeShapeType="1"/>
          </p:cNvSpPr>
          <p:nvPr/>
        </p:nvSpPr>
        <p:spPr bwMode="auto">
          <a:xfrm>
            <a:off x="6391275" y="2881313"/>
            <a:ext cx="1322388" cy="169545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90838" name="Group 22"/>
          <p:cNvGrpSpPr>
            <a:grpSpLocks/>
          </p:cNvGrpSpPr>
          <p:nvPr/>
        </p:nvGrpSpPr>
        <p:grpSpPr bwMode="auto">
          <a:xfrm>
            <a:off x="809625" y="5053013"/>
            <a:ext cx="5784850" cy="474662"/>
            <a:chOff x="510" y="3375"/>
            <a:chExt cx="3644" cy="299"/>
          </a:xfrm>
        </p:grpSpPr>
        <p:sp>
          <p:nvSpPr>
            <p:cNvPr id="290828" name="Rectangle 15"/>
            <p:cNvSpPr>
              <a:spLocks noChangeArrowheads="1"/>
            </p:cNvSpPr>
            <p:nvPr/>
          </p:nvSpPr>
          <p:spPr bwMode="auto">
            <a:xfrm>
              <a:off x="544" y="3375"/>
              <a:ext cx="311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sz="2400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albedo = </a:t>
              </a:r>
              <a:r>
                <a:rPr lang="en-US" sz="2400" i="1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P</a:t>
              </a:r>
              <a:r>
                <a:rPr lang="en-US" sz="2400" baseline="-25000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SCATTERED</a:t>
              </a:r>
              <a:r>
                <a:rPr lang="en-US" sz="2400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en-US" sz="2400" i="1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/</a:t>
              </a:r>
              <a:r>
                <a:rPr lang="en-US" sz="2400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en-US" sz="2400" i="1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P</a:t>
              </a:r>
              <a:r>
                <a:rPr lang="en-US" sz="2400" baseline="-25000">
                  <a:solidFill>
                    <a:srgbClr val="000000"/>
                  </a:solidFill>
                  <a:latin typeface="Arial" charset="0"/>
                  <a:cs typeface="Times New Roman" pitchFamily="18" charset="0"/>
                  <a:sym typeface="Symbol" pitchFamily="18" charset="2"/>
                </a:rPr>
                <a:t>INCIDENT</a:t>
              </a:r>
              <a:endParaRPr lang="en-US" sz="2400">
                <a:latin typeface="Arial" charset="0"/>
                <a:sym typeface="Symbol" pitchFamily="18" charset="2"/>
              </a:endParaRPr>
            </a:p>
          </p:txBody>
        </p:sp>
        <p:sp>
          <p:nvSpPr>
            <p:cNvPr id="290829" name="Text Box 16"/>
            <p:cNvSpPr txBox="1">
              <a:spLocks noChangeArrowheads="1"/>
            </p:cNvSpPr>
            <p:nvPr/>
          </p:nvSpPr>
          <p:spPr bwMode="auto">
            <a:xfrm>
              <a:off x="3354" y="3386"/>
              <a:ext cx="797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bg1"/>
                  </a:solidFill>
                  <a:latin typeface="Arial" charset="0"/>
                </a:rPr>
                <a:t>albedo</a:t>
              </a:r>
            </a:p>
          </p:txBody>
        </p:sp>
        <p:sp>
          <p:nvSpPr>
            <p:cNvPr id="290830" name="Rectangle 17"/>
            <p:cNvSpPr>
              <a:spLocks noChangeArrowheads="1"/>
            </p:cNvSpPr>
            <p:nvPr/>
          </p:nvSpPr>
          <p:spPr bwMode="auto">
            <a:xfrm>
              <a:off x="510" y="3388"/>
              <a:ext cx="3644" cy="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50644" name="Line 20"/>
          <p:cNvSpPr>
            <a:spLocks noChangeShapeType="1"/>
          </p:cNvSpPr>
          <p:nvPr/>
        </p:nvSpPr>
        <p:spPr bwMode="auto">
          <a:xfrm rot="-5400000">
            <a:off x="7834313" y="3656013"/>
            <a:ext cx="769937" cy="985837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0645" name="Text Box 21"/>
          <p:cNvSpPr txBox="1">
            <a:spLocks noChangeArrowheads="1"/>
          </p:cNvSpPr>
          <p:nvPr/>
        </p:nvSpPr>
        <p:spPr bwMode="auto">
          <a:xfrm>
            <a:off x="6489700" y="1125538"/>
            <a:ext cx="1344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</a:rPr>
              <a:t>P</a:t>
            </a:r>
            <a:r>
              <a:rPr lang="en-US" sz="2400" baseline="-25000">
                <a:solidFill>
                  <a:schemeClr val="accent2"/>
                </a:solidFill>
                <a:latin typeface="Arial" charset="0"/>
              </a:rPr>
              <a:t>INCIDENT</a:t>
            </a:r>
            <a:endParaRPr lang="en-US" sz="240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1050646" name="Text Box 22"/>
          <p:cNvSpPr txBox="1">
            <a:spLocks noChangeArrowheads="1"/>
          </p:cNvSpPr>
          <p:nvPr/>
        </p:nvSpPr>
        <p:spPr bwMode="auto">
          <a:xfrm>
            <a:off x="7615238" y="1631950"/>
            <a:ext cx="161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</a:rPr>
              <a:t>P</a:t>
            </a:r>
            <a:r>
              <a:rPr lang="en-US" sz="2400" baseline="-25000">
                <a:solidFill>
                  <a:schemeClr val="accent2"/>
                </a:solidFill>
                <a:latin typeface="Arial" charset="0"/>
              </a:rPr>
              <a:t>SCATTERED</a:t>
            </a:r>
            <a:endParaRPr lang="en-US" sz="240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1050647" name="Text Box 23"/>
          <p:cNvSpPr txBox="1">
            <a:spLocks noChangeArrowheads="1"/>
          </p:cNvSpPr>
          <p:nvPr/>
        </p:nvSpPr>
        <p:spPr bwMode="auto">
          <a:xfrm>
            <a:off x="6384925" y="3965575"/>
            <a:ext cx="1344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</a:rPr>
              <a:t>P</a:t>
            </a:r>
            <a:r>
              <a:rPr lang="en-US" sz="2400" baseline="-25000">
                <a:solidFill>
                  <a:schemeClr val="accent2"/>
                </a:solidFill>
                <a:latin typeface="Arial" charset="0"/>
              </a:rPr>
              <a:t>INCIDENT</a:t>
            </a:r>
            <a:endParaRPr lang="en-US" sz="240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1050648" name="Text Box 24"/>
          <p:cNvSpPr txBox="1">
            <a:spLocks noChangeArrowheads="1"/>
          </p:cNvSpPr>
          <p:nvPr/>
        </p:nvSpPr>
        <p:spPr bwMode="auto">
          <a:xfrm>
            <a:off x="7540625" y="3351213"/>
            <a:ext cx="161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</a:rPr>
              <a:t>P</a:t>
            </a:r>
            <a:r>
              <a:rPr lang="en-US" sz="2400" baseline="-25000">
                <a:solidFill>
                  <a:schemeClr val="accent2"/>
                </a:solidFill>
                <a:latin typeface="Arial" charset="0"/>
              </a:rPr>
              <a:t>SCATTERED</a:t>
            </a:r>
            <a:endParaRPr lang="en-US" sz="240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1050649" name="Text Box 25"/>
          <p:cNvSpPr txBox="1">
            <a:spLocks noChangeArrowheads="1"/>
          </p:cNvSpPr>
          <p:nvPr/>
        </p:nvSpPr>
        <p:spPr bwMode="auto">
          <a:xfrm>
            <a:off x="7304088" y="2911475"/>
            <a:ext cx="777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rgbClr val="FF3300"/>
                </a:solidFill>
                <a:latin typeface="Arial" charset="0"/>
              </a:rPr>
              <a:t>heat</a:t>
            </a:r>
          </a:p>
        </p:txBody>
      </p:sp>
      <p:sp>
        <p:nvSpPr>
          <p:cNvPr id="1050650" name="Text Box 26"/>
          <p:cNvSpPr txBox="1">
            <a:spLocks noChangeArrowheads="1"/>
          </p:cNvSpPr>
          <p:nvPr/>
        </p:nvSpPr>
        <p:spPr bwMode="auto">
          <a:xfrm>
            <a:off x="7358063" y="4445000"/>
            <a:ext cx="777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rgbClr val="FF3300"/>
                </a:solidFill>
                <a:latin typeface="Arial" charset="0"/>
              </a:rPr>
              <a:t>heat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0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0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0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0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0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0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50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50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5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5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50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50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5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50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50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5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50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50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50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50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50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50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5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5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50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50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5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5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50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50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5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50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50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50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50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5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05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5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05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635" grpId="0" animBg="1"/>
      <p:bldP spid="1050634" grpId="0" animBg="1"/>
      <p:bldP spid="1050637" grpId="0" animBg="1"/>
      <p:bldP spid="1050636" grpId="0" animBg="1"/>
      <p:bldP spid="1050644" grpId="0" animBg="1"/>
      <p:bldP spid="1050645" grpId="0"/>
      <p:bldP spid="1050646" grpId="0"/>
      <p:bldP spid="1050647" grpId="0"/>
      <p:bldP spid="1050648" grpId="0"/>
      <p:bldP spid="1050649" grpId="0"/>
      <p:bldP spid="10506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4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Albedo</a:t>
            </a:r>
            <a:endParaRPr lang="en-US">
              <a:solidFill>
                <a:srgbClr val="000000"/>
              </a:solidFill>
              <a:cs typeface="Times New Roman" pitchFamily="18" charset="0"/>
            </a:endParaRPr>
          </a:p>
          <a:p>
            <a:pPr>
              <a:spcBef>
                <a:spcPct val="15000"/>
              </a:spcBef>
            </a:pPr>
            <a:r>
              <a:rPr lang="en-US">
                <a:solidFill>
                  <a:srgbClr val="000000"/>
                </a:solidFill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Landforms, vegetation, weather, and seasons affect a planet’s albedo.</a:t>
            </a: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table shows                                                               that different                                                                terrains have                                                               different albedos.</a:t>
            </a: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Ocean water                                                                  scatters little                                                                      light (7%).</a:t>
            </a: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Snow and ice                                                               scatter a lot of light                                                                          (62% to 66%).</a:t>
            </a: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Desert (36%).	</a:t>
            </a:r>
          </a:p>
        </p:txBody>
      </p:sp>
      <p:pic>
        <p:nvPicPr>
          <p:cNvPr id="292903" name="Picture 3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16325" y="2393950"/>
            <a:ext cx="5389563" cy="3994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52691" name="Group 19"/>
          <p:cNvGrpSpPr>
            <a:grpSpLocks/>
          </p:cNvGrpSpPr>
          <p:nvPr/>
        </p:nvGrpSpPr>
        <p:grpSpPr bwMode="auto">
          <a:xfrm>
            <a:off x="8085138" y="2982913"/>
            <a:ext cx="228600" cy="3009900"/>
            <a:chOff x="3974" y="1705"/>
            <a:chExt cx="144" cy="1976"/>
          </a:xfrm>
        </p:grpSpPr>
        <p:sp>
          <p:nvSpPr>
            <p:cNvPr id="292871" name="Rectangle 6"/>
            <p:cNvSpPr>
              <a:spLocks noChangeArrowheads="1"/>
            </p:cNvSpPr>
            <p:nvPr/>
          </p:nvSpPr>
          <p:spPr bwMode="auto">
            <a:xfrm>
              <a:off x="3974" y="2465"/>
              <a:ext cx="144" cy="152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2" name="Rectangle 7"/>
            <p:cNvSpPr>
              <a:spLocks noChangeArrowheads="1"/>
            </p:cNvSpPr>
            <p:nvPr/>
          </p:nvSpPr>
          <p:spPr bwMode="auto">
            <a:xfrm>
              <a:off x="3974" y="2617"/>
              <a:ext cx="144" cy="152"/>
            </a:xfrm>
            <a:prstGeom prst="rect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3" name="Rectangle 8"/>
            <p:cNvSpPr>
              <a:spLocks noChangeArrowheads="1"/>
            </p:cNvSpPr>
            <p:nvPr/>
          </p:nvSpPr>
          <p:spPr bwMode="auto">
            <a:xfrm>
              <a:off x="3974" y="3377"/>
              <a:ext cx="144" cy="15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4" name="Rectangle 9"/>
            <p:cNvSpPr>
              <a:spLocks noChangeArrowheads="1"/>
            </p:cNvSpPr>
            <p:nvPr/>
          </p:nvSpPr>
          <p:spPr bwMode="auto">
            <a:xfrm>
              <a:off x="3974" y="3529"/>
              <a:ext cx="144" cy="152"/>
            </a:xfrm>
            <a:prstGeom prst="rect">
              <a:avLst/>
            </a:prstGeom>
            <a:solidFill>
              <a:srgbClr val="0066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5" name="Rectangle 10"/>
            <p:cNvSpPr>
              <a:spLocks noChangeArrowheads="1"/>
            </p:cNvSpPr>
            <p:nvPr/>
          </p:nvSpPr>
          <p:spPr bwMode="auto">
            <a:xfrm>
              <a:off x="3974" y="3225"/>
              <a:ext cx="144" cy="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6" name="Rectangle 11"/>
            <p:cNvSpPr>
              <a:spLocks noChangeArrowheads="1"/>
            </p:cNvSpPr>
            <p:nvPr/>
          </p:nvSpPr>
          <p:spPr bwMode="auto">
            <a:xfrm>
              <a:off x="3974" y="2921"/>
              <a:ext cx="144" cy="15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7" name="Rectangle 12"/>
            <p:cNvSpPr>
              <a:spLocks noChangeArrowheads="1"/>
            </p:cNvSpPr>
            <p:nvPr/>
          </p:nvSpPr>
          <p:spPr bwMode="auto">
            <a:xfrm>
              <a:off x="3974" y="3073"/>
              <a:ext cx="144" cy="152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8" name="Rectangle 13"/>
            <p:cNvSpPr>
              <a:spLocks noChangeArrowheads="1"/>
            </p:cNvSpPr>
            <p:nvPr/>
          </p:nvSpPr>
          <p:spPr bwMode="auto">
            <a:xfrm>
              <a:off x="3974" y="2769"/>
              <a:ext cx="144" cy="15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9" name="Rectangle 14"/>
            <p:cNvSpPr>
              <a:spLocks noChangeArrowheads="1"/>
            </p:cNvSpPr>
            <p:nvPr/>
          </p:nvSpPr>
          <p:spPr bwMode="auto">
            <a:xfrm>
              <a:off x="3974" y="2313"/>
              <a:ext cx="144" cy="15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0" name="Rectangle 15"/>
            <p:cNvSpPr>
              <a:spLocks noChangeArrowheads="1"/>
            </p:cNvSpPr>
            <p:nvPr/>
          </p:nvSpPr>
          <p:spPr bwMode="auto">
            <a:xfrm>
              <a:off x="3974" y="2161"/>
              <a:ext cx="144" cy="152"/>
            </a:xfrm>
            <a:prstGeom prst="rect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1" name="Rectangle 16"/>
            <p:cNvSpPr>
              <a:spLocks noChangeArrowheads="1"/>
            </p:cNvSpPr>
            <p:nvPr/>
          </p:nvSpPr>
          <p:spPr bwMode="auto">
            <a:xfrm>
              <a:off x="3974" y="2009"/>
              <a:ext cx="144" cy="15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2" name="Rectangle 17"/>
            <p:cNvSpPr>
              <a:spLocks noChangeArrowheads="1"/>
            </p:cNvSpPr>
            <p:nvPr/>
          </p:nvSpPr>
          <p:spPr bwMode="auto">
            <a:xfrm>
              <a:off x="3974" y="1857"/>
              <a:ext cx="144" cy="152"/>
            </a:xfrm>
            <a:prstGeom prst="rect">
              <a:avLst/>
            </a:prstGeom>
            <a:solidFill>
              <a:srgbClr val="66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3" name="Rectangle 18"/>
            <p:cNvSpPr>
              <a:spLocks noChangeArrowheads="1"/>
            </p:cNvSpPr>
            <p:nvPr/>
          </p:nvSpPr>
          <p:spPr bwMode="auto">
            <a:xfrm>
              <a:off x="3974" y="1705"/>
              <a:ext cx="144" cy="15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52692" name="Group 20"/>
          <p:cNvGrpSpPr>
            <a:grpSpLocks/>
          </p:cNvGrpSpPr>
          <p:nvPr/>
        </p:nvGrpSpPr>
        <p:grpSpPr bwMode="auto">
          <a:xfrm>
            <a:off x="3435350" y="2997200"/>
            <a:ext cx="228600" cy="3009900"/>
            <a:chOff x="3974" y="1705"/>
            <a:chExt cx="144" cy="1976"/>
          </a:xfrm>
        </p:grpSpPr>
        <p:sp>
          <p:nvSpPr>
            <p:cNvPr id="292885" name="Rectangle 21"/>
            <p:cNvSpPr>
              <a:spLocks noChangeArrowheads="1"/>
            </p:cNvSpPr>
            <p:nvPr/>
          </p:nvSpPr>
          <p:spPr bwMode="auto">
            <a:xfrm>
              <a:off x="3974" y="2465"/>
              <a:ext cx="144" cy="152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6" name="Rectangle 22"/>
            <p:cNvSpPr>
              <a:spLocks noChangeArrowheads="1"/>
            </p:cNvSpPr>
            <p:nvPr/>
          </p:nvSpPr>
          <p:spPr bwMode="auto">
            <a:xfrm>
              <a:off x="3974" y="2617"/>
              <a:ext cx="144" cy="152"/>
            </a:xfrm>
            <a:prstGeom prst="rect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7" name="Rectangle 23"/>
            <p:cNvSpPr>
              <a:spLocks noChangeArrowheads="1"/>
            </p:cNvSpPr>
            <p:nvPr/>
          </p:nvSpPr>
          <p:spPr bwMode="auto">
            <a:xfrm>
              <a:off x="3974" y="3377"/>
              <a:ext cx="144" cy="15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8" name="Rectangle 24"/>
            <p:cNvSpPr>
              <a:spLocks noChangeArrowheads="1"/>
            </p:cNvSpPr>
            <p:nvPr/>
          </p:nvSpPr>
          <p:spPr bwMode="auto">
            <a:xfrm>
              <a:off x="3974" y="3529"/>
              <a:ext cx="144" cy="152"/>
            </a:xfrm>
            <a:prstGeom prst="rect">
              <a:avLst/>
            </a:prstGeom>
            <a:solidFill>
              <a:srgbClr val="0066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9" name="Rectangle 25"/>
            <p:cNvSpPr>
              <a:spLocks noChangeArrowheads="1"/>
            </p:cNvSpPr>
            <p:nvPr/>
          </p:nvSpPr>
          <p:spPr bwMode="auto">
            <a:xfrm>
              <a:off x="3974" y="3225"/>
              <a:ext cx="144" cy="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90" name="Rectangle 26"/>
            <p:cNvSpPr>
              <a:spLocks noChangeArrowheads="1"/>
            </p:cNvSpPr>
            <p:nvPr/>
          </p:nvSpPr>
          <p:spPr bwMode="auto">
            <a:xfrm>
              <a:off x="3974" y="2921"/>
              <a:ext cx="144" cy="15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91" name="Rectangle 27"/>
            <p:cNvSpPr>
              <a:spLocks noChangeArrowheads="1"/>
            </p:cNvSpPr>
            <p:nvPr/>
          </p:nvSpPr>
          <p:spPr bwMode="auto">
            <a:xfrm>
              <a:off x="3974" y="3073"/>
              <a:ext cx="144" cy="152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92" name="Rectangle 28"/>
            <p:cNvSpPr>
              <a:spLocks noChangeArrowheads="1"/>
            </p:cNvSpPr>
            <p:nvPr/>
          </p:nvSpPr>
          <p:spPr bwMode="auto">
            <a:xfrm>
              <a:off x="3974" y="2769"/>
              <a:ext cx="144" cy="15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93" name="Rectangle 29"/>
            <p:cNvSpPr>
              <a:spLocks noChangeArrowheads="1"/>
            </p:cNvSpPr>
            <p:nvPr/>
          </p:nvSpPr>
          <p:spPr bwMode="auto">
            <a:xfrm>
              <a:off x="3974" y="2313"/>
              <a:ext cx="144" cy="15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94" name="Rectangle 30"/>
            <p:cNvSpPr>
              <a:spLocks noChangeArrowheads="1"/>
            </p:cNvSpPr>
            <p:nvPr/>
          </p:nvSpPr>
          <p:spPr bwMode="auto">
            <a:xfrm>
              <a:off x="3974" y="2161"/>
              <a:ext cx="144" cy="152"/>
            </a:xfrm>
            <a:prstGeom prst="rect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95" name="Rectangle 31"/>
            <p:cNvSpPr>
              <a:spLocks noChangeArrowheads="1"/>
            </p:cNvSpPr>
            <p:nvPr/>
          </p:nvSpPr>
          <p:spPr bwMode="auto">
            <a:xfrm>
              <a:off x="3974" y="2009"/>
              <a:ext cx="144" cy="15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96" name="Rectangle 32"/>
            <p:cNvSpPr>
              <a:spLocks noChangeArrowheads="1"/>
            </p:cNvSpPr>
            <p:nvPr/>
          </p:nvSpPr>
          <p:spPr bwMode="auto">
            <a:xfrm>
              <a:off x="3974" y="1857"/>
              <a:ext cx="144" cy="152"/>
            </a:xfrm>
            <a:prstGeom prst="rect">
              <a:avLst/>
            </a:prstGeom>
            <a:solidFill>
              <a:srgbClr val="66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97" name="Rectangle 33"/>
            <p:cNvSpPr>
              <a:spLocks noChangeArrowheads="1"/>
            </p:cNvSpPr>
            <p:nvPr/>
          </p:nvSpPr>
          <p:spPr bwMode="auto">
            <a:xfrm>
              <a:off x="3974" y="1705"/>
              <a:ext cx="144" cy="15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52706" name="Rectangle 34"/>
          <p:cNvSpPr>
            <a:spLocks noChangeArrowheads="1"/>
          </p:cNvSpPr>
          <p:nvPr/>
        </p:nvSpPr>
        <p:spPr bwMode="auto">
          <a:xfrm>
            <a:off x="3681413" y="5786438"/>
            <a:ext cx="4367212" cy="192087"/>
          </a:xfrm>
          <a:prstGeom prst="rect">
            <a:avLst/>
          </a:prstGeom>
          <a:solidFill>
            <a:srgbClr val="009999">
              <a:alpha val="3294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2707" name="Rectangle 35"/>
          <p:cNvSpPr>
            <a:spLocks noChangeArrowheads="1"/>
          </p:cNvSpPr>
          <p:nvPr/>
        </p:nvSpPr>
        <p:spPr bwMode="auto">
          <a:xfrm>
            <a:off x="3683000" y="5330825"/>
            <a:ext cx="4367213" cy="192088"/>
          </a:xfrm>
          <a:prstGeom prst="rect">
            <a:avLst/>
          </a:prstGeom>
          <a:solidFill>
            <a:srgbClr val="BBE0E3">
              <a:alpha val="14902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2708" name="Rectangle 36"/>
          <p:cNvSpPr>
            <a:spLocks noChangeArrowheads="1"/>
          </p:cNvSpPr>
          <p:nvPr/>
        </p:nvSpPr>
        <p:spPr bwMode="auto">
          <a:xfrm>
            <a:off x="3697288" y="5559425"/>
            <a:ext cx="4367212" cy="192088"/>
          </a:xfrm>
          <a:prstGeom prst="rect">
            <a:avLst/>
          </a:prstGeom>
          <a:solidFill>
            <a:schemeClr val="accent1">
              <a:alpha val="32941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2709" name="Rectangle 37"/>
          <p:cNvSpPr>
            <a:spLocks noChangeArrowheads="1"/>
          </p:cNvSpPr>
          <p:nvPr/>
        </p:nvSpPr>
        <p:spPr bwMode="auto">
          <a:xfrm>
            <a:off x="3675063" y="4862513"/>
            <a:ext cx="4367212" cy="192087"/>
          </a:xfrm>
          <a:prstGeom prst="rect">
            <a:avLst/>
          </a:prstGeom>
          <a:solidFill>
            <a:srgbClr val="FFCC99">
              <a:alpha val="3294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2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2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2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2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2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2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2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2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5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52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2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5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5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52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52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5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2000"/>
                                        <p:tgtEl>
                                          <p:spTgt spid="105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2000"/>
                                        <p:tgtEl>
                                          <p:spTgt spid="105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706" grpId="0" animBg="1"/>
      <p:bldP spid="1052707" grpId="0" animBg="1"/>
      <p:bldP spid="1052708" grpId="0" animBg="1"/>
      <p:bldP spid="105270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8" name="Rectangle 8"/>
          <p:cNvSpPr>
            <a:spLocks noChangeArrowheads="1"/>
          </p:cNvSpPr>
          <p:nvPr/>
        </p:nvSpPr>
        <p:spPr bwMode="auto">
          <a:xfrm>
            <a:off x="674688" y="1854200"/>
            <a:ext cx="7772400" cy="50038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Satellites are used to map out monthly albedos.</a:t>
            </a:r>
          </a:p>
        </p:txBody>
      </p:sp>
      <p:pic>
        <p:nvPicPr>
          <p:cNvPr id="1110050" name="Picture 3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8838" y="2709863"/>
            <a:ext cx="7412037" cy="3638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10051" name="Text Box 35"/>
          <p:cNvSpPr txBox="1">
            <a:spLocks noChangeArrowheads="1"/>
          </p:cNvSpPr>
          <p:nvPr/>
        </p:nvSpPr>
        <p:spPr bwMode="auto">
          <a:xfrm>
            <a:off x="3559175" y="6399213"/>
            <a:ext cx="465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bg2"/>
                </a:solidFill>
                <a:latin typeface="Arial" charset="0"/>
              </a:rPr>
              <a:t>April, 2002, </a:t>
            </a:r>
            <a:r>
              <a:rPr lang="en-US" sz="2400" i="1">
                <a:solidFill>
                  <a:schemeClr val="bg2"/>
                </a:solidFill>
                <a:latin typeface="Arial" charset="0"/>
              </a:rPr>
              <a:t>Terra</a:t>
            </a:r>
            <a:r>
              <a:rPr lang="en-US" sz="2400">
                <a:solidFill>
                  <a:schemeClr val="bg2"/>
                </a:solidFill>
                <a:latin typeface="Arial" charset="0"/>
              </a:rPr>
              <a:t> satellite, NASA</a:t>
            </a:r>
          </a:p>
        </p:txBody>
      </p:sp>
      <p:sp>
        <p:nvSpPr>
          <p:cNvPr id="1110052" name="Text Box 36"/>
          <p:cNvSpPr txBox="1">
            <a:spLocks noChangeArrowheads="1"/>
          </p:cNvSpPr>
          <p:nvPr/>
        </p:nvSpPr>
        <p:spPr bwMode="auto">
          <a:xfrm>
            <a:off x="877888" y="4905375"/>
            <a:ext cx="206216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rial" charset="0"/>
              </a:rPr>
              <a:t>White and gray areas: No data.</a:t>
            </a:r>
          </a:p>
        </p:txBody>
      </p:sp>
      <p:sp>
        <p:nvSpPr>
          <p:cNvPr id="1110053" name="Text Box 37"/>
          <p:cNvSpPr txBox="1">
            <a:spLocks noChangeArrowheads="1"/>
          </p:cNvSpPr>
          <p:nvPr/>
        </p:nvSpPr>
        <p:spPr bwMode="auto">
          <a:xfrm>
            <a:off x="5559425" y="5495925"/>
            <a:ext cx="1135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rial" charset="0"/>
              </a:rPr>
              <a:t>Albedo</a:t>
            </a:r>
          </a:p>
        </p:txBody>
      </p:sp>
      <p:sp>
        <p:nvSpPr>
          <p:cNvPr id="296962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</a:rPr>
              <a:t>Albedo</a:t>
            </a:r>
            <a:endParaRPr lang="en-US">
              <a:solidFill>
                <a:srgbClr val="00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11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0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0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1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10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0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051" grpId="0"/>
      <p:bldP spid="1110052" grpId="0"/>
      <p:bldP spid="11100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</a:rPr>
              <a:t>Albedo</a:t>
            </a:r>
            <a:endParaRPr lang="en-US" sz="2400">
              <a:solidFill>
                <a:srgbClr val="000000"/>
              </a:solidFill>
              <a:latin typeface="Arial" charset="0"/>
              <a:cs typeface="Times New Roman" pitchFamily="18" charset="0"/>
            </a:endParaRP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From the previous table and satellite map it is clear that calculating the overall albedo                                       of a planet is quite complex.</a:t>
            </a: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Clouds (and even contrails)                                              also contribute to                                                                    the albedo.</a:t>
            </a: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Overall, Earth’s mean                                                     yearly albedo is about                                                                 0.3 (or 30%).</a:t>
            </a: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actual albedo depends                                              on season, latitude, cloud                                                      cover, and snow cover.</a:t>
            </a:r>
          </a:p>
          <a:p>
            <a:pPr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It varies daily!</a:t>
            </a:r>
          </a:p>
        </p:txBody>
      </p:sp>
      <p:pic>
        <p:nvPicPr>
          <p:cNvPr id="1056802" name="Picture 34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24375" y="2401888"/>
            <a:ext cx="4606925" cy="4459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568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56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56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60" name="Rectangle 4"/>
          <p:cNvSpPr>
            <a:spLocks noChangeArrowheads="1"/>
          </p:cNvSpPr>
          <p:nvPr/>
        </p:nvSpPr>
        <p:spPr bwMode="auto">
          <a:xfrm>
            <a:off x="674688" y="1808163"/>
            <a:ext cx="7772400" cy="504983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Assuming an albedo of 0.30,                        find, for Earth: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(a) the power of the sunlight received.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 Use 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>
                <a:latin typeface="Arial" charset="0"/>
                <a:sym typeface="Symbol" pitchFamily="18" charset="2"/>
              </a:rPr>
              <a:t> = 1380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 and 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latin typeface="Arial" charset="0"/>
                <a:sym typeface="Symbol" pitchFamily="18" charset="2"/>
              </a:rPr>
              <a:t>P / A</a:t>
            </a:r>
            <a:r>
              <a:rPr lang="en-US" sz="2400">
                <a:latin typeface="Arial" charset="0"/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The radius of Earth is </a:t>
            </a:r>
            <a:r>
              <a:rPr lang="en-US" sz="2400" i="1">
                <a:latin typeface="Arial" charset="0"/>
                <a:sym typeface="Symbol" pitchFamily="18" charset="2"/>
              </a:rPr>
              <a:t>r</a:t>
            </a:r>
            <a:r>
              <a:rPr lang="en-US" sz="2400">
                <a:latin typeface="Arial" charset="0"/>
                <a:sym typeface="Symbol" pitchFamily="18" charset="2"/>
              </a:rPr>
              <a:t> = 6.3710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6</a:t>
            </a:r>
            <a:r>
              <a:rPr lang="en-US" sz="2400">
                <a:latin typeface="Arial" charset="0"/>
                <a:sym typeface="Symbol" pitchFamily="18" charset="2"/>
              </a:rPr>
              <a:t> m so its                   cross-sectional area is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 i="1">
                <a:latin typeface="Arial" charset="0"/>
                <a:sym typeface="Symbol" pitchFamily="18" charset="2"/>
              </a:rPr>
              <a:t>      A</a:t>
            </a:r>
            <a:r>
              <a:rPr lang="en-US" sz="2400">
                <a:latin typeface="Arial" charset="0"/>
                <a:sym typeface="Symbol" pitchFamily="18" charset="2"/>
              </a:rPr>
              <a:t> = </a:t>
            </a:r>
            <a:r>
              <a:rPr lang="en-US" sz="2400" i="1">
                <a:latin typeface="Arial" charset="0"/>
                <a:sym typeface="Symbol" pitchFamily="18" charset="2"/>
              </a:rPr>
              <a:t>r</a:t>
            </a:r>
            <a:r>
              <a:rPr lang="en-US" sz="2400" baseline="30000">
                <a:latin typeface="Arial" charset="0"/>
                <a:sym typeface="Symbol" pitchFamily="18" charset="2"/>
              </a:rPr>
              <a:t>2</a:t>
            </a:r>
            <a:r>
              <a:rPr lang="en-US" sz="2400">
                <a:latin typeface="Arial" charset="0"/>
                <a:sym typeface="Symbol" pitchFamily="18" charset="2"/>
              </a:rPr>
              <a:t> = (6.3710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6</a:t>
            </a:r>
            <a:r>
              <a:rPr lang="en-US" sz="2400">
                <a:latin typeface="Arial" charset="0"/>
                <a:sym typeface="Symbol" pitchFamily="18" charset="2"/>
              </a:rPr>
              <a:t>)</a:t>
            </a:r>
            <a:r>
              <a:rPr lang="en-US" sz="2400" baseline="30000">
                <a:latin typeface="Arial" charset="0"/>
                <a:sym typeface="Symbol" pitchFamily="18" charset="2"/>
              </a:rPr>
              <a:t>2</a:t>
            </a:r>
            <a:r>
              <a:rPr lang="en-US" sz="2400">
                <a:latin typeface="Arial" charset="0"/>
                <a:sym typeface="Symbol" pitchFamily="18" charset="2"/>
              </a:rPr>
              <a:t> = 1.2710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14</a:t>
            </a:r>
            <a:r>
              <a:rPr lang="en-US" sz="2400">
                <a:latin typeface="Arial" charset="0"/>
                <a:sym typeface="Symbol" pitchFamily="18" charset="2"/>
              </a:rPr>
              <a:t> m</a:t>
            </a:r>
            <a:r>
              <a:rPr lang="en-US" sz="2400" baseline="30000">
                <a:latin typeface="Arial" charset="0"/>
                <a:sym typeface="Symbol" pitchFamily="18" charset="2"/>
              </a:rPr>
              <a:t>2</a:t>
            </a:r>
            <a:r>
              <a:rPr lang="en-US" sz="2400">
                <a:latin typeface="Arial" charset="0"/>
                <a:sym typeface="Symbol" pitchFamily="18" charset="2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An albedo of 0.30 means that 70% of the sunlight is absorbed (because 30% is scattered). Thus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 i="1">
                <a:latin typeface="Arial" charset="0"/>
                <a:sym typeface="Symbol" pitchFamily="18" charset="2"/>
              </a:rPr>
              <a:t>P</a:t>
            </a:r>
            <a:r>
              <a:rPr lang="en-US" sz="2400">
                <a:latin typeface="Arial" charset="0"/>
                <a:sym typeface="Symbol" pitchFamily="18" charset="2"/>
              </a:rPr>
              <a:t> =(0.70)</a:t>
            </a:r>
            <a:r>
              <a:rPr lang="en-US" sz="2400" i="1">
                <a:latin typeface="Arial" charset="0"/>
                <a:sym typeface="Symbol" pitchFamily="18" charset="2"/>
              </a:rPr>
              <a:t>IA</a:t>
            </a:r>
            <a:r>
              <a:rPr lang="en-US" sz="2400">
                <a:latin typeface="Arial" charset="0"/>
                <a:sym typeface="Symbol" pitchFamily="18" charset="2"/>
              </a:rPr>
              <a:t> =(0.70)(1380)(1.2710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14</a:t>
            </a:r>
            <a:r>
              <a:rPr lang="en-US" sz="2400">
                <a:latin typeface="Arial" charset="0"/>
                <a:sym typeface="Symbol" pitchFamily="18" charset="2"/>
              </a:rPr>
              <a:t>) = 1.2310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17</a:t>
            </a:r>
            <a:r>
              <a:rPr lang="en-US" sz="2400">
                <a:latin typeface="Arial" charset="0"/>
                <a:sym typeface="Symbol" pitchFamily="18" charset="2"/>
              </a:rPr>
              <a:t> W.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Thus Earth intercepts energy from the sun at a rate of 1.2310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17</a:t>
            </a:r>
            <a:r>
              <a:rPr lang="en-US" sz="2400">
                <a:latin typeface="Arial" charset="0"/>
                <a:sym typeface="Symbol" pitchFamily="18" charset="2"/>
              </a:rPr>
              <a:t> W.</a:t>
            </a:r>
          </a:p>
        </p:txBody>
      </p:sp>
      <p:sp>
        <p:nvSpPr>
          <p:cNvPr id="301062" name="Oval 6"/>
          <p:cNvSpPr>
            <a:spLocks noChangeArrowheads="1"/>
          </p:cNvSpPr>
          <p:nvPr/>
        </p:nvSpPr>
        <p:spPr bwMode="auto">
          <a:xfrm>
            <a:off x="7059613" y="1917700"/>
            <a:ext cx="155575" cy="17795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1058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508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Solving problems involving albedo</a:t>
            </a:r>
          </a:p>
        </p:txBody>
      </p:sp>
      <p:pic>
        <p:nvPicPr>
          <p:cNvPr id="301061" name="Picture 5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42175" y="1935163"/>
            <a:ext cx="1863725" cy="180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1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1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1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1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1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1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1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1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1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01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1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1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12" name="Rectangle 8"/>
          <p:cNvSpPr>
            <a:spLocks noChangeArrowheads="1"/>
          </p:cNvSpPr>
          <p:nvPr/>
        </p:nvSpPr>
        <p:spPr bwMode="auto">
          <a:xfrm>
            <a:off x="674688" y="1808163"/>
            <a:ext cx="7772400" cy="504983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Assuming an albedo of 0.30,                        find, for Earth: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(b) the </a:t>
            </a:r>
            <a:r>
              <a:rPr lang="en-US" sz="2400" i="1">
                <a:latin typeface="Arial" charset="0"/>
                <a:sym typeface="Symbol" pitchFamily="18" charset="2"/>
              </a:rPr>
              <a:t>predicted</a:t>
            </a:r>
            <a:r>
              <a:rPr lang="en-US" sz="2400">
                <a:latin typeface="Arial" charset="0"/>
                <a:sym typeface="Symbol" pitchFamily="18" charset="2"/>
              </a:rPr>
              <a:t> temperature due to the                      sunlight reaching it. </a:t>
            </a:r>
          </a:p>
          <a:p>
            <a:pPr eaLnBrk="0" hangingPunct="0"/>
            <a:r>
              <a:rPr lang="en-US" sz="2400">
                <a:latin typeface="Arial" charset="0"/>
                <a:sym typeface="Symbol" pitchFamily="18" charset="2"/>
              </a:rPr>
              <a:t>SOLUTION: </a:t>
            </a:r>
          </a:p>
          <a:p>
            <a:pPr eaLnBrk="0" hangingPunct="0"/>
            <a:r>
              <a:rPr lang="en-US" sz="2400">
                <a:latin typeface="Arial" charset="0"/>
                <a:sym typeface="Symbol" pitchFamily="18" charset="2"/>
              </a:rPr>
              <a:t>From the previous example </a:t>
            </a:r>
            <a:r>
              <a:rPr lang="en-US" sz="2400" i="1">
                <a:latin typeface="Arial" charset="0"/>
                <a:sym typeface="Symbol" pitchFamily="18" charset="2"/>
              </a:rPr>
              <a:t>P</a:t>
            </a:r>
            <a:r>
              <a:rPr lang="en-US" sz="2400">
                <a:latin typeface="Arial" charset="0"/>
                <a:sym typeface="Symbol" pitchFamily="18" charset="2"/>
              </a:rPr>
              <a:t> = 1.2310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17</a:t>
            </a:r>
            <a:r>
              <a:rPr lang="en-US" sz="2400">
                <a:latin typeface="Arial" charset="0"/>
                <a:sym typeface="Symbol" pitchFamily="18" charset="2"/>
              </a:rPr>
              <a:t> W.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But this power is distributed over the whole </a:t>
            </a:r>
            <a:r>
              <a:rPr lang="en-US" sz="2400" i="1">
                <a:latin typeface="Arial" charset="0"/>
                <a:sym typeface="Symbol" pitchFamily="18" charset="2"/>
              </a:rPr>
              <a:t>rotating </a:t>
            </a:r>
            <a:r>
              <a:rPr lang="en-US" sz="2400">
                <a:latin typeface="Arial" charset="0"/>
                <a:sym typeface="Symbol" pitchFamily="18" charset="2"/>
              </a:rPr>
              <a:t>planet, which has an area </a:t>
            </a:r>
            <a:r>
              <a:rPr lang="en-US" sz="2400" i="1">
                <a:latin typeface="Arial" charset="0"/>
                <a:sym typeface="Symbol" pitchFamily="18" charset="2"/>
              </a:rPr>
              <a:t>A</a:t>
            </a:r>
            <a:r>
              <a:rPr lang="en-US" sz="2400" i="1" baseline="-25000">
                <a:latin typeface="Arial" charset="0"/>
                <a:sym typeface="Symbol" pitchFamily="18" charset="2"/>
              </a:rPr>
              <a:t>sphere</a:t>
            </a:r>
            <a:r>
              <a:rPr lang="en-US" sz="2400">
                <a:latin typeface="Arial" charset="0"/>
                <a:sym typeface="Symbol" pitchFamily="18" charset="2"/>
              </a:rPr>
              <a:t> = 4</a:t>
            </a:r>
            <a:r>
              <a:rPr lang="en-US" sz="2400" i="1">
                <a:latin typeface="Arial" charset="0"/>
                <a:sym typeface="Symbol" pitchFamily="18" charset="2"/>
              </a:rPr>
              <a:t>r</a:t>
            </a:r>
            <a:r>
              <a:rPr lang="en-US" sz="2400" baseline="30000">
                <a:latin typeface="Arial" charset="0"/>
                <a:sym typeface="Symbol" pitchFamily="18" charset="2"/>
              </a:rPr>
              <a:t>2</a:t>
            </a:r>
            <a:r>
              <a:rPr lang="en-US" sz="2400">
                <a:latin typeface="Arial" charset="0"/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From Stefan-Boltzmann we have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 i="1">
                <a:latin typeface="Arial" charset="0"/>
                <a:sym typeface="Symbol" pitchFamily="18" charset="2"/>
              </a:rPr>
              <a:t>              </a:t>
            </a:r>
            <a:r>
              <a:rPr lang="en-US" sz="2400" i="1" baseline="-25000">
                <a:latin typeface="Arial" charset="0"/>
                <a:sym typeface="Symbol" pitchFamily="18" charset="2"/>
              </a:rPr>
              <a:t>                 </a:t>
            </a:r>
            <a:r>
              <a:rPr lang="en-US" sz="2400" i="1">
                <a:latin typeface="Arial" charset="0"/>
                <a:sym typeface="Symbol" pitchFamily="18" charset="2"/>
              </a:rPr>
              <a:t>P</a:t>
            </a:r>
            <a:r>
              <a:rPr lang="en-US" sz="2400"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latin typeface="Arial" charset="0"/>
                <a:sym typeface="Symbol" pitchFamily="18" charset="2"/>
              </a:rPr>
              <a:t>AT</a:t>
            </a:r>
            <a:r>
              <a:rPr lang="en-US" sz="2400" baseline="30000">
                <a:latin typeface="Arial" charset="0"/>
                <a:sym typeface="Symbol" pitchFamily="18" charset="2"/>
              </a:rPr>
              <a:t>4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            1.2310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17</a:t>
            </a:r>
            <a:r>
              <a:rPr lang="en-US" sz="2400">
                <a:latin typeface="Arial" charset="0"/>
                <a:sym typeface="Symbol" pitchFamily="18" charset="2"/>
              </a:rPr>
              <a:t> = (5.6710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-8</a:t>
            </a:r>
            <a:r>
              <a:rPr lang="en-US" sz="2400">
                <a:latin typeface="Arial" charset="0"/>
                <a:sym typeface="Symbol" pitchFamily="18" charset="2"/>
              </a:rPr>
              <a:t>)4(6.3710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6</a:t>
            </a:r>
            <a:r>
              <a:rPr lang="en-US" sz="2400">
                <a:latin typeface="Arial" charset="0"/>
                <a:sym typeface="Symbol" pitchFamily="18" charset="2"/>
              </a:rPr>
              <a:t>)</a:t>
            </a:r>
            <a:r>
              <a:rPr lang="en-US" sz="2400" baseline="30000">
                <a:latin typeface="Arial" charset="0"/>
                <a:sym typeface="Symbol" pitchFamily="18" charset="2"/>
              </a:rPr>
              <a:t>2</a:t>
            </a:r>
            <a:r>
              <a:rPr lang="en-US" sz="2400" i="1">
                <a:latin typeface="Arial" charset="0"/>
                <a:sym typeface="Symbol" pitchFamily="18" charset="2"/>
              </a:rPr>
              <a:t>T</a:t>
            </a:r>
            <a:r>
              <a:rPr lang="en-US" sz="2400" baseline="30000">
                <a:latin typeface="Arial" charset="0"/>
                <a:sym typeface="Symbol" pitchFamily="18" charset="2"/>
              </a:rPr>
              <a:t>4</a:t>
            </a: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 i="1">
                <a:latin typeface="Arial" charset="0"/>
                <a:sym typeface="Symbol" pitchFamily="18" charset="2"/>
              </a:rPr>
              <a:t>              </a:t>
            </a:r>
            <a:r>
              <a:rPr lang="en-US" sz="2400" i="1" baseline="-25000">
                <a:latin typeface="Arial" charset="0"/>
                <a:sym typeface="Symbol" pitchFamily="18" charset="2"/>
              </a:rPr>
              <a:t>                 </a:t>
            </a:r>
            <a:r>
              <a:rPr lang="en-US" sz="2400" i="1">
                <a:latin typeface="Arial" charset="0"/>
                <a:sym typeface="Symbol" pitchFamily="18" charset="2"/>
              </a:rPr>
              <a:t>T</a:t>
            </a:r>
            <a:r>
              <a:rPr lang="en-US" sz="2400">
                <a:latin typeface="Arial" charset="0"/>
                <a:sym typeface="Symbol" pitchFamily="18" charset="2"/>
              </a:rPr>
              <a:t> = 255 K (-18</a:t>
            </a:r>
            <a:r>
              <a:rPr lang="en-US" sz="2400">
                <a:latin typeface="Arial" charset="0"/>
                <a:cs typeface="Courier New" pitchFamily="49" charset="0"/>
                <a:sym typeface="Symbol" pitchFamily="18" charset="2"/>
              </a:rPr>
              <a:t>°C).</a:t>
            </a:r>
          </a:p>
        </p:txBody>
      </p:sp>
      <p:pic>
        <p:nvPicPr>
          <p:cNvPr id="303109" name="Picture 5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42175" y="1935163"/>
            <a:ext cx="1863725" cy="180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3110" name="Oval 6"/>
          <p:cNvSpPr>
            <a:spLocks noChangeArrowheads="1"/>
          </p:cNvSpPr>
          <p:nvPr/>
        </p:nvSpPr>
        <p:spPr bwMode="auto">
          <a:xfrm>
            <a:off x="7059613" y="1959904"/>
            <a:ext cx="155575" cy="17795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3111" name="Oval 7"/>
          <p:cNvSpPr>
            <a:spLocks noChangeArrowheads="1"/>
          </p:cNvSpPr>
          <p:nvPr/>
        </p:nvSpPr>
        <p:spPr bwMode="auto">
          <a:xfrm>
            <a:off x="7237413" y="1933356"/>
            <a:ext cx="1868487" cy="1792287"/>
          </a:xfrm>
          <a:prstGeom prst="ellipse">
            <a:avLst/>
          </a:prstGeom>
          <a:solidFill>
            <a:srgbClr val="FFFF00">
              <a:alpha val="44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3114" name="Rectangle 10"/>
          <p:cNvSpPr>
            <a:spLocks noChangeArrowheads="1"/>
          </p:cNvSpPr>
          <p:nvPr/>
        </p:nvSpPr>
        <p:spPr bwMode="auto">
          <a:xfrm>
            <a:off x="685800" y="1401763"/>
            <a:ext cx="7772400" cy="4508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Solving problems involving albedo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3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3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3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3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3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3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1.48148E-6 L 0.21528 -0.0018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303110"/>
                                        </p:tgtEl>
                                      </p:cBhvr>
                                      <p:by x="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3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3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3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3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3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3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3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3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0" grpId="0" animBg="1"/>
      <p:bldP spid="303110" grpId="1" animBg="1"/>
      <p:bldP spid="303110" grpId="2" animBg="1"/>
      <p:bldP spid="3031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2" name="Rectangle 4"/>
          <p:cNvSpPr>
            <a:spLocks noChangeArrowheads="1"/>
          </p:cNvSpPr>
          <p:nvPr/>
        </p:nvSpPr>
        <p:spPr bwMode="auto">
          <a:xfrm>
            <a:off x="674688" y="2205038"/>
            <a:ext cx="7772400" cy="465296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If the average temperature of Earth is 289 K, find its emissivity.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 We determined that Earth absorbs energy from the sun at a rate of </a:t>
            </a:r>
            <a:r>
              <a:rPr lang="en-US" sz="2400" i="1">
                <a:latin typeface="Arial" charset="0"/>
                <a:sym typeface="Symbol" pitchFamily="18" charset="2"/>
              </a:rPr>
              <a:t>P</a:t>
            </a:r>
            <a:r>
              <a:rPr lang="en-US" sz="2400">
                <a:latin typeface="Arial" charset="0"/>
                <a:sym typeface="Symbol" pitchFamily="18" charset="2"/>
              </a:rPr>
              <a:t> = 1.2310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17</a:t>
            </a:r>
            <a:r>
              <a:rPr lang="en-US" sz="2400">
                <a:latin typeface="Arial" charset="0"/>
                <a:sym typeface="Symbol" pitchFamily="18" charset="2"/>
              </a:rPr>
              <a:t> W.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Since the temperature of Earth is relatively constant, we can assume it is radiating power at the same rate of </a:t>
            </a:r>
            <a:r>
              <a:rPr lang="en-US" sz="2400" i="1">
                <a:latin typeface="Arial" charset="0"/>
                <a:sym typeface="Symbol" pitchFamily="18" charset="2"/>
              </a:rPr>
              <a:t>P</a:t>
            </a:r>
            <a:r>
              <a:rPr lang="en-US" sz="2400" baseline="-25000">
                <a:latin typeface="Arial" charset="0"/>
                <a:sym typeface="Symbol" pitchFamily="18" charset="2"/>
              </a:rPr>
              <a:t>BODY</a:t>
            </a:r>
            <a:r>
              <a:rPr lang="en-US" sz="2400" i="1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= 1.2310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17</a:t>
            </a:r>
            <a:r>
              <a:rPr lang="en-US" sz="2400">
                <a:latin typeface="Arial" charset="0"/>
                <a:sym typeface="Symbol" pitchFamily="18" charset="2"/>
              </a:rPr>
              <a:t> W.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At 289 K the power radiated by a black-body </a:t>
            </a:r>
            <a:r>
              <a:rPr lang="en-US" sz="2400" i="1">
                <a:latin typeface="Arial" charset="0"/>
                <a:sym typeface="Symbol" pitchFamily="18" charset="2"/>
              </a:rPr>
              <a:t>of the same size as Earth </a:t>
            </a:r>
            <a:r>
              <a:rPr lang="en-US" sz="2400">
                <a:latin typeface="Arial" charset="0"/>
                <a:sym typeface="Symbol" pitchFamily="18" charset="2"/>
              </a:rPr>
              <a:t>is: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 i="1">
                <a:latin typeface="Arial" charset="0"/>
                <a:sym typeface="Symbol" pitchFamily="18" charset="2"/>
              </a:rPr>
              <a:t>   P</a:t>
            </a:r>
            <a:r>
              <a:rPr lang="en-US" sz="2400" baseline="-25000">
                <a:latin typeface="Arial" charset="0"/>
                <a:sym typeface="Symbol" pitchFamily="18" charset="2"/>
              </a:rPr>
              <a:t>B-B</a:t>
            </a:r>
            <a:r>
              <a:rPr lang="en-US" sz="2400">
                <a:latin typeface="Arial" charset="0"/>
                <a:sym typeface="Symbol" pitchFamily="18" charset="2"/>
              </a:rPr>
              <a:t> = (5.6710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-8</a:t>
            </a:r>
            <a:r>
              <a:rPr lang="en-US" sz="2400">
                <a:latin typeface="Arial" charset="0"/>
                <a:sym typeface="Symbol" pitchFamily="18" charset="2"/>
              </a:rPr>
              <a:t>)4(6.3710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6</a:t>
            </a:r>
            <a:r>
              <a:rPr lang="en-US" sz="2400">
                <a:latin typeface="Arial" charset="0"/>
                <a:sym typeface="Symbol" pitchFamily="18" charset="2"/>
              </a:rPr>
              <a:t>)</a:t>
            </a:r>
            <a:r>
              <a:rPr lang="en-US" sz="2400" baseline="30000">
                <a:latin typeface="Arial" charset="0"/>
                <a:sym typeface="Symbol" pitchFamily="18" charset="2"/>
              </a:rPr>
              <a:t>2</a:t>
            </a:r>
            <a:r>
              <a:rPr lang="en-US" sz="2400">
                <a:latin typeface="Arial" charset="0"/>
                <a:sym typeface="Symbol" pitchFamily="18" charset="2"/>
              </a:rPr>
              <a:t>289</a:t>
            </a:r>
            <a:r>
              <a:rPr lang="en-US" sz="2400" baseline="30000">
                <a:latin typeface="Arial" charset="0"/>
                <a:sym typeface="Symbol" pitchFamily="18" charset="2"/>
              </a:rPr>
              <a:t>4</a:t>
            </a:r>
            <a:r>
              <a:rPr lang="en-US" sz="2400">
                <a:latin typeface="Arial" charset="0"/>
                <a:sym typeface="Symbol" pitchFamily="18" charset="2"/>
              </a:rPr>
              <a:t> = 2.0210</a:t>
            </a:r>
            <a:r>
              <a:rPr lang="en-US" sz="2400" baseline="30000">
                <a:latin typeface="Arial" charset="0"/>
                <a:sym typeface="Symbol" pitchFamily="18" charset="2"/>
              </a:rPr>
              <a:t>17 </a:t>
            </a:r>
            <a:r>
              <a:rPr lang="en-US" sz="2400">
                <a:latin typeface="Arial" charset="0"/>
                <a:sym typeface="Symbol" pitchFamily="18" charset="2"/>
              </a:rPr>
              <a:t>W.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Thus </a:t>
            </a:r>
            <a:r>
              <a:rPr lang="en-US" sz="2400" i="1">
                <a:latin typeface="Arial" charset="0"/>
                <a:sym typeface="Symbol" pitchFamily="18" charset="2"/>
              </a:rPr>
              <a:t>e</a:t>
            </a:r>
            <a:r>
              <a:rPr lang="en-US" sz="2400"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latin typeface="Arial" charset="0"/>
                <a:sym typeface="Symbol" pitchFamily="18" charset="2"/>
              </a:rPr>
              <a:t>P</a:t>
            </a:r>
            <a:r>
              <a:rPr lang="en-US" sz="2400" baseline="-25000">
                <a:latin typeface="Arial" charset="0"/>
                <a:sym typeface="Symbol" pitchFamily="18" charset="2"/>
              </a:rPr>
              <a:t>BODY </a:t>
            </a:r>
            <a:r>
              <a:rPr lang="en-US" sz="2400" i="1">
                <a:latin typeface="Arial" charset="0"/>
                <a:sym typeface="Symbol" pitchFamily="18" charset="2"/>
              </a:rPr>
              <a:t>/ P</a:t>
            </a:r>
            <a:r>
              <a:rPr lang="en-US" sz="2400" baseline="-25000">
                <a:latin typeface="Arial" charset="0"/>
                <a:sym typeface="Symbol" pitchFamily="18" charset="2"/>
              </a:rPr>
              <a:t>BLACK-BODY</a:t>
            </a:r>
            <a:r>
              <a:rPr lang="en-US" sz="2400" i="1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=</a:t>
            </a:r>
            <a:r>
              <a:rPr lang="en-US" sz="2400" i="1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1.23 </a:t>
            </a:r>
            <a:r>
              <a:rPr lang="en-US" sz="2400" i="1">
                <a:latin typeface="Arial" charset="0"/>
                <a:sym typeface="Symbol" pitchFamily="18" charset="2"/>
              </a:rPr>
              <a:t>/</a:t>
            </a:r>
            <a:r>
              <a:rPr lang="en-US" sz="2400">
                <a:latin typeface="Arial" charset="0"/>
                <a:sym typeface="Symbol" pitchFamily="18" charset="2"/>
              </a:rPr>
              <a:t> 2.02 = 0.61.</a:t>
            </a:r>
          </a:p>
        </p:txBody>
      </p:sp>
      <p:sp>
        <p:nvSpPr>
          <p:cNvPr id="288770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8477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Solving problems involving emissivity and Earth’s average temperature</a:t>
            </a:r>
            <a:endParaRPr lang="en-US" sz="2400">
              <a:solidFill>
                <a:schemeClr val="accent2"/>
              </a:solidFill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8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8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8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8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8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8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8"/>
          <p:cNvSpPr>
            <a:spLocks noChangeArrowheads="1"/>
          </p:cNvSpPr>
          <p:nvPr/>
        </p:nvSpPr>
        <p:spPr bwMode="auto">
          <a:xfrm>
            <a:off x="685800" y="1809750"/>
            <a:ext cx="7772400" cy="47117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ym typeface="Symbol" pitchFamily="18" charset="2"/>
            </a:endParaRPr>
          </a:p>
        </p:txBody>
      </p:sp>
      <p:pic>
        <p:nvPicPr>
          <p:cNvPr id="299013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6275" y="1901825"/>
            <a:ext cx="7775575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16170" name="Text Box 10"/>
          <p:cNvSpPr txBox="1">
            <a:spLocks noChangeArrowheads="1"/>
          </p:cNvSpPr>
          <p:nvPr/>
        </p:nvSpPr>
        <p:spPr bwMode="auto">
          <a:xfrm>
            <a:off x="4252913" y="2171700"/>
            <a:ext cx="454025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albedo = </a:t>
            </a:r>
            <a:r>
              <a:rPr lang="en-US" sz="2400" i="1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sz="2400" baseline="-25000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SCATTERED </a:t>
            </a:r>
            <a:r>
              <a:rPr lang="en-US" sz="2400" i="1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/</a:t>
            </a:r>
            <a:r>
              <a:rPr lang="en-US" sz="2400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i="1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sz="2400" baseline="-25000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INCIDENT</a:t>
            </a:r>
            <a:endParaRPr lang="en-US" sz="240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1116171" name="Text Box 11"/>
          <p:cNvSpPr txBox="1">
            <a:spLocks noChangeArrowheads="1"/>
          </p:cNvSpPr>
          <p:nvPr/>
        </p:nvSpPr>
        <p:spPr bwMode="auto">
          <a:xfrm>
            <a:off x="5638800" y="2595563"/>
            <a:ext cx="35052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>
                <a:solidFill>
                  <a:srgbClr val="CC0000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CC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sz="2400" baseline="-25000">
                <a:solidFill>
                  <a:srgbClr val="CC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INCIDENT</a:t>
            </a:r>
            <a:r>
              <a:rPr lang="en-US" sz="2400">
                <a:solidFill>
                  <a:srgbClr val="CC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 = 340 W</a:t>
            </a:r>
            <a:r>
              <a:rPr lang="en-US" sz="2400" baseline="-25000">
                <a:solidFill>
                  <a:srgbClr val="CC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>
                <a:solidFill>
                  <a:srgbClr val="CC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rgbClr val="CC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-2</a:t>
            </a:r>
          </a:p>
        </p:txBody>
      </p:sp>
      <p:sp>
        <p:nvSpPr>
          <p:cNvPr id="1116172" name="Rectangle 12"/>
          <p:cNvSpPr>
            <a:spLocks noChangeArrowheads="1"/>
          </p:cNvSpPr>
          <p:nvPr/>
        </p:nvSpPr>
        <p:spPr bwMode="auto">
          <a:xfrm>
            <a:off x="2001838" y="2165350"/>
            <a:ext cx="1701800" cy="493713"/>
          </a:xfrm>
          <a:prstGeom prst="rect">
            <a:avLst/>
          </a:prstGeom>
          <a:solidFill>
            <a:srgbClr val="FF0000">
              <a:alpha val="2392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16173" name="Rectangle 13"/>
          <p:cNvSpPr>
            <a:spLocks noChangeArrowheads="1"/>
          </p:cNvSpPr>
          <p:nvPr/>
        </p:nvSpPr>
        <p:spPr bwMode="auto">
          <a:xfrm>
            <a:off x="668338" y="2660650"/>
            <a:ext cx="1701800" cy="493713"/>
          </a:xfrm>
          <a:prstGeom prst="rect">
            <a:avLst/>
          </a:prstGeom>
          <a:solidFill>
            <a:srgbClr val="6600CC">
              <a:alpha val="2392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16174" name="Text Box 14"/>
          <p:cNvSpPr txBox="1">
            <a:spLocks noChangeArrowheads="1"/>
          </p:cNvSpPr>
          <p:nvPr/>
        </p:nvSpPr>
        <p:spPr bwMode="auto">
          <a:xfrm>
            <a:off x="5384800" y="3009900"/>
            <a:ext cx="354330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>
                <a:solidFill>
                  <a:srgbClr val="6600CC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6600CC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sz="2400" baseline="-25000">
                <a:solidFill>
                  <a:srgbClr val="6600CC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SCATTERED</a:t>
            </a:r>
            <a:r>
              <a:rPr lang="en-US" sz="2400">
                <a:solidFill>
                  <a:srgbClr val="6600CC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 = 100 W</a:t>
            </a:r>
            <a:r>
              <a:rPr lang="en-US" sz="2400" baseline="-25000">
                <a:solidFill>
                  <a:srgbClr val="6600CC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>
                <a:solidFill>
                  <a:srgbClr val="6600CC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rgbClr val="6600CC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-2</a:t>
            </a:r>
          </a:p>
        </p:txBody>
      </p:sp>
      <p:sp>
        <p:nvSpPr>
          <p:cNvPr id="1116175" name="Text Box 15"/>
          <p:cNvSpPr txBox="1">
            <a:spLocks noChangeArrowheads="1"/>
          </p:cNvSpPr>
          <p:nvPr/>
        </p:nvSpPr>
        <p:spPr bwMode="auto">
          <a:xfrm>
            <a:off x="5892800" y="3475038"/>
            <a:ext cx="31496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albedo = </a:t>
            </a:r>
            <a:r>
              <a:rPr lang="en-US" sz="2400">
                <a:solidFill>
                  <a:srgbClr val="6600CC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100 </a:t>
            </a:r>
            <a:r>
              <a:rPr lang="en-US" sz="2400">
                <a:solidFill>
                  <a:schemeClr val="hlink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/ </a:t>
            </a:r>
            <a:r>
              <a:rPr lang="en-US" sz="2400">
                <a:solidFill>
                  <a:srgbClr val="CC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340</a:t>
            </a:r>
            <a:endParaRPr 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116176" name="Oval 16"/>
          <p:cNvSpPr>
            <a:spLocks noChangeArrowheads="1"/>
          </p:cNvSpPr>
          <p:nvPr/>
        </p:nvSpPr>
        <p:spPr bwMode="auto">
          <a:xfrm>
            <a:off x="2627313" y="5994400"/>
            <a:ext cx="284162" cy="284163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9021" name="Rectangle 13"/>
          <p:cNvSpPr>
            <a:spLocks noChangeArrowheads="1"/>
          </p:cNvSpPr>
          <p:nvPr/>
        </p:nvSpPr>
        <p:spPr bwMode="auto">
          <a:xfrm>
            <a:off x="685800" y="1401763"/>
            <a:ext cx="7772400" cy="4508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Solving problems involving albedo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9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9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16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16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1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16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16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16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1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16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16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16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16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16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16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1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70" grpId="0"/>
      <p:bldP spid="1116171" grpId="0"/>
      <p:bldP spid="1116172" grpId="0" animBg="1"/>
      <p:bldP spid="1116173" grpId="0" animBg="1"/>
      <p:bldP spid="1116174" grpId="0"/>
      <p:bldP spid="1116175" grpId="0"/>
      <p:bldP spid="11161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15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The greenhouse effect</a:t>
            </a:r>
          </a:p>
          <a:p>
            <a:pPr eaLnBrk="0" hangingPunct="0"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When solar radiation strikes a planet that has a   gaseous atmosphere, the gases comprising the atmosphere can absorb </a:t>
            </a:r>
            <a:r>
              <a:rPr lang="en-US" sz="240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infrared </a:t>
            </a:r>
            <a:r>
              <a:rPr lang="en-US" sz="2400">
                <a:latin typeface="Arial" charset="0"/>
                <a:cs typeface="Times New Roman" pitchFamily="18" charset="0"/>
              </a:rPr>
              <a:t>radiation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(heat).</a:t>
            </a:r>
          </a:p>
          <a:p>
            <a:pPr eaLnBrk="0" hangingPunct="0"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remainder of the incoming radiation then           reaches the ground to either be scattered back                into the atmosphere, or absorbed.</a:t>
            </a:r>
          </a:p>
          <a:p>
            <a:pPr eaLnBrk="0" hangingPunct="0"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Solids can absorb all frequencies of radiation,               and convert them to </a:t>
            </a:r>
            <a:r>
              <a:rPr lang="en-US" sz="240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infrared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wavelengths.</a:t>
            </a:r>
          </a:p>
          <a:p>
            <a:pPr eaLnBrk="0" hangingPunct="0"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heated ground can then emit </a:t>
            </a:r>
            <a:r>
              <a:rPr lang="en-US" sz="240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infrared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radiation back into the atmosphere, which then intercepts           more of the energy on the way out.</a:t>
            </a:r>
          </a:p>
          <a:p>
            <a:pPr eaLnBrk="0" hangingPunct="0">
              <a:spcBef>
                <a:spcPct val="15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result is that the atmosphere traps heat and causes the temperature of the planet to rise.</a:t>
            </a:r>
          </a:p>
        </p:txBody>
      </p:sp>
      <p:sp>
        <p:nvSpPr>
          <p:cNvPr id="311300" name="Rectangle 4" descr="Large confetti"/>
          <p:cNvSpPr>
            <a:spLocks noChangeArrowheads="1"/>
          </p:cNvSpPr>
          <p:nvPr/>
        </p:nvSpPr>
        <p:spPr bwMode="auto">
          <a:xfrm>
            <a:off x="7953375" y="6472238"/>
            <a:ext cx="1190625" cy="385762"/>
          </a:xfrm>
          <a:prstGeom prst="rect">
            <a:avLst/>
          </a:prstGeom>
          <a:pattFill prst="lgConfetti">
            <a:fgClr>
              <a:schemeClr val="tx2"/>
            </a:fgClr>
            <a:bgClr>
              <a:srgbClr val="006600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301" name="Line 5"/>
          <p:cNvSpPr>
            <a:spLocks noChangeShapeType="1"/>
          </p:cNvSpPr>
          <p:nvPr/>
        </p:nvSpPr>
        <p:spPr bwMode="auto">
          <a:xfrm>
            <a:off x="8410575" y="2514600"/>
            <a:ext cx="0" cy="1279525"/>
          </a:xfrm>
          <a:prstGeom prst="line">
            <a:avLst/>
          </a:prstGeom>
          <a:noFill/>
          <a:ln w="76200">
            <a:solidFill>
              <a:srgbClr val="FFCC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02" name="Line 6"/>
          <p:cNvSpPr>
            <a:spLocks noChangeShapeType="1"/>
          </p:cNvSpPr>
          <p:nvPr/>
        </p:nvSpPr>
        <p:spPr bwMode="auto">
          <a:xfrm>
            <a:off x="8410575" y="3794125"/>
            <a:ext cx="0" cy="2678113"/>
          </a:xfrm>
          <a:prstGeom prst="line">
            <a:avLst/>
          </a:prstGeom>
          <a:noFill/>
          <a:ln w="76200">
            <a:solidFill>
              <a:srgbClr val="FFCC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03" name="Line 7"/>
          <p:cNvSpPr>
            <a:spLocks noChangeShapeType="1"/>
          </p:cNvSpPr>
          <p:nvPr/>
        </p:nvSpPr>
        <p:spPr bwMode="auto">
          <a:xfrm>
            <a:off x="8208963" y="2514600"/>
            <a:ext cx="0" cy="12795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04" name="Line 8"/>
          <p:cNvSpPr>
            <a:spLocks noChangeShapeType="1"/>
          </p:cNvSpPr>
          <p:nvPr/>
        </p:nvSpPr>
        <p:spPr bwMode="auto">
          <a:xfrm>
            <a:off x="8208963" y="3794125"/>
            <a:ext cx="0" cy="1279525"/>
          </a:xfrm>
          <a:prstGeom prst="line">
            <a:avLst/>
          </a:prstGeom>
          <a:noFill/>
          <a:ln w="762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05" name="Line 9"/>
          <p:cNvSpPr>
            <a:spLocks noChangeShapeType="1"/>
          </p:cNvSpPr>
          <p:nvPr/>
        </p:nvSpPr>
        <p:spPr bwMode="auto">
          <a:xfrm>
            <a:off x="8961438" y="5192713"/>
            <a:ext cx="0" cy="12795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07" name="AutoShape 11"/>
          <p:cNvSpPr>
            <a:spLocks noChangeArrowheads="1"/>
          </p:cNvSpPr>
          <p:nvPr/>
        </p:nvSpPr>
        <p:spPr bwMode="auto">
          <a:xfrm>
            <a:off x="8128000" y="1235075"/>
            <a:ext cx="320675" cy="1279525"/>
          </a:xfrm>
          <a:prstGeom prst="downArrow">
            <a:avLst>
              <a:gd name="adj1" fmla="val 50000"/>
              <a:gd name="adj2" fmla="val 99752"/>
            </a:avLst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11308" name="Line 12"/>
          <p:cNvSpPr>
            <a:spLocks noChangeShapeType="1"/>
          </p:cNvSpPr>
          <p:nvPr/>
        </p:nvSpPr>
        <p:spPr bwMode="auto">
          <a:xfrm>
            <a:off x="8961438" y="3913188"/>
            <a:ext cx="0" cy="1279525"/>
          </a:xfrm>
          <a:prstGeom prst="line">
            <a:avLst/>
          </a:prstGeom>
          <a:noFill/>
          <a:ln w="5715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09" name="Rectangle 13"/>
          <p:cNvSpPr>
            <a:spLocks noChangeArrowheads="1"/>
          </p:cNvSpPr>
          <p:nvPr/>
        </p:nvSpPr>
        <p:spPr bwMode="auto">
          <a:xfrm>
            <a:off x="7953375" y="6459538"/>
            <a:ext cx="1190625" cy="241300"/>
          </a:xfrm>
          <a:prstGeom prst="rect">
            <a:avLst/>
          </a:prstGeom>
          <a:solidFill>
            <a:srgbClr val="FF0000">
              <a:alpha val="46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310" name="Text Box 14"/>
          <p:cNvSpPr txBox="1">
            <a:spLocks noChangeArrowheads="1"/>
          </p:cNvSpPr>
          <p:nvPr/>
        </p:nvSpPr>
        <p:spPr bwMode="auto">
          <a:xfrm>
            <a:off x="7613650" y="338138"/>
            <a:ext cx="14017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400" i="1">
                <a:solidFill>
                  <a:srgbClr val="5F5F5F"/>
                </a:solidFill>
                <a:latin typeface="Arial" charset="0"/>
              </a:rPr>
              <a:t>net heat gain</a:t>
            </a:r>
          </a:p>
        </p:txBody>
      </p:sp>
      <p:sp>
        <p:nvSpPr>
          <p:cNvPr id="311311" name="Line 15"/>
          <p:cNvSpPr>
            <a:spLocks noChangeShapeType="1"/>
          </p:cNvSpPr>
          <p:nvPr/>
        </p:nvSpPr>
        <p:spPr bwMode="auto">
          <a:xfrm>
            <a:off x="8769350" y="1230313"/>
            <a:ext cx="0" cy="5232400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13" name="Line 17"/>
          <p:cNvSpPr>
            <a:spLocks noChangeShapeType="1"/>
          </p:cNvSpPr>
          <p:nvPr/>
        </p:nvSpPr>
        <p:spPr bwMode="auto">
          <a:xfrm>
            <a:off x="7954963" y="2505075"/>
            <a:ext cx="11890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14" name="Line 18"/>
          <p:cNvSpPr>
            <a:spLocks noChangeShapeType="1"/>
          </p:cNvSpPr>
          <p:nvPr/>
        </p:nvSpPr>
        <p:spPr bwMode="auto">
          <a:xfrm>
            <a:off x="8951913" y="1257300"/>
            <a:ext cx="0" cy="26558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15" name="Line 19"/>
          <p:cNvSpPr>
            <a:spLocks noChangeShapeType="1"/>
          </p:cNvSpPr>
          <p:nvPr/>
        </p:nvSpPr>
        <p:spPr bwMode="auto">
          <a:xfrm>
            <a:off x="7954963" y="6465888"/>
            <a:ext cx="11890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1312" name="Rectangle 16"/>
          <p:cNvSpPr>
            <a:spLocks noChangeArrowheads="1"/>
          </p:cNvSpPr>
          <p:nvPr/>
        </p:nvSpPr>
        <p:spPr bwMode="auto">
          <a:xfrm>
            <a:off x="7953375" y="2501900"/>
            <a:ext cx="1190625" cy="3970338"/>
          </a:xfrm>
          <a:prstGeom prst="rect">
            <a:avLst/>
          </a:prstGeom>
          <a:gradFill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2000"/>
                                        <p:tgtEl>
                                          <p:spTgt spid="3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" dur="20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1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1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1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31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1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1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0"/>
                                        <p:tgtEl>
                                          <p:spTgt spid="3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1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1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1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11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11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11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 animBg="1"/>
      <p:bldP spid="311301" grpId="0" animBg="1"/>
      <p:bldP spid="311302" grpId="0" animBg="1"/>
      <p:bldP spid="311303" grpId="0" animBg="1"/>
      <p:bldP spid="311304" grpId="0" animBg="1"/>
      <p:bldP spid="311305" grpId="0" animBg="1"/>
      <p:bldP spid="311307" grpId="0" animBg="1"/>
      <p:bldP spid="311308" grpId="0" animBg="1"/>
      <p:bldP spid="311309" grpId="0" animBg="1"/>
      <p:bldP spid="311310" grpId="0"/>
      <p:bldP spid="311311" grpId="0" animBg="1"/>
      <p:bldP spid="311313" grpId="0" animBg="1"/>
      <p:bldP spid="311314" grpId="0" animBg="1"/>
      <p:bldP spid="311315" grpId="0" animBg="1"/>
      <p:bldP spid="3113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The greenhouse effect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process outlined on the previous slide is the so-called </a:t>
            </a:r>
            <a:r>
              <a:rPr lang="en-US" sz="2400" b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greenhouse                                                         effect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The main gases                                                               that are particularly                                                     effective in                                                                 absorbing infrared                                                       radiation are                                                                </a:t>
            </a:r>
            <a:r>
              <a:rPr lang="en-US" sz="2400" b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methane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(CH</a:t>
            </a:r>
            <a:r>
              <a:rPr lang="en-US" sz="2400" baseline="-250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4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),                                                               </a:t>
            </a:r>
            <a:r>
              <a:rPr lang="en-US" sz="2400" b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water vapor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(H</a:t>
            </a:r>
            <a:r>
              <a:rPr lang="en-US" sz="2400" baseline="-250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O),                                                    </a:t>
            </a:r>
            <a:r>
              <a:rPr lang="en-US" sz="2400" b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carbon dioxide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(CO</a:t>
            </a:r>
            <a:r>
              <a:rPr lang="en-US" sz="2400" baseline="-250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), and </a:t>
            </a:r>
            <a:r>
              <a:rPr lang="en-US" sz="2400" b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nitrous oxide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(N</a:t>
            </a:r>
            <a:r>
              <a:rPr lang="en-US" sz="2400" baseline="-250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O).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Note that there are both </a:t>
            </a:r>
            <a:r>
              <a:rPr lang="en-US" sz="2400" b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natural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and </a:t>
            </a:r>
            <a:r>
              <a:rPr lang="en-US" sz="2400" b="1">
                <a:solidFill>
                  <a:srgbClr val="CC0000"/>
                </a:solidFill>
                <a:latin typeface="Arial" charset="0"/>
                <a:cs typeface="Times New Roman" pitchFamily="18" charset="0"/>
              </a:rPr>
              <a:t>man-made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                                     (anthropogenic) contributions and changes (flux).</a:t>
            </a:r>
          </a:p>
        </p:txBody>
      </p:sp>
      <p:pic>
        <p:nvPicPr>
          <p:cNvPr id="313354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9000" y="2290763"/>
            <a:ext cx="5648325" cy="3019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6843713" y="4110038"/>
            <a:ext cx="2414587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600" b="1">
                <a:latin typeface="Arial" charset="0"/>
              </a:rPr>
              <a:t>Global Carbon Cycle</a:t>
            </a:r>
            <a:r>
              <a:rPr lang="en-US" sz="1600" b="1">
                <a:solidFill>
                  <a:srgbClr val="5F5F5F"/>
                </a:solidFill>
                <a:latin typeface="Arial" charset="0"/>
              </a:rPr>
              <a:t> (Billion Metric Tons Carbon)</a:t>
            </a:r>
            <a:r>
              <a:rPr lang="en-US" sz="1600">
                <a:solidFill>
                  <a:srgbClr val="5F5F5F"/>
                </a:solidFill>
                <a:latin typeface="Arial" charset="0"/>
              </a:rPr>
              <a:t> </a:t>
            </a:r>
          </a:p>
        </p:txBody>
      </p:sp>
      <p:sp>
        <p:nvSpPr>
          <p:cNvPr id="313350" name="Text Box 6"/>
          <p:cNvSpPr txBox="1">
            <a:spLocks noChangeArrowheads="1"/>
          </p:cNvSpPr>
          <p:nvPr/>
        </p:nvSpPr>
        <p:spPr bwMode="auto">
          <a:xfrm>
            <a:off x="3560763" y="4473575"/>
            <a:ext cx="13160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>
                <a:solidFill>
                  <a:srgbClr val="006600"/>
                </a:solidFill>
              </a:rPr>
              <a:t>C-sink</a:t>
            </a:r>
          </a:p>
        </p:txBody>
      </p:sp>
      <p:sp>
        <p:nvSpPr>
          <p:cNvPr id="313351" name="Text Box 7"/>
          <p:cNvSpPr txBox="1">
            <a:spLocks noChangeArrowheads="1"/>
          </p:cNvSpPr>
          <p:nvPr/>
        </p:nvSpPr>
        <p:spPr bwMode="auto">
          <a:xfrm>
            <a:off x="5737225" y="4508500"/>
            <a:ext cx="13160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>
                <a:solidFill>
                  <a:schemeClr val="accent2"/>
                </a:solidFill>
              </a:rPr>
              <a:t>C-sink</a:t>
            </a:r>
          </a:p>
        </p:txBody>
      </p:sp>
      <p:sp>
        <p:nvSpPr>
          <p:cNvPr id="313352" name="Text Box 8"/>
          <p:cNvSpPr txBox="1">
            <a:spLocks noChangeArrowheads="1"/>
          </p:cNvSpPr>
          <p:nvPr/>
        </p:nvSpPr>
        <p:spPr bwMode="auto">
          <a:xfrm>
            <a:off x="5634038" y="2584450"/>
            <a:ext cx="13160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>
                <a:solidFill>
                  <a:schemeClr val="accent2"/>
                </a:solidFill>
              </a:rPr>
              <a:t>C-sink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3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3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3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3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3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3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9" grpId="0"/>
      <p:bldP spid="313350" grpId="0"/>
      <p:bldP spid="313351" grpId="0"/>
      <p:bldP spid="3133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Greenhouse gases – CO</a:t>
            </a:r>
            <a:r>
              <a:rPr lang="en-US" sz="2400" i="1" baseline="-250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2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This graph                                                                      shows the                                                                     correlation                                                                  between                                                                      increasing                                                               atmospheric                                                           concentration                                                                       of CO</a:t>
            </a:r>
            <a:r>
              <a:rPr lang="en-US" sz="2400" baseline="-250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and our                                                                 fossil fuel                                                                     emissions of                                                                        CO</a:t>
            </a:r>
            <a:r>
              <a:rPr lang="en-US" sz="2400" baseline="-250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 b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Anthropogenic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                                                         means “human.” </a:t>
            </a:r>
          </a:p>
        </p:txBody>
      </p:sp>
      <p:sp>
        <p:nvSpPr>
          <p:cNvPr id="315396" name="Rectangle 4"/>
          <p:cNvSpPr>
            <a:spLocks noChangeArrowheads="1"/>
          </p:cNvSpPr>
          <p:nvPr/>
        </p:nvSpPr>
        <p:spPr bwMode="auto">
          <a:xfrm>
            <a:off x="2949575" y="5907088"/>
            <a:ext cx="610711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b="1" i="1">
                <a:solidFill>
                  <a:srgbClr val="5F5F5F"/>
                </a:solidFill>
              </a:rPr>
              <a:t>Trends in Atmospheric Concentrations and Anthropogenic Emissions of Carbon Dioxide</a:t>
            </a:r>
            <a:r>
              <a:rPr lang="en-US" sz="1800" b="1" i="1">
                <a:solidFill>
                  <a:srgbClr val="5F5F5F"/>
                </a:solidFill>
              </a:rPr>
              <a:t> </a:t>
            </a:r>
          </a:p>
        </p:txBody>
      </p:sp>
      <p:pic>
        <p:nvPicPr>
          <p:cNvPr id="315397" name="Picture 5" descr="Figure 1 is a line graph showing the trends in atmospheric concentrations and anthropogenic emissions of carbon dioxide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38463" y="1852613"/>
            <a:ext cx="6078537" cy="4032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5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5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5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5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5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5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7" name="Rectangle 7"/>
          <p:cNvSpPr>
            <a:spLocks noChangeArrowheads="1"/>
          </p:cNvSpPr>
          <p:nvPr/>
        </p:nvSpPr>
        <p:spPr bwMode="auto">
          <a:xfrm>
            <a:off x="674688" y="1808163"/>
            <a:ext cx="7772400" cy="8636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How are the levels of CO</a:t>
            </a:r>
            <a:r>
              <a:rPr lang="en-US" sz="2400" baseline="-25000">
                <a:latin typeface="Arial" charset="0"/>
                <a:sym typeface="Symbol" pitchFamily="18" charset="2"/>
              </a:rPr>
              <a:t>2</a:t>
            </a:r>
            <a:r>
              <a:rPr lang="en-US" sz="2400">
                <a:latin typeface="Arial" charset="0"/>
                <a:sym typeface="Symbol" pitchFamily="18" charset="2"/>
              </a:rPr>
              <a:t> determined?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 Observatories and aircraft.</a:t>
            </a:r>
          </a:p>
        </p:txBody>
      </p:sp>
      <p:sp>
        <p:nvSpPr>
          <p:cNvPr id="337922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Greenhouse gases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– CO</a:t>
            </a:r>
            <a:r>
              <a:rPr lang="en-US" sz="2400" i="1" baseline="-250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2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</a:t>
            </a:r>
          </a:p>
        </p:txBody>
      </p:sp>
      <p:pic>
        <p:nvPicPr>
          <p:cNvPr id="337926" name="Picture 6" descr="Current Mauna Loa CO2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684463"/>
            <a:ext cx="5761038" cy="4157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7928" name="Picture 8" descr="Current Mauna Loa CO2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24463" y="2897188"/>
            <a:ext cx="3919537" cy="3028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7929" name="Rectangle 9"/>
          <p:cNvSpPr>
            <a:spLocks noChangeArrowheads="1"/>
          </p:cNvSpPr>
          <p:nvPr/>
        </p:nvSpPr>
        <p:spPr bwMode="auto">
          <a:xfrm>
            <a:off x="6875463" y="3370263"/>
            <a:ext cx="282575" cy="2032000"/>
          </a:xfrm>
          <a:prstGeom prst="rect">
            <a:avLst/>
          </a:prstGeom>
          <a:solidFill>
            <a:schemeClr val="hlink">
              <a:alpha val="3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30" name="Text Box 10"/>
          <p:cNvSpPr txBox="1">
            <a:spLocks noChangeArrowheads="1"/>
          </p:cNvSpPr>
          <p:nvPr/>
        </p:nvSpPr>
        <p:spPr bwMode="auto">
          <a:xfrm>
            <a:off x="6019800" y="5953227"/>
            <a:ext cx="13430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dirty="0">
                <a:solidFill>
                  <a:schemeClr val="hlink"/>
                </a:solidFill>
                <a:latin typeface="Arial" charset="0"/>
              </a:rPr>
              <a:t>cooling months</a:t>
            </a:r>
          </a:p>
        </p:txBody>
      </p:sp>
      <p:sp>
        <p:nvSpPr>
          <p:cNvPr id="337931" name="Rectangle 11"/>
          <p:cNvSpPr>
            <a:spLocks noChangeArrowheads="1"/>
          </p:cNvSpPr>
          <p:nvPr/>
        </p:nvSpPr>
        <p:spPr bwMode="auto">
          <a:xfrm>
            <a:off x="7145338" y="3373438"/>
            <a:ext cx="276225" cy="2032000"/>
          </a:xfrm>
          <a:prstGeom prst="rect">
            <a:avLst/>
          </a:prstGeom>
          <a:solidFill>
            <a:srgbClr val="FF0000">
              <a:alpha val="3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32" name="Text Box 12"/>
          <p:cNvSpPr txBox="1">
            <a:spLocks noChangeArrowheads="1"/>
          </p:cNvSpPr>
          <p:nvPr/>
        </p:nvSpPr>
        <p:spPr bwMode="auto">
          <a:xfrm>
            <a:off x="7308850" y="5951640"/>
            <a:ext cx="13430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" charset="0"/>
              </a:rPr>
              <a:t>warming months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337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337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9" grpId="0" animBg="1"/>
      <p:bldP spid="337930" grpId="0"/>
      <p:bldP spid="337931" grpId="0" animBg="1"/>
      <p:bldP spid="3379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Absorption of infrared radiation by greenhouse gases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Recall that solar radiation strikes the                            earth at a rate of 1380 W</a:t>
            </a:r>
            <a:r>
              <a:rPr lang="en-US" sz="2400" baseline="-25000">
                <a:latin typeface="Arial" charset="0"/>
              </a:rPr>
              <a:t> </a:t>
            </a:r>
            <a:r>
              <a:rPr lang="en-US" sz="2400">
                <a:latin typeface="Arial" charset="0"/>
              </a:rPr>
              <a:t>m</a:t>
            </a:r>
            <a:r>
              <a:rPr lang="en-US" sz="2400" baseline="30000">
                <a:latin typeface="Arial" charset="0"/>
              </a:rPr>
              <a:t>-2</a:t>
            </a:r>
            <a:r>
              <a:rPr lang="en-US" sz="2400">
                <a:latin typeface="Arial" charset="0"/>
              </a:rPr>
              <a:t> or less,                                 the farther from the equator you are.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That energy is carried in the form of                            </a:t>
            </a:r>
            <a:r>
              <a:rPr lang="en-US" sz="2400" b="1">
                <a:latin typeface="Arial" charset="0"/>
              </a:rPr>
              <a:t>photons</a:t>
            </a:r>
            <a:r>
              <a:rPr lang="en-US" sz="2400">
                <a:latin typeface="Arial" charset="0"/>
              </a:rPr>
              <a:t>, which are quanta of light.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The atmosphere is made up of gases,                           which are the first layer of matter                                     that the sun's rays interact with.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If a photon is at the precise                                         energy for an electron to                                                   jump to a different energy                                                  level in an atom, it will                                                         be absorbed.  </a:t>
            </a:r>
          </a:p>
        </p:txBody>
      </p:sp>
      <p:sp>
        <p:nvSpPr>
          <p:cNvPr id="321540" name="Oval 4"/>
          <p:cNvSpPr>
            <a:spLocks noChangeArrowheads="1"/>
          </p:cNvSpPr>
          <p:nvPr/>
        </p:nvSpPr>
        <p:spPr bwMode="auto">
          <a:xfrm>
            <a:off x="5899150" y="5403850"/>
            <a:ext cx="98425" cy="984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1541" name="Group 5"/>
          <p:cNvGrpSpPr>
            <a:grpSpLocks/>
          </p:cNvGrpSpPr>
          <p:nvPr/>
        </p:nvGrpSpPr>
        <p:grpSpPr bwMode="auto">
          <a:xfrm>
            <a:off x="5176838" y="5194300"/>
            <a:ext cx="1550987" cy="1550988"/>
            <a:chOff x="3261" y="2656"/>
            <a:chExt cx="977" cy="977"/>
          </a:xfrm>
        </p:grpSpPr>
        <p:sp>
          <p:nvSpPr>
            <p:cNvPr id="321542" name="Oval 6"/>
            <p:cNvSpPr>
              <a:spLocks noChangeArrowheads="1"/>
            </p:cNvSpPr>
            <p:nvPr/>
          </p:nvSpPr>
          <p:spPr bwMode="auto">
            <a:xfrm>
              <a:off x="3631" y="3021"/>
              <a:ext cx="243" cy="24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543" name="Oval 7"/>
            <p:cNvSpPr>
              <a:spLocks noChangeArrowheads="1"/>
            </p:cNvSpPr>
            <p:nvPr/>
          </p:nvSpPr>
          <p:spPr bwMode="auto">
            <a:xfrm>
              <a:off x="3422" y="2817"/>
              <a:ext cx="655" cy="65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544" name="Oval 8"/>
            <p:cNvSpPr>
              <a:spLocks noChangeArrowheads="1"/>
            </p:cNvSpPr>
            <p:nvPr/>
          </p:nvSpPr>
          <p:spPr bwMode="auto">
            <a:xfrm>
              <a:off x="3261" y="2656"/>
              <a:ext cx="977" cy="97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1545" name="Freeform 9"/>
          <p:cNvSpPr>
            <a:spLocks/>
          </p:cNvSpPr>
          <p:nvPr/>
        </p:nvSpPr>
        <p:spPr bwMode="auto">
          <a:xfrm rot="7065117">
            <a:off x="7670800" y="1611313"/>
            <a:ext cx="1828800" cy="1270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41" y="96"/>
              </a:cxn>
              <a:cxn ang="0">
                <a:pos x="235" y="14"/>
              </a:cxn>
              <a:cxn ang="0">
                <a:pos x="335" y="178"/>
              </a:cxn>
              <a:cxn ang="0">
                <a:pos x="429" y="14"/>
              </a:cxn>
              <a:cxn ang="0">
                <a:pos x="523" y="178"/>
              </a:cxn>
              <a:cxn ang="0">
                <a:pos x="623" y="14"/>
              </a:cxn>
              <a:cxn ang="0">
                <a:pos x="717" y="178"/>
              </a:cxn>
              <a:cxn ang="0">
                <a:pos x="811" y="14"/>
              </a:cxn>
              <a:cxn ang="0">
                <a:pos x="911" y="178"/>
              </a:cxn>
              <a:cxn ang="0">
                <a:pos x="1005" y="96"/>
              </a:cxn>
              <a:cxn ang="0">
                <a:pos x="1152" y="96"/>
              </a:cxn>
            </a:cxnLst>
            <a:rect l="0" t="0" r="r" b="b"/>
            <a:pathLst>
              <a:path w="1152" h="192">
                <a:moveTo>
                  <a:pt x="0" y="96"/>
                </a:moveTo>
                <a:cubicBezTo>
                  <a:pt x="51" y="103"/>
                  <a:pt x="102" y="110"/>
                  <a:pt x="141" y="96"/>
                </a:cubicBezTo>
                <a:cubicBezTo>
                  <a:pt x="180" y="82"/>
                  <a:pt x="203" y="0"/>
                  <a:pt x="235" y="14"/>
                </a:cubicBezTo>
                <a:cubicBezTo>
                  <a:pt x="267" y="28"/>
                  <a:pt x="303" y="178"/>
                  <a:pt x="335" y="178"/>
                </a:cubicBezTo>
                <a:cubicBezTo>
                  <a:pt x="367" y="178"/>
                  <a:pt x="398" y="14"/>
                  <a:pt x="429" y="14"/>
                </a:cubicBezTo>
                <a:cubicBezTo>
                  <a:pt x="460" y="14"/>
                  <a:pt x="491" y="178"/>
                  <a:pt x="523" y="178"/>
                </a:cubicBezTo>
                <a:cubicBezTo>
                  <a:pt x="555" y="178"/>
                  <a:pt x="591" y="14"/>
                  <a:pt x="623" y="14"/>
                </a:cubicBezTo>
                <a:cubicBezTo>
                  <a:pt x="655" y="14"/>
                  <a:pt x="686" y="178"/>
                  <a:pt x="717" y="178"/>
                </a:cubicBezTo>
                <a:cubicBezTo>
                  <a:pt x="748" y="178"/>
                  <a:pt x="779" y="14"/>
                  <a:pt x="811" y="14"/>
                </a:cubicBezTo>
                <a:cubicBezTo>
                  <a:pt x="843" y="14"/>
                  <a:pt x="879" y="164"/>
                  <a:pt x="911" y="178"/>
                </a:cubicBezTo>
                <a:cubicBezTo>
                  <a:pt x="943" y="192"/>
                  <a:pt x="965" y="110"/>
                  <a:pt x="1005" y="96"/>
                </a:cubicBezTo>
                <a:cubicBezTo>
                  <a:pt x="1045" y="82"/>
                  <a:pt x="1098" y="89"/>
                  <a:pt x="1152" y="96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1546" name="Freeform 10"/>
          <p:cNvSpPr>
            <a:spLocks/>
          </p:cNvSpPr>
          <p:nvPr/>
        </p:nvSpPr>
        <p:spPr bwMode="auto">
          <a:xfrm rot="7065117">
            <a:off x="7562850" y="1763713"/>
            <a:ext cx="1828800" cy="1270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41" y="96"/>
              </a:cxn>
              <a:cxn ang="0">
                <a:pos x="235" y="14"/>
              </a:cxn>
              <a:cxn ang="0">
                <a:pos x="335" y="178"/>
              </a:cxn>
              <a:cxn ang="0">
                <a:pos x="429" y="14"/>
              </a:cxn>
              <a:cxn ang="0">
                <a:pos x="523" y="178"/>
              </a:cxn>
              <a:cxn ang="0">
                <a:pos x="623" y="14"/>
              </a:cxn>
              <a:cxn ang="0">
                <a:pos x="717" y="178"/>
              </a:cxn>
              <a:cxn ang="0">
                <a:pos x="811" y="14"/>
              </a:cxn>
              <a:cxn ang="0">
                <a:pos x="911" y="178"/>
              </a:cxn>
              <a:cxn ang="0">
                <a:pos x="1005" y="96"/>
              </a:cxn>
              <a:cxn ang="0">
                <a:pos x="1152" y="96"/>
              </a:cxn>
            </a:cxnLst>
            <a:rect l="0" t="0" r="r" b="b"/>
            <a:pathLst>
              <a:path w="1152" h="192">
                <a:moveTo>
                  <a:pt x="0" y="96"/>
                </a:moveTo>
                <a:cubicBezTo>
                  <a:pt x="51" y="103"/>
                  <a:pt x="102" y="110"/>
                  <a:pt x="141" y="96"/>
                </a:cubicBezTo>
                <a:cubicBezTo>
                  <a:pt x="180" y="82"/>
                  <a:pt x="203" y="0"/>
                  <a:pt x="235" y="14"/>
                </a:cubicBezTo>
                <a:cubicBezTo>
                  <a:pt x="267" y="28"/>
                  <a:pt x="303" y="178"/>
                  <a:pt x="335" y="178"/>
                </a:cubicBezTo>
                <a:cubicBezTo>
                  <a:pt x="367" y="178"/>
                  <a:pt x="398" y="14"/>
                  <a:pt x="429" y="14"/>
                </a:cubicBezTo>
                <a:cubicBezTo>
                  <a:pt x="460" y="14"/>
                  <a:pt x="491" y="178"/>
                  <a:pt x="523" y="178"/>
                </a:cubicBezTo>
                <a:cubicBezTo>
                  <a:pt x="555" y="178"/>
                  <a:pt x="591" y="14"/>
                  <a:pt x="623" y="14"/>
                </a:cubicBezTo>
                <a:cubicBezTo>
                  <a:pt x="655" y="14"/>
                  <a:pt x="686" y="178"/>
                  <a:pt x="717" y="178"/>
                </a:cubicBezTo>
                <a:cubicBezTo>
                  <a:pt x="748" y="178"/>
                  <a:pt x="779" y="14"/>
                  <a:pt x="811" y="14"/>
                </a:cubicBezTo>
                <a:cubicBezTo>
                  <a:pt x="843" y="14"/>
                  <a:pt x="879" y="164"/>
                  <a:pt x="911" y="178"/>
                </a:cubicBezTo>
                <a:cubicBezTo>
                  <a:pt x="943" y="192"/>
                  <a:pt x="965" y="110"/>
                  <a:pt x="1005" y="96"/>
                </a:cubicBezTo>
                <a:cubicBezTo>
                  <a:pt x="1045" y="82"/>
                  <a:pt x="1098" y="89"/>
                  <a:pt x="1152" y="96"/>
                </a:cubicBezTo>
              </a:path>
            </a:pathLst>
          </a:custGeom>
          <a:noFill/>
          <a:ln w="38100" cmpd="sng">
            <a:solidFill>
              <a:schemeClr val="accent2"/>
            </a:solidFill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1547" name="Oval 11"/>
          <p:cNvSpPr>
            <a:spLocks noChangeArrowheads="1"/>
          </p:cNvSpPr>
          <p:nvPr/>
        </p:nvSpPr>
        <p:spPr bwMode="auto">
          <a:xfrm>
            <a:off x="5910263" y="5143500"/>
            <a:ext cx="98425" cy="984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1548" name="Freeform 12"/>
          <p:cNvSpPr>
            <a:spLocks/>
          </p:cNvSpPr>
          <p:nvPr/>
        </p:nvSpPr>
        <p:spPr bwMode="auto">
          <a:xfrm rot="7065117">
            <a:off x="7823200" y="1763713"/>
            <a:ext cx="1828800" cy="1270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41" y="96"/>
              </a:cxn>
              <a:cxn ang="0">
                <a:pos x="235" y="14"/>
              </a:cxn>
              <a:cxn ang="0">
                <a:pos x="335" y="178"/>
              </a:cxn>
              <a:cxn ang="0">
                <a:pos x="429" y="14"/>
              </a:cxn>
              <a:cxn ang="0">
                <a:pos x="523" y="178"/>
              </a:cxn>
              <a:cxn ang="0">
                <a:pos x="623" y="14"/>
              </a:cxn>
              <a:cxn ang="0">
                <a:pos x="717" y="178"/>
              </a:cxn>
              <a:cxn ang="0">
                <a:pos x="811" y="14"/>
              </a:cxn>
              <a:cxn ang="0">
                <a:pos x="911" y="178"/>
              </a:cxn>
              <a:cxn ang="0">
                <a:pos x="1005" y="96"/>
              </a:cxn>
              <a:cxn ang="0">
                <a:pos x="1152" y="96"/>
              </a:cxn>
            </a:cxnLst>
            <a:rect l="0" t="0" r="r" b="b"/>
            <a:pathLst>
              <a:path w="1152" h="192">
                <a:moveTo>
                  <a:pt x="0" y="96"/>
                </a:moveTo>
                <a:cubicBezTo>
                  <a:pt x="51" y="103"/>
                  <a:pt x="102" y="110"/>
                  <a:pt x="141" y="96"/>
                </a:cubicBezTo>
                <a:cubicBezTo>
                  <a:pt x="180" y="82"/>
                  <a:pt x="203" y="0"/>
                  <a:pt x="235" y="14"/>
                </a:cubicBezTo>
                <a:cubicBezTo>
                  <a:pt x="267" y="28"/>
                  <a:pt x="303" y="178"/>
                  <a:pt x="335" y="178"/>
                </a:cubicBezTo>
                <a:cubicBezTo>
                  <a:pt x="367" y="178"/>
                  <a:pt x="398" y="14"/>
                  <a:pt x="429" y="14"/>
                </a:cubicBezTo>
                <a:cubicBezTo>
                  <a:pt x="460" y="14"/>
                  <a:pt x="491" y="178"/>
                  <a:pt x="523" y="178"/>
                </a:cubicBezTo>
                <a:cubicBezTo>
                  <a:pt x="555" y="178"/>
                  <a:pt x="591" y="14"/>
                  <a:pt x="623" y="14"/>
                </a:cubicBezTo>
                <a:cubicBezTo>
                  <a:pt x="655" y="14"/>
                  <a:pt x="686" y="178"/>
                  <a:pt x="717" y="178"/>
                </a:cubicBezTo>
                <a:cubicBezTo>
                  <a:pt x="748" y="178"/>
                  <a:pt x="779" y="14"/>
                  <a:pt x="811" y="14"/>
                </a:cubicBezTo>
                <a:cubicBezTo>
                  <a:pt x="843" y="14"/>
                  <a:pt x="879" y="164"/>
                  <a:pt x="911" y="178"/>
                </a:cubicBezTo>
                <a:cubicBezTo>
                  <a:pt x="943" y="192"/>
                  <a:pt x="965" y="110"/>
                  <a:pt x="1005" y="96"/>
                </a:cubicBezTo>
                <a:cubicBezTo>
                  <a:pt x="1045" y="82"/>
                  <a:pt x="1098" y="89"/>
                  <a:pt x="1152" y="96"/>
                </a:cubicBezTo>
              </a:path>
            </a:pathLst>
          </a:custGeom>
          <a:noFill/>
          <a:ln w="38100" cmpd="sng">
            <a:solidFill>
              <a:srgbClr val="D60093"/>
            </a:solidFill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1549" name="Text Box 13"/>
          <p:cNvSpPr txBox="1">
            <a:spLocks noChangeArrowheads="1"/>
          </p:cNvSpPr>
          <p:nvPr/>
        </p:nvSpPr>
        <p:spPr bwMode="auto">
          <a:xfrm>
            <a:off x="7245350" y="3305175"/>
            <a:ext cx="1716088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400" i="1">
                <a:solidFill>
                  <a:srgbClr val="5F5F5F"/>
                </a:solidFill>
                <a:latin typeface="Arial" charset="0"/>
              </a:rPr>
              <a:t>Small, medium and large electron jumps may occur, even to the point of ionization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1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1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1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1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1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1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037E-6 C 0.03072 3.7037E-6 0.0559 0.03333 0.0559 0.0743 C 0.0559 0.11527 0.03072 0.14884 4.44444E-6 0.14884 C -0.03073 0.14884 -0.05573 0.11527 -0.05573 0.0743 C -0.05573 0.03333 -0.03073 3.7037E-6 4.44444E-6 3.7037E-6 Z " pathEditMode="relative" rAng="0" ptsTypes="fffff">
                                      <p:cBhvr>
                                        <p:cTn id="41" dur="2000" fill="hold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1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1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7037E-7 L -0.43959 1.09769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" y="5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32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2.59259E-6 L -0.23125 0.57709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" y="288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0.0007 C 0.04496 0.0007 0.08298 0.0507 0.08298 0.11204 C 0.08298 0.17361 0.04496 0.22431 -0.00122 0.22431 C -0.04723 0.22431 -0.08473 0.17361 -0.08473 0.11204 C -0.08473 0.0507 -0.04723 0.0007 -0.00122 0.0007 Z " pathEditMode="relative" rAng="0" ptsTypes="fffff">
                                      <p:cBhvr>
                                        <p:cTn id="65" dur="2000" fill="hold"/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2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21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3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7037E-7 L -0.43959 1.09769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215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" y="549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21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0" grpId="0" animBg="1"/>
      <p:bldP spid="321540" grpId="1" animBg="1"/>
      <p:bldP spid="321540" grpId="2" animBg="1"/>
      <p:bldP spid="321545" grpId="0" animBg="1"/>
      <p:bldP spid="321545" grpId="1" animBg="1"/>
      <p:bldP spid="321546" grpId="0" animBg="1"/>
      <p:bldP spid="321546" grpId="1" animBg="1"/>
      <p:bldP spid="321546" grpId="2" animBg="1"/>
      <p:bldP spid="321547" grpId="0" animBg="1"/>
      <p:bldP spid="321547" grpId="1" animBg="1"/>
      <p:bldP spid="321547" grpId="2" animBg="1"/>
      <p:bldP spid="321548" grpId="0" animBg="1"/>
      <p:bldP spid="321548" grpId="1" animBg="1"/>
      <p:bldP spid="3215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3592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Absorption of infrared radiation by greenhouse gases</a:t>
            </a:r>
            <a:endParaRPr 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  <a:p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The excited gases will eventually de-excite and release photons.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The absorption and release of photons by the gases is called </a:t>
            </a:r>
            <a:r>
              <a:rPr lang="en-US" sz="2400" b="1">
                <a:latin typeface="Arial" charset="0"/>
              </a:rPr>
              <a:t>scattering</a:t>
            </a:r>
            <a:r>
              <a:rPr lang="en-US" sz="2400">
                <a:latin typeface="Arial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Scattering does not produce a net increase in heat energy in the atmosphere.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However, some of the scattered photons may be in the infrared region – able to be absorbed as internal energy and kinetic energy via the mechanisms illustrated on the next slides: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3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3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3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3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3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3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Absorption of infrared radiation by greenhouse gases</a:t>
            </a:r>
            <a:endParaRPr 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Greenhouse gases are all molecular in nature, (meaning comprised of more than one atom).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For our purposes we will consider the triatomic molecule CO</a:t>
            </a:r>
            <a:r>
              <a:rPr lang="en-US" sz="2400" baseline="-25000">
                <a:latin typeface="Arial" charset="0"/>
              </a:rPr>
              <a:t>2</a:t>
            </a:r>
            <a:r>
              <a:rPr lang="en-US" sz="2400">
                <a:latin typeface="Arial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A simple model of CO</a:t>
            </a:r>
            <a:r>
              <a:rPr lang="en-US" sz="2400" baseline="-25000">
                <a:latin typeface="Arial" charset="0"/>
              </a:rPr>
              <a:t>2</a:t>
            </a:r>
            <a:r>
              <a:rPr lang="en-US" sz="2400">
                <a:latin typeface="Arial" charset="0"/>
              </a:rPr>
              <a:t> has springs connecting the two oxygen atoms to the carbon atom:</a:t>
            </a: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Recall that heat energy can be stored in molecules as internal energy in the form of potential (the springs) and kinetic (the vibrations).</a:t>
            </a:r>
          </a:p>
        </p:txBody>
      </p:sp>
      <p:grpSp>
        <p:nvGrpSpPr>
          <p:cNvPr id="325636" name="Group 4"/>
          <p:cNvGrpSpPr>
            <a:grpSpLocks/>
          </p:cNvGrpSpPr>
          <p:nvPr/>
        </p:nvGrpSpPr>
        <p:grpSpPr bwMode="auto">
          <a:xfrm>
            <a:off x="3946525" y="4483100"/>
            <a:ext cx="817563" cy="817563"/>
            <a:chOff x="811" y="3153"/>
            <a:chExt cx="515" cy="515"/>
          </a:xfrm>
        </p:grpSpPr>
        <p:sp>
          <p:nvSpPr>
            <p:cNvPr id="325637" name="Oval 5"/>
            <p:cNvSpPr>
              <a:spLocks noChangeArrowheads="1"/>
            </p:cNvSpPr>
            <p:nvPr/>
          </p:nvSpPr>
          <p:spPr bwMode="auto">
            <a:xfrm>
              <a:off x="811" y="3153"/>
              <a:ext cx="515" cy="515"/>
            </a:xfrm>
            <a:prstGeom prst="ellipse">
              <a:avLst/>
            </a:prstGeom>
            <a:gradFill rotWithShape="1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638" name="Text Box 6"/>
            <p:cNvSpPr txBox="1">
              <a:spLocks noChangeArrowheads="1"/>
            </p:cNvSpPr>
            <p:nvPr/>
          </p:nvSpPr>
          <p:spPr bwMode="auto">
            <a:xfrm>
              <a:off x="927" y="3217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C</a:t>
              </a:r>
            </a:p>
          </p:txBody>
        </p:sp>
      </p:grpSp>
      <p:grpSp>
        <p:nvGrpSpPr>
          <p:cNvPr id="325639" name="Group 7"/>
          <p:cNvGrpSpPr>
            <a:grpSpLocks/>
          </p:cNvGrpSpPr>
          <p:nvPr/>
        </p:nvGrpSpPr>
        <p:grpSpPr bwMode="auto">
          <a:xfrm>
            <a:off x="5475288" y="4460875"/>
            <a:ext cx="925512" cy="925513"/>
            <a:chOff x="1509" y="3283"/>
            <a:chExt cx="583" cy="583"/>
          </a:xfrm>
        </p:grpSpPr>
        <p:sp>
          <p:nvSpPr>
            <p:cNvPr id="325640" name="Oval 8"/>
            <p:cNvSpPr>
              <a:spLocks noChangeArrowheads="1"/>
            </p:cNvSpPr>
            <p:nvPr/>
          </p:nvSpPr>
          <p:spPr bwMode="auto">
            <a:xfrm>
              <a:off x="1509" y="3283"/>
              <a:ext cx="583" cy="583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641" name="Text Box 9"/>
            <p:cNvSpPr txBox="1">
              <a:spLocks noChangeArrowheads="1"/>
            </p:cNvSpPr>
            <p:nvPr/>
          </p:nvSpPr>
          <p:spPr bwMode="auto">
            <a:xfrm>
              <a:off x="1655" y="3379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O</a:t>
              </a:r>
            </a:p>
          </p:txBody>
        </p:sp>
      </p:grpSp>
      <p:pic>
        <p:nvPicPr>
          <p:cNvPr id="325642" name="Picture 10" descr="_CHEMIS_PEEK_SPRING_mechanical_spring_JAPAN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48200" y="4584700"/>
            <a:ext cx="952500" cy="714375"/>
          </a:xfrm>
          <a:prstGeom prst="rect">
            <a:avLst/>
          </a:prstGeom>
          <a:noFill/>
        </p:spPr>
      </p:pic>
      <p:grpSp>
        <p:nvGrpSpPr>
          <p:cNvPr id="325643" name="Group 11"/>
          <p:cNvGrpSpPr>
            <a:grpSpLocks/>
          </p:cNvGrpSpPr>
          <p:nvPr/>
        </p:nvGrpSpPr>
        <p:grpSpPr bwMode="auto">
          <a:xfrm>
            <a:off x="2301875" y="4462463"/>
            <a:ext cx="925513" cy="925512"/>
            <a:chOff x="1509" y="3283"/>
            <a:chExt cx="583" cy="583"/>
          </a:xfrm>
        </p:grpSpPr>
        <p:sp>
          <p:nvSpPr>
            <p:cNvPr id="325644" name="Oval 12"/>
            <p:cNvSpPr>
              <a:spLocks noChangeArrowheads="1"/>
            </p:cNvSpPr>
            <p:nvPr/>
          </p:nvSpPr>
          <p:spPr bwMode="auto">
            <a:xfrm>
              <a:off x="1509" y="3283"/>
              <a:ext cx="583" cy="583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645" name="Text Box 13"/>
            <p:cNvSpPr txBox="1">
              <a:spLocks noChangeArrowheads="1"/>
            </p:cNvSpPr>
            <p:nvPr/>
          </p:nvSpPr>
          <p:spPr bwMode="auto">
            <a:xfrm>
              <a:off x="1655" y="3379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O</a:t>
              </a:r>
            </a:p>
          </p:txBody>
        </p:sp>
      </p:grpSp>
      <p:pic>
        <p:nvPicPr>
          <p:cNvPr id="325646" name="Picture 14" descr="_CHEMIS_PEEK_SPRING_mechanical_spring_JAPAN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06738" y="4594225"/>
            <a:ext cx="952500" cy="714375"/>
          </a:xfrm>
          <a:prstGeom prst="rect">
            <a:avLst/>
          </a:prstGeom>
          <a:noFill/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5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5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5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5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5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5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5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5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Absorption of infrared radiation by greenhouse gases</a:t>
            </a:r>
            <a:endParaRPr 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The difference between these two CO</a:t>
            </a:r>
            <a:r>
              <a:rPr lang="en-US" sz="2400" baseline="-25000">
                <a:latin typeface="Arial" charset="0"/>
              </a:rPr>
              <a:t>2</a:t>
            </a:r>
            <a:r>
              <a:rPr lang="en-US" sz="2400">
                <a:latin typeface="Arial" charset="0"/>
              </a:rPr>
              <a:t> molecules is in their internal potential energies:</a:t>
            </a:r>
          </a:p>
          <a:p>
            <a:pPr eaLnBrk="0" hangingPunct="0"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</a:endParaRPr>
          </a:p>
          <a:p>
            <a:pPr eaLnBrk="0" hangingPunct="0">
              <a:spcBef>
                <a:spcPct val="6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The above </a:t>
            </a:r>
            <a:r>
              <a:rPr lang="en-US" sz="2400" i="1">
                <a:latin typeface="Arial" charset="0"/>
              </a:rPr>
              <a:t>E</a:t>
            </a:r>
            <a:r>
              <a:rPr lang="en-US" sz="2400" baseline="-25000">
                <a:latin typeface="Arial" charset="0"/>
              </a:rPr>
              <a:t>P</a:t>
            </a:r>
            <a:r>
              <a:rPr lang="en-US" sz="2400">
                <a:latin typeface="Arial" charset="0"/>
              </a:rPr>
              <a:t> storage does not contribute to the increase in temperature of the CO</a:t>
            </a:r>
            <a:r>
              <a:rPr lang="en-US" sz="2400" baseline="-25000">
                <a:latin typeface="Arial" charset="0"/>
              </a:rPr>
              <a:t>2</a:t>
            </a:r>
            <a:r>
              <a:rPr lang="en-US" sz="2400">
                <a:latin typeface="Arial" charset="0"/>
              </a:rPr>
              <a:t>. Rather, it is the kinetic energy </a:t>
            </a:r>
            <a:r>
              <a:rPr lang="en-US" sz="2400" i="1">
                <a:latin typeface="Arial" charset="0"/>
              </a:rPr>
              <a:t>E</a:t>
            </a:r>
            <a:r>
              <a:rPr lang="en-US" sz="2400" baseline="-25000">
                <a:latin typeface="Arial" charset="0"/>
              </a:rPr>
              <a:t>K</a:t>
            </a:r>
            <a:r>
              <a:rPr lang="en-US" sz="2400">
                <a:latin typeface="Arial" charset="0"/>
              </a:rPr>
              <a:t> of the molecule that determines its temperature.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There are three ways an extended molecule such as CO</a:t>
            </a:r>
            <a:r>
              <a:rPr lang="en-US" sz="2400" baseline="-25000">
                <a:latin typeface="Arial" charset="0"/>
              </a:rPr>
              <a:t>2</a:t>
            </a:r>
            <a:r>
              <a:rPr lang="en-US" sz="2400">
                <a:latin typeface="Arial" charset="0"/>
              </a:rPr>
              <a:t> can store kinetic energy: Via </a:t>
            </a:r>
            <a:r>
              <a:rPr lang="en-US" sz="2400" b="1">
                <a:latin typeface="Arial" charset="0"/>
              </a:rPr>
              <a:t>vibration</a:t>
            </a:r>
            <a:r>
              <a:rPr lang="en-US" sz="2400">
                <a:latin typeface="Arial" charset="0"/>
              </a:rPr>
              <a:t>, via </a:t>
            </a:r>
            <a:r>
              <a:rPr lang="en-US" sz="2400" b="1">
                <a:latin typeface="Arial" charset="0"/>
              </a:rPr>
              <a:t>translation</a:t>
            </a:r>
            <a:r>
              <a:rPr lang="en-US" sz="2400">
                <a:latin typeface="Arial" charset="0"/>
              </a:rPr>
              <a:t>, and via </a:t>
            </a:r>
            <a:r>
              <a:rPr lang="en-US" sz="2400" b="1">
                <a:latin typeface="Arial" charset="0"/>
              </a:rPr>
              <a:t>rotation</a:t>
            </a:r>
            <a:r>
              <a:rPr lang="en-US" sz="2400">
                <a:latin typeface="Arial" charset="0"/>
              </a:rPr>
              <a:t>.</a:t>
            </a:r>
          </a:p>
        </p:txBody>
      </p:sp>
      <p:grpSp>
        <p:nvGrpSpPr>
          <p:cNvPr id="327684" name="Group 4"/>
          <p:cNvGrpSpPr>
            <a:grpSpLocks/>
          </p:cNvGrpSpPr>
          <p:nvPr/>
        </p:nvGrpSpPr>
        <p:grpSpPr bwMode="auto">
          <a:xfrm>
            <a:off x="2362200" y="2713038"/>
            <a:ext cx="817563" cy="817562"/>
            <a:chOff x="811" y="3153"/>
            <a:chExt cx="515" cy="515"/>
          </a:xfrm>
        </p:grpSpPr>
        <p:sp>
          <p:nvSpPr>
            <p:cNvPr id="327685" name="Oval 5"/>
            <p:cNvSpPr>
              <a:spLocks noChangeArrowheads="1"/>
            </p:cNvSpPr>
            <p:nvPr/>
          </p:nvSpPr>
          <p:spPr bwMode="auto">
            <a:xfrm>
              <a:off x="811" y="3153"/>
              <a:ext cx="515" cy="515"/>
            </a:xfrm>
            <a:prstGeom prst="ellipse">
              <a:avLst/>
            </a:prstGeom>
            <a:gradFill rotWithShape="1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686" name="Text Box 6"/>
            <p:cNvSpPr txBox="1">
              <a:spLocks noChangeArrowheads="1"/>
            </p:cNvSpPr>
            <p:nvPr/>
          </p:nvSpPr>
          <p:spPr bwMode="auto">
            <a:xfrm>
              <a:off x="927" y="3217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C</a:t>
              </a:r>
            </a:p>
          </p:txBody>
        </p:sp>
      </p:grpSp>
      <p:grpSp>
        <p:nvGrpSpPr>
          <p:cNvPr id="327687" name="Group 7"/>
          <p:cNvGrpSpPr>
            <a:grpSpLocks/>
          </p:cNvGrpSpPr>
          <p:nvPr/>
        </p:nvGrpSpPr>
        <p:grpSpPr bwMode="auto">
          <a:xfrm>
            <a:off x="3890963" y="2690813"/>
            <a:ext cx="925512" cy="925512"/>
            <a:chOff x="1509" y="3283"/>
            <a:chExt cx="583" cy="583"/>
          </a:xfrm>
        </p:grpSpPr>
        <p:sp>
          <p:nvSpPr>
            <p:cNvPr id="327688" name="Oval 8"/>
            <p:cNvSpPr>
              <a:spLocks noChangeArrowheads="1"/>
            </p:cNvSpPr>
            <p:nvPr/>
          </p:nvSpPr>
          <p:spPr bwMode="auto">
            <a:xfrm>
              <a:off x="1509" y="3283"/>
              <a:ext cx="583" cy="583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689" name="Text Box 9"/>
            <p:cNvSpPr txBox="1">
              <a:spLocks noChangeArrowheads="1"/>
            </p:cNvSpPr>
            <p:nvPr/>
          </p:nvSpPr>
          <p:spPr bwMode="auto">
            <a:xfrm>
              <a:off x="1655" y="3379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O</a:t>
              </a:r>
            </a:p>
          </p:txBody>
        </p:sp>
      </p:grpSp>
      <p:pic>
        <p:nvPicPr>
          <p:cNvPr id="327690" name="Picture 10" descr="_CHEMIS_PEEK_SPRING_mechanical_spring_JAPAN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63875" y="2814638"/>
            <a:ext cx="952500" cy="714375"/>
          </a:xfrm>
          <a:prstGeom prst="rect">
            <a:avLst/>
          </a:prstGeom>
          <a:noFill/>
        </p:spPr>
      </p:pic>
      <p:grpSp>
        <p:nvGrpSpPr>
          <p:cNvPr id="327691" name="Group 11"/>
          <p:cNvGrpSpPr>
            <a:grpSpLocks/>
          </p:cNvGrpSpPr>
          <p:nvPr/>
        </p:nvGrpSpPr>
        <p:grpSpPr bwMode="auto">
          <a:xfrm>
            <a:off x="717550" y="2692400"/>
            <a:ext cx="925513" cy="925513"/>
            <a:chOff x="1509" y="3283"/>
            <a:chExt cx="583" cy="583"/>
          </a:xfrm>
        </p:grpSpPr>
        <p:sp>
          <p:nvSpPr>
            <p:cNvPr id="327692" name="Oval 12"/>
            <p:cNvSpPr>
              <a:spLocks noChangeArrowheads="1"/>
            </p:cNvSpPr>
            <p:nvPr/>
          </p:nvSpPr>
          <p:spPr bwMode="auto">
            <a:xfrm>
              <a:off x="1509" y="3283"/>
              <a:ext cx="583" cy="583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693" name="Text Box 13"/>
            <p:cNvSpPr txBox="1">
              <a:spLocks noChangeArrowheads="1"/>
            </p:cNvSpPr>
            <p:nvPr/>
          </p:nvSpPr>
          <p:spPr bwMode="auto">
            <a:xfrm>
              <a:off x="1655" y="3379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O</a:t>
              </a:r>
            </a:p>
          </p:txBody>
        </p:sp>
      </p:grpSp>
      <p:pic>
        <p:nvPicPr>
          <p:cNvPr id="327694" name="Picture 14" descr="_CHEMIS_PEEK_SPRING_mechanical_spring_JAPAN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2413" y="2824163"/>
            <a:ext cx="952500" cy="714375"/>
          </a:xfrm>
          <a:prstGeom prst="rect">
            <a:avLst/>
          </a:prstGeom>
          <a:noFill/>
        </p:spPr>
      </p:pic>
      <p:grpSp>
        <p:nvGrpSpPr>
          <p:cNvPr id="327695" name="Group 15"/>
          <p:cNvGrpSpPr>
            <a:grpSpLocks/>
          </p:cNvGrpSpPr>
          <p:nvPr/>
        </p:nvGrpSpPr>
        <p:grpSpPr bwMode="auto">
          <a:xfrm>
            <a:off x="6321425" y="2716213"/>
            <a:ext cx="817563" cy="817562"/>
            <a:chOff x="811" y="3153"/>
            <a:chExt cx="515" cy="515"/>
          </a:xfrm>
        </p:grpSpPr>
        <p:sp>
          <p:nvSpPr>
            <p:cNvPr id="327696" name="Oval 16"/>
            <p:cNvSpPr>
              <a:spLocks noChangeArrowheads="1"/>
            </p:cNvSpPr>
            <p:nvPr/>
          </p:nvSpPr>
          <p:spPr bwMode="auto">
            <a:xfrm>
              <a:off x="811" y="3153"/>
              <a:ext cx="515" cy="515"/>
            </a:xfrm>
            <a:prstGeom prst="ellipse">
              <a:avLst/>
            </a:prstGeom>
            <a:gradFill rotWithShape="1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697" name="Text Box 17"/>
            <p:cNvSpPr txBox="1">
              <a:spLocks noChangeArrowheads="1"/>
            </p:cNvSpPr>
            <p:nvPr/>
          </p:nvSpPr>
          <p:spPr bwMode="auto">
            <a:xfrm>
              <a:off x="927" y="3217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C</a:t>
              </a:r>
            </a:p>
          </p:txBody>
        </p:sp>
      </p:grpSp>
      <p:grpSp>
        <p:nvGrpSpPr>
          <p:cNvPr id="327698" name="Group 18"/>
          <p:cNvGrpSpPr>
            <a:grpSpLocks/>
          </p:cNvGrpSpPr>
          <p:nvPr/>
        </p:nvGrpSpPr>
        <p:grpSpPr bwMode="auto">
          <a:xfrm>
            <a:off x="7519988" y="2693988"/>
            <a:ext cx="925512" cy="925512"/>
            <a:chOff x="1509" y="3283"/>
            <a:chExt cx="583" cy="583"/>
          </a:xfrm>
        </p:grpSpPr>
        <p:sp>
          <p:nvSpPr>
            <p:cNvPr id="327699" name="Oval 19"/>
            <p:cNvSpPr>
              <a:spLocks noChangeArrowheads="1"/>
            </p:cNvSpPr>
            <p:nvPr/>
          </p:nvSpPr>
          <p:spPr bwMode="auto">
            <a:xfrm>
              <a:off x="1509" y="3283"/>
              <a:ext cx="583" cy="583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00" name="Text Box 20"/>
            <p:cNvSpPr txBox="1">
              <a:spLocks noChangeArrowheads="1"/>
            </p:cNvSpPr>
            <p:nvPr/>
          </p:nvSpPr>
          <p:spPr bwMode="auto">
            <a:xfrm>
              <a:off x="1655" y="3379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O</a:t>
              </a:r>
            </a:p>
          </p:txBody>
        </p:sp>
      </p:grpSp>
      <p:pic>
        <p:nvPicPr>
          <p:cNvPr id="327701" name="Picture 21" descr="_CHEMIS_PEEK_SPRING_mechanical_spring_JAPAN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23100" y="2817813"/>
            <a:ext cx="555625" cy="714375"/>
          </a:xfrm>
          <a:prstGeom prst="rect">
            <a:avLst/>
          </a:prstGeom>
          <a:noFill/>
        </p:spPr>
      </p:pic>
      <p:grpSp>
        <p:nvGrpSpPr>
          <p:cNvPr id="327702" name="Group 22"/>
          <p:cNvGrpSpPr>
            <a:grpSpLocks/>
          </p:cNvGrpSpPr>
          <p:nvPr/>
        </p:nvGrpSpPr>
        <p:grpSpPr bwMode="auto">
          <a:xfrm>
            <a:off x="5019675" y="2695575"/>
            <a:ext cx="925513" cy="925513"/>
            <a:chOff x="1509" y="3283"/>
            <a:chExt cx="583" cy="583"/>
          </a:xfrm>
        </p:grpSpPr>
        <p:sp>
          <p:nvSpPr>
            <p:cNvPr id="327703" name="Oval 23"/>
            <p:cNvSpPr>
              <a:spLocks noChangeArrowheads="1"/>
            </p:cNvSpPr>
            <p:nvPr/>
          </p:nvSpPr>
          <p:spPr bwMode="auto">
            <a:xfrm>
              <a:off x="1509" y="3283"/>
              <a:ext cx="583" cy="583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04" name="Text Box 24"/>
            <p:cNvSpPr txBox="1">
              <a:spLocks noChangeArrowheads="1"/>
            </p:cNvSpPr>
            <p:nvPr/>
          </p:nvSpPr>
          <p:spPr bwMode="auto">
            <a:xfrm>
              <a:off x="1655" y="3379"/>
              <a:ext cx="28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600" b="1"/>
                <a:t>O</a:t>
              </a:r>
            </a:p>
          </p:txBody>
        </p:sp>
      </p:grpSp>
      <p:pic>
        <p:nvPicPr>
          <p:cNvPr id="327705" name="Picture 25" descr="_CHEMIS_PEEK_SPRING_mechanical_spring_JAPAN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54700" y="2827338"/>
            <a:ext cx="579438" cy="714375"/>
          </a:xfrm>
          <a:prstGeom prst="rect">
            <a:avLst/>
          </a:prstGeom>
          <a:noFill/>
        </p:spPr>
      </p:pic>
      <p:sp>
        <p:nvSpPr>
          <p:cNvPr id="327706" name="Text Box 26"/>
          <p:cNvSpPr txBox="1">
            <a:spLocks noChangeArrowheads="1"/>
          </p:cNvSpPr>
          <p:nvPr/>
        </p:nvSpPr>
        <p:spPr bwMode="auto">
          <a:xfrm>
            <a:off x="2062163" y="3503613"/>
            <a:ext cx="1155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  <a:latin typeface="Arial" charset="0"/>
              </a:rPr>
              <a:t>E</a:t>
            </a:r>
            <a:r>
              <a:rPr lang="en-US" sz="2800" baseline="-25000">
                <a:solidFill>
                  <a:schemeClr val="hlink"/>
                </a:solidFill>
                <a:latin typeface="Arial" charset="0"/>
              </a:rPr>
              <a:t>P</a:t>
            </a:r>
            <a:r>
              <a:rPr lang="en-US" sz="2800">
                <a:solidFill>
                  <a:schemeClr val="hlink"/>
                </a:solidFill>
                <a:latin typeface="Arial" charset="0"/>
              </a:rPr>
              <a:t> big</a:t>
            </a:r>
          </a:p>
        </p:txBody>
      </p:sp>
      <p:sp>
        <p:nvSpPr>
          <p:cNvPr id="327707" name="Text Box 27"/>
          <p:cNvSpPr txBox="1">
            <a:spLocks noChangeArrowheads="1"/>
          </p:cNvSpPr>
          <p:nvPr/>
        </p:nvSpPr>
        <p:spPr bwMode="auto">
          <a:xfrm>
            <a:off x="5805488" y="3517900"/>
            <a:ext cx="1511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  <a:latin typeface="Arial" charset="0"/>
              </a:rPr>
              <a:t>E</a:t>
            </a:r>
            <a:r>
              <a:rPr lang="en-US" sz="2800" baseline="-25000">
                <a:solidFill>
                  <a:schemeClr val="hlink"/>
                </a:solidFill>
                <a:latin typeface="Arial" charset="0"/>
              </a:rPr>
              <a:t>P</a:t>
            </a:r>
            <a:r>
              <a:rPr lang="en-US" sz="2800">
                <a:solidFill>
                  <a:schemeClr val="hlink"/>
                </a:solidFill>
                <a:latin typeface="Arial" charset="0"/>
              </a:rPr>
              <a:t> small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7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7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7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7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27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7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7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7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7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7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6" grpId="0"/>
      <p:bldP spid="32770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8069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Absorption of infrared radiation by greenhouse gases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 b="1">
                <a:latin typeface="Arial" charset="0"/>
              </a:rPr>
              <a:t>Vibration</a:t>
            </a:r>
            <a:r>
              <a:rPr lang="en-US" sz="2400">
                <a:latin typeface="Arial" charset="0"/>
              </a:rPr>
              <a:t> refers to the molecules oscillating in conjunction with the springs:</a:t>
            </a:r>
          </a:p>
          <a:p>
            <a:pPr eaLnBrk="0" hangingPunct="0"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The </a:t>
            </a:r>
            <a:r>
              <a:rPr lang="en-US" sz="2400" b="1">
                <a:latin typeface="Arial" charset="0"/>
              </a:rPr>
              <a:t>natural frequency</a:t>
            </a:r>
            <a:r>
              <a:rPr lang="en-US" sz="2400">
                <a:latin typeface="Arial" charset="0"/>
              </a:rPr>
              <a:t> of greenhouse gases is in the </a:t>
            </a:r>
            <a:r>
              <a:rPr lang="en-US" sz="2400" b="1">
                <a:solidFill>
                  <a:srgbClr val="CC0000"/>
                </a:solidFill>
                <a:latin typeface="Arial" charset="0"/>
              </a:rPr>
              <a:t>infrared region</a:t>
            </a:r>
            <a:r>
              <a:rPr lang="en-US" sz="2400">
                <a:latin typeface="Arial" charset="0"/>
              </a:rPr>
              <a:t> of the spectrum and thus greenhouse gases are prone to absorb such frequencies.</a:t>
            </a:r>
          </a:p>
        </p:txBody>
      </p:sp>
      <p:grpSp>
        <p:nvGrpSpPr>
          <p:cNvPr id="329732" name="Group 4"/>
          <p:cNvGrpSpPr>
            <a:grpSpLocks/>
          </p:cNvGrpSpPr>
          <p:nvPr/>
        </p:nvGrpSpPr>
        <p:grpSpPr bwMode="auto">
          <a:xfrm>
            <a:off x="2411413" y="2995613"/>
            <a:ext cx="4098925" cy="927100"/>
            <a:chOff x="452" y="2007"/>
            <a:chExt cx="2582" cy="584"/>
          </a:xfrm>
        </p:grpSpPr>
        <p:grpSp>
          <p:nvGrpSpPr>
            <p:cNvPr id="329733" name="Group 5"/>
            <p:cNvGrpSpPr>
              <a:grpSpLocks/>
            </p:cNvGrpSpPr>
            <p:nvPr/>
          </p:nvGrpSpPr>
          <p:grpSpPr bwMode="auto">
            <a:xfrm>
              <a:off x="1488" y="2021"/>
              <a:ext cx="515" cy="515"/>
              <a:chOff x="811" y="3153"/>
              <a:chExt cx="515" cy="515"/>
            </a:xfrm>
          </p:grpSpPr>
          <p:sp>
            <p:nvSpPr>
              <p:cNvPr id="329734" name="Oval 6"/>
              <p:cNvSpPr>
                <a:spLocks noChangeArrowheads="1"/>
              </p:cNvSpPr>
              <p:nvPr/>
            </p:nvSpPr>
            <p:spPr bwMode="auto">
              <a:xfrm>
                <a:off x="811" y="3153"/>
                <a:ext cx="515" cy="515"/>
              </a:xfrm>
              <a:prstGeom prst="ellipse">
                <a:avLst/>
              </a:prstGeom>
              <a:gradFill rotWithShape="1">
                <a:gsLst>
                  <a:gs pos="0">
                    <a:schemeClr val="tx1">
                      <a:gamma/>
                      <a:tint val="0"/>
                      <a:invGamma/>
                    </a:schemeClr>
                  </a:gs>
                  <a:gs pos="100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735" name="Text Box 7"/>
              <p:cNvSpPr txBox="1">
                <a:spLocks noChangeArrowheads="1"/>
              </p:cNvSpPr>
              <p:nvPr/>
            </p:nvSpPr>
            <p:spPr bwMode="auto">
              <a:xfrm>
                <a:off x="927" y="3217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C</a:t>
                </a:r>
              </a:p>
            </p:txBody>
          </p:sp>
        </p:grpSp>
        <p:grpSp>
          <p:nvGrpSpPr>
            <p:cNvPr id="329736" name="Group 8"/>
            <p:cNvGrpSpPr>
              <a:grpSpLocks/>
            </p:cNvGrpSpPr>
            <p:nvPr/>
          </p:nvGrpSpPr>
          <p:grpSpPr bwMode="auto">
            <a:xfrm>
              <a:off x="2451" y="2007"/>
              <a:ext cx="583" cy="583"/>
              <a:chOff x="1509" y="3283"/>
              <a:chExt cx="583" cy="583"/>
            </a:xfrm>
          </p:grpSpPr>
          <p:sp>
            <p:nvSpPr>
              <p:cNvPr id="329737" name="Oval 9"/>
              <p:cNvSpPr>
                <a:spLocks noChangeArrowheads="1"/>
              </p:cNvSpPr>
              <p:nvPr/>
            </p:nvSpPr>
            <p:spPr bwMode="auto">
              <a:xfrm>
                <a:off x="1509" y="3283"/>
                <a:ext cx="583" cy="583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33CC33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738" name="Text Box 10"/>
              <p:cNvSpPr txBox="1">
                <a:spLocks noChangeArrowheads="1"/>
              </p:cNvSpPr>
              <p:nvPr/>
            </p:nvSpPr>
            <p:spPr bwMode="auto">
              <a:xfrm>
                <a:off x="1655" y="3379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O</a:t>
                </a:r>
              </a:p>
            </p:txBody>
          </p:sp>
        </p:grpSp>
        <p:pic>
          <p:nvPicPr>
            <p:cNvPr id="329739" name="Picture 11" descr="_CHEMIS_PEEK_SPRING_mechanical_spring_JAPAN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930" y="2085"/>
              <a:ext cx="600" cy="450"/>
            </a:xfrm>
            <a:prstGeom prst="rect">
              <a:avLst/>
            </a:prstGeom>
            <a:noFill/>
          </p:spPr>
        </p:pic>
        <p:grpSp>
          <p:nvGrpSpPr>
            <p:cNvPr id="329740" name="Group 12"/>
            <p:cNvGrpSpPr>
              <a:grpSpLocks/>
            </p:cNvGrpSpPr>
            <p:nvPr/>
          </p:nvGrpSpPr>
          <p:grpSpPr bwMode="auto">
            <a:xfrm>
              <a:off x="452" y="2008"/>
              <a:ext cx="583" cy="583"/>
              <a:chOff x="1509" y="3283"/>
              <a:chExt cx="583" cy="583"/>
            </a:xfrm>
          </p:grpSpPr>
          <p:sp>
            <p:nvSpPr>
              <p:cNvPr id="329741" name="Oval 13"/>
              <p:cNvSpPr>
                <a:spLocks noChangeArrowheads="1"/>
              </p:cNvSpPr>
              <p:nvPr/>
            </p:nvSpPr>
            <p:spPr bwMode="auto">
              <a:xfrm>
                <a:off x="1509" y="3283"/>
                <a:ext cx="583" cy="583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33CC33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742" name="Text Box 14"/>
              <p:cNvSpPr txBox="1">
                <a:spLocks noChangeArrowheads="1"/>
              </p:cNvSpPr>
              <p:nvPr/>
            </p:nvSpPr>
            <p:spPr bwMode="auto">
              <a:xfrm>
                <a:off x="1655" y="3379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O</a:t>
                </a:r>
              </a:p>
            </p:txBody>
          </p:sp>
        </p:grpSp>
        <p:pic>
          <p:nvPicPr>
            <p:cNvPr id="329743" name="Picture 15" descr="_CHEMIS_PEEK_SPRING_mechanical_spring_JAPAN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59" y="2091"/>
              <a:ext cx="600" cy="450"/>
            </a:xfrm>
            <a:prstGeom prst="rect">
              <a:avLst/>
            </a:prstGeom>
            <a:noFill/>
          </p:spPr>
        </p:pic>
      </p:grpSp>
      <p:grpSp>
        <p:nvGrpSpPr>
          <p:cNvPr id="329744" name="Group 16"/>
          <p:cNvGrpSpPr>
            <a:grpSpLocks/>
          </p:cNvGrpSpPr>
          <p:nvPr/>
        </p:nvGrpSpPr>
        <p:grpSpPr bwMode="auto">
          <a:xfrm>
            <a:off x="2755900" y="2998788"/>
            <a:ext cx="3425825" cy="927100"/>
            <a:chOff x="3162" y="2009"/>
            <a:chExt cx="2158" cy="584"/>
          </a:xfrm>
        </p:grpSpPr>
        <p:grpSp>
          <p:nvGrpSpPr>
            <p:cNvPr id="329745" name="Group 17"/>
            <p:cNvGrpSpPr>
              <a:grpSpLocks/>
            </p:cNvGrpSpPr>
            <p:nvPr/>
          </p:nvGrpSpPr>
          <p:grpSpPr bwMode="auto">
            <a:xfrm>
              <a:off x="3982" y="2023"/>
              <a:ext cx="515" cy="515"/>
              <a:chOff x="811" y="3153"/>
              <a:chExt cx="515" cy="515"/>
            </a:xfrm>
          </p:grpSpPr>
          <p:sp>
            <p:nvSpPr>
              <p:cNvPr id="329746" name="Oval 18"/>
              <p:cNvSpPr>
                <a:spLocks noChangeArrowheads="1"/>
              </p:cNvSpPr>
              <p:nvPr/>
            </p:nvSpPr>
            <p:spPr bwMode="auto">
              <a:xfrm>
                <a:off x="811" y="3153"/>
                <a:ext cx="515" cy="515"/>
              </a:xfrm>
              <a:prstGeom prst="ellipse">
                <a:avLst/>
              </a:prstGeom>
              <a:gradFill rotWithShape="1">
                <a:gsLst>
                  <a:gs pos="0">
                    <a:schemeClr val="tx1">
                      <a:gamma/>
                      <a:tint val="0"/>
                      <a:invGamma/>
                    </a:schemeClr>
                  </a:gs>
                  <a:gs pos="100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747" name="Text Box 19"/>
              <p:cNvSpPr txBox="1">
                <a:spLocks noChangeArrowheads="1"/>
              </p:cNvSpPr>
              <p:nvPr/>
            </p:nvSpPr>
            <p:spPr bwMode="auto">
              <a:xfrm>
                <a:off x="927" y="3217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C</a:t>
                </a:r>
              </a:p>
            </p:txBody>
          </p:sp>
        </p:grpSp>
        <p:grpSp>
          <p:nvGrpSpPr>
            <p:cNvPr id="329748" name="Group 20"/>
            <p:cNvGrpSpPr>
              <a:grpSpLocks/>
            </p:cNvGrpSpPr>
            <p:nvPr/>
          </p:nvGrpSpPr>
          <p:grpSpPr bwMode="auto">
            <a:xfrm>
              <a:off x="4737" y="2009"/>
              <a:ext cx="583" cy="583"/>
              <a:chOff x="1509" y="3283"/>
              <a:chExt cx="583" cy="583"/>
            </a:xfrm>
          </p:grpSpPr>
          <p:sp>
            <p:nvSpPr>
              <p:cNvPr id="329749" name="Oval 21"/>
              <p:cNvSpPr>
                <a:spLocks noChangeArrowheads="1"/>
              </p:cNvSpPr>
              <p:nvPr/>
            </p:nvSpPr>
            <p:spPr bwMode="auto">
              <a:xfrm>
                <a:off x="1509" y="3283"/>
                <a:ext cx="583" cy="583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33CC33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750" name="Text Box 22"/>
              <p:cNvSpPr txBox="1">
                <a:spLocks noChangeArrowheads="1"/>
              </p:cNvSpPr>
              <p:nvPr/>
            </p:nvSpPr>
            <p:spPr bwMode="auto">
              <a:xfrm>
                <a:off x="1655" y="3379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O</a:t>
                </a:r>
              </a:p>
            </p:txBody>
          </p:sp>
        </p:grpSp>
        <p:pic>
          <p:nvPicPr>
            <p:cNvPr id="329751" name="Picture 23" descr="_CHEMIS_PEEK_SPRING_mechanical_spring_JAPAN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24" y="2087"/>
              <a:ext cx="350" cy="450"/>
            </a:xfrm>
            <a:prstGeom prst="rect">
              <a:avLst/>
            </a:prstGeom>
            <a:noFill/>
          </p:spPr>
        </p:pic>
        <p:grpSp>
          <p:nvGrpSpPr>
            <p:cNvPr id="329752" name="Group 24"/>
            <p:cNvGrpSpPr>
              <a:grpSpLocks/>
            </p:cNvGrpSpPr>
            <p:nvPr/>
          </p:nvGrpSpPr>
          <p:grpSpPr bwMode="auto">
            <a:xfrm>
              <a:off x="3162" y="2010"/>
              <a:ext cx="583" cy="583"/>
              <a:chOff x="1509" y="3283"/>
              <a:chExt cx="583" cy="583"/>
            </a:xfrm>
          </p:grpSpPr>
          <p:sp>
            <p:nvSpPr>
              <p:cNvPr id="329753" name="Oval 25"/>
              <p:cNvSpPr>
                <a:spLocks noChangeArrowheads="1"/>
              </p:cNvSpPr>
              <p:nvPr/>
            </p:nvSpPr>
            <p:spPr bwMode="auto">
              <a:xfrm>
                <a:off x="1509" y="3283"/>
                <a:ext cx="583" cy="583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33CC33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754" name="Text Box 26"/>
              <p:cNvSpPr txBox="1">
                <a:spLocks noChangeArrowheads="1"/>
              </p:cNvSpPr>
              <p:nvPr/>
            </p:nvSpPr>
            <p:spPr bwMode="auto">
              <a:xfrm>
                <a:off x="1655" y="3379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O</a:t>
                </a:r>
              </a:p>
            </p:txBody>
          </p:sp>
        </p:grpSp>
        <p:pic>
          <p:nvPicPr>
            <p:cNvPr id="329755" name="Picture 27" descr="_CHEMIS_PEEK_SPRING_mechanical_spring_JAPAN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688" y="2093"/>
              <a:ext cx="365" cy="450"/>
            </a:xfrm>
            <a:prstGeom prst="rect">
              <a:avLst/>
            </a:prstGeom>
            <a:noFill/>
          </p:spPr>
        </p:pic>
      </p:grpSp>
      <p:sp>
        <p:nvSpPr>
          <p:cNvPr id="329756" name="Line 28"/>
          <p:cNvSpPr>
            <a:spLocks noChangeShapeType="1"/>
          </p:cNvSpPr>
          <p:nvPr/>
        </p:nvSpPr>
        <p:spPr bwMode="auto">
          <a:xfrm>
            <a:off x="2962275" y="4103688"/>
            <a:ext cx="292417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9757" name="Text Box 29"/>
          <p:cNvSpPr txBox="1">
            <a:spLocks noChangeArrowheads="1"/>
          </p:cNvSpPr>
          <p:nvPr/>
        </p:nvSpPr>
        <p:spPr bwMode="auto">
          <a:xfrm>
            <a:off x="3663950" y="4052888"/>
            <a:ext cx="15319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hlink"/>
                </a:solidFill>
                <a:latin typeface="Arial" charset="0"/>
              </a:rPr>
              <a:t>vibration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2000"/>
                                        <p:tgtEl>
                                          <p:spTgt spid="32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9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9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9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9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56" grpId="0" animBg="1"/>
      <p:bldP spid="32975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Absorption of infrared radiation by greenhouse gases</a:t>
            </a:r>
            <a:endParaRPr 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 b="1">
                <a:latin typeface="Arial" charset="0"/>
              </a:rPr>
              <a:t>Translation</a:t>
            </a:r>
            <a:r>
              <a:rPr lang="en-US" sz="2400">
                <a:latin typeface="Arial" charset="0"/>
              </a:rPr>
              <a:t> refers to the                                          molecule moving as a unit                                                   in a straight line:</a:t>
            </a:r>
          </a:p>
          <a:p>
            <a:pPr eaLnBrk="0" hangingPunct="0"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 b="1">
                <a:latin typeface="Arial" charset="0"/>
              </a:rPr>
              <a:t>Rotation</a:t>
            </a:r>
            <a:r>
              <a:rPr lang="en-US" sz="2400">
                <a:latin typeface="Arial" charset="0"/>
              </a:rPr>
              <a:t> refers to the                                                  molecule spinning about                                                     its center of mass.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All three </a:t>
            </a:r>
            <a:r>
              <a:rPr lang="en-US" sz="2400" i="1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E</a:t>
            </a:r>
            <a:r>
              <a:rPr lang="en-US" sz="2400" baseline="-250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K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 modes can                                                 absorb and hold </a:t>
            </a:r>
            <a:r>
              <a:rPr lang="en-US" sz="2400" b="1">
                <a:solidFill>
                  <a:srgbClr val="CC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infrared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                                            radiation simultaneously. </a:t>
            </a:r>
          </a:p>
        </p:txBody>
      </p:sp>
      <p:grpSp>
        <p:nvGrpSpPr>
          <p:cNvPr id="331780" name="Group 4"/>
          <p:cNvGrpSpPr>
            <a:grpSpLocks/>
          </p:cNvGrpSpPr>
          <p:nvPr/>
        </p:nvGrpSpPr>
        <p:grpSpPr bwMode="auto">
          <a:xfrm>
            <a:off x="1157288" y="3138488"/>
            <a:ext cx="3425825" cy="927100"/>
            <a:chOff x="3162" y="2009"/>
            <a:chExt cx="2158" cy="584"/>
          </a:xfrm>
        </p:grpSpPr>
        <p:grpSp>
          <p:nvGrpSpPr>
            <p:cNvPr id="331781" name="Group 5"/>
            <p:cNvGrpSpPr>
              <a:grpSpLocks/>
            </p:cNvGrpSpPr>
            <p:nvPr/>
          </p:nvGrpSpPr>
          <p:grpSpPr bwMode="auto">
            <a:xfrm>
              <a:off x="3982" y="2023"/>
              <a:ext cx="515" cy="515"/>
              <a:chOff x="811" y="3153"/>
              <a:chExt cx="515" cy="515"/>
            </a:xfrm>
          </p:grpSpPr>
          <p:sp>
            <p:nvSpPr>
              <p:cNvPr id="331782" name="Oval 6"/>
              <p:cNvSpPr>
                <a:spLocks noChangeArrowheads="1"/>
              </p:cNvSpPr>
              <p:nvPr/>
            </p:nvSpPr>
            <p:spPr bwMode="auto">
              <a:xfrm>
                <a:off x="811" y="3153"/>
                <a:ext cx="515" cy="515"/>
              </a:xfrm>
              <a:prstGeom prst="ellipse">
                <a:avLst/>
              </a:prstGeom>
              <a:gradFill rotWithShape="1">
                <a:gsLst>
                  <a:gs pos="0">
                    <a:schemeClr val="tx1">
                      <a:gamma/>
                      <a:tint val="0"/>
                      <a:invGamma/>
                    </a:schemeClr>
                  </a:gs>
                  <a:gs pos="100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83" name="Text Box 7"/>
              <p:cNvSpPr txBox="1">
                <a:spLocks noChangeArrowheads="1"/>
              </p:cNvSpPr>
              <p:nvPr/>
            </p:nvSpPr>
            <p:spPr bwMode="auto">
              <a:xfrm>
                <a:off x="927" y="3217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C</a:t>
                </a:r>
              </a:p>
            </p:txBody>
          </p:sp>
        </p:grpSp>
        <p:grpSp>
          <p:nvGrpSpPr>
            <p:cNvPr id="331784" name="Group 8"/>
            <p:cNvGrpSpPr>
              <a:grpSpLocks/>
            </p:cNvGrpSpPr>
            <p:nvPr/>
          </p:nvGrpSpPr>
          <p:grpSpPr bwMode="auto">
            <a:xfrm>
              <a:off x="4737" y="2009"/>
              <a:ext cx="583" cy="583"/>
              <a:chOff x="1509" y="3283"/>
              <a:chExt cx="583" cy="583"/>
            </a:xfrm>
          </p:grpSpPr>
          <p:sp>
            <p:nvSpPr>
              <p:cNvPr id="331785" name="Oval 9"/>
              <p:cNvSpPr>
                <a:spLocks noChangeArrowheads="1"/>
              </p:cNvSpPr>
              <p:nvPr/>
            </p:nvSpPr>
            <p:spPr bwMode="auto">
              <a:xfrm>
                <a:off x="1509" y="3283"/>
                <a:ext cx="583" cy="583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33CC33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86" name="Text Box 10"/>
              <p:cNvSpPr txBox="1">
                <a:spLocks noChangeArrowheads="1"/>
              </p:cNvSpPr>
              <p:nvPr/>
            </p:nvSpPr>
            <p:spPr bwMode="auto">
              <a:xfrm>
                <a:off x="1655" y="3379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O</a:t>
                </a:r>
              </a:p>
            </p:txBody>
          </p:sp>
        </p:grpSp>
        <p:pic>
          <p:nvPicPr>
            <p:cNvPr id="331787" name="Picture 11" descr="_CHEMIS_PEEK_SPRING_mechanical_spring_JAPAN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24" y="2087"/>
              <a:ext cx="350" cy="450"/>
            </a:xfrm>
            <a:prstGeom prst="rect">
              <a:avLst/>
            </a:prstGeom>
            <a:noFill/>
          </p:spPr>
        </p:pic>
        <p:grpSp>
          <p:nvGrpSpPr>
            <p:cNvPr id="331788" name="Group 12"/>
            <p:cNvGrpSpPr>
              <a:grpSpLocks/>
            </p:cNvGrpSpPr>
            <p:nvPr/>
          </p:nvGrpSpPr>
          <p:grpSpPr bwMode="auto">
            <a:xfrm>
              <a:off x="3162" y="2010"/>
              <a:ext cx="583" cy="583"/>
              <a:chOff x="1509" y="3283"/>
              <a:chExt cx="583" cy="583"/>
            </a:xfrm>
          </p:grpSpPr>
          <p:sp>
            <p:nvSpPr>
              <p:cNvPr id="331789" name="Oval 13"/>
              <p:cNvSpPr>
                <a:spLocks noChangeArrowheads="1"/>
              </p:cNvSpPr>
              <p:nvPr/>
            </p:nvSpPr>
            <p:spPr bwMode="auto">
              <a:xfrm>
                <a:off x="1509" y="3283"/>
                <a:ext cx="583" cy="583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33CC33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0" name="Text Box 14"/>
              <p:cNvSpPr txBox="1">
                <a:spLocks noChangeArrowheads="1"/>
              </p:cNvSpPr>
              <p:nvPr/>
            </p:nvSpPr>
            <p:spPr bwMode="auto">
              <a:xfrm>
                <a:off x="1655" y="3379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O</a:t>
                </a:r>
              </a:p>
            </p:txBody>
          </p:sp>
        </p:grpSp>
        <p:pic>
          <p:nvPicPr>
            <p:cNvPr id="331791" name="Picture 15" descr="_CHEMIS_PEEK_SPRING_mechanical_spring_JAPAN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688" y="2093"/>
              <a:ext cx="365" cy="450"/>
            </a:xfrm>
            <a:prstGeom prst="rect">
              <a:avLst/>
            </a:prstGeom>
            <a:noFill/>
          </p:spPr>
        </p:pic>
      </p:grpSp>
      <p:sp>
        <p:nvSpPr>
          <p:cNvPr id="331792" name="Text Box 16"/>
          <p:cNvSpPr txBox="1">
            <a:spLocks noChangeArrowheads="1"/>
          </p:cNvSpPr>
          <p:nvPr/>
        </p:nvSpPr>
        <p:spPr bwMode="auto">
          <a:xfrm rot="-802280">
            <a:off x="4375150" y="3600450"/>
            <a:ext cx="182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hlink"/>
                </a:solidFill>
                <a:latin typeface="Arial" charset="0"/>
              </a:rPr>
              <a:t>translation</a:t>
            </a:r>
          </a:p>
        </p:txBody>
      </p:sp>
      <p:sp>
        <p:nvSpPr>
          <p:cNvPr id="331793" name="Line 17"/>
          <p:cNvSpPr>
            <a:spLocks noChangeShapeType="1"/>
          </p:cNvSpPr>
          <p:nvPr/>
        </p:nvSpPr>
        <p:spPr bwMode="auto">
          <a:xfrm flipV="1">
            <a:off x="2865438" y="3117850"/>
            <a:ext cx="4668837" cy="1093788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31794" name="Group 18"/>
          <p:cNvGrpSpPr>
            <a:grpSpLocks/>
          </p:cNvGrpSpPr>
          <p:nvPr/>
        </p:nvGrpSpPr>
        <p:grpSpPr bwMode="auto">
          <a:xfrm>
            <a:off x="4972050" y="4746625"/>
            <a:ext cx="3425825" cy="927100"/>
            <a:chOff x="3162" y="2009"/>
            <a:chExt cx="2158" cy="584"/>
          </a:xfrm>
        </p:grpSpPr>
        <p:grpSp>
          <p:nvGrpSpPr>
            <p:cNvPr id="331795" name="Group 19"/>
            <p:cNvGrpSpPr>
              <a:grpSpLocks/>
            </p:cNvGrpSpPr>
            <p:nvPr/>
          </p:nvGrpSpPr>
          <p:grpSpPr bwMode="auto">
            <a:xfrm>
              <a:off x="3982" y="2023"/>
              <a:ext cx="515" cy="515"/>
              <a:chOff x="811" y="3153"/>
              <a:chExt cx="515" cy="515"/>
            </a:xfrm>
          </p:grpSpPr>
          <p:sp>
            <p:nvSpPr>
              <p:cNvPr id="331796" name="Oval 20"/>
              <p:cNvSpPr>
                <a:spLocks noChangeArrowheads="1"/>
              </p:cNvSpPr>
              <p:nvPr/>
            </p:nvSpPr>
            <p:spPr bwMode="auto">
              <a:xfrm>
                <a:off x="811" y="3153"/>
                <a:ext cx="515" cy="515"/>
              </a:xfrm>
              <a:prstGeom prst="ellipse">
                <a:avLst/>
              </a:prstGeom>
              <a:gradFill rotWithShape="1">
                <a:gsLst>
                  <a:gs pos="0">
                    <a:schemeClr val="tx1">
                      <a:gamma/>
                      <a:tint val="0"/>
                      <a:invGamma/>
                    </a:schemeClr>
                  </a:gs>
                  <a:gs pos="100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7" name="Text Box 21"/>
              <p:cNvSpPr txBox="1">
                <a:spLocks noChangeArrowheads="1"/>
              </p:cNvSpPr>
              <p:nvPr/>
            </p:nvSpPr>
            <p:spPr bwMode="auto">
              <a:xfrm>
                <a:off x="927" y="3217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C</a:t>
                </a:r>
              </a:p>
            </p:txBody>
          </p:sp>
        </p:grpSp>
        <p:grpSp>
          <p:nvGrpSpPr>
            <p:cNvPr id="331798" name="Group 22"/>
            <p:cNvGrpSpPr>
              <a:grpSpLocks/>
            </p:cNvGrpSpPr>
            <p:nvPr/>
          </p:nvGrpSpPr>
          <p:grpSpPr bwMode="auto">
            <a:xfrm>
              <a:off x="4737" y="2009"/>
              <a:ext cx="583" cy="583"/>
              <a:chOff x="1509" y="3283"/>
              <a:chExt cx="583" cy="583"/>
            </a:xfrm>
          </p:grpSpPr>
          <p:sp>
            <p:nvSpPr>
              <p:cNvPr id="331799" name="Oval 23"/>
              <p:cNvSpPr>
                <a:spLocks noChangeArrowheads="1"/>
              </p:cNvSpPr>
              <p:nvPr/>
            </p:nvSpPr>
            <p:spPr bwMode="auto">
              <a:xfrm>
                <a:off x="1509" y="3283"/>
                <a:ext cx="583" cy="583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33CC33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800" name="Text Box 24"/>
              <p:cNvSpPr txBox="1">
                <a:spLocks noChangeArrowheads="1"/>
              </p:cNvSpPr>
              <p:nvPr/>
            </p:nvSpPr>
            <p:spPr bwMode="auto">
              <a:xfrm>
                <a:off x="1655" y="3379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O</a:t>
                </a:r>
              </a:p>
            </p:txBody>
          </p:sp>
        </p:grpSp>
        <p:pic>
          <p:nvPicPr>
            <p:cNvPr id="331801" name="Picture 25" descr="_CHEMIS_PEEK_SPRING_mechanical_spring_JAPAN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24" y="2087"/>
              <a:ext cx="350" cy="450"/>
            </a:xfrm>
            <a:prstGeom prst="rect">
              <a:avLst/>
            </a:prstGeom>
            <a:noFill/>
          </p:spPr>
        </p:pic>
        <p:grpSp>
          <p:nvGrpSpPr>
            <p:cNvPr id="331802" name="Group 26"/>
            <p:cNvGrpSpPr>
              <a:grpSpLocks/>
            </p:cNvGrpSpPr>
            <p:nvPr/>
          </p:nvGrpSpPr>
          <p:grpSpPr bwMode="auto">
            <a:xfrm>
              <a:off x="3162" y="2010"/>
              <a:ext cx="583" cy="583"/>
              <a:chOff x="1509" y="3283"/>
              <a:chExt cx="583" cy="583"/>
            </a:xfrm>
          </p:grpSpPr>
          <p:sp>
            <p:nvSpPr>
              <p:cNvPr id="331803" name="Oval 27"/>
              <p:cNvSpPr>
                <a:spLocks noChangeArrowheads="1"/>
              </p:cNvSpPr>
              <p:nvPr/>
            </p:nvSpPr>
            <p:spPr bwMode="auto">
              <a:xfrm>
                <a:off x="1509" y="3283"/>
                <a:ext cx="583" cy="583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33CC33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804" name="Text Box 28"/>
              <p:cNvSpPr txBox="1">
                <a:spLocks noChangeArrowheads="1"/>
              </p:cNvSpPr>
              <p:nvPr/>
            </p:nvSpPr>
            <p:spPr bwMode="auto">
              <a:xfrm>
                <a:off x="1655" y="3379"/>
                <a:ext cx="289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3600" b="1"/>
                  <a:t>O</a:t>
                </a:r>
              </a:p>
            </p:txBody>
          </p:sp>
        </p:grpSp>
        <p:pic>
          <p:nvPicPr>
            <p:cNvPr id="331805" name="Picture 29" descr="_CHEMIS_PEEK_SPRING_mechanical_spring_JAPAN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688" y="2093"/>
              <a:ext cx="365" cy="450"/>
            </a:xfrm>
            <a:prstGeom prst="rect">
              <a:avLst/>
            </a:prstGeom>
            <a:noFill/>
          </p:spPr>
        </p:pic>
      </p:grpSp>
      <p:sp>
        <p:nvSpPr>
          <p:cNvPr id="331806" name="Text Box 30"/>
          <p:cNvSpPr txBox="1">
            <a:spLocks noChangeArrowheads="1"/>
          </p:cNvSpPr>
          <p:nvPr/>
        </p:nvSpPr>
        <p:spPr bwMode="auto">
          <a:xfrm>
            <a:off x="6000750" y="5754688"/>
            <a:ext cx="13731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hlink"/>
                </a:solidFill>
                <a:latin typeface="Arial" charset="0"/>
              </a:rPr>
              <a:t>rotation</a:t>
            </a:r>
          </a:p>
        </p:txBody>
      </p:sp>
      <p:sp>
        <p:nvSpPr>
          <p:cNvPr id="331807" name="Arc 31"/>
          <p:cNvSpPr>
            <a:spLocks/>
          </p:cNvSpPr>
          <p:nvPr/>
        </p:nvSpPr>
        <p:spPr bwMode="auto">
          <a:xfrm rot="-27582986">
            <a:off x="6082506" y="4571207"/>
            <a:ext cx="1203325" cy="1265238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41041 w 41093"/>
              <a:gd name="T1" fmla="*/ 31013 h 43200"/>
              <a:gd name="T2" fmla="*/ 41093 w 41093"/>
              <a:gd name="T3" fmla="*/ 12295 h 43200"/>
              <a:gd name="T4" fmla="*/ 21600 w 41093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093" h="43200" fill="none" extrusionOk="0">
                <a:moveTo>
                  <a:pt x="41041" y="31013"/>
                </a:moveTo>
                <a:cubicBezTo>
                  <a:pt x="37432" y="38466"/>
                  <a:pt x="2988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9923" y="-1"/>
                  <a:pt x="37507" y="4783"/>
                  <a:pt x="41092" y="12295"/>
                </a:cubicBezTo>
              </a:path>
              <a:path w="41093" h="43200" stroke="0" extrusionOk="0">
                <a:moveTo>
                  <a:pt x="41041" y="31013"/>
                </a:moveTo>
                <a:cubicBezTo>
                  <a:pt x="37432" y="38466"/>
                  <a:pt x="2988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9923" y="-1"/>
                  <a:pt x="37507" y="4783"/>
                  <a:pt x="41092" y="12295"/>
                </a:cubicBezTo>
                <a:lnTo>
                  <a:pt x="2160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path" presetSubtype="0" repeatCount="indefinite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1.11111E-6 L 0.4592 -0.1474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00" y="-7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1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1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1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1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33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7" dur="2000" fill="hold"/>
                                        <p:tgtEl>
                                          <p:spTgt spid="3317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1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1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92" grpId="0"/>
      <p:bldP spid="331793" grpId="0" animBg="1"/>
      <p:bldP spid="331806" grpId="0"/>
      <p:bldP spid="33180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Absorption of infrared radiation by greenhouse gases</a:t>
            </a:r>
          </a:p>
          <a:p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Different gases absorb different wavelengths: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	</a:t>
            </a:r>
          </a:p>
        </p:txBody>
      </p:sp>
      <p:pic>
        <p:nvPicPr>
          <p:cNvPr id="3338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3613" y="2298700"/>
            <a:ext cx="7124700" cy="1401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38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50913" y="3698875"/>
            <a:ext cx="7173912" cy="3019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3830" name="Rectangle 6"/>
          <p:cNvSpPr>
            <a:spLocks noChangeArrowheads="1"/>
          </p:cNvSpPr>
          <p:nvPr/>
        </p:nvSpPr>
        <p:spPr bwMode="auto">
          <a:xfrm>
            <a:off x="7999413" y="2387600"/>
            <a:ext cx="88900" cy="3862388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3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3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5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11022E-16 L -0.7776 0.00162 " pathEditMode="relative" rAng="0" ptsTypes="AA">
                                      <p:cBhvr>
                                        <p:cTn id="27" dur="5000" fill="hold"/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90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30" grpId="0" animBg="1"/>
      <p:bldP spid="333830" grpId="1" animBg="1"/>
      <p:bldP spid="333830" grpId="2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Absorption of infrared radiation by greenhouse gases</a:t>
            </a:r>
          </a:p>
        </p:txBody>
      </p:sp>
      <p:sp>
        <p:nvSpPr>
          <p:cNvPr id="335876" name="Rectangle 4"/>
          <p:cNvSpPr>
            <a:spLocks noChangeArrowheads="1"/>
          </p:cNvSpPr>
          <p:nvPr/>
        </p:nvSpPr>
        <p:spPr bwMode="auto">
          <a:xfrm>
            <a:off x="685800" y="1831975"/>
            <a:ext cx="7772400" cy="50260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>
                <a:latin typeface="Arial" charset="0"/>
              </a:rPr>
              <a:t>PRACTICE: Consider the absorption graphs below:</a:t>
            </a:r>
          </a:p>
          <a:p>
            <a:pPr>
              <a:spcBef>
                <a:spcPct val="10000"/>
              </a:spcBef>
            </a:pPr>
            <a:r>
              <a:rPr lang="en-US" sz="2400">
                <a:latin typeface="Arial" charset="0"/>
              </a:rPr>
              <a:t>(a) Which portion of the                                      electromagnetic spectrum                                                      is represented?</a:t>
            </a:r>
          </a:p>
          <a:p>
            <a:pPr>
              <a:spcBef>
                <a:spcPct val="10000"/>
              </a:spcBef>
            </a:pPr>
            <a:r>
              <a:rPr lang="en-US" sz="2400">
                <a:latin typeface="Arial" charset="0"/>
              </a:rPr>
              <a:t>(b) Which greenhouse gas                                        contributes the most to                                                        the greenhouse effect?</a:t>
            </a:r>
          </a:p>
          <a:p>
            <a:pPr>
              <a:spcBef>
                <a:spcPct val="10000"/>
              </a:spcBef>
            </a:pPr>
            <a:r>
              <a:rPr lang="en-US" sz="2400">
                <a:latin typeface="Arial" charset="0"/>
              </a:rPr>
              <a:t>(c) Which gas is the least                                                 significant contributor?</a:t>
            </a:r>
          </a:p>
          <a:p>
            <a:pPr>
              <a:spcBef>
                <a:spcPct val="10000"/>
              </a:spcBef>
            </a:pPr>
            <a:r>
              <a:rPr lang="en-US" sz="2400">
                <a:latin typeface="Arial" charset="0"/>
              </a:rPr>
              <a:t>SOLUTION:</a:t>
            </a:r>
          </a:p>
          <a:p>
            <a:pPr>
              <a:spcBef>
                <a:spcPct val="5000"/>
              </a:spcBef>
            </a:pPr>
            <a:r>
              <a:rPr lang="en-US" sz="2400">
                <a:latin typeface="Arial" charset="0"/>
              </a:rPr>
              <a:t>(a) Infrared (heat).</a:t>
            </a:r>
          </a:p>
          <a:p>
            <a:pPr>
              <a:spcBef>
                <a:spcPct val="5000"/>
              </a:spcBef>
            </a:pPr>
            <a:r>
              <a:rPr lang="en-US" sz="2400">
                <a:latin typeface="Arial" charset="0"/>
              </a:rPr>
              <a:t>(b) Water vapor!</a:t>
            </a:r>
          </a:p>
          <a:p>
            <a:pPr>
              <a:spcBef>
                <a:spcPct val="5000"/>
              </a:spcBef>
            </a:pPr>
            <a:r>
              <a:rPr lang="en-US" sz="2400">
                <a:latin typeface="Arial" charset="0"/>
              </a:rPr>
              <a:t>(c) Oxygen and ozone.</a:t>
            </a:r>
          </a:p>
        </p:txBody>
      </p:sp>
      <p:pic>
        <p:nvPicPr>
          <p:cNvPr id="3358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03725" y="2393950"/>
            <a:ext cx="4551363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5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5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3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5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5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5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5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5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5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5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5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5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5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5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5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5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5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29781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Although we calculated the intensity of solar radiation to be 1380 W</a:t>
            </a:r>
            <a:r>
              <a:rPr lang="en-US" sz="2400" baseline="-250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m</a:t>
            </a:r>
            <a:r>
              <a:rPr lang="en-US" sz="2400" baseline="300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-2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 by the time it reaches Earth, the earth is spherical, and so not all surfaces will receive this intensity.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We will take the average for our models to be</a:t>
            </a:r>
          </a:p>
        </p:txBody>
      </p:sp>
      <p:sp>
        <p:nvSpPr>
          <p:cNvPr id="350212" name="Rectangle 4"/>
          <p:cNvSpPr>
            <a:spLocks noChangeArrowheads="1"/>
          </p:cNvSpPr>
          <p:nvPr/>
        </p:nvSpPr>
        <p:spPr bwMode="auto">
          <a:xfrm>
            <a:off x="5091113" y="6310313"/>
            <a:ext cx="1990725" cy="49053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3" name="Rectangle 5"/>
          <p:cNvSpPr>
            <a:spLocks noChangeArrowheads="1"/>
          </p:cNvSpPr>
          <p:nvPr/>
        </p:nvSpPr>
        <p:spPr bwMode="auto">
          <a:xfrm>
            <a:off x="5102225" y="5570538"/>
            <a:ext cx="1990725" cy="49053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4" name="Rectangle 6"/>
          <p:cNvSpPr>
            <a:spLocks noChangeArrowheads="1"/>
          </p:cNvSpPr>
          <p:nvPr/>
        </p:nvSpPr>
        <p:spPr bwMode="auto">
          <a:xfrm>
            <a:off x="5091113" y="4830763"/>
            <a:ext cx="1990725" cy="49053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5" name="AutoShape 7"/>
          <p:cNvSpPr>
            <a:spLocks noChangeArrowheads="1"/>
          </p:cNvSpPr>
          <p:nvPr/>
        </p:nvSpPr>
        <p:spPr bwMode="auto">
          <a:xfrm rot="5400000">
            <a:off x="4723606" y="4947445"/>
            <a:ext cx="479425" cy="271462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6" name="AutoShape 8"/>
          <p:cNvSpPr>
            <a:spLocks noChangeArrowheads="1"/>
          </p:cNvSpPr>
          <p:nvPr/>
        </p:nvSpPr>
        <p:spPr bwMode="auto">
          <a:xfrm rot="5400000">
            <a:off x="4723606" y="5688807"/>
            <a:ext cx="479425" cy="271462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7" name="AutoShape 9"/>
          <p:cNvSpPr>
            <a:spLocks noChangeArrowheads="1"/>
          </p:cNvSpPr>
          <p:nvPr/>
        </p:nvSpPr>
        <p:spPr bwMode="auto">
          <a:xfrm rot="5400000">
            <a:off x="4723606" y="6426995"/>
            <a:ext cx="479425" cy="271462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50218" name="Picture 10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5893"/>
          <a:stretch>
            <a:fillRect/>
          </a:stretch>
        </p:blipFill>
        <p:spPr bwMode="auto">
          <a:xfrm>
            <a:off x="5449888" y="4838700"/>
            <a:ext cx="3267075" cy="2027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0219" name="Line 11"/>
          <p:cNvSpPr>
            <a:spLocks noChangeShapeType="1"/>
          </p:cNvSpPr>
          <p:nvPr/>
        </p:nvSpPr>
        <p:spPr bwMode="auto">
          <a:xfrm>
            <a:off x="976313" y="5837238"/>
            <a:ext cx="4005262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0220" name="Line 12"/>
          <p:cNvSpPr>
            <a:spLocks noChangeShapeType="1"/>
          </p:cNvSpPr>
          <p:nvPr/>
        </p:nvSpPr>
        <p:spPr bwMode="auto">
          <a:xfrm>
            <a:off x="976313" y="5065713"/>
            <a:ext cx="4005262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0221" name="Line 13"/>
          <p:cNvSpPr>
            <a:spLocks noChangeShapeType="1"/>
          </p:cNvSpPr>
          <p:nvPr/>
        </p:nvSpPr>
        <p:spPr bwMode="auto">
          <a:xfrm>
            <a:off x="965200" y="6562725"/>
            <a:ext cx="4005263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0222" name="Arc 14"/>
          <p:cNvSpPr>
            <a:spLocks/>
          </p:cNvSpPr>
          <p:nvPr/>
        </p:nvSpPr>
        <p:spPr bwMode="auto">
          <a:xfrm>
            <a:off x="5919788" y="4833938"/>
            <a:ext cx="1162050" cy="1620837"/>
          </a:xfrm>
          <a:custGeom>
            <a:avLst/>
            <a:gdLst>
              <a:gd name="G0" fmla="+- 15481 0 0"/>
              <a:gd name="G1" fmla="+- 21582 0 0"/>
              <a:gd name="G2" fmla="+- 21600 0 0"/>
              <a:gd name="T0" fmla="*/ 0 w 15481"/>
              <a:gd name="T1" fmla="*/ 6519 h 21582"/>
              <a:gd name="T2" fmla="*/ 14603 w 15481"/>
              <a:gd name="T3" fmla="*/ 0 h 21582"/>
              <a:gd name="T4" fmla="*/ 15481 w 15481"/>
              <a:gd name="T5" fmla="*/ 21582 h 21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81" h="21582" fill="none" extrusionOk="0">
                <a:moveTo>
                  <a:pt x="-1" y="6518"/>
                </a:moveTo>
                <a:cubicBezTo>
                  <a:pt x="3854" y="2557"/>
                  <a:pt x="9080" y="224"/>
                  <a:pt x="14602" y="-1"/>
                </a:cubicBezTo>
              </a:path>
              <a:path w="15481" h="21582" stroke="0" extrusionOk="0">
                <a:moveTo>
                  <a:pt x="-1" y="6518"/>
                </a:moveTo>
                <a:cubicBezTo>
                  <a:pt x="3854" y="2557"/>
                  <a:pt x="9080" y="224"/>
                  <a:pt x="14602" y="-1"/>
                </a:cubicBezTo>
                <a:lnTo>
                  <a:pt x="15481" y="2158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23" name="Line 15"/>
          <p:cNvSpPr>
            <a:spLocks noChangeShapeType="1"/>
          </p:cNvSpPr>
          <p:nvPr/>
        </p:nvSpPr>
        <p:spPr bwMode="auto">
          <a:xfrm>
            <a:off x="5111750" y="4830763"/>
            <a:ext cx="0" cy="4905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0224" name="Line 16"/>
          <p:cNvSpPr>
            <a:spLocks noChangeShapeType="1"/>
          </p:cNvSpPr>
          <p:nvPr/>
        </p:nvSpPr>
        <p:spPr bwMode="auto">
          <a:xfrm>
            <a:off x="5100638" y="5570538"/>
            <a:ext cx="0" cy="4905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0225" name="Line 17"/>
          <p:cNvSpPr>
            <a:spLocks noChangeShapeType="1"/>
          </p:cNvSpPr>
          <p:nvPr/>
        </p:nvSpPr>
        <p:spPr bwMode="auto">
          <a:xfrm>
            <a:off x="5099050" y="6323013"/>
            <a:ext cx="0" cy="4905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0226" name="Arc 18"/>
          <p:cNvSpPr>
            <a:spLocks/>
          </p:cNvSpPr>
          <p:nvPr/>
        </p:nvSpPr>
        <p:spPr bwMode="auto">
          <a:xfrm>
            <a:off x="5505450" y="5573713"/>
            <a:ext cx="1565275" cy="892175"/>
          </a:xfrm>
          <a:custGeom>
            <a:avLst/>
            <a:gdLst>
              <a:gd name="G0" fmla="+- 20855 0 0"/>
              <a:gd name="G1" fmla="+- 11882 0 0"/>
              <a:gd name="G2" fmla="+- 21600 0 0"/>
              <a:gd name="T0" fmla="*/ 0 w 20855"/>
              <a:gd name="T1" fmla="*/ 6256 h 11882"/>
              <a:gd name="T2" fmla="*/ 2816 w 20855"/>
              <a:gd name="T3" fmla="*/ 0 h 11882"/>
              <a:gd name="T4" fmla="*/ 20855 w 20855"/>
              <a:gd name="T5" fmla="*/ 11882 h 11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855" h="11882" fill="none" extrusionOk="0">
                <a:moveTo>
                  <a:pt x="0" y="6256"/>
                </a:moveTo>
                <a:cubicBezTo>
                  <a:pt x="599" y="4034"/>
                  <a:pt x="1550" y="1922"/>
                  <a:pt x="2816" y="0"/>
                </a:cubicBezTo>
              </a:path>
              <a:path w="20855" h="11882" stroke="0" extrusionOk="0">
                <a:moveTo>
                  <a:pt x="0" y="6256"/>
                </a:moveTo>
                <a:cubicBezTo>
                  <a:pt x="599" y="4034"/>
                  <a:pt x="1550" y="1922"/>
                  <a:pt x="2816" y="0"/>
                </a:cubicBezTo>
                <a:lnTo>
                  <a:pt x="20855" y="1188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27" name="Arc 19"/>
          <p:cNvSpPr>
            <a:spLocks/>
          </p:cNvSpPr>
          <p:nvPr/>
        </p:nvSpPr>
        <p:spPr bwMode="auto">
          <a:xfrm>
            <a:off x="5454650" y="6308725"/>
            <a:ext cx="1620838" cy="504825"/>
          </a:xfrm>
          <a:custGeom>
            <a:avLst/>
            <a:gdLst>
              <a:gd name="G0" fmla="+- 21600 0 0"/>
              <a:gd name="G1" fmla="+- 2174 0 0"/>
              <a:gd name="G2" fmla="+- 21600 0 0"/>
              <a:gd name="T0" fmla="*/ 483 w 21600"/>
              <a:gd name="T1" fmla="*/ 6715 h 6715"/>
              <a:gd name="T2" fmla="*/ 110 w 21600"/>
              <a:gd name="T3" fmla="*/ 0 h 6715"/>
              <a:gd name="T4" fmla="*/ 21600 w 21600"/>
              <a:gd name="T5" fmla="*/ 2174 h 6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6715" fill="none" extrusionOk="0">
                <a:moveTo>
                  <a:pt x="482" y="6715"/>
                </a:moveTo>
                <a:cubicBezTo>
                  <a:pt x="161" y="5222"/>
                  <a:pt x="0" y="3700"/>
                  <a:pt x="0" y="2174"/>
                </a:cubicBezTo>
                <a:cubicBezTo>
                  <a:pt x="-1" y="1447"/>
                  <a:pt x="36" y="722"/>
                  <a:pt x="109" y="-1"/>
                </a:cubicBezTo>
              </a:path>
              <a:path w="21600" h="6715" stroke="0" extrusionOk="0">
                <a:moveTo>
                  <a:pt x="482" y="6715"/>
                </a:moveTo>
                <a:cubicBezTo>
                  <a:pt x="161" y="5222"/>
                  <a:pt x="0" y="3700"/>
                  <a:pt x="0" y="2174"/>
                </a:cubicBezTo>
                <a:cubicBezTo>
                  <a:pt x="-1" y="1447"/>
                  <a:pt x="36" y="722"/>
                  <a:pt x="109" y="-1"/>
                </a:cubicBezTo>
                <a:lnTo>
                  <a:pt x="21600" y="2174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28" name="Rectangle 20"/>
          <p:cNvSpPr>
            <a:spLocks noChangeArrowheads="1"/>
          </p:cNvSpPr>
          <p:nvPr/>
        </p:nvSpPr>
        <p:spPr bwMode="auto">
          <a:xfrm rot="5400000">
            <a:off x="3440112" y="5653088"/>
            <a:ext cx="1927225" cy="342900"/>
          </a:xfrm>
          <a:prstGeom prst="rect">
            <a:avLst/>
          </a:prstGeom>
          <a:solidFill>
            <a:srgbClr val="FFCC00">
              <a:alpha val="50000"/>
            </a:srgbClr>
          </a:solidFill>
          <a:ln w="9525">
            <a:noFill/>
            <a:prstDash val="dash"/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2400" b="1"/>
              <a:t>1380</a:t>
            </a:r>
            <a:r>
              <a:rPr lang="en-US" sz="2400" b="1" baseline="30000">
                <a:sym typeface="Symbol" pitchFamily="18" charset="2"/>
              </a:rPr>
              <a:t> </a:t>
            </a:r>
            <a:r>
              <a:rPr lang="en-US" sz="2400" b="1">
                <a:sym typeface="Symbol" pitchFamily="18" charset="2"/>
              </a:rPr>
              <a:t>W/m</a:t>
            </a:r>
            <a:r>
              <a:rPr lang="en-US" sz="2400" b="1" baseline="30000">
                <a:sym typeface="Symbol" pitchFamily="18" charset="2"/>
              </a:rPr>
              <a:t>2</a:t>
            </a:r>
          </a:p>
        </p:txBody>
      </p:sp>
      <p:grpSp>
        <p:nvGrpSpPr>
          <p:cNvPr id="350233" name="Group 25"/>
          <p:cNvGrpSpPr>
            <a:grpSpLocks/>
          </p:cNvGrpSpPr>
          <p:nvPr/>
        </p:nvGrpSpPr>
        <p:grpSpPr bwMode="auto">
          <a:xfrm>
            <a:off x="819150" y="3862388"/>
            <a:ext cx="7464425" cy="457200"/>
            <a:chOff x="516" y="2433"/>
            <a:chExt cx="4702" cy="288"/>
          </a:xfrm>
        </p:grpSpPr>
        <p:sp>
          <p:nvSpPr>
            <p:cNvPr id="350230" name="Rectangle 22"/>
            <p:cNvSpPr>
              <a:spLocks noChangeArrowheads="1"/>
            </p:cNvSpPr>
            <p:nvPr/>
          </p:nvSpPr>
          <p:spPr bwMode="auto">
            <a:xfrm>
              <a:off x="548" y="2437"/>
              <a:ext cx="1799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sz="2400" i="1">
                  <a:latin typeface="Arial" charset="0"/>
                </a:rPr>
                <a:t>I</a:t>
              </a:r>
              <a:r>
                <a:rPr lang="en-US" sz="2400" baseline="-25000">
                  <a:latin typeface="Arial" charset="0"/>
                </a:rPr>
                <a:t>AVG</a:t>
              </a:r>
              <a:r>
                <a:rPr lang="en-US" sz="2400">
                  <a:latin typeface="Arial" charset="0"/>
                </a:rPr>
                <a:t> = 340 W</a:t>
              </a:r>
              <a:r>
                <a:rPr lang="en-US" sz="2400" baseline="-25000">
                  <a:latin typeface="Arial" charset="0"/>
                </a:rPr>
                <a:t> </a:t>
              </a:r>
              <a:r>
                <a:rPr lang="en-US" sz="2400">
                  <a:latin typeface="Arial" charset="0"/>
                </a:rPr>
                <a:t>m</a:t>
              </a:r>
              <a:r>
                <a:rPr lang="en-US" sz="2400" baseline="30000">
                  <a:latin typeface="Arial" charset="0"/>
                </a:rPr>
                <a:t>-2</a:t>
              </a:r>
              <a:endParaRPr lang="en-US" sz="2400">
                <a:latin typeface="Arial" charset="0"/>
              </a:endParaRPr>
            </a:p>
          </p:txBody>
        </p:sp>
        <p:sp>
          <p:nvSpPr>
            <p:cNvPr id="350231" name="Text Box 23"/>
            <p:cNvSpPr txBox="1">
              <a:spLocks noChangeArrowheads="1"/>
            </p:cNvSpPr>
            <p:nvPr/>
          </p:nvSpPr>
          <p:spPr bwMode="auto">
            <a:xfrm>
              <a:off x="2217" y="2433"/>
              <a:ext cx="3001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bg1"/>
                  </a:solidFill>
                  <a:latin typeface="Arial" charset="0"/>
                </a:rPr>
                <a:t>average incident solar radiation</a:t>
              </a:r>
              <a:r>
                <a:rPr lang="en-US" sz="1800" b="1">
                  <a:solidFill>
                    <a:schemeClr val="bg1"/>
                  </a:solidFill>
                  <a:latin typeface="Arial" charset="0"/>
                </a:rPr>
                <a:t> </a:t>
              </a:r>
            </a:p>
          </p:txBody>
        </p:sp>
        <p:sp>
          <p:nvSpPr>
            <p:cNvPr id="350232" name="Rectangle 24"/>
            <p:cNvSpPr>
              <a:spLocks noChangeArrowheads="1"/>
            </p:cNvSpPr>
            <p:nvPr/>
          </p:nvSpPr>
          <p:spPr bwMode="auto">
            <a:xfrm>
              <a:off x="516" y="2435"/>
              <a:ext cx="4701" cy="28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0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0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0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0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3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 animBg="1"/>
      <p:bldP spid="350213" grpId="0" animBg="1"/>
      <p:bldP spid="350214" grpId="0" animBg="1"/>
      <p:bldP spid="350215" grpId="0" animBg="1"/>
      <p:bldP spid="350216" grpId="0" animBg="1"/>
      <p:bldP spid="350217" grpId="0" animBg="1"/>
      <p:bldP spid="350219" grpId="0" animBg="1"/>
      <p:bldP spid="350220" grpId="0" animBg="1"/>
      <p:bldP spid="350221" grpId="0" animBg="1"/>
      <p:bldP spid="350222" grpId="0" animBg="1"/>
      <p:bldP spid="350223" grpId="0" animBg="1"/>
      <p:bldP spid="350224" grpId="0" animBg="1"/>
      <p:bldP spid="350225" grpId="0" animBg="1"/>
      <p:bldP spid="350226" grpId="0" animBg="1"/>
      <p:bldP spid="350227" grpId="0" animBg="1"/>
      <p:bldP spid="3502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60" name="Rectangle 4"/>
          <p:cNvSpPr>
            <a:spLocks noChangeArrowheads="1"/>
          </p:cNvSpPr>
          <p:nvPr/>
        </p:nvSpPr>
        <p:spPr bwMode="auto">
          <a:xfrm>
            <a:off x="674688" y="1879600"/>
            <a:ext cx="7772400" cy="49784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Draw a Sankey diagram for a model of the earth </a:t>
            </a:r>
            <a:r>
              <a:rPr lang="en-US" sz="2400" u="sng">
                <a:latin typeface="Arial" charset="0"/>
                <a:sym typeface="Symbol" pitchFamily="18" charset="2"/>
              </a:rPr>
              <a:t>without</a:t>
            </a:r>
            <a:r>
              <a:rPr lang="en-US" sz="2400">
                <a:latin typeface="Arial" charset="0"/>
                <a:sym typeface="Symbol" pitchFamily="18" charset="2"/>
              </a:rPr>
              <a:t> greenhouse gases.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 First draw Earth/atmosphere blocks: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Draw incoming solar energy (340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Draw energy reflected by                                      atmosphere (clouds):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Draw energy reflected by                                           ground (snow, etc.):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Draw energy absorbed by                                             ground (</a:t>
            </a:r>
            <a:r>
              <a:rPr lang="en-US" sz="2400" i="1">
                <a:latin typeface="Arial" charset="0"/>
              </a:rPr>
              <a:t>Q</a:t>
            </a:r>
            <a:r>
              <a:rPr lang="en-US" sz="2400">
                <a:latin typeface="Arial" charset="0"/>
              </a:rPr>
              <a:t> = </a:t>
            </a:r>
            <a:r>
              <a:rPr lang="en-US" sz="2400" i="1">
                <a:latin typeface="Arial" charset="0"/>
              </a:rPr>
              <a:t>mc</a:t>
            </a:r>
            <a:r>
              <a:rPr lang="en-US" sz="2400">
                <a:latin typeface="Arial" charset="0"/>
                <a:sym typeface="Symbol" pitchFamily="18" charset="2"/>
              </a:rPr>
              <a:t></a:t>
            </a:r>
            <a:r>
              <a:rPr lang="en-US" sz="2400" i="1">
                <a:latin typeface="Arial" charset="0"/>
              </a:rPr>
              <a:t>T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Draw energy radiated by                                               ground (</a:t>
            </a:r>
            <a:r>
              <a:rPr lang="en-US" sz="2400" i="1">
                <a:latin typeface="Arial" charset="0"/>
                <a:sym typeface="Symbol" pitchFamily="18" charset="2"/>
              </a:rPr>
              <a:t>P</a:t>
            </a:r>
            <a:r>
              <a:rPr lang="en-US" sz="2400"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latin typeface="Arial" charset="0"/>
                <a:sym typeface="Symbol" pitchFamily="18" charset="2"/>
              </a:rPr>
              <a:t>AT</a:t>
            </a:r>
            <a:r>
              <a:rPr lang="en-US" sz="2400" baseline="30000">
                <a:latin typeface="Arial" charset="0"/>
                <a:sym typeface="Symbol" pitchFamily="18" charset="2"/>
              </a:rPr>
              <a:t>4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</p:txBody>
      </p:sp>
      <p:grpSp>
        <p:nvGrpSpPr>
          <p:cNvPr id="352261" name="Group 5"/>
          <p:cNvGrpSpPr>
            <a:grpSpLocks/>
          </p:cNvGrpSpPr>
          <p:nvPr/>
        </p:nvGrpSpPr>
        <p:grpSpPr bwMode="auto">
          <a:xfrm>
            <a:off x="6750050" y="3652838"/>
            <a:ext cx="909638" cy="1828800"/>
            <a:chOff x="3860" y="2333"/>
            <a:chExt cx="573" cy="1152"/>
          </a:xfrm>
        </p:grpSpPr>
        <p:sp>
          <p:nvSpPr>
            <p:cNvPr id="352262" name="AutoShape 6"/>
            <p:cNvSpPr>
              <a:spLocks noChangeArrowheads="1"/>
            </p:cNvSpPr>
            <p:nvPr/>
          </p:nvSpPr>
          <p:spPr bwMode="auto">
            <a:xfrm rot="5400000">
              <a:off x="3571" y="2622"/>
              <a:ext cx="1152" cy="573"/>
            </a:xfrm>
            <a:prstGeom prst="chevron">
              <a:avLst>
                <a:gd name="adj" fmla="val 50262"/>
              </a:avLst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63" name="Text Box 7"/>
            <p:cNvSpPr txBox="1">
              <a:spLocks noChangeArrowheads="1"/>
            </p:cNvSpPr>
            <p:nvPr/>
          </p:nvSpPr>
          <p:spPr bwMode="auto">
            <a:xfrm>
              <a:off x="3860" y="2625"/>
              <a:ext cx="57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340</a:t>
              </a:r>
            </a:p>
          </p:txBody>
        </p:sp>
      </p:grpSp>
      <p:sp>
        <p:nvSpPr>
          <p:cNvPr id="352264" name="AutoShape 8"/>
          <p:cNvSpPr>
            <a:spLocks noChangeArrowheads="1"/>
          </p:cNvSpPr>
          <p:nvPr/>
        </p:nvSpPr>
        <p:spPr bwMode="auto">
          <a:xfrm rot="10800000">
            <a:off x="6224588" y="5014913"/>
            <a:ext cx="731837" cy="728662"/>
          </a:xfrm>
          <a:custGeom>
            <a:avLst/>
            <a:gdLst>
              <a:gd name="T0" fmla="*/ 9250 w 21600"/>
              <a:gd name="T1" fmla="*/ 0 h 21600"/>
              <a:gd name="T2" fmla="*/ 3055 w 21600"/>
              <a:gd name="T3" fmla="*/ 21600 h 21600"/>
              <a:gd name="T4" fmla="*/ 9725 w 21600"/>
              <a:gd name="T5" fmla="*/ 8310 h 21600"/>
              <a:gd name="T6" fmla="*/ 15662 w 21600"/>
              <a:gd name="T7" fmla="*/ 14285 h 21600"/>
              <a:gd name="T8" fmla="*/ 21600 w 21600"/>
              <a:gd name="T9" fmla="*/ 8310 h 21600"/>
              <a:gd name="T10" fmla="*/ 17694720 60000 65536"/>
              <a:gd name="T11" fmla="*/ 5898240 60000 65536"/>
              <a:gd name="T12" fmla="*/ 5898240 60000 65536"/>
              <a:gd name="T13" fmla="*/ 5898240 60000 65536"/>
              <a:gd name="T14" fmla="*/ 0 60000 65536"/>
              <a:gd name="T15" fmla="*/ 0 w 21600"/>
              <a:gd name="T16" fmla="*/ 8310 h 21600"/>
              <a:gd name="T17" fmla="*/ 611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5662" y="14285"/>
                </a:moveTo>
                <a:lnTo>
                  <a:pt x="21600" y="8310"/>
                </a:lnTo>
                <a:lnTo>
                  <a:pt x="18630" y="8310"/>
                </a:lnTo>
                <a:cubicBezTo>
                  <a:pt x="18630" y="3721"/>
                  <a:pt x="14430" y="0"/>
                  <a:pt x="9250" y="0"/>
                </a:cubicBezTo>
                <a:cubicBezTo>
                  <a:pt x="4141" y="0"/>
                  <a:pt x="0" y="3799"/>
                  <a:pt x="0" y="8485"/>
                </a:cubicBezTo>
                <a:lnTo>
                  <a:pt x="0" y="21600"/>
                </a:lnTo>
                <a:lnTo>
                  <a:pt x="6110" y="21600"/>
                </a:lnTo>
                <a:lnTo>
                  <a:pt x="6110" y="8310"/>
                </a:lnTo>
                <a:cubicBezTo>
                  <a:pt x="6110" y="6947"/>
                  <a:pt x="7362" y="5842"/>
                  <a:pt x="8907" y="5842"/>
                </a:cubicBezTo>
                <a:lnTo>
                  <a:pt x="9725" y="5842"/>
                </a:lnTo>
                <a:cubicBezTo>
                  <a:pt x="11269" y="5842"/>
                  <a:pt x="12520" y="6947"/>
                  <a:pt x="12520" y="8310"/>
                </a:cubicBezTo>
                <a:lnTo>
                  <a:pt x="9725" y="8310"/>
                </a:lnTo>
                <a:close/>
              </a:path>
            </a:pathLst>
          </a:cu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2265" name="Group 9"/>
          <p:cNvGrpSpPr>
            <a:grpSpLocks/>
          </p:cNvGrpSpPr>
          <p:nvPr/>
        </p:nvGrpSpPr>
        <p:grpSpPr bwMode="auto">
          <a:xfrm>
            <a:off x="6650038" y="5024438"/>
            <a:ext cx="441325" cy="1476375"/>
            <a:chOff x="3797" y="3197"/>
            <a:chExt cx="278" cy="930"/>
          </a:xfrm>
        </p:grpSpPr>
        <p:sp>
          <p:nvSpPr>
            <p:cNvPr id="352266" name="AutoShape 10"/>
            <p:cNvSpPr>
              <a:spLocks noChangeArrowheads="1"/>
            </p:cNvSpPr>
            <p:nvPr/>
          </p:nvSpPr>
          <p:spPr bwMode="auto">
            <a:xfrm rot="5400000">
              <a:off x="3631" y="3555"/>
              <a:ext cx="799" cy="84"/>
            </a:xfrm>
            <a:prstGeom prst="homePlate">
              <a:avLst>
                <a:gd name="adj" fmla="val 75038"/>
              </a:avLst>
            </a:pr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67" name="AutoShape 11"/>
            <p:cNvSpPr>
              <a:spLocks noChangeArrowheads="1"/>
            </p:cNvSpPr>
            <p:nvPr/>
          </p:nvSpPr>
          <p:spPr bwMode="auto">
            <a:xfrm rot="10800000">
              <a:off x="3797" y="3831"/>
              <a:ext cx="278" cy="296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2268" name="Group 12"/>
          <p:cNvGrpSpPr>
            <a:grpSpLocks/>
          </p:cNvGrpSpPr>
          <p:nvPr/>
        </p:nvGrpSpPr>
        <p:grpSpPr bwMode="auto">
          <a:xfrm>
            <a:off x="5940425" y="5997575"/>
            <a:ext cx="887413" cy="441325"/>
            <a:chOff x="3350" y="3810"/>
            <a:chExt cx="559" cy="278"/>
          </a:xfrm>
        </p:grpSpPr>
        <p:sp>
          <p:nvSpPr>
            <p:cNvPr id="352269" name="AutoShape 13"/>
            <p:cNvSpPr>
              <a:spLocks noChangeArrowheads="1"/>
            </p:cNvSpPr>
            <p:nvPr/>
          </p:nvSpPr>
          <p:spPr bwMode="auto">
            <a:xfrm rot="10800000">
              <a:off x="3534" y="4003"/>
              <a:ext cx="375" cy="84"/>
            </a:xfrm>
            <a:prstGeom prst="homePlate">
              <a:avLst>
                <a:gd name="adj" fmla="val 72627"/>
              </a:avLst>
            </a:pr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70" name="AutoShape 14"/>
            <p:cNvSpPr>
              <a:spLocks noChangeArrowheads="1"/>
            </p:cNvSpPr>
            <p:nvPr/>
          </p:nvSpPr>
          <p:spPr bwMode="auto">
            <a:xfrm rot="16200000">
              <a:off x="3359" y="3801"/>
              <a:ext cx="278" cy="296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2271" name="Group 15"/>
          <p:cNvGrpSpPr>
            <a:grpSpLocks/>
          </p:cNvGrpSpPr>
          <p:nvPr/>
        </p:nvGrpSpPr>
        <p:grpSpPr bwMode="auto">
          <a:xfrm>
            <a:off x="6072188" y="4257675"/>
            <a:ext cx="693737" cy="1112838"/>
            <a:chOff x="3433" y="2714"/>
            <a:chExt cx="437" cy="701"/>
          </a:xfrm>
        </p:grpSpPr>
        <p:sp>
          <p:nvSpPr>
            <p:cNvPr id="352272" name="AutoShape 16"/>
            <p:cNvSpPr>
              <a:spLocks noChangeArrowheads="1"/>
            </p:cNvSpPr>
            <p:nvPr/>
          </p:nvSpPr>
          <p:spPr bwMode="auto">
            <a:xfrm rot="16200000">
              <a:off x="3303" y="2997"/>
              <a:ext cx="701" cy="136"/>
            </a:xfrm>
            <a:prstGeom prst="chevron">
              <a:avLst>
                <a:gd name="adj" fmla="val 51473"/>
              </a:avLst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73" name="Text Box 17"/>
            <p:cNvSpPr txBox="1">
              <a:spLocks noChangeArrowheads="1"/>
            </p:cNvSpPr>
            <p:nvPr/>
          </p:nvSpPr>
          <p:spPr bwMode="auto">
            <a:xfrm>
              <a:off x="3433" y="2769"/>
              <a:ext cx="43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75</a:t>
              </a:r>
            </a:p>
          </p:txBody>
        </p:sp>
      </p:grpSp>
      <p:grpSp>
        <p:nvGrpSpPr>
          <p:cNvPr id="352274" name="Group 18"/>
          <p:cNvGrpSpPr>
            <a:grpSpLocks/>
          </p:cNvGrpSpPr>
          <p:nvPr/>
        </p:nvGrpSpPr>
        <p:grpSpPr bwMode="auto">
          <a:xfrm>
            <a:off x="5816600" y="4257675"/>
            <a:ext cx="561975" cy="1881188"/>
            <a:chOff x="3272" y="2714"/>
            <a:chExt cx="354" cy="1185"/>
          </a:xfrm>
        </p:grpSpPr>
        <p:sp>
          <p:nvSpPr>
            <p:cNvPr id="352275" name="AutoShape 19"/>
            <p:cNvSpPr>
              <a:spLocks noChangeArrowheads="1"/>
            </p:cNvSpPr>
            <p:nvPr/>
          </p:nvSpPr>
          <p:spPr bwMode="auto">
            <a:xfrm rot="16200000">
              <a:off x="2844" y="3261"/>
              <a:ext cx="1185" cy="92"/>
            </a:xfrm>
            <a:prstGeom prst="homePlate">
              <a:avLst>
                <a:gd name="adj" fmla="val 77223"/>
              </a:avLst>
            </a:pr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76" name="Text Box 20"/>
            <p:cNvSpPr txBox="1">
              <a:spLocks noChangeArrowheads="1"/>
            </p:cNvSpPr>
            <p:nvPr/>
          </p:nvSpPr>
          <p:spPr bwMode="auto">
            <a:xfrm>
              <a:off x="3272" y="2867"/>
              <a:ext cx="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30</a:t>
              </a:r>
            </a:p>
          </p:txBody>
        </p:sp>
      </p:grpSp>
      <p:grpSp>
        <p:nvGrpSpPr>
          <p:cNvPr id="352277" name="Group 21"/>
          <p:cNvGrpSpPr>
            <a:grpSpLocks/>
          </p:cNvGrpSpPr>
          <p:nvPr/>
        </p:nvGrpSpPr>
        <p:grpSpPr bwMode="auto">
          <a:xfrm>
            <a:off x="6969125" y="5033963"/>
            <a:ext cx="860425" cy="1747837"/>
            <a:chOff x="3998" y="3187"/>
            <a:chExt cx="542" cy="1101"/>
          </a:xfrm>
        </p:grpSpPr>
        <p:sp>
          <p:nvSpPr>
            <p:cNvPr id="352278" name="AutoShape 22"/>
            <p:cNvSpPr>
              <a:spLocks noChangeArrowheads="1"/>
            </p:cNvSpPr>
            <p:nvPr/>
          </p:nvSpPr>
          <p:spPr bwMode="auto">
            <a:xfrm rot="5400000">
              <a:off x="3702" y="3559"/>
              <a:ext cx="1101" cy="357"/>
            </a:xfrm>
            <a:prstGeom prst="homePlate">
              <a:avLst>
                <a:gd name="adj" fmla="val 47346"/>
              </a:avLst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79" name="Text Box 23"/>
            <p:cNvSpPr txBox="1">
              <a:spLocks noChangeArrowheads="1"/>
            </p:cNvSpPr>
            <p:nvPr/>
          </p:nvSpPr>
          <p:spPr bwMode="auto">
            <a:xfrm>
              <a:off x="3998" y="3278"/>
              <a:ext cx="54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235</a:t>
              </a:r>
            </a:p>
          </p:txBody>
        </p:sp>
      </p:grpSp>
      <p:grpSp>
        <p:nvGrpSpPr>
          <p:cNvPr id="352280" name="Group 24"/>
          <p:cNvGrpSpPr>
            <a:grpSpLocks/>
          </p:cNvGrpSpPr>
          <p:nvPr/>
        </p:nvGrpSpPr>
        <p:grpSpPr bwMode="auto">
          <a:xfrm>
            <a:off x="7885113" y="4106863"/>
            <a:ext cx="860425" cy="2354262"/>
            <a:chOff x="4559" y="2611"/>
            <a:chExt cx="542" cy="1483"/>
          </a:xfrm>
        </p:grpSpPr>
        <p:sp>
          <p:nvSpPr>
            <p:cNvPr id="352281" name="AutoShape 25"/>
            <p:cNvSpPr>
              <a:spLocks noChangeArrowheads="1"/>
            </p:cNvSpPr>
            <p:nvPr/>
          </p:nvSpPr>
          <p:spPr bwMode="auto">
            <a:xfrm rot="16200000">
              <a:off x="4081" y="3178"/>
              <a:ext cx="1483" cy="349"/>
            </a:xfrm>
            <a:prstGeom prst="homePlate">
              <a:avLst>
                <a:gd name="adj" fmla="val 44716"/>
              </a:avLst>
            </a:prstGeom>
            <a:solidFill>
              <a:srgbClr val="CC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82" name="Text Box 26"/>
            <p:cNvSpPr txBox="1">
              <a:spLocks noChangeArrowheads="1"/>
            </p:cNvSpPr>
            <p:nvPr/>
          </p:nvSpPr>
          <p:spPr bwMode="auto">
            <a:xfrm>
              <a:off x="4559" y="2783"/>
              <a:ext cx="54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235</a:t>
              </a:r>
            </a:p>
          </p:txBody>
        </p:sp>
      </p:grpSp>
      <p:grpSp>
        <p:nvGrpSpPr>
          <p:cNvPr id="352283" name="Group 27"/>
          <p:cNvGrpSpPr>
            <a:grpSpLocks/>
          </p:cNvGrpSpPr>
          <p:nvPr/>
        </p:nvGrpSpPr>
        <p:grpSpPr bwMode="auto">
          <a:xfrm>
            <a:off x="5230813" y="5029200"/>
            <a:ext cx="3802062" cy="1828800"/>
            <a:chOff x="2903" y="3198"/>
            <a:chExt cx="2395" cy="1152"/>
          </a:xfrm>
        </p:grpSpPr>
        <p:sp>
          <p:nvSpPr>
            <p:cNvPr id="352284" name="Rectangle 28"/>
            <p:cNvSpPr>
              <a:spLocks noChangeArrowheads="1"/>
            </p:cNvSpPr>
            <p:nvPr/>
          </p:nvSpPr>
          <p:spPr bwMode="auto">
            <a:xfrm>
              <a:off x="2903" y="4100"/>
              <a:ext cx="2395" cy="220"/>
            </a:xfrm>
            <a:prstGeom prst="rect">
              <a:avLst/>
            </a:prstGeom>
            <a:solidFill>
              <a:srgbClr val="009900">
                <a:alpha val="57001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85" name="Rectangle 29"/>
            <p:cNvSpPr>
              <a:spLocks noChangeArrowheads="1"/>
            </p:cNvSpPr>
            <p:nvPr/>
          </p:nvSpPr>
          <p:spPr bwMode="auto">
            <a:xfrm>
              <a:off x="2903" y="3198"/>
              <a:ext cx="2395" cy="902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33000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41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286" name="Text Box 30"/>
            <p:cNvSpPr txBox="1">
              <a:spLocks noChangeArrowheads="1"/>
            </p:cNvSpPr>
            <p:nvPr/>
          </p:nvSpPr>
          <p:spPr bwMode="auto">
            <a:xfrm>
              <a:off x="2903" y="4100"/>
              <a:ext cx="23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GROUND</a:t>
              </a:r>
            </a:p>
          </p:txBody>
        </p:sp>
        <p:sp>
          <p:nvSpPr>
            <p:cNvPr id="352287" name="Text Box 31"/>
            <p:cNvSpPr txBox="1">
              <a:spLocks noChangeArrowheads="1"/>
            </p:cNvSpPr>
            <p:nvPr/>
          </p:nvSpPr>
          <p:spPr bwMode="auto">
            <a:xfrm>
              <a:off x="2903" y="3658"/>
              <a:ext cx="2395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>
                  <a:solidFill>
                    <a:schemeClr val="bg2"/>
                  </a:solidFill>
                </a:rPr>
                <a:t>NON-GREENHOUSE ATMOSPHERE</a:t>
              </a:r>
            </a:p>
          </p:txBody>
        </p:sp>
      </p:grpSp>
      <p:sp>
        <p:nvSpPr>
          <p:cNvPr id="352288" name="Rectangle 32"/>
          <p:cNvSpPr>
            <a:spLocks noChangeArrowheads="1"/>
          </p:cNvSpPr>
          <p:nvPr/>
        </p:nvSpPr>
        <p:spPr bwMode="auto">
          <a:xfrm>
            <a:off x="5218113" y="6446838"/>
            <a:ext cx="3814762" cy="263525"/>
          </a:xfrm>
          <a:prstGeom prst="rect">
            <a:avLst/>
          </a:prstGeom>
          <a:solidFill>
            <a:srgbClr val="FF0000">
              <a:alpha val="23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b="1"/>
              <a:t>235</a:t>
            </a:r>
            <a:r>
              <a:rPr lang="en-US" b="1" baseline="-25000"/>
              <a:t> </a:t>
            </a:r>
            <a:r>
              <a:rPr lang="en-US" b="1"/>
              <a:t>  </a:t>
            </a:r>
          </a:p>
        </p:txBody>
      </p:sp>
      <p:sp>
        <p:nvSpPr>
          <p:cNvPr id="352258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111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2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2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2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2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2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2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2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2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000"/>
                                        <p:tgtEl>
                                          <p:spTgt spid="3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5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2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2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5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5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2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2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5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80" dur="2000"/>
                                        <p:tgtEl>
                                          <p:spTgt spid="352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2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2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5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ChangeArrowheads="1"/>
          </p:cNvSpPr>
          <p:nvPr/>
        </p:nvSpPr>
        <p:spPr bwMode="auto">
          <a:xfrm>
            <a:off x="685800" y="1879600"/>
            <a:ext cx="7772400" cy="497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>
                <a:latin typeface="Arial" charset="0"/>
              </a:rPr>
              <a:t>PRACTICE: Show that at the space/atmosphere interface and at the ground/atmosphere interface the net power flow is zero.</a:t>
            </a:r>
            <a:r>
              <a:rPr lang="en-US" sz="2400">
                <a:latin typeface="Arial" charset="0"/>
                <a:sym typeface="Symbol" pitchFamily="18" charset="2"/>
              </a:rPr>
              <a:t> 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SOLUTION: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Space/atmosphere interface: </a:t>
            </a:r>
          </a:p>
          <a:p>
            <a:r>
              <a:rPr lang="en-US" sz="2400">
                <a:latin typeface="Arial" charset="0"/>
              </a:rPr>
              <a:t>			= 340 IN </a:t>
            </a:r>
          </a:p>
          <a:p>
            <a:r>
              <a:rPr lang="en-US" sz="2400">
                <a:latin typeface="Arial" charset="0"/>
              </a:rPr>
              <a:t>         235 + 75 + 30 	= 340 OUT.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Ground/atmosphere interface: </a:t>
            </a:r>
          </a:p>
          <a:p>
            <a:r>
              <a:rPr lang="en-US" sz="2400">
                <a:latin typeface="Arial" charset="0"/>
              </a:rPr>
              <a:t> 	235 IN and 235 OUT.</a:t>
            </a:r>
          </a:p>
        </p:txBody>
      </p:sp>
      <p:grpSp>
        <p:nvGrpSpPr>
          <p:cNvPr id="354309" name="Group 5"/>
          <p:cNvGrpSpPr>
            <a:grpSpLocks/>
          </p:cNvGrpSpPr>
          <p:nvPr/>
        </p:nvGrpSpPr>
        <p:grpSpPr bwMode="auto">
          <a:xfrm>
            <a:off x="5218113" y="3652838"/>
            <a:ext cx="3814762" cy="3205162"/>
            <a:chOff x="3287" y="2301"/>
            <a:chExt cx="2403" cy="2019"/>
          </a:xfrm>
        </p:grpSpPr>
        <p:grpSp>
          <p:nvGrpSpPr>
            <p:cNvPr id="354310" name="Group 6"/>
            <p:cNvGrpSpPr>
              <a:grpSpLocks/>
            </p:cNvGrpSpPr>
            <p:nvPr/>
          </p:nvGrpSpPr>
          <p:grpSpPr bwMode="auto">
            <a:xfrm>
              <a:off x="4252" y="2301"/>
              <a:ext cx="573" cy="1152"/>
              <a:chOff x="3860" y="2333"/>
              <a:chExt cx="573" cy="1152"/>
            </a:xfrm>
          </p:grpSpPr>
          <p:sp>
            <p:nvSpPr>
              <p:cNvPr id="354311" name="AutoShape 7"/>
              <p:cNvSpPr>
                <a:spLocks noChangeArrowheads="1"/>
              </p:cNvSpPr>
              <p:nvPr/>
            </p:nvSpPr>
            <p:spPr bwMode="auto">
              <a:xfrm rot="5400000">
                <a:off x="3571" y="2622"/>
                <a:ext cx="1152" cy="573"/>
              </a:xfrm>
              <a:prstGeom prst="chevron">
                <a:avLst>
                  <a:gd name="adj" fmla="val 50262"/>
                </a:avLst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12" name="Text Box 8"/>
              <p:cNvSpPr txBox="1">
                <a:spLocks noChangeArrowheads="1"/>
              </p:cNvSpPr>
              <p:nvPr/>
            </p:nvSpPr>
            <p:spPr bwMode="auto">
              <a:xfrm>
                <a:off x="3860" y="2625"/>
                <a:ext cx="57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340</a:t>
                </a:r>
              </a:p>
            </p:txBody>
          </p:sp>
        </p:grpSp>
        <p:sp>
          <p:nvSpPr>
            <p:cNvPr id="354313" name="AutoShape 9"/>
            <p:cNvSpPr>
              <a:spLocks noChangeArrowheads="1"/>
            </p:cNvSpPr>
            <p:nvPr/>
          </p:nvSpPr>
          <p:spPr bwMode="auto">
            <a:xfrm rot="10800000">
              <a:off x="3921" y="3159"/>
              <a:ext cx="461" cy="459"/>
            </a:xfrm>
            <a:custGeom>
              <a:avLst/>
              <a:gdLst>
                <a:gd name="T0" fmla="*/ 9250 w 21600"/>
                <a:gd name="T1" fmla="*/ 0 h 21600"/>
                <a:gd name="T2" fmla="*/ 3055 w 21600"/>
                <a:gd name="T3" fmla="*/ 21600 h 21600"/>
                <a:gd name="T4" fmla="*/ 9725 w 21600"/>
                <a:gd name="T5" fmla="*/ 8310 h 21600"/>
                <a:gd name="T6" fmla="*/ 15662 w 21600"/>
                <a:gd name="T7" fmla="*/ 14285 h 21600"/>
                <a:gd name="T8" fmla="*/ 21600 w 21600"/>
                <a:gd name="T9" fmla="*/ 8310 h 21600"/>
                <a:gd name="T10" fmla="*/ 17694720 60000 65536"/>
                <a:gd name="T11" fmla="*/ 5898240 60000 65536"/>
                <a:gd name="T12" fmla="*/ 5898240 60000 65536"/>
                <a:gd name="T13" fmla="*/ 5898240 60000 65536"/>
                <a:gd name="T14" fmla="*/ 0 60000 65536"/>
                <a:gd name="T15" fmla="*/ 0 w 21600"/>
                <a:gd name="T16" fmla="*/ 8310 h 21600"/>
                <a:gd name="T17" fmla="*/ 6110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>
                  <a:moveTo>
                    <a:pt x="15662" y="14285"/>
                  </a:moveTo>
                  <a:lnTo>
                    <a:pt x="21600" y="8310"/>
                  </a:lnTo>
                  <a:lnTo>
                    <a:pt x="18630" y="8310"/>
                  </a:lnTo>
                  <a:cubicBezTo>
                    <a:pt x="18630" y="3721"/>
                    <a:pt x="14430" y="0"/>
                    <a:pt x="9250" y="0"/>
                  </a:cubicBezTo>
                  <a:cubicBezTo>
                    <a:pt x="4141" y="0"/>
                    <a:pt x="0" y="3799"/>
                    <a:pt x="0" y="8485"/>
                  </a:cubicBezTo>
                  <a:lnTo>
                    <a:pt x="0" y="21600"/>
                  </a:lnTo>
                  <a:lnTo>
                    <a:pt x="6110" y="21600"/>
                  </a:lnTo>
                  <a:lnTo>
                    <a:pt x="6110" y="8310"/>
                  </a:lnTo>
                  <a:cubicBezTo>
                    <a:pt x="6110" y="6947"/>
                    <a:pt x="7362" y="5842"/>
                    <a:pt x="8907" y="5842"/>
                  </a:cubicBezTo>
                  <a:lnTo>
                    <a:pt x="9725" y="5842"/>
                  </a:lnTo>
                  <a:cubicBezTo>
                    <a:pt x="11269" y="5842"/>
                    <a:pt x="12520" y="6947"/>
                    <a:pt x="12520" y="8310"/>
                  </a:cubicBezTo>
                  <a:lnTo>
                    <a:pt x="9725" y="8310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54314" name="Group 10"/>
            <p:cNvGrpSpPr>
              <a:grpSpLocks/>
            </p:cNvGrpSpPr>
            <p:nvPr/>
          </p:nvGrpSpPr>
          <p:grpSpPr bwMode="auto">
            <a:xfrm>
              <a:off x="4189" y="3165"/>
              <a:ext cx="278" cy="930"/>
              <a:chOff x="3797" y="3197"/>
              <a:chExt cx="278" cy="930"/>
            </a:xfrm>
          </p:grpSpPr>
          <p:sp>
            <p:nvSpPr>
              <p:cNvPr id="354315" name="AutoShape 11"/>
              <p:cNvSpPr>
                <a:spLocks noChangeArrowheads="1"/>
              </p:cNvSpPr>
              <p:nvPr/>
            </p:nvSpPr>
            <p:spPr bwMode="auto">
              <a:xfrm rot="5400000">
                <a:off x="3631" y="3555"/>
                <a:ext cx="799" cy="84"/>
              </a:xfrm>
              <a:prstGeom prst="homePlate">
                <a:avLst>
                  <a:gd name="adj" fmla="val 75038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16" name="AutoShape 12"/>
              <p:cNvSpPr>
                <a:spLocks noChangeArrowheads="1"/>
              </p:cNvSpPr>
              <p:nvPr/>
            </p:nvSpPr>
            <p:spPr bwMode="auto">
              <a:xfrm rot="10800000">
                <a:off x="3797" y="3831"/>
                <a:ext cx="278" cy="296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4317" name="Group 13"/>
            <p:cNvGrpSpPr>
              <a:grpSpLocks/>
            </p:cNvGrpSpPr>
            <p:nvPr/>
          </p:nvGrpSpPr>
          <p:grpSpPr bwMode="auto">
            <a:xfrm>
              <a:off x="3742" y="3778"/>
              <a:ext cx="559" cy="278"/>
              <a:chOff x="3350" y="3810"/>
              <a:chExt cx="559" cy="278"/>
            </a:xfrm>
          </p:grpSpPr>
          <p:sp>
            <p:nvSpPr>
              <p:cNvPr id="354318" name="AutoShape 14"/>
              <p:cNvSpPr>
                <a:spLocks noChangeArrowheads="1"/>
              </p:cNvSpPr>
              <p:nvPr/>
            </p:nvSpPr>
            <p:spPr bwMode="auto">
              <a:xfrm rot="10800000">
                <a:off x="3534" y="4003"/>
                <a:ext cx="375" cy="84"/>
              </a:xfrm>
              <a:prstGeom prst="homePlate">
                <a:avLst>
                  <a:gd name="adj" fmla="val 72627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19" name="AutoShape 15"/>
              <p:cNvSpPr>
                <a:spLocks noChangeArrowheads="1"/>
              </p:cNvSpPr>
              <p:nvPr/>
            </p:nvSpPr>
            <p:spPr bwMode="auto">
              <a:xfrm rot="16200000">
                <a:off x="3359" y="3801"/>
                <a:ext cx="278" cy="296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4320" name="Group 16"/>
            <p:cNvGrpSpPr>
              <a:grpSpLocks/>
            </p:cNvGrpSpPr>
            <p:nvPr/>
          </p:nvGrpSpPr>
          <p:grpSpPr bwMode="auto">
            <a:xfrm>
              <a:off x="3825" y="2682"/>
              <a:ext cx="437" cy="701"/>
              <a:chOff x="3433" y="2714"/>
              <a:chExt cx="437" cy="701"/>
            </a:xfrm>
          </p:grpSpPr>
          <p:sp>
            <p:nvSpPr>
              <p:cNvPr id="354321" name="AutoShape 17"/>
              <p:cNvSpPr>
                <a:spLocks noChangeArrowheads="1"/>
              </p:cNvSpPr>
              <p:nvPr/>
            </p:nvSpPr>
            <p:spPr bwMode="auto">
              <a:xfrm rot="16200000">
                <a:off x="3303" y="2997"/>
                <a:ext cx="701" cy="136"/>
              </a:xfrm>
              <a:prstGeom prst="chevron">
                <a:avLst>
                  <a:gd name="adj" fmla="val 51473"/>
                </a:avLst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22" name="Text Box 18"/>
              <p:cNvSpPr txBox="1">
                <a:spLocks noChangeArrowheads="1"/>
              </p:cNvSpPr>
              <p:nvPr/>
            </p:nvSpPr>
            <p:spPr bwMode="auto">
              <a:xfrm>
                <a:off x="3433" y="2769"/>
                <a:ext cx="43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75</a:t>
                </a:r>
              </a:p>
            </p:txBody>
          </p:sp>
        </p:grpSp>
        <p:grpSp>
          <p:nvGrpSpPr>
            <p:cNvPr id="354323" name="Group 19"/>
            <p:cNvGrpSpPr>
              <a:grpSpLocks/>
            </p:cNvGrpSpPr>
            <p:nvPr/>
          </p:nvGrpSpPr>
          <p:grpSpPr bwMode="auto">
            <a:xfrm>
              <a:off x="3664" y="2682"/>
              <a:ext cx="354" cy="1185"/>
              <a:chOff x="3272" y="2714"/>
              <a:chExt cx="354" cy="1185"/>
            </a:xfrm>
          </p:grpSpPr>
          <p:sp>
            <p:nvSpPr>
              <p:cNvPr id="354324" name="AutoShape 20"/>
              <p:cNvSpPr>
                <a:spLocks noChangeArrowheads="1"/>
              </p:cNvSpPr>
              <p:nvPr/>
            </p:nvSpPr>
            <p:spPr bwMode="auto">
              <a:xfrm rot="16200000">
                <a:off x="2844" y="3261"/>
                <a:ext cx="1185" cy="92"/>
              </a:xfrm>
              <a:prstGeom prst="homePlate">
                <a:avLst>
                  <a:gd name="adj" fmla="val 77223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25" name="Text Box 21"/>
              <p:cNvSpPr txBox="1">
                <a:spLocks noChangeArrowheads="1"/>
              </p:cNvSpPr>
              <p:nvPr/>
            </p:nvSpPr>
            <p:spPr bwMode="auto">
              <a:xfrm>
                <a:off x="3272" y="2867"/>
                <a:ext cx="3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30</a:t>
                </a:r>
              </a:p>
            </p:txBody>
          </p:sp>
        </p:grpSp>
        <p:grpSp>
          <p:nvGrpSpPr>
            <p:cNvPr id="354326" name="Group 22"/>
            <p:cNvGrpSpPr>
              <a:grpSpLocks/>
            </p:cNvGrpSpPr>
            <p:nvPr/>
          </p:nvGrpSpPr>
          <p:grpSpPr bwMode="auto">
            <a:xfrm>
              <a:off x="4390" y="3171"/>
              <a:ext cx="542" cy="1101"/>
              <a:chOff x="3998" y="3187"/>
              <a:chExt cx="542" cy="1101"/>
            </a:xfrm>
          </p:grpSpPr>
          <p:sp>
            <p:nvSpPr>
              <p:cNvPr id="354327" name="AutoShape 23"/>
              <p:cNvSpPr>
                <a:spLocks noChangeArrowheads="1"/>
              </p:cNvSpPr>
              <p:nvPr/>
            </p:nvSpPr>
            <p:spPr bwMode="auto">
              <a:xfrm rot="5400000">
                <a:off x="3702" y="3559"/>
                <a:ext cx="1101" cy="357"/>
              </a:xfrm>
              <a:prstGeom prst="homePlate">
                <a:avLst>
                  <a:gd name="adj" fmla="val 47346"/>
                </a:avLst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28" name="Text Box 24"/>
              <p:cNvSpPr txBox="1">
                <a:spLocks noChangeArrowheads="1"/>
              </p:cNvSpPr>
              <p:nvPr/>
            </p:nvSpPr>
            <p:spPr bwMode="auto">
              <a:xfrm>
                <a:off x="3998" y="3278"/>
                <a:ext cx="54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235</a:t>
                </a:r>
              </a:p>
            </p:txBody>
          </p:sp>
        </p:grpSp>
        <p:grpSp>
          <p:nvGrpSpPr>
            <p:cNvPr id="354329" name="Group 25"/>
            <p:cNvGrpSpPr>
              <a:grpSpLocks/>
            </p:cNvGrpSpPr>
            <p:nvPr/>
          </p:nvGrpSpPr>
          <p:grpSpPr bwMode="auto">
            <a:xfrm>
              <a:off x="4967" y="2587"/>
              <a:ext cx="542" cy="1483"/>
              <a:chOff x="4559" y="2611"/>
              <a:chExt cx="542" cy="1483"/>
            </a:xfrm>
          </p:grpSpPr>
          <p:sp>
            <p:nvSpPr>
              <p:cNvPr id="354330" name="AutoShape 26"/>
              <p:cNvSpPr>
                <a:spLocks noChangeArrowheads="1"/>
              </p:cNvSpPr>
              <p:nvPr/>
            </p:nvSpPr>
            <p:spPr bwMode="auto">
              <a:xfrm rot="16200000">
                <a:off x="4081" y="3178"/>
                <a:ext cx="1483" cy="349"/>
              </a:xfrm>
              <a:prstGeom prst="homePlate">
                <a:avLst>
                  <a:gd name="adj" fmla="val 44716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31" name="Text Box 27"/>
              <p:cNvSpPr txBox="1">
                <a:spLocks noChangeArrowheads="1"/>
              </p:cNvSpPr>
              <p:nvPr/>
            </p:nvSpPr>
            <p:spPr bwMode="auto">
              <a:xfrm>
                <a:off x="4559" y="2783"/>
                <a:ext cx="54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235</a:t>
                </a:r>
              </a:p>
            </p:txBody>
          </p:sp>
        </p:grpSp>
        <p:grpSp>
          <p:nvGrpSpPr>
            <p:cNvPr id="354332" name="Group 28"/>
            <p:cNvGrpSpPr>
              <a:grpSpLocks/>
            </p:cNvGrpSpPr>
            <p:nvPr/>
          </p:nvGrpSpPr>
          <p:grpSpPr bwMode="auto">
            <a:xfrm>
              <a:off x="3295" y="3168"/>
              <a:ext cx="2395" cy="1152"/>
              <a:chOff x="2903" y="3198"/>
              <a:chExt cx="2395" cy="1152"/>
            </a:xfrm>
          </p:grpSpPr>
          <p:sp>
            <p:nvSpPr>
              <p:cNvPr id="354333" name="Rectangle 29"/>
              <p:cNvSpPr>
                <a:spLocks noChangeArrowheads="1"/>
              </p:cNvSpPr>
              <p:nvPr/>
            </p:nvSpPr>
            <p:spPr bwMode="auto">
              <a:xfrm>
                <a:off x="2903" y="4100"/>
                <a:ext cx="2395" cy="220"/>
              </a:xfrm>
              <a:prstGeom prst="rect">
                <a:avLst/>
              </a:prstGeom>
              <a:solidFill>
                <a:srgbClr val="009900">
                  <a:alpha val="57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34" name="Rectangle 30"/>
              <p:cNvSpPr>
                <a:spLocks noChangeArrowheads="1"/>
              </p:cNvSpPr>
              <p:nvPr/>
            </p:nvSpPr>
            <p:spPr bwMode="auto">
              <a:xfrm>
                <a:off x="2903" y="3198"/>
                <a:ext cx="2395" cy="902"/>
              </a:xfrm>
              <a:prstGeom prst="rect">
                <a:avLst/>
              </a:prstGeom>
              <a:gradFill rotWithShape="1">
                <a:gsLst>
                  <a:gs pos="0">
                    <a:schemeClr val="accent1">
                      <a:alpha val="33000"/>
                    </a:schemeClr>
                  </a:gs>
                  <a:gs pos="100000">
                    <a:schemeClr val="accent1">
                      <a:gamma/>
                      <a:shade val="46275"/>
                      <a:invGamma/>
                      <a:alpha val="41000"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4335" name="Text Box 31"/>
              <p:cNvSpPr txBox="1">
                <a:spLocks noChangeArrowheads="1"/>
              </p:cNvSpPr>
              <p:nvPr/>
            </p:nvSpPr>
            <p:spPr bwMode="auto">
              <a:xfrm>
                <a:off x="2903" y="4100"/>
                <a:ext cx="239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GROUND</a:t>
                </a:r>
              </a:p>
            </p:txBody>
          </p:sp>
          <p:sp>
            <p:nvSpPr>
              <p:cNvPr id="354336" name="Text Box 32"/>
              <p:cNvSpPr txBox="1">
                <a:spLocks noChangeArrowheads="1"/>
              </p:cNvSpPr>
              <p:nvPr/>
            </p:nvSpPr>
            <p:spPr bwMode="auto">
              <a:xfrm>
                <a:off x="2903" y="3658"/>
                <a:ext cx="2395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2"/>
                    </a:solidFill>
                  </a:rPr>
                  <a:t>NON-GREENHOUSE ATMOSPHERE</a:t>
                </a:r>
              </a:p>
            </p:txBody>
          </p:sp>
        </p:grpSp>
        <p:sp>
          <p:nvSpPr>
            <p:cNvPr id="354337" name="Rectangle 33"/>
            <p:cNvSpPr>
              <a:spLocks noChangeArrowheads="1"/>
            </p:cNvSpPr>
            <p:nvPr/>
          </p:nvSpPr>
          <p:spPr bwMode="auto">
            <a:xfrm>
              <a:off x="3287" y="4061"/>
              <a:ext cx="2403" cy="166"/>
            </a:xfrm>
            <a:prstGeom prst="rect">
              <a:avLst/>
            </a:prstGeom>
            <a:solidFill>
              <a:srgbClr val="FF0000">
                <a:alpha val="23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/>
              <a:r>
                <a:rPr lang="en-US" b="1"/>
                <a:t>235</a:t>
              </a:r>
              <a:r>
                <a:rPr lang="en-US" b="1" baseline="-25000"/>
                <a:t> </a:t>
              </a:r>
              <a:r>
                <a:rPr lang="en-US" b="1"/>
                <a:t>  </a:t>
              </a:r>
            </a:p>
          </p:txBody>
        </p:sp>
      </p:grpSp>
      <p:sp>
        <p:nvSpPr>
          <p:cNvPr id="354338" name="Rectangle 34"/>
          <p:cNvSpPr>
            <a:spLocks noChangeArrowheads="1"/>
          </p:cNvSpPr>
          <p:nvPr/>
        </p:nvSpPr>
        <p:spPr bwMode="auto">
          <a:xfrm>
            <a:off x="5224463" y="4908550"/>
            <a:ext cx="3800475" cy="2413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4339" name="Rectangle 35"/>
          <p:cNvSpPr>
            <a:spLocks noChangeArrowheads="1"/>
          </p:cNvSpPr>
          <p:nvPr/>
        </p:nvSpPr>
        <p:spPr bwMode="auto">
          <a:xfrm>
            <a:off x="5229225" y="6342063"/>
            <a:ext cx="3800475" cy="2413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4340" name="Rectangle 36"/>
          <p:cNvSpPr>
            <a:spLocks noChangeArrowheads="1"/>
          </p:cNvSpPr>
          <p:nvPr/>
        </p:nvSpPr>
        <p:spPr bwMode="auto">
          <a:xfrm>
            <a:off x="682625" y="5294313"/>
            <a:ext cx="4321175" cy="156368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sz="2400" b="1" i="1">
                <a:latin typeface="Arial" charset="0"/>
              </a:rPr>
              <a:t>FYI</a:t>
            </a:r>
          </a:p>
          <a:p>
            <a:pPr eaLnBrk="0" hangingPunct="0"/>
            <a:r>
              <a:rPr lang="en-US" sz="2400" b="1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  <a:sym typeface="Symbol" pitchFamily="18" charset="2"/>
              </a:rPr>
              <a:t>Since 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IN</a:t>
            </a:r>
            <a:r>
              <a:rPr lang="en-US" sz="2400"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OUT</a:t>
            </a:r>
            <a:r>
              <a:rPr lang="en-US" sz="2400">
                <a:latin typeface="Arial" charset="0"/>
                <a:sym typeface="Symbol" pitchFamily="18" charset="2"/>
              </a:rPr>
              <a:t>,</a:t>
            </a:r>
            <a:r>
              <a:rPr lang="en-US" sz="2400" i="1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the temperature in each region is constant.</a:t>
            </a:r>
          </a:p>
        </p:txBody>
      </p:sp>
      <p:sp>
        <p:nvSpPr>
          <p:cNvPr id="354341" name="Rectangle 37"/>
          <p:cNvSpPr>
            <a:spLocks noChangeArrowheads="1"/>
          </p:cNvSpPr>
          <p:nvPr/>
        </p:nvSpPr>
        <p:spPr bwMode="auto">
          <a:xfrm>
            <a:off x="685800" y="1401763"/>
            <a:ext cx="7772400" cy="5111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4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4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4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4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4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4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4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4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4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4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5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4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4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38" grpId="0" animBg="1"/>
      <p:bldP spid="3543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6" name="Rectangle 4"/>
          <p:cNvSpPr>
            <a:spLocks noChangeArrowheads="1"/>
          </p:cNvSpPr>
          <p:nvPr/>
        </p:nvSpPr>
        <p:spPr bwMode="auto">
          <a:xfrm>
            <a:off x="674688" y="1855788"/>
            <a:ext cx="7772400" cy="50022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Draw a Sankey diagram for a model of the earth </a:t>
            </a:r>
            <a:r>
              <a:rPr lang="en-US" sz="2400" u="sng">
                <a:latin typeface="Arial" charset="0"/>
                <a:sym typeface="Symbol" pitchFamily="18" charset="2"/>
              </a:rPr>
              <a:t>with</a:t>
            </a:r>
            <a:r>
              <a:rPr lang="en-US" sz="2400">
                <a:latin typeface="Arial" charset="0"/>
                <a:sym typeface="Symbol" pitchFamily="18" charset="2"/>
              </a:rPr>
              <a:t> greenhouse gases.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 Put in the blocks (or sinks) first (</a:t>
            </a:r>
            <a:r>
              <a:rPr lang="en-US" sz="2400" b="1">
                <a:solidFill>
                  <a:srgbClr val="008000"/>
                </a:solidFill>
                <a:latin typeface="Arial" charset="0"/>
                <a:sym typeface="Symbol" pitchFamily="18" charset="2"/>
              </a:rPr>
              <a:t>Greenhouse gases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IN</a:t>
            </a:r>
            <a:r>
              <a:rPr lang="en-US" sz="2400">
                <a:latin typeface="Arial" charset="0"/>
                <a:sym typeface="Symbol" pitchFamily="18" charset="2"/>
              </a:rPr>
              <a:t> (340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REFLECT</a:t>
            </a:r>
            <a:r>
              <a:rPr lang="en-US" sz="2400">
                <a:latin typeface="Arial" charset="0"/>
                <a:sym typeface="Symbol" pitchFamily="18" charset="2"/>
              </a:rPr>
              <a:t>(105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GND,abs</a:t>
            </a:r>
            <a:r>
              <a:rPr lang="en-US" sz="2400">
                <a:latin typeface="Arial" charset="0"/>
                <a:sym typeface="Symbol" pitchFamily="18" charset="2"/>
              </a:rPr>
              <a:t> (165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ATMOS,abs</a:t>
            </a:r>
            <a:r>
              <a:rPr lang="en-US" sz="2400">
                <a:latin typeface="Arial" charset="0"/>
                <a:sym typeface="Symbol" pitchFamily="18" charset="2"/>
              </a:rPr>
              <a:t> (70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GND,radiate</a:t>
            </a:r>
            <a:r>
              <a:rPr lang="en-US" sz="2400">
                <a:latin typeface="Arial" charset="0"/>
                <a:sym typeface="Symbol" pitchFamily="18" charset="2"/>
              </a:rPr>
              <a:t> (390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convection</a:t>
            </a:r>
            <a:r>
              <a:rPr lang="en-US" sz="2400">
                <a:latin typeface="Arial" charset="0"/>
                <a:sym typeface="Symbol" pitchFamily="18" charset="2"/>
              </a:rPr>
              <a:t> (100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latin typeface="Arial" charset="0"/>
                <a:sym typeface="Symbol" pitchFamily="18" charset="2"/>
              </a:rPr>
              <a:t>I</a:t>
            </a:r>
            <a:r>
              <a:rPr lang="en-US" sz="2400" baseline="-25000">
                <a:latin typeface="Arial" charset="0"/>
                <a:sym typeface="Symbol" pitchFamily="18" charset="2"/>
              </a:rPr>
              <a:t>ATM,radiate</a:t>
            </a:r>
            <a:r>
              <a:rPr lang="en-US" sz="2400">
                <a:latin typeface="Arial" charset="0"/>
                <a:sym typeface="Symbol" pitchFamily="18" charset="2"/>
              </a:rPr>
              <a:t> (195 W</a:t>
            </a:r>
            <a:r>
              <a:rPr lang="en-US" sz="2400" baseline="-25000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latin typeface="Arial" charset="0"/>
                <a:sym typeface="Symbol" pitchFamily="18" charset="2"/>
              </a:rPr>
              <a:t>):</a:t>
            </a:r>
          </a:p>
        </p:txBody>
      </p:sp>
      <p:grpSp>
        <p:nvGrpSpPr>
          <p:cNvPr id="356357" name="Group 5"/>
          <p:cNvGrpSpPr>
            <a:grpSpLocks/>
          </p:cNvGrpSpPr>
          <p:nvPr/>
        </p:nvGrpSpPr>
        <p:grpSpPr bwMode="auto">
          <a:xfrm>
            <a:off x="5067300" y="3689350"/>
            <a:ext cx="1114425" cy="1792288"/>
            <a:chOff x="3860" y="2333"/>
            <a:chExt cx="573" cy="1152"/>
          </a:xfrm>
        </p:grpSpPr>
        <p:sp>
          <p:nvSpPr>
            <p:cNvPr id="356358" name="AutoShape 6"/>
            <p:cNvSpPr>
              <a:spLocks noChangeArrowheads="1"/>
            </p:cNvSpPr>
            <p:nvPr/>
          </p:nvSpPr>
          <p:spPr bwMode="auto">
            <a:xfrm rot="5400000">
              <a:off x="3571" y="2622"/>
              <a:ext cx="1152" cy="573"/>
            </a:xfrm>
            <a:prstGeom prst="chevron">
              <a:avLst>
                <a:gd name="adj" fmla="val 50262"/>
              </a:avLst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59" name="Text Box 7"/>
            <p:cNvSpPr txBox="1">
              <a:spLocks noChangeArrowheads="1"/>
            </p:cNvSpPr>
            <p:nvPr/>
          </p:nvSpPr>
          <p:spPr bwMode="auto">
            <a:xfrm>
              <a:off x="3860" y="2625"/>
              <a:ext cx="573" cy="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340</a:t>
              </a:r>
            </a:p>
          </p:txBody>
        </p:sp>
      </p:grpSp>
      <p:sp>
        <p:nvSpPr>
          <p:cNvPr id="356360" name="AutoShape 8"/>
          <p:cNvSpPr>
            <a:spLocks noChangeArrowheads="1"/>
          </p:cNvSpPr>
          <p:nvPr/>
        </p:nvSpPr>
        <p:spPr bwMode="auto">
          <a:xfrm rot="10800000">
            <a:off x="4541838" y="5014913"/>
            <a:ext cx="731837" cy="728662"/>
          </a:xfrm>
          <a:custGeom>
            <a:avLst/>
            <a:gdLst>
              <a:gd name="T0" fmla="*/ 9250 w 21600"/>
              <a:gd name="T1" fmla="*/ 0 h 21600"/>
              <a:gd name="T2" fmla="*/ 3055 w 21600"/>
              <a:gd name="T3" fmla="*/ 21600 h 21600"/>
              <a:gd name="T4" fmla="*/ 9725 w 21600"/>
              <a:gd name="T5" fmla="*/ 8310 h 21600"/>
              <a:gd name="T6" fmla="*/ 15662 w 21600"/>
              <a:gd name="T7" fmla="*/ 14285 h 21600"/>
              <a:gd name="T8" fmla="*/ 21600 w 21600"/>
              <a:gd name="T9" fmla="*/ 8310 h 21600"/>
              <a:gd name="T10" fmla="*/ 17694720 60000 65536"/>
              <a:gd name="T11" fmla="*/ 5898240 60000 65536"/>
              <a:gd name="T12" fmla="*/ 5898240 60000 65536"/>
              <a:gd name="T13" fmla="*/ 5898240 60000 65536"/>
              <a:gd name="T14" fmla="*/ 0 60000 65536"/>
              <a:gd name="T15" fmla="*/ 0 w 21600"/>
              <a:gd name="T16" fmla="*/ 8310 h 21600"/>
              <a:gd name="T17" fmla="*/ 611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5662" y="14285"/>
                </a:moveTo>
                <a:lnTo>
                  <a:pt x="21600" y="8310"/>
                </a:lnTo>
                <a:lnTo>
                  <a:pt x="18630" y="8310"/>
                </a:lnTo>
                <a:cubicBezTo>
                  <a:pt x="18630" y="3721"/>
                  <a:pt x="14430" y="0"/>
                  <a:pt x="9250" y="0"/>
                </a:cubicBezTo>
                <a:cubicBezTo>
                  <a:pt x="4141" y="0"/>
                  <a:pt x="0" y="3799"/>
                  <a:pt x="0" y="8485"/>
                </a:cubicBezTo>
                <a:lnTo>
                  <a:pt x="0" y="21600"/>
                </a:lnTo>
                <a:lnTo>
                  <a:pt x="6110" y="21600"/>
                </a:lnTo>
                <a:lnTo>
                  <a:pt x="6110" y="8310"/>
                </a:lnTo>
                <a:cubicBezTo>
                  <a:pt x="6110" y="6947"/>
                  <a:pt x="7362" y="5842"/>
                  <a:pt x="8907" y="5842"/>
                </a:cubicBezTo>
                <a:lnTo>
                  <a:pt x="9725" y="5842"/>
                </a:lnTo>
                <a:cubicBezTo>
                  <a:pt x="11269" y="5842"/>
                  <a:pt x="12520" y="6947"/>
                  <a:pt x="12520" y="8310"/>
                </a:cubicBezTo>
                <a:lnTo>
                  <a:pt x="9725" y="8310"/>
                </a:lnTo>
                <a:close/>
              </a:path>
            </a:pathLst>
          </a:cu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6361" name="Group 9"/>
          <p:cNvGrpSpPr>
            <a:grpSpLocks/>
          </p:cNvGrpSpPr>
          <p:nvPr/>
        </p:nvGrpSpPr>
        <p:grpSpPr bwMode="auto">
          <a:xfrm>
            <a:off x="4967288" y="5024438"/>
            <a:ext cx="441325" cy="1476375"/>
            <a:chOff x="3797" y="3197"/>
            <a:chExt cx="278" cy="930"/>
          </a:xfrm>
        </p:grpSpPr>
        <p:sp>
          <p:nvSpPr>
            <p:cNvPr id="356362" name="AutoShape 10"/>
            <p:cNvSpPr>
              <a:spLocks noChangeArrowheads="1"/>
            </p:cNvSpPr>
            <p:nvPr/>
          </p:nvSpPr>
          <p:spPr bwMode="auto">
            <a:xfrm rot="5400000">
              <a:off x="3631" y="3555"/>
              <a:ext cx="799" cy="84"/>
            </a:xfrm>
            <a:prstGeom prst="homePlate">
              <a:avLst>
                <a:gd name="adj" fmla="val 75038"/>
              </a:avLst>
            </a:pr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63" name="AutoShape 11"/>
            <p:cNvSpPr>
              <a:spLocks noChangeArrowheads="1"/>
            </p:cNvSpPr>
            <p:nvPr/>
          </p:nvSpPr>
          <p:spPr bwMode="auto">
            <a:xfrm rot="10800000">
              <a:off x="3797" y="3831"/>
              <a:ext cx="278" cy="296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6364" name="Group 12"/>
          <p:cNvGrpSpPr>
            <a:grpSpLocks/>
          </p:cNvGrpSpPr>
          <p:nvPr/>
        </p:nvGrpSpPr>
        <p:grpSpPr bwMode="auto">
          <a:xfrm>
            <a:off x="4257675" y="5997575"/>
            <a:ext cx="887413" cy="441325"/>
            <a:chOff x="3350" y="3810"/>
            <a:chExt cx="559" cy="278"/>
          </a:xfrm>
        </p:grpSpPr>
        <p:sp>
          <p:nvSpPr>
            <p:cNvPr id="356365" name="AutoShape 13"/>
            <p:cNvSpPr>
              <a:spLocks noChangeArrowheads="1"/>
            </p:cNvSpPr>
            <p:nvPr/>
          </p:nvSpPr>
          <p:spPr bwMode="auto">
            <a:xfrm rot="10800000">
              <a:off x="3534" y="4003"/>
              <a:ext cx="375" cy="84"/>
            </a:xfrm>
            <a:prstGeom prst="homePlate">
              <a:avLst>
                <a:gd name="adj" fmla="val 72627"/>
              </a:avLst>
            </a:pr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66" name="AutoShape 14"/>
            <p:cNvSpPr>
              <a:spLocks noChangeArrowheads="1"/>
            </p:cNvSpPr>
            <p:nvPr/>
          </p:nvSpPr>
          <p:spPr bwMode="auto">
            <a:xfrm rot="16200000">
              <a:off x="3359" y="3801"/>
              <a:ext cx="278" cy="296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6367" name="Group 15"/>
          <p:cNvGrpSpPr>
            <a:grpSpLocks/>
          </p:cNvGrpSpPr>
          <p:nvPr/>
        </p:nvGrpSpPr>
        <p:grpSpPr bwMode="auto">
          <a:xfrm>
            <a:off x="4389438" y="4257675"/>
            <a:ext cx="693737" cy="1112838"/>
            <a:chOff x="3433" y="2714"/>
            <a:chExt cx="437" cy="701"/>
          </a:xfrm>
        </p:grpSpPr>
        <p:sp>
          <p:nvSpPr>
            <p:cNvPr id="356368" name="AutoShape 16"/>
            <p:cNvSpPr>
              <a:spLocks noChangeArrowheads="1"/>
            </p:cNvSpPr>
            <p:nvPr/>
          </p:nvSpPr>
          <p:spPr bwMode="auto">
            <a:xfrm rot="16200000">
              <a:off x="3303" y="2997"/>
              <a:ext cx="701" cy="136"/>
            </a:xfrm>
            <a:prstGeom prst="chevron">
              <a:avLst>
                <a:gd name="adj" fmla="val 51473"/>
              </a:avLst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69" name="Text Box 17"/>
            <p:cNvSpPr txBox="1">
              <a:spLocks noChangeArrowheads="1"/>
            </p:cNvSpPr>
            <p:nvPr/>
          </p:nvSpPr>
          <p:spPr bwMode="auto">
            <a:xfrm>
              <a:off x="3433" y="2769"/>
              <a:ext cx="43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75</a:t>
              </a:r>
            </a:p>
          </p:txBody>
        </p:sp>
      </p:grpSp>
      <p:grpSp>
        <p:nvGrpSpPr>
          <p:cNvPr id="356370" name="Group 18"/>
          <p:cNvGrpSpPr>
            <a:grpSpLocks/>
          </p:cNvGrpSpPr>
          <p:nvPr/>
        </p:nvGrpSpPr>
        <p:grpSpPr bwMode="auto">
          <a:xfrm>
            <a:off x="4133850" y="4257675"/>
            <a:ext cx="561975" cy="1881188"/>
            <a:chOff x="3272" y="2714"/>
            <a:chExt cx="354" cy="1185"/>
          </a:xfrm>
        </p:grpSpPr>
        <p:sp>
          <p:nvSpPr>
            <p:cNvPr id="356371" name="AutoShape 19"/>
            <p:cNvSpPr>
              <a:spLocks noChangeArrowheads="1"/>
            </p:cNvSpPr>
            <p:nvPr/>
          </p:nvSpPr>
          <p:spPr bwMode="auto">
            <a:xfrm rot="16200000">
              <a:off x="2844" y="3261"/>
              <a:ext cx="1185" cy="92"/>
            </a:xfrm>
            <a:prstGeom prst="homePlate">
              <a:avLst>
                <a:gd name="adj" fmla="val 77223"/>
              </a:avLst>
            </a:prstGeom>
            <a:solidFill>
              <a:srgbClr val="FF993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72" name="Text Box 20"/>
            <p:cNvSpPr txBox="1">
              <a:spLocks noChangeArrowheads="1"/>
            </p:cNvSpPr>
            <p:nvPr/>
          </p:nvSpPr>
          <p:spPr bwMode="auto">
            <a:xfrm>
              <a:off x="3272" y="2867"/>
              <a:ext cx="3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30</a:t>
              </a:r>
            </a:p>
          </p:txBody>
        </p:sp>
      </p:grpSp>
      <p:grpSp>
        <p:nvGrpSpPr>
          <p:cNvPr id="356373" name="Group 21"/>
          <p:cNvGrpSpPr>
            <a:grpSpLocks/>
          </p:cNvGrpSpPr>
          <p:nvPr/>
        </p:nvGrpSpPr>
        <p:grpSpPr bwMode="auto">
          <a:xfrm>
            <a:off x="5286375" y="5024438"/>
            <a:ext cx="860425" cy="1747837"/>
            <a:chOff x="3330" y="3171"/>
            <a:chExt cx="542" cy="1101"/>
          </a:xfrm>
        </p:grpSpPr>
        <p:sp>
          <p:nvSpPr>
            <p:cNvPr id="356374" name="AutoShape 22"/>
            <p:cNvSpPr>
              <a:spLocks noChangeArrowheads="1"/>
            </p:cNvSpPr>
            <p:nvPr/>
          </p:nvSpPr>
          <p:spPr bwMode="auto">
            <a:xfrm rot="5400000">
              <a:off x="3034" y="3543"/>
              <a:ext cx="1101" cy="357"/>
            </a:xfrm>
            <a:prstGeom prst="homePlate">
              <a:avLst>
                <a:gd name="adj" fmla="val 47346"/>
              </a:avLst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75" name="Text Box 23"/>
            <p:cNvSpPr txBox="1">
              <a:spLocks noChangeArrowheads="1"/>
            </p:cNvSpPr>
            <p:nvPr/>
          </p:nvSpPr>
          <p:spPr bwMode="auto">
            <a:xfrm>
              <a:off x="3330" y="3262"/>
              <a:ext cx="54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165</a:t>
              </a:r>
            </a:p>
          </p:txBody>
        </p:sp>
      </p:grpSp>
      <p:grpSp>
        <p:nvGrpSpPr>
          <p:cNvPr id="356376" name="Group 24"/>
          <p:cNvGrpSpPr>
            <a:grpSpLocks/>
          </p:cNvGrpSpPr>
          <p:nvPr/>
        </p:nvGrpSpPr>
        <p:grpSpPr bwMode="auto">
          <a:xfrm>
            <a:off x="6759575" y="4106863"/>
            <a:ext cx="950913" cy="1111250"/>
            <a:chOff x="4967" y="2587"/>
            <a:chExt cx="542" cy="700"/>
          </a:xfrm>
        </p:grpSpPr>
        <p:sp>
          <p:nvSpPr>
            <p:cNvPr id="356377" name="AutoShape 25"/>
            <p:cNvSpPr>
              <a:spLocks noChangeArrowheads="1"/>
            </p:cNvSpPr>
            <p:nvPr/>
          </p:nvSpPr>
          <p:spPr bwMode="auto">
            <a:xfrm rot="16200000">
              <a:off x="4881" y="2762"/>
              <a:ext cx="700" cy="349"/>
            </a:xfrm>
            <a:prstGeom prst="homePlate">
              <a:avLst>
                <a:gd name="adj" fmla="val 47571"/>
              </a:avLst>
            </a:prstGeom>
            <a:solidFill>
              <a:srgbClr val="CC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78" name="Text Box 26"/>
            <p:cNvSpPr txBox="1">
              <a:spLocks noChangeArrowheads="1"/>
            </p:cNvSpPr>
            <p:nvPr/>
          </p:nvSpPr>
          <p:spPr bwMode="auto">
            <a:xfrm>
              <a:off x="4967" y="2759"/>
              <a:ext cx="54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195</a:t>
              </a:r>
            </a:p>
          </p:txBody>
        </p:sp>
      </p:grpSp>
      <p:grpSp>
        <p:nvGrpSpPr>
          <p:cNvPr id="356379" name="Group 27"/>
          <p:cNvGrpSpPr>
            <a:grpSpLocks/>
          </p:cNvGrpSpPr>
          <p:nvPr/>
        </p:nvGrpSpPr>
        <p:grpSpPr bwMode="auto">
          <a:xfrm>
            <a:off x="5970588" y="5021263"/>
            <a:ext cx="666750" cy="709612"/>
            <a:chOff x="4397" y="3175"/>
            <a:chExt cx="420" cy="447"/>
          </a:xfrm>
        </p:grpSpPr>
        <p:sp>
          <p:nvSpPr>
            <p:cNvPr id="356380" name="AutoShape 28"/>
            <p:cNvSpPr>
              <a:spLocks noChangeArrowheads="1"/>
            </p:cNvSpPr>
            <p:nvPr/>
          </p:nvSpPr>
          <p:spPr bwMode="auto">
            <a:xfrm rot="10800000" flipH="1">
              <a:off x="4397" y="3175"/>
              <a:ext cx="420" cy="447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81" name="Text Box 29"/>
            <p:cNvSpPr txBox="1">
              <a:spLocks noChangeArrowheads="1"/>
            </p:cNvSpPr>
            <p:nvPr/>
          </p:nvSpPr>
          <p:spPr bwMode="auto">
            <a:xfrm>
              <a:off x="4447" y="3370"/>
              <a:ext cx="34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/>
                <a:t>70</a:t>
              </a:r>
            </a:p>
          </p:txBody>
        </p:sp>
      </p:grpSp>
      <p:grpSp>
        <p:nvGrpSpPr>
          <p:cNvPr id="356382" name="Group 30"/>
          <p:cNvGrpSpPr>
            <a:grpSpLocks/>
          </p:cNvGrpSpPr>
          <p:nvPr/>
        </p:nvGrpSpPr>
        <p:grpSpPr bwMode="auto">
          <a:xfrm>
            <a:off x="6184900" y="5495925"/>
            <a:ext cx="1665288" cy="947738"/>
            <a:chOff x="3764" y="3462"/>
            <a:chExt cx="1049" cy="597"/>
          </a:xfrm>
        </p:grpSpPr>
        <p:sp>
          <p:nvSpPr>
            <p:cNvPr id="356383" name="AutoShape 31"/>
            <p:cNvSpPr>
              <a:spLocks noChangeArrowheads="1"/>
            </p:cNvSpPr>
            <p:nvPr/>
          </p:nvSpPr>
          <p:spPr bwMode="auto">
            <a:xfrm rot="16200000">
              <a:off x="3975" y="3423"/>
              <a:ext cx="597" cy="675"/>
            </a:xfrm>
            <a:prstGeom prst="homePlate">
              <a:avLst>
                <a:gd name="adj" fmla="val 33505"/>
              </a:avLst>
            </a:prstGeom>
            <a:solidFill>
              <a:srgbClr val="CC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84" name="Text Box 32"/>
            <p:cNvSpPr txBox="1">
              <a:spLocks noChangeArrowheads="1"/>
            </p:cNvSpPr>
            <p:nvPr/>
          </p:nvSpPr>
          <p:spPr bwMode="auto">
            <a:xfrm>
              <a:off x="3764" y="3645"/>
              <a:ext cx="10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350</a:t>
              </a:r>
            </a:p>
          </p:txBody>
        </p:sp>
      </p:grpSp>
      <p:grpSp>
        <p:nvGrpSpPr>
          <p:cNvPr id="356385" name="Group 33"/>
          <p:cNvGrpSpPr>
            <a:grpSpLocks/>
          </p:cNvGrpSpPr>
          <p:nvPr/>
        </p:nvGrpSpPr>
        <p:grpSpPr bwMode="auto">
          <a:xfrm>
            <a:off x="7405688" y="4103688"/>
            <a:ext cx="547687" cy="2344737"/>
            <a:chOff x="4533" y="2585"/>
            <a:chExt cx="345" cy="1477"/>
          </a:xfrm>
        </p:grpSpPr>
        <p:sp>
          <p:nvSpPr>
            <p:cNvPr id="356386" name="AutoShape 34"/>
            <p:cNvSpPr>
              <a:spLocks noChangeArrowheads="1"/>
            </p:cNvSpPr>
            <p:nvPr/>
          </p:nvSpPr>
          <p:spPr bwMode="auto">
            <a:xfrm rot="16200000">
              <a:off x="3967" y="3250"/>
              <a:ext cx="1477" cy="148"/>
            </a:xfrm>
            <a:prstGeom prst="homePlate">
              <a:avLst>
                <a:gd name="adj" fmla="val 107467"/>
              </a:avLst>
            </a:prstGeom>
            <a:solidFill>
              <a:srgbClr val="CC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87" name="Text Box 35"/>
            <p:cNvSpPr txBox="1">
              <a:spLocks noChangeArrowheads="1"/>
            </p:cNvSpPr>
            <p:nvPr/>
          </p:nvSpPr>
          <p:spPr bwMode="auto">
            <a:xfrm>
              <a:off x="4533" y="3647"/>
              <a:ext cx="3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40</a:t>
              </a:r>
            </a:p>
          </p:txBody>
        </p:sp>
      </p:grpSp>
      <p:grpSp>
        <p:nvGrpSpPr>
          <p:cNvPr id="356388" name="Group 36"/>
          <p:cNvGrpSpPr>
            <a:grpSpLocks/>
          </p:cNvGrpSpPr>
          <p:nvPr/>
        </p:nvGrpSpPr>
        <p:grpSpPr bwMode="auto">
          <a:xfrm>
            <a:off x="7661275" y="5786438"/>
            <a:ext cx="1270000" cy="685800"/>
            <a:chOff x="5211" y="3639"/>
            <a:chExt cx="507" cy="432"/>
          </a:xfrm>
        </p:grpSpPr>
        <p:sp>
          <p:nvSpPr>
            <p:cNvPr id="356389" name="AutoShape 37"/>
            <p:cNvSpPr>
              <a:spLocks noChangeArrowheads="1"/>
            </p:cNvSpPr>
            <p:nvPr/>
          </p:nvSpPr>
          <p:spPr bwMode="auto">
            <a:xfrm rot="5400000">
              <a:off x="5236" y="3686"/>
              <a:ext cx="425" cy="346"/>
            </a:xfrm>
            <a:prstGeom prst="homePlate">
              <a:avLst>
                <a:gd name="adj" fmla="val 41155"/>
              </a:avLst>
            </a:prstGeom>
            <a:solidFill>
              <a:srgbClr val="CC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90" name="Text Box 38"/>
            <p:cNvSpPr txBox="1">
              <a:spLocks noChangeArrowheads="1"/>
            </p:cNvSpPr>
            <p:nvPr/>
          </p:nvSpPr>
          <p:spPr bwMode="auto">
            <a:xfrm>
              <a:off x="5211" y="3639"/>
              <a:ext cx="5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/>
                <a:t>325</a:t>
              </a:r>
            </a:p>
          </p:txBody>
        </p:sp>
      </p:grpSp>
      <p:grpSp>
        <p:nvGrpSpPr>
          <p:cNvPr id="356391" name="Group 39"/>
          <p:cNvGrpSpPr>
            <a:grpSpLocks/>
          </p:cNvGrpSpPr>
          <p:nvPr/>
        </p:nvGrpSpPr>
        <p:grpSpPr bwMode="auto">
          <a:xfrm>
            <a:off x="8678863" y="5668963"/>
            <a:ext cx="396875" cy="777875"/>
            <a:chOff x="5335" y="3571"/>
            <a:chExt cx="250" cy="490"/>
          </a:xfrm>
        </p:grpSpPr>
        <p:sp>
          <p:nvSpPr>
            <p:cNvPr id="356392" name="AutoShape 40"/>
            <p:cNvSpPr>
              <a:spLocks noChangeArrowheads="1"/>
            </p:cNvSpPr>
            <p:nvPr/>
          </p:nvSpPr>
          <p:spPr bwMode="auto">
            <a:xfrm rot="16200000">
              <a:off x="5214" y="3740"/>
              <a:ext cx="490" cy="152"/>
            </a:xfrm>
            <a:prstGeom prst="homePlate">
              <a:avLst>
                <a:gd name="adj" fmla="val 48325"/>
              </a:avLst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93" name="Text Box 41"/>
            <p:cNvSpPr txBox="1">
              <a:spLocks noChangeArrowheads="1"/>
            </p:cNvSpPr>
            <p:nvPr/>
          </p:nvSpPr>
          <p:spPr bwMode="auto">
            <a:xfrm rot="16200000">
              <a:off x="5258" y="3649"/>
              <a:ext cx="4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100</a:t>
              </a:r>
            </a:p>
          </p:txBody>
        </p:sp>
      </p:grpSp>
      <p:sp>
        <p:nvSpPr>
          <p:cNvPr id="356394" name="Rectangle 42"/>
          <p:cNvSpPr>
            <a:spLocks noChangeArrowheads="1"/>
          </p:cNvSpPr>
          <p:nvPr/>
        </p:nvSpPr>
        <p:spPr bwMode="auto">
          <a:xfrm>
            <a:off x="6451600" y="5211763"/>
            <a:ext cx="2640013" cy="585787"/>
          </a:xfrm>
          <a:prstGeom prst="rect">
            <a:avLst/>
          </a:prstGeom>
          <a:solidFill>
            <a:srgbClr val="009900">
              <a:alpha val="34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endParaRPr lang="en-US" b="1" dirty="0"/>
          </a:p>
        </p:txBody>
      </p:sp>
      <p:grpSp>
        <p:nvGrpSpPr>
          <p:cNvPr id="356395" name="Group 43"/>
          <p:cNvGrpSpPr>
            <a:grpSpLocks/>
          </p:cNvGrpSpPr>
          <p:nvPr/>
        </p:nvGrpSpPr>
        <p:grpSpPr bwMode="auto">
          <a:xfrm>
            <a:off x="4162425" y="4987447"/>
            <a:ext cx="4927600" cy="1828800"/>
            <a:chOff x="2903" y="3198"/>
            <a:chExt cx="2395" cy="1152"/>
          </a:xfrm>
        </p:grpSpPr>
        <p:sp>
          <p:nvSpPr>
            <p:cNvPr id="356396" name="Rectangle 44"/>
            <p:cNvSpPr>
              <a:spLocks noChangeArrowheads="1"/>
            </p:cNvSpPr>
            <p:nvPr/>
          </p:nvSpPr>
          <p:spPr bwMode="auto">
            <a:xfrm>
              <a:off x="2903" y="4100"/>
              <a:ext cx="2395" cy="220"/>
            </a:xfrm>
            <a:prstGeom prst="rect">
              <a:avLst/>
            </a:prstGeom>
            <a:solidFill>
              <a:srgbClr val="009900">
                <a:alpha val="78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97" name="Rectangle 45"/>
            <p:cNvSpPr>
              <a:spLocks noChangeArrowheads="1"/>
            </p:cNvSpPr>
            <p:nvPr/>
          </p:nvSpPr>
          <p:spPr bwMode="auto">
            <a:xfrm>
              <a:off x="2903" y="3198"/>
              <a:ext cx="2395" cy="902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33000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41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56398" name="Text Box 46"/>
            <p:cNvSpPr txBox="1">
              <a:spLocks noChangeArrowheads="1"/>
            </p:cNvSpPr>
            <p:nvPr/>
          </p:nvSpPr>
          <p:spPr bwMode="auto">
            <a:xfrm>
              <a:off x="2903" y="4100"/>
              <a:ext cx="23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GROUND</a:t>
              </a:r>
            </a:p>
          </p:txBody>
        </p:sp>
        <p:sp>
          <p:nvSpPr>
            <p:cNvPr id="356399" name="Text Box 47"/>
            <p:cNvSpPr txBox="1">
              <a:spLocks noChangeArrowheads="1"/>
            </p:cNvSpPr>
            <p:nvPr/>
          </p:nvSpPr>
          <p:spPr bwMode="auto">
            <a:xfrm>
              <a:off x="2903" y="3658"/>
              <a:ext cx="2395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en-US" b="1">
                <a:solidFill>
                  <a:schemeClr val="bg2"/>
                </a:solidFill>
              </a:endParaRPr>
            </a:p>
            <a:p>
              <a:pPr algn="ctr"/>
              <a:r>
                <a:rPr lang="en-US" b="1">
                  <a:solidFill>
                    <a:schemeClr val="bg2"/>
                  </a:solidFill>
                </a:rPr>
                <a:t>GREENHOUSE ATMOSPHERE</a:t>
              </a:r>
            </a:p>
          </p:txBody>
        </p:sp>
      </p:grpSp>
      <p:sp>
        <p:nvSpPr>
          <p:cNvPr id="356400" name="Rectangle 48"/>
          <p:cNvSpPr>
            <a:spLocks noChangeArrowheads="1"/>
          </p:cNvSpPr>
          <p:nvPr/>
        </p:nvSpPr>
        <p:spPr bwMode="auto">
          <a:xfrm>
            <a:off x="4138613" y="6446838"/>
            <a:ext cx="4951412" cy="263525"/>
          </a:xfrm>
          <a:prstGeom prst="rect">
            <a:avLst/>
          </a:prstGeom>
          <a:solidFill>
            <a:srgbClr val="FF0000">
              <a:alpha val="23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b="1" dirty="0"/>
              <a:t>490</a:t>
            </a:r>
            <a:r>
              <a:rPr lang="en-US" b="1" baseline="-25000" dirty="0"/>
              <a:t> </a:t>
            </a:r>
            <a:r>
              <a:rPr lang="en-US" b="1" dirty="0"/>
              <a:t>  </a:t>
            </a:r>
          </a:p>
        </p:txBody>
      </p:sp>
      <p:sp>
        <p:nvSpPr>
          <p:cNvPr id="356401" name="Rectangle 49"/>
          <p:cNvSpPr>
            <a:spLocks noChangeArrowheads="1"/>
          </p:cNvSpPr>
          <p:nvPr/>
        </p:nvSpPr>
        <p:spPr bwMode="auto">
          <a:xfrm>
            <a:off x="685800" y="1401763"/>
            <a:ext cx="7772400" cy="5111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6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6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6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6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35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5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5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5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5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83" dur="2000"/>
                                        <p:tgtEl>
                                          <p:spTgt spid="35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5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5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56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56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5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56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56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5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5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60" grpId="0" animBg="1"/>
      <p:bldP spid="35639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ChangeArrowheads="1"/>
          </p:cNvSpPr>
          <p:nvPr/>
        </p:nvSpPr>
        <p:spPr bwMode="auto">
          <a:xfrm>
            <a:off x="685800" y="1879600"/>
            <a:ext cx="7772400" cy="497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>
                <a:latin typeface="Arial" charset="0"/>
              </a:rPr>
              <a:t>PRACTICE: Find the net power flow at the space / atmosphere interface and at the ground / atmosphere interface.</a:t>
            </a:r>
            <a:r>
              <a:rPr lang="en-US" sz="2400">
                <a:latin typeface="Arial" charset="0"/>
                <a:sym typeface="Symbol" pitchFamily="18" charset="2"/>
              </a:rPr>
              <a:t> 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SOLUTION: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Space/atmosphere interface: 340 IN.</a:t>
            </a:r>
          </a:p>
          <a:p>
            <a:r>
              <a:rPr lang="en-US" sz="2400">
                <a:latin typeface="Arial" charset="0"/>
              </a:rPr>
              <a:t> 195 + 75 + 30 + 40 = 340 OUT.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Ground/atmosphere interface:</a:t>
            </a:r>
          </a:p>
          <a:p>
            <a:r>
              <a:rPr lang="en-US" sz="2400">
                <a:latin typeface="Arial" charset="0"/>
              </a:rPr>
              <a:t>    165 + 325 	= 490 IN </a:t>
            </a:r>
          </a:p>
          <a:p>
            <a:r>
              <a:rPr lang="en-US" sz="2400">
                <a:latin typeface="Arial" charset="0"/>
              </a:rPr>
              <a:t>    350 + 40 + 100 </a:t>
            </a:r>
          </a:p>
          <a:p>
            <a:r>
              <a:rPr lang="en-US" sz="2400">
                <a:latin typeface="Arial" charset="0"/>
              </a:rPr>
              <a:t>		= 490 OUT.</a:t>
            </a:r>
          </a:p>
        </p:txBody>
      </p:sp>
      <p:grpSp>
        <p:nvGrpSpPr>
          <p:cNvPr id="358405" name="Group 5"/>
          <p:cNvGrpSpPr>
            <a:grpSpLocks/>
          </p:cNvGrpSpPr>
          <p:nvPr/>
        </p:nvGrpSpPr>
        <p:grpSpPr bwMode="auto">
          <a:xfrm>
            <a:off x="4432300" y="3879850"/>
            <a:ext cx="4703763" cy="3011488"/>
            <a:chOff x="2604" y="2324"/>
            <a:chExt cx="3127" cy="2001"/>
          </a:xfrm>
        </p:grpSpPr>
        <p:grpSp>
          <p:nvGrpSpPr>
            <p:cNvPr id="358406" name="Group 6"/>
            <p:cNvGrpSpPr>
              <a:grpSpLocks/>
            </p:cNvGrpSpPr>
            <p:nvPr/>
          </p:nvGrpSpPr>
          <p:grpSpPr bwMode="auto">
            <a:xfrm>
              <a:off x="3192" y="2324"/>
              <a:ext cx="702" cy="1129"/>
              <a:chOff x="3860" y="2333"/>
              <a:chExt cx="573" cy="1152"/>
            </a:xfrm>
          </p:grpSpPr>
          <p:sp>
            <p:nvSpPr>
              <p:cNvPr id="358407" name="AutoShape 7"/>
              <p:cNvSpPr>
                <a:spLocks noChangeArrowheads="1"/>
              </p:cNvSpPr>
              <p:nvPr/>
            </p:nvSpPr>
            <p:spPr bwMode="auto">
              <a:xfrm rot="5400000">
                <a:off x="3571" y="2622"/>
                <a:ext cx="1152" cy="573"/>
              </a:xfrm>
              <a:prstGeom prst="chevron">
                <a:avLst>
                  <a:gd name="adj" fmla="val 50262"/>
                </a:avLst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08" name="Text Box 8"/>
              <p:cNvSpPr txBox="1">
                <a:spLocks noChangeArrowheads="1"/>
              </p:cNvSpPr>
              <p:nvPr/>
            </p:nvSpPr>
            <p:spPr bwMode="auto">
              <a:xfrm>
                <a:off x="3860" y="2626"/>
                <a:ext cx="573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340</a:t>
                </a:r>
              </a:p>
            </p:txBody>
          </p:sp>
        </p:grpSp>
        <p:sp>
          <p:nvSpPr>
            <p:cNvPr id="358409" name="AutoShape 9"/>
            <p:cNvSpPr>
              <a:spLocks noChangeArrowheads="1"/>
            </p:cNvSpPr>
            <p:nvPr/>
          </p:nvSpPr>
          <p:spPr bwMode="auto">
            <a:xfrm rot="10800000">
              <a:off x="2861" y="3159"/>
              <a:ext cx="461" cy="459"/>
            </a:xfrm>
            <a:custGeom>
              <a:avLst/>
              <a:gdLst>
                <a:gd name="T0" fmla="*/ 9250 w 21600"/>
                <a:gd name="T1" fmla="*/ 0 h 21600"/>
                <a:gd name="T2" fmla="*/ 3055 w 21600"/>
                <a:gd name="T3" fmla="*/ 21600 h 21600"/>
                <a:gd name="T4" fmla="*/ 9725 w 21600"/>
                <a:gd name="T5" fmla="*/ 8310 h 21600"/>
                <a:gd name="T6" fmla="*/ 15662 w 21600"/>
                <a:gd name="T7" fmla="*/ 14285 h 21600"/>
                <a:gd name="T8" fmla="*/ 21600 w 21600"/>
                <a:gd name="T9" fmla="*/ 8310 h 21600"/>
                <a:gd name="T10" fmla="*/ 17694720 60000 65536"/>
                <a:gd name="T11" fmla="*/ 5898240 60000 65536"/>
                <a:gd name="T12" fmla="*/ 5898240 60000 65536"/>
                <a:gd name="T13" fmla="*/ 5898240 60000 65536"/>
                <a:gd name="T14" fmla="*/ 0 60000 65536"/>
                <a:gd name="T15" fmla="*/ 0 w 21600"/>
                <a:gd name="T16" fmla="*/ 8310 h 21600"/>
                <a:gd name="T17" fmla="*/ 6110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>
                  <a:moveTo>
                    <a:pt x="15662" y="14285"/>
                  </a:moveTo>
                  <a:lnTo>
                    <a:pt x="21600" y="8310"/>
                  </a:lnTo>
                  <a:lnTo>
                    <a:pt x="18630" y="8310"/>
                  </a:lnTo>
                  <a:cubicBezTo>
                    <a:pt x="18630" y="3721"/>
                    <a:pt x="14430" y="0"/>
                    <a:pt x="9250" y="0"/>
                  </a:cubicBezTo>
                  <a:cubicBezTo>
                    <a:pt x="4141" y="0"/>
                    <a:pt x="0" y="3799"/>
                    <a:pt x="0" y="8485"/>
                  </a:cubicBezTo>
                  <a:lnTo>
                    <a:pt x="0" y="21600"/>
                  </a:lnTo>
                  <a:lnTo>
                    <a:pt x="6110" y="21600"/>
                  </a:lnTo>
                  <a:lnTo>
                    <a:pt x="6110" y="8310"/>
                  </a:lnTo>
                  <a:cubicBezTo>
                    <a:pt x="6110" y="6947"/>
                    <a:pt x="7362" y="5842"/>
                    <a:pt x="8907" y="5842"/>
                  </a:cubicBezTo>
                  <a:lnTo>
                    <a:pt x="9725" y="5842"/>
                  </a:lnTo>
                  <a:cubicBezTo>
                    <a:pt x="11269" y="5842"/>
                    <a:pt x="12520" y="6947"/>
                    <a:pt x="12520" y="8310"/>
                  </a:cubicBezTo>
                  <a:lnTo>
                    <a:pt x="9725" y="8310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58410" name="Group 10"/>
            <p:cNvGrpSpPr>
              <a:grpSpLocks/>
            </p:cNvGrpSpPr>
            <p:nvPr/>
          </p:nvGrpSpPr>
          <p:grpSpPr bwMode="auto">
            <a:xfrm>
              <a:off x="3129" y="3165"/>
              <a:ext cx="278" cy="930"/>
              <a:chOff x="3797" y="3197"/>
              <a:chExt cx="278" cy="930"/>
            </a:xfrm>
          </p:grpSpPr>
          <p:sp>
            <p:nvSpPr>
              <p:cNvPr id="358411" name="AutoShape 11"/>
              <p:cNvSpPr>
                <a:spLocks noChangeArrowheads="1"/>
              </p:cNvSpPr>
              <p:nvPr/>
            </p:nvSpPr>
            <p:spPr bwMode="auto">
              <a:xfrm rot="5400000">
                <a:off x="3631" y="3555"/>
                <a:ext cx="799" cy="84"/>
              </a:xfrm>
              <a:prstGeom prst="homePlate">
                <a:avLst>
                  <a:gd name="adj" fmla="val 75038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12" name="AutoShape 12"/>
              <p:cNvSpPr>
                <a:spLocks noChangeArrowheads="1"/>
              </p:cNvSpPr>
              <p:nvPr/>
            </p:nvSpPr>
            <p:spPr bwMode="auto">
              <a:xfrm rot="10800000">
                <a:off x="3797" y="3831"/>
                <a:ext cx="278" cy="296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413" name="Group 13"/>
            <p:cNvGrpSpPr>
              <a:grpSpLocks/>
            </p:cNvGrpSpPr>
            <p:nvPr/>
          </p:nvGrpSpPr>
          <p:grpSpPr bwMode="auto">
            <a:xfrm>
              <a:off x="2682" y="3778"/>
              <a:ext cx="559" cy="278"/>
              <a:chOff x="3350" y="3810"/>
              <a:chExt cx="559" cy="278"/>
            </a:xfrm>
          </p:grpSpPr>
          <p:sp>
            <p:nvSpPr>
              <p:cNvPr id="358414" name="AutoShape 14"/>
              <p:cNvSpPr>
                <a:spLocks noChangeArrowheads="1"/>
              </p:cNvSpPr>
              <p:nvPr/>
            </p:nvSpPr>
            <p:spPr bwMode="auto">
              <a:xfrm rot="10800000">
                <a:off x="3534" y="4003"/>
                <a:ext cx="375" cy="84"/>
              </a:xfrm>
              <a:prstGeom prst="homePlate">
                <a:avLst>
                  <a:gd name="adj" fmla="val 72627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15" name="AutoShape 15"/>
              <p:cNvSpPr>
                <a:spLocks noChangeArrowheads="1"/>
              </p:cNvSpPr>
              <p:nvPr/>
            </p:nvSpPr>
            <p:spPr bwMode="auto">
              <a:xfrm rot="16200000">
                <a:off x="3359" y="3801"/>
                <a:ext cx="278" cy="296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416" name="Group 16"/>
            <p:cNvGrpSpPr>
              <a:grpSpLocks/>
            </p:cNvGrpSpPr>
            <p:nvPr/>
          </p:nvGrpSpPr>
          <p:grpSpPr bwMode="auto">
            <a:xfrm>
              <a:off x="2765" y="2682"/>
              <a:ext cx="437" cy="701"/>
              <a:chOff x="3433" y="2714"/>
              <a:chExt cx="437" cy="701"/>
            </a:xfrm>
          </p:grpSpPr>
          <p:sp>
            <p:nvSpPr>
              <p:cNvPr id="358417" name="AutoShape 17"/>
              <p:cNvSpPr>
                <a:spLocks noChangeArrowheads="1"/>
              </p:cNvSpPr>
              <p:nvPr/>
            </p:nvSpPr>
            <p:spPr bwMode="auto">
              <a:xfrm rot="16200000">
                <a:off x="3303" y="2997"/>
                <a:ext cx="701" cy="136"/>
              </a:xfrm>
              <a:prstGeom prst="chevron">
                <a:avLst>
                  <a:gd name="adj" fmla="val 51473"/>
                </a:avLst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18" name="Text Box 18"/>
              <p:cNvSpPr txBox="1">
                <a:spLocks noChangeArrowheads="1"/>
              </p:cNvSpPr>
              <p:nvPr/>
            </p:nvSpPr>
            <p:spPr bwMode="auto">
              <a:xfrm>
                <a:off x="3433" y="2769"/>
                <a:ext cx="437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75</a:t>
                </a:r>
              </a:p>
            </p:txBody>
          </p:sp>
        </p:grpSp>
        <p:grpSp>
          <p:nvGrpSpPr>
            <p:cNvPr id="358419" name="Group 19"/>
            <p:cNvGrpSpPr>
              <a:grpSpLocks/>
            </p:cNvGrpSpPr>
            <p:nvPr/>
          </p:nvGrpSpPr>
          <p:grpSpPr bwMode="auto">
            <a:xfrm>
              <a:off x="2604" y="2682"/>
              <a:ext cx="354" cy="1185"/>
              <a:chOff x="3272" y="2714"/>
              <a:chExt cx="354" cy="1185"/>
            </a:xfrm>
          </p:grpSpPr>
          <p:sp>
            <p:nvSpPr>
              <p:cNvPr id="358420" name="AutoShape 20"/>
              <p:cNvSpPr>
                <a:spLocks noChangeArrowheads="1"/>
              </p:cNvSpPr>
              <p:nvPr/>
            </p:nvSpPr>
            <p:spPr bwMode="auto">
              <a:xfrm rot="16200000">
                <a:off x="2844" y="3261"/>
                <a:ext cx="1185" cy="92"/>
              </a:xfrm>
              <a:prstGeom prst="homePlate">
                <a:avLst>
                  <a:gd name="adj" fmla="val 77223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21" name="Text Box 21"/>
              <p:cNvSpPr txBox="1">
                <a:spLocks noChangeArrowheads="1"/>
              </p:cNvSpPr>
              <p:nvPr/>
            </p:nvSpPr>
            <p:spPr bwMode="auto">
              <a:xfrm>
                <a:off x="3272" y="2867"/>
                <a:ext cx="354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30</a:t>
                </a:r>
              </a:p>
            </p:txBody>
          </p:sp>
        </p:grpSp>
        <p:grpSp>
          <p:nvGrpSpPr>
            <p:cNvPr id="358422" name="Group 22"/>
            <p:cNvGrpSpPr>
              <a:grpSpLocks/>
            </p:cNvGrpSpPr>
            <p:nvPr/>
          </p:nvGrpSpPr>
          <p:grpSpPr bwMode="auto">
            <a:xfrm>
              <a:off x="3330" y="3165"/>
              <a:ext cx="542" cy="1101"/>
              <a:chOff x="3330" y="3171"/>
              <a:chExt cx="542" cy="1101"/>
            </a:xfrm>
          </p:grpSpPr>
          <p:sp>
            <p:nvSpPr>
              <p:cNvPr id="358423" name="AutoShape 23"/>
              <p:cNvSpPr>
                <a:spLocks noChangeArrowheads="1"/>
              </p:cNvSpPr>
              <p:nvPr/>
            </p:nvSpPr>
            <p:spPr bwMode="auto">
              <a:xfrm rot="5400000">
                <a:off x="3034" y="3543"/>
                <a:ext cx="1101" cy="357"/>
              </a:xfrm>
              <a:prstGeom prst="homePlate">
                <a:avLst>
                  <a:gd name="adj" fmla="val 47346"/>
                </a:avLst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24" name="Text Box 24"/>
              <p:cNvSpPr txBox="1">
                <a:spLocks noChangeArrowheads="1"/>
              </p:cNvSpPr>
              <p:nvPr/>
            </p:nvSpPr>
            <p:spPr bwMode="auto">
              <a:xfrm>
                <a:off x="3330" y="3262"/>
                <a:ext cx="542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165</a:t>
                </a:r>
              </a:p>
            </p:txBody>
          </p:sp>
        </p:grpSp>
        <p:grpSp>
          <p:nvGrpSpPr>
            <p:cNvPr id="358425" name="Group 25"/>
            <p:cNvGrpSpPr>
              <a:grpSpLocks/>
            </p:cNvGrpSpPr>
            <p:nvPr/>
          </p:nvGrpSpPr>
          <p:grpSpPr bwMode="auto">
            <a:xfrm>
              <a:off x="4258" y="2587"/>
              <a:ext cx="599" cy="700"/>
              <a:chOff x="4967" y="2587"/>
              <a:chExt cx="542" cy="700"/>
            </a:xfrm>
          </p:grpSpPr>
          <p:sp>
            <p:nvSpPr>
              <p:cNvPr id="358426" name="AutoShape 26"/>
              <p:cNvSpPr>
                <a:spLocks noChangeArrowheads="1"/>
              </p:cNvSpPr>
              <p:nvPr/>
            </p:nvSpPr>
            <p:spPr bwMode="auto">
              <a:xfrm rot="16200000">
                <a:off x="4881" y="2762"/>
                <a:ext cx="700" cy="349"/>
              </a:xfrm>
              <a:prstGeom prst="homePlate">
                <a:avLst>
                  <a:gd name="adj" fmla="val 47571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27" name="Text Box 27"/>
              <p:cNvSpPr txBox="1">
                <a:spLocks noChangeArrowheads="1"/>
              </p:cNvSpPr>
              <p:nvPr/>
            </p:nvSpPr>
            <p:spPr bwMode="auto">
              <a:xfrm>
                <a:off x="4967" y="2759"/>
                <a:ext cx="542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195</a:t>
                </a:r>
              </a:p>
            </p:txBody>
          </p:sp>
        </p:grpSp>
        <p:grpSp>
          <p:nvGrpSpPr>
            <p:cNvPr id="358428" name="Group 28"/>
            <p:cNvGrpSpPr>
              <a:grpSpLocks/>
            </p:cNvGrpSpPr>
            <p:nvPr/>
          </p:nvGrpSpPr>
          <p:grpSpPr bwMode="auto">
            <a:xfrm>
              <a:off x="3761" y="3163"/>
              <a:ext cx="420" cy="458"/>
              <a:chOff x="4397" y="3175"/>
              <a:chExt cx="420" cy="458"/>
            </a:xfrm>
          </p:grpSpPr>
          <p:sp>
            <p:nvSpPr>
              <p:cNvPr id="358429" name="AutoShape 29"/>
              <p:cNvSpPr>
                <a:spLocks noChangeArrowheads="1"/>
              </p:cNvSpPr>
              <p:nvPr/>
            </p:nvSpPr>
            <p:spPr bwMode="auto">
              <a:xfrm rot="10800000" flipH="1">
                <a:off x="4397" y="3175"/>
                <a:ext cx="420" cy="447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30" name="Text Box 30"/>
              <p:cNvSpPr txBox="1">
                <a:spLocks noChangeArrowheads="1"/>
              </p:cNvSpPr>
              <p:nvPr/>
            </p:nvSpPr>
            <p:spPr bwMode="auto">
              <a:xfrm>
                <a:off x="4447" y="3370"/>
                <a:ext cx="346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/>
                  <a:t>70</a:t>
                </a:r>
              </a:p>
            </p:txBody>
          </p:sp>
        </p:grpSp>
        <p:grpSp>
          <p:nvGrpSpPr>
            <p:cNvPr id="358431" name="Group 31"/>
            <p:cNvGrpSpPr>
              <a:grpSpLocks/>
            </p:cNvGrpSpPr>
            <p:nvPr/>
          </p:nvGrpSpPr>
          <p:grpSpPr bwMode="auto">
            <a:xfrm>
              <a:off x="3896" y="3462"/>
              <a:ext cx="1049" cy="597"/>
              <a:chOff x="3764" y="3462"/>
              <a:chExt cx="1049" cy="597"/>
            </a:xfrm>
          </p:grpSpPr>
          <p:sp>
            <p:nvSpPr>
              <p:cNvPr id="358432" name="AutoShape 32"/>
              <p:cNvSpPr>
                <a:spLocks noChangeArrowheads="1"/>
              </p:cNvSpPr>
              <p:nvPr/>
            </p:nvSpPr>
            <p:spPr bwMode="auto">
              <a:xfrm rot="16200000">
                <a:off x="3975" y="3423"/>
                <a:ext cx="597" cy="675"/>
              </a:xfrm>
              <a:prstGeom prst="homePlate">
                <a:avLst>
                  <a:gd name="adj" fmla="val 33505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33" name="Text Box 33"/>
              <p:cNvSpPr txBox="1">
                <a:spLocks noChangeArrowheads="1"/>
              </p:cNvSpPr>
              <p:nvPr/>
            </p:nvSpPr>
            <p:spPr bwMode="auto">
              <a:xfrm>
                <a:off x="3764" y="3644"/>
                <a:ext cx="1049" cy="2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350</a:t>
                </a:r>
              </a:p>
            </p:txBody>
          </p:sp>
        </p:grpSp>
        <p:grpSp>
          <p:nvGrpSpPr>
            <p:cNvPr id="358434" name="Group 34"/>
            <p:cNvGrpSpPr>
              <a:grpSpLocks/>
            </p:cNvGrpSpPr>
            <p:nvPr/>
          </p:nvGrpSpPr>
          <p:grpSpPr bwMode="auto">
            <a:xfrm>
              <a:off x="4665" y="2585"/>
              <a:ext cx="345" cy="1477"/>
              <a:chOff x="4533" y="2585"/>
              <a:chExt cx="345" cy="1477"/>
            </a:xfrm>
          </p:grpSpPr>
          <p:sp>
            <p:nvSpPr>
              <p:cNvPr id="358435" name="AutoShape 35"/>
              <p:cNvSpPr>
                <a:spLocks noChangeArrowheads="1"/>
              </p:cNvSpPr>
              <p:nvPr/>
            </p:nvSpPr>
            <p:spPr bwMode="auto">
              <a:xfrm rot="16200000">
                <a:off x="3967" y="3250"/>
                <a:ext cx="1477" cy="148"/>
              </a:xfrm>
              <a:prstGeom prst="homePlate">
                <a:avLst>
                  <a:gd name="adj" fmla="val 107467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36" name="Text Box 36"/>
              <p:cNvSpPr txBox="1">
                <a:spLocks noChangeArrowheads="1"/>
              </p:cNvSpPr>
              <p:nvPr/>
            </p:nvSpPr>
            <p:spPr bwMode="auto">
              <a:xfrm>
                <a:off x="4533" y="3647"/>
                <a:ext cx="345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40</a:t>
                </a:r>
              </a:p>
            </p:txBody>
          </p:sp>
        </p:grpSp>
        <p:grpSp>
          <p:nvGrpSpPr>
            <p:cNvPr id="358437" name="Group 37"/>
            <p:cNvGrpSpPr>
              <a:grpSpLocks/>
            </p:cNvGrpSpPr>
            <p:nvPr/>
          </p:nvGrpSpPr>
          <p:grpSpPr bwMode="auto">
            <a:xfrm>
              <a:off x="4826" y="3645"/>
              <a:ext cx="800" cy="432"/>
              <a:chOff x="5211" y="3639"/>
              <a:chExt cx="507" cy="432"/>
            </a:xfrm>
          </p:grpSpPr>
          <p:sp>
            <p:nvSpPr>
              <p:cNvPr id="358438" name="AutoShape 38"/>
              <p:cNvSpPr>
                <a:spLocks noChangeArrowheads="1"/>
              </p:cNvSpPr>
              <p:nvPr/>
            </p:nvSpPr>
            <p:spPr bwMode="auto">
              <a:xfrm rot="5400000">
                <a:off x="5236" y="3686"/>
                <a:ext cx="425" cy="346"/>
              </a:xfrm>
              <a:prstGeom prst="homePlate">
                <a:avLst>
                  <a:gd name="adj" fmla="val 41155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39" name="Text Box 39"/>
              <p:cNvSpPr txBox="1">
                <a:spLocks noChangeArrowheads="1"/>
              </p:cNvSpPr>
              <p:nvPr/>
            </p:nvSpPr>
            <p:spPr bwMode="auto">
              <a:xfrm>
                <a:off x="5211" y="3639"/>
                <a:ext cx="507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325</a:t>
                </a:r>
              </a:p>
            </p:txBody>
          </p:sp>
        </p:grpSp>
        <p:grpSp>
          <p:nvGrpSpPr>
            <p:cNvPr id="358440" name="Group 40"/>
            <p:cNvGrpSpPr>
              <a:grpSpLocks/>
            </p:cNvGrpSpPr>
            <p:nvPr/>
          </p:nvGrpSpPr>
          <p:grpSpPr bwMode="auto">
            <a:xfrm>
              <a:off x="5467" y="3548"/>
              <a:ext cx="264" cy="513"/>
              <a:chOff x="5335" y="3548"/>
              <a:chExt cx="264" cy="513"/>
            </a:xfrm>
          </p:grpSpPr>
          <p:sp>
            <p:nvSpPr>
              <p:cNvPr id="358441" name="AutoShape 41"/>
              <p:cNvSpPr>
                <a:spLocks noChangeArrowheads="1"/>
              </p:cNvSpPr>
              <p:nvPr/>
            </p:nvSpPr>
            <p:spPr bwMode="auto">
              <a:xfrm rot="16200000">
                <a:off x="5214" y="3740"/>
                <a:ext cx="490" cy="152"/>
              </a:xfrm>
              <a:prstGeom prst="homePlate">
                <a:avLst>
                  <a:gd name="adj" fmla="val 48325"/>
                </a:avLst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42" name="Text Box 42"/>
              <p:cNvSpPr txBox="1">
                <a:spLocks noChangeArrowheads="1"/>
              </p:cNvSpPr>
              <p:nvPr/>
            </p:nvSpPr>
            <p:spPr bwMode="auto">
              <a:xfrm rot="16200000">
                <a:off x="5254" y="3629"/>
                <a:ext cx="426" cy="2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1"/>
                    </a:solidFill>
                  </a:rPr>
                  <a:t>100</a:t>
                </a:r>
              </a:p>
            </p:txBody>
          </p:sp>
        </p:grpSp>
        <p:sp>
          <p:nvSpPr>
            <p:cNvPr id="358443" name="Rectangle 43"/>
            <p:cNvSpPr>
              <a:spLocks noChangeArrowheads="1"/>
            </p:cNvSpPr>
            <p:nvPr/>
          </p:nvSpPr>
          <p:spPr bwMode="auto">
            <a:xfrm>
              <a:off x="4064" y="3283"/>
              <a:ext cx="1663" cy="369"/>
            </a:xfrm>
            <a:prstGeom prst="rect">
              <a:avLst/>
            </a:prstGeom>
            <a:solidFill>
              <a:srgbClr val="009900">
                <a:alpha val="34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/>
              <a:endParaRPr lang="en-US" b="1" dirty="0"/>
            </a:p>
          </p:txBody>
        </p:sp>
        <p:grpSp>
          <p:nvGrpSpPr>
            <p:cNvPr id="358444" name="Group 44"/>
            <p:cNvGrpSpPr>
              <a:grpSpLocks/>
            </p:cNvGrpSpPr>
            <p:nvPr/>
          </p:nvGrpSpPr>
          <p:grpSpPr bwMode="auto">
            <a:xfrm>
              <a:off x="2613" y="3374"/>
              <a:ext cx="3108" cy="951"/>
              <a:chOff x="2900" y="3412"/>
              <a:chExt cx="2398" cy="951"/>
            </a:xfrm>
          </p:grpSpPr>
          <p:sp>
            <p:nvSpPr>
              <p:cNvPr id="358445" name="Rectangle 45"/>
              <p:cNvSpPr>
                <a:spLocks noChangeArrowheads="1"/>
              </p:cNvSpPr>
              <p:nvPr/>
            </p:nvSpPr>
            <p:spPr bwMode="auto">
              <a:xfrm>
                <a:off x="2903" y="4100"/>
                <a:ext cx="2395" cy="220"/>
              </a:xfrm>
              <a:prstGeom prst="rect">
                <a:avLst/>
              </a:prstGeom>
              <a:solidFill>
                <a:srgbClr val="009900">
                  <a:alpha val="78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46" name="Rectangle 46"/>
              <p:cNvSpPr>
                <a:spLocks noChangeArrowheads="1"/>
              </p:cNvSpPr>
              <p:nvPr/>
            </p:nvSpPr>
            <p:spPr bwMode="auto">
              <a:xfrm>
                <a:off x="2900" y="3412"/>
                <a:ext cx="2395" cy="902"/>
              </a:xfrm>
              <a:prstGeom prst="rect">
                <a:avLst/>
              </a:prstGeom>
              <a:gradFill rotWithShape="1">
                <a:gsLst>
                  <a:gs pos="0">
                    <a:schemeClr val="accent1">
                      <a:alpha val="33000"/>
                    </a:schemeClr>
                  </a:gs>
                  <a:gs pos="100000">
                    <a:schemeClr val="accent1">
                      <a:gamma/>
                      <a:shade val="46275"/>
                      <a:invGamma/>
                      <a:alpha val="41000"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47" name="Text Box 47"/>
              <p:cNvSpPr txBox="1">
                <a:spLocks noChangeArrowheads="1"/>
              </p:cNvSpPr>
              <p:nvPr/>
            </p:nvSpPr>
            <p:spPr bwMode="auto">
              <a:xfrm>
                <a:off x="2903" y="4100"/>
                <a:ext cx="2395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GROUND</a:t>
                </a:r>
              </a:p>
            </p:txBody>
          </p:sp>
          <p:sp>
            <p:nvSpPr>
              <p:cNvPr id="358448" name="Text Box 48"/>
              <p:cNvSpPr txBox="1">
                <a:spLocks noChangeArrowheads="1"/>
              </p:cNvSpPr>
              <p:nvPr/>
            </p:nvSpPr>
            <p:spPr bwMode="auto">
              <a:xfrm>
                <a:off x="2903" y="3658"/>
                <a:ext cx="2395" cy="4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endParaRPr lang="en-US" b="1">
                  <a:solidFill>
                    <a:schemeClr val="bg2"/>
                  </a:solidFill>
                </a:endParaRPr>
              </a:p>
              <a:p>
                <a:pPr algn="ctr"/>
                <a:r>
                  <a:rPr lang="en-US" b="1">
                    <a:solidFill>
                      <a:schemeClr val="bg2"/>
                    </a:solidFill>
                  </a:rPr>
                  <a:t>GREENHOUSE ATMOSPHERE</a:t>
                </a:r>
              </a:p>
            </p:txBody>
          </p:sp>
        </p:grpSp>
        <p:sp>
          <p:nvSpPr>
            <p:cNvPr id="358449" name="Rectangle 49"/>
            <p:cNvSpPr>
              <a:spLocks noChangeArrowheads="1"/>
            </p:cNvSpPr>
            <p:nvPr/>
          </p:nvSpPr>
          <p:spPr bwMode="auto">
            <a:xfrm>
              <a:off x="2607" y="4061"/>
              <a:ext cx="3119" cy="166"/>
            </a:xfrm>
            <a:prstGeom prst="rect">
              <a:avLst/>
            </a:prstGeom>
            <a:solidFill>
              <a:srgbClr val="FF0000">
                <a:alpha val="23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/>
              <a:r>
                <a:rPr lang="en-US" b="1"/>
                <a:t>490</a:t>
              </a:r>
              <a:r>
                <a:rPr lang="en-US" b="1" baseline="-25000"/>
                <a:t> </a:t>
              </a:r>
              <a:r>
                <a:rPr lang="en-US" b="1"/>
                <a:t>  </a:t>
              </a:r>
            </a:p>
          </p:txBody>
        </p:sp>
      </p:grpSp>
      <p:sp>
        <p:nvSpPr>
          <p:cNvPr id="358450" name="Rectangle 50"/>
          <p:cNvSpPr>
            <a:spLocks noChangeArrowheads="1"/>
          </p:cNvSpPr>
          <p:nvPr/>
        </p:nvSpPr>
        <p:spPr bwMode="auto">
          <a:xfrm>
            <a:off x="4440238" y="5076825"/>
            <a:ext cx="4691062" cy="1444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51" name="Rectangle 51"/>
          <p:cNvSpPr>
            <a:spLocks noChangeArrowheads="1"/>
          </p:cNvSpPr>
          <p:nvPr/>
        </p:nvSpPr>
        <p:spPr bwMode="auto">
          <a:xfrm>
            <a:off x="4433888" y="6426200"/>
            <a:ext cx="4691062" cy="13335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52" name="Rectangle 52"/>
          <p:cNvSpPr>
            <a:spLocks noChangeArrowheads="1"/>
          </p:cNvSpPr>
          <p:nvPr/>
        </p:nvSpPr>
        <p:spPr bwMode="auto">
          <a:xfrm>
            <a:off x="685800" y="1401763"/>
            <a:ext cx="7772400" cy="5111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  <p:sp>
        <p:nvSpPr>
          <p:cNvPr id="358453" name="Text Box 53"/>
          <p:cNvSpPr txBox="1">
            <a:spLocks noChangeArrowheads="1"/>
          </p:cNvSpPr>
          <p:nvPr/>
        </p:nvSpPr>
        <p:spPr bwMode="auto">
          <a:xfrm>
            <a:off x="6022975" y="3348038"/>
            <a:ext cx="2411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i="1">
                <a:solidFill>
                  <a:schemeClr val="hlink"/>
                </a:solidFill>
                <a:latin typeface="Arial" charset="0"/>
              </a:rPr>
              <a:t>Net = 0 W m</a:t>
            </a:r>
            <a:r>
              <a:rPr lang="en-US" sz="2400" i="1" baseline="30000">
                <a:solidFill>
                  <a:schemeClr val="hlink"/>
                </a:solidFill>
                <a:latin typeface="Arial" charset="0"/>
              </a:rPr>
              <a:t>-2</a:t>
            </a:r>
            <a:r>
              <a:rPr lang="en-US" sz="2400" i="1">
                <a:solidFill>
                  <a:schemeClr val="hlink"/>
                </a:solidFill>
                <a:latin typeface="Arial" charset="0"/>
              </a:rPr>
              <a:t>.</a:t>
            </a:r>
          </a:p>
        </p:txBody>
      </p:sp>
      <p:sp>
        <p:nvSpPr>
          <p:cNvPr id="358455" name="Rectangle 55"/>
          <p:cNvSpPr>
            <a:spLocks noChangeArrowheads="1"/>
          </p:cNvSpPr>
          <p:nvPr/>
        </p:nvSpPr>
        <p:spPr bwMode="auto">
          <a:xfrm>
            <a:off x="682625" y="5667375"/>
            <a:ext cx="3732213" cy="1190625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sz="2400" b="1" i="1">
                <a:latin typeface="Arial" charset="0"/>
              </a:rPr>
              <a:t>FYI</a:t>
            </a:r>
          </a:p>
          <a:p>
            <a:pPr eaLnBrk="0" hangingPunct="0"/>
            <a:r>
              <a:rPr lang="en-US" sz="2400" b="1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  <a:sym typeface="Symbol" pitchFamily="18" charset="2"/>
              </a:rPr>
              <a:t>This model also shows stable temperatures.</a:t>
            </a:r>
          </a:p>
        </p:txBody>
      </p:sp>
      <p:sp>
        <p:nvSpPr>
          <p:cNvPr id="358454" name="Text Box 54"/>
          <p:cNvSpPr txBox="1">
            <a:spLocks noChangeArrowheads="1"/>
          </p:cNvSpPr>
          <p:nvPr/>
        </p:nvSpPr>
        <p:spPr bwMode="auto">
          <a:xfrm>
            <a:off x="1836450" y="5667375"/>
            <a:ext cx="2411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chemeClr val="hlink"/>
                </a:solidFill>
                <a:latin typeface="Arial" charset="0"/>
              </a:rPr>
              <a:t>Net = 0 W m</a:t>
            </a:r>
            <a:r>
              <a:rPr lang="en-US" sz="2400" i="1" baseline="30000" dirty="0">
                <a:solidFill>
                  <a:schemeClr val="hlink"/>
                </a:solidFill>
                <a:latin typeface="Arial" charset="0"/>
              </a:rPr>
              <a:t>-2</a:t>
            </a:r>
            <a:r>
              <a:rPr lang="en-US" sz="2400" i="1" dirty="0">
                <a:solidFill>
                  <a:schemeClr val="hlink"/>
                </a:solidFill>
                <a:latin typeface="Arial" charset="0"/>
              </a:rPr>
              <a:t>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5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8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8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8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8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8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8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5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8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8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8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8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8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8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8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8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0" grpId="0" animBg="1"/>
      <p:bldP spid="358451" grpId="0" animBg="1"/>
      <p:bldP spid="358453" grpId="0"/>
      <p:bldP spid="35845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3" name="Rectangle 53"/>
          <p:cNvSpPr>
            <a:spLocks noChangeArrowheads="1"/>
          </p:cNvSpPr>
          <p:nvPr/>
        </p:nvSpPr>
        <p:spPr bwMode="auto">
          <a:xfrm>
            <a:off x="682625" y="5932488"/>
            <a:ext cx="7762875" cy="925512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sz="2400" b="1" i="1">
                <a:latin typeface="Arial" charset="0"/>
              </a:rPr>
              <a:t>FYI</a:t>
            </a:r>
          </a:p>
          <a:p>
            <a:pPr eaLnBrk="0" hangingPunct="0"/>
            <a:r>
              <a:rPr lang="en-US" sz="2400" b="1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  <a:sym typeface="Symbol" pitchFamily="18" charset="2"/>
              </a:rPr>
              <a:t>This model shows increasing ground temperatures.</a:t>
            </a:r>
          </a:p>
        </p:txBody>
      </p:sp>
      <p:sp>
        <p:nvSpPr>
          <p:cNvPr id="378884" name="Rectangle 4"/>
          <p:cNvSpPr>
            <a:spLocks noChangeArrowheads="1"/>
          </p:cNvSpPr>
          <p:nvPr/>
        </p:nvSpPr>
        <p:spPr bwMode="auto">
          <a:xfrm>
            <a:off x="685800" y="1847850"/>
            <a:ext cx="7772400" cy="412432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>
                <a:latin typeface="Arial" charset="0"/>
              </a:rPr>
              <a:t>PRACTICE: Find the net                                               power flow at the ground                                                     / atmosphere interface.</a:t>
            </a:r>
            <a:r>
              <a:rPr lang="en-US" sz="2400">
                <a:latin typeface="Arial" charset="0"/>
                <a:sym typeface="Symbol" pitchFamily="18" charset="2"/>
              </a:rPr>
              <a:t> </a:t>
            </a:r>
          </a:p>
          <a:p>
            <a:r>
              <a:rPr lang="en-US" sz="2400">
                <a:latin typeface="Arial" charset="0"/>
              </a:rPr>
              <a:t>SOLUTION: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We have:</a:t>
            </a:r>
          </a:p>
          <a:p>
            <a:r>
              <a:rPr lang="en-US" sz="2400" i="1" baseline="-25000">
                <a:latin typeface="Arial" charset="0"/>
              </a:rPr>
              <a:t>         </a:t>
            </a:r>
            <a:r>
              <a:rPr lang="en-US" sz="2400" i="1">
                <a:latin typeface="Arial" charset="0"/>
              </a:rPr>
              <a:t>I</a:t>
            </a:r>
            <a:r>
              <a:rPr lang="en-US" sz="2400" baseline="-25000">
                <a:latin typeface="Arial" charset="0"/>
              </a:rPr>
              <a:t>IN </a:t>
            </a:r>
            <a:r>
              <a:rPr lang="en-US" sz="2400">
                <a:latin typeface="Arial" charset="0"/>
              </a:rPr>
              <a:t> = 165 + 335 </a:t>
            </a:r>
          </a:p>
          <a:p>
            <a:r>
              <a:rPr lang="en-US" sz="2400">
                <a:latin typeface="Arial" charset="0"/>
              </a:rPr>
              <a:t>           = 500 W m</a:t>
            </a:r>
            <a:r>
              <a:rPr lang="en-US" sz="2400" baseline="30000">
                <a:latin typeface="Arial" charset="0"/>
              </a:rPr>
              <a:t>-2</a:t>
            </a:r>
            <a:r>
              <a:rPr lang="en-US" sz="2400">
                <a:latin typeface="Arial" charset="0"/>
              </a:rPr>
              <a:t>.</a:t>
            </a:r>
          </a:p>
          <a:p>
            <a:r>
              <a:rPr lang="en-US" sz="2400" i="1">
                <a:latin typeface="Arial" charset="0"/>
              </a:rPr>
              <a:t>    I</a:t>
            </a:r>
            <a:r>
              <a:rPr lang="en-US" sz="2400" baseline="-25000">
                <a:latin typeface="Arial" charset="0"/>
              </a:rPr>
              <a:t>OUT</a:t>
            </a:r>
            <a:r>
              <a:rPr lang="en-US" sz="2400">
                <a:latin typeface="Arial" charset="0"/>
              </a:rPr>
              <a:t> = 360 + 20 + 110 </a:t>
            </a:r>
          </a:p>
          <a:p>
            <a:r>
              <a:rPr lang="en-US" sz="2400">
                <a:latin typeface="Arial" charset="0"/>
              </a:rPr>
              <a:t>           = 490 W m</a:t>
            </a:r>
            <a:r>
              <a:rPr lang="en-US" sz="2400" baseline="30000">
                <a:latin typeface="Arial" charset="0"/>
              </a:rPr>
              <a:t>-2</a:t>
            </a:r>
            <a:r>
              <a:rPr lang="en-US" sz="2400">
                <a:latin typeface="Arial" charset="0"/>
              </a:rPr>
              <a:t>.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</a:rPr>
              <a:t>The net power flow is thus </a:t>
            </a:r>
          </a:p>
          <a:p>
            <a:r>
              <a:rPr lang="en-US" sz="2400" i="1">
                <a:latin typeface="Arial" charset="0"/>
              </a:rPr>
              <a:t>              I</a:t>
            </a:r>
            <a:r>
              <a:rPr lang="en-US" sz="2400" baseline="-25000">
                <a:latin typeface="Arial" charset="0"/>
              </a:rPr>
              <a:t>IN</a:t>
            </a:r>
            <a:r>
              <a:rPr lang="en-US" sz="2400">
                <a:latin typeface="Arial" charset="0"/>
              </a:rPr>
              <a:t> –  </a:t>
            </a:r>
            <a:r>
              <a:rPr lang="en-US" sz="2400" i="1">
                <a:latin typeface="Arial" charset="0"/>
              </a:rPr>
              <a:t>I</a:t>
            </a:r>
            <a:r>
              <a:rPr lang="en-US" sz="2400" baseline="-25000">
                <a:latin typeface="Arial" charset="0"/>
              </a:rPr>
              <a:t>OUT </a:t>
            </a:r>
            <a:r>
              <a:rPr lang="en-US" sz="2400">
                <a:latin typeface="Arial" charset="0"/>
              </a:rPr>
              <a:t> = 500 – 490 = + 10 W m</a:t>
            </a:r>
            <a:r>
              <a:rPr lang="en-US" sz="2400" baseline="30000">
                <a:latin typeface="Arial" charset="0"/>
              </a:rPr>
              <a:t>-2</a:t>
            </a:r>
            <a:r>
              <a:rPr lang="en-US" sz="2400">
                <a:latin typeface="Arial" charset="0"/>
              </a:rPr>
              <a:t>.</a:t>
            </a:r>
          </a:p>
        </p:txBody>
      </p:sp>
      <p:sp>
        <p:nvSpPr>
          <p:cNvPr id="378932" name="Rectangle 52"/>
          <p:cNvSpPr>
            <a:spLocks noChangeArrowheads="1"/>
          </p:cNvSpPr>
          <p:nvPr/>
        </p:nvSpPr>
        <p:spPr bwMode="auto">
          <a:xfrm>
            <a:off x="685800" y="1401763"/>
            <a:ext cx="7772400" cy="5111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  <p:grpSp>
        <p:nvGrpSpPr>
          <p:cNvPr id="378885" name="Group 5"/>
          <p:cNvGrpSpPr>
            <a:grpSpLocks/>
          </p:cNvGrpSpPr>
          <p:nvPr/>
        </p:nvGrpSpPr>
        <p:grpSpPr bwMode="auto">
          <a:xfrm>
            <a:off x="4135438" y="1849438"/>
            <a:ext cx="4957762" cy="3154362"/>
            <a:chOff x="2637" y="1157"/>
            <a:chExt cx="3123" cy="1987"/>
          </a:xfrm>
        </p:grpSpPr>
        <p:grpSp>
          <p:nvGrpSpPr>
            <p:cNvPr id="378886" name="Group 6"/>
            <p:cNvGrpSpPr>
              <a:grpSpLocks/>
            </p:cNvGrpSpPr>
            <p:nvPr/>
          </p:nvGrpSpPr>
          <p:grpSpPr bwMode="auto">
            <a:xfrm>
              <a:off x="3225" y="1157"/>
              <a:ext cx="702" cy="1129"/>
              <a:chOff x="3860" y="2333"/>
              <a:chExt cx="573" cy="1152"/>
            </a:xfrm>
          </p:grpSpPr>
          <p:sp>
            <p:nvSpPr>
              <p:cNvPr id="378887" name="AutoShape 7"/>
              <p:cNvSpPr>
                <a:spLocks noChangeArrowheads="1"/>
              </p:cNvSpPr>
              <p:nvPr/>
            </p:nvSpPr>
            <p:spPr bwMode="auto">
              <a:xfrm rot="5400000">
                <a:off x="3571" y="2622"/>
                <a:ext cx="1152" cy="573"/>
              </a:xfrm>
              <a:prstGeom prst="chevron">
                <a:avLst>
                  <a:gd name="adj" fmla="val 50262"/>
                </a:avLst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888" name="Text Box 8"/>
              <p:cNvSpPr txBox="1">
                <a:spLocks noChangeArrowheads="1"/>
              </p:cNvSpPr>
              <p:nvPr/>
            </p:nvSpPr>
            <p:spPr bwMode="auto">
              <a:xfrm>
                <a:off x="3860" y="2625"/>
                <a:ext cx="573" cy="2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340</a:t>
                </a:r>
              </a:p>
            </p:txBody>
          </p:sp>
        </p:grpSp>
        <p:sp>
          <p:nvSpPr>
            <p:cNvPr id="378889" name="AutoShape 9"/>
            <p:cNvSpPr>
              <a:spLocks noChangeArrowheads="1"/>
            </p:cNvSpPr>
            <p:nvPr/>
          </p:nvSpPr>
          <p:spPr bwMode="auto">
            <a:xfrm rot="10800000">
              <a:off x="2894" y="1992"/>
              <a:ext cx="461" cy="459"/>
            </a:xfrm>
            <a:custGeom>
              <a:avLst/>
              <a:gdLst>
                <a:gd name="T0" fmla="*/ 9250 w 21600"/>
                <a:gd name="T1" fmla="*/ 0 h 21600"/>
                <a:gd name="T2" fmla="*/ 3055 w 21600"/>
                <a:gd name="T3" fmla="*/ 21600 h 21600"/>
                <a:gd name="T4" fmla="*/ 9725 w 21600"/>
                <a:gd name="T5" fmla="*/ 8310 h 21600"/>
                <a:gd name="T6" fmla="*/ 15662 w 21600"/>
                <a:gd name="T7" fmla="*/ 14285 h 21600"/>
                <a:gd name="T8" fmla="*/ 21600 w 21600"/>
                <a:gd name="T9" fmla="*/ 8310 h 21600"/>
                <a:gd name="T10" fmla="*/ 17694720 60000 65536"/>
                <a:gd name="T11" fmla="*/ 5898240 60000 65536"/>
                <a:gd name="T12" fmla="*/ 5898240 60000 65536"/>
                <a:gd name="T13" fmla="*/ 5898240 60000 65536"/>
                <a:gd name="T14" fmla="*/ 0 60000 65536"/>
                <a:gd name="T15" fmla="*/ 0 w 21600"/>
                <a:gd name="T16" fmla="*/ 8310 h 21600"/>
                <a:gd name="T17" fmla="*/ 6110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>
                  <a:moveTo>
                    <a:pt x="15662" y="14285"/>
                  </a:moveTo>
                  <a:lnTo>
                    <a:pt x="21600" y="8310"/>
                  </a:lnTo>
                  <a:lnTo>
                    <a:pt x="18630" y="8310"/>
                  </a:lnTo>
                  <a:cubicBezTo>
                    <a:pt x="18630" y="3721"/>
                    <a:pt x="14430" y="0"/>
                    <a:pt x="9250" y="0"/>
                  </a:cubicBezTo>
                  <a:cubicBezTo>
                    <a:pt x="4141" y="0"/>
                    <a:pt x="0" y="3799"/>
                    <a:pt x="0" y="8485"/>
                  </a:cubicBezTo>
                  <a:lnTo>
                    <a:pt x="0" y="21600"/>
                  </a:lnTo>
                  <a:lnTo>
                    <a:pt x="6110" y="21600"/>
                  </a:lnTo>
                  <a:lnTo>
                    <a:pt x="6110" y="8310"/>
                  </a:lnTo>
                  <a:cubicBezTo>
                    <a:pt x="6110" y="6947"/>
                    <a:pt x="7362" y="5842"/>
                    <a:pt x="8907" y="5842"/>
                  </a:cubicBezTo>
                  <a:lnTo>
                    <a:pt x="9725" y="5842"/>
                  </a:lnTo>
                  <a:cubicBezTo>
                    <a:pt x="11269" y="5842"/>
                    <a:pt x="12520" y="6947"/>
                    <a:pt x="12520" y="8310"/>
                  </a:cubicBezTo>
                  <a:lnTo>
                    <a:pt x="9725" y="8310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8890" name="Group 10"/>
            <p:cNvGrpSpPr>
              <a:grpSpLocks/>
            </p:cNvGrpSpPr>
            <p:nvPr/>
          </p:nvGrpSpPr>
          <p:grpSpPr bwMode="auto">
            <a:xfrm>
              <a:off x="3162" y="1998"/>
              <a:ext cx="278" cy="930"/>
              <a:chOff x="3797" y="3197"/>
              <a:chExt cx="278" cy="930"/>
            </a:xfrm>
          </p:grpSpPr>
          <p:sp>
            <p:nvSpPr>
              <p:cNvPr id="378891" name="AutoShape 11"/>
              <p:cNvSpPr>
                <a:spLocks noChangeArrowheads="1"/>
              </p:cNvSpPr>
              <p:nvPr/>
            </p:nvSpPr>
            <p:spPr bwMode="auto">
              <a:xfrm rot="5400000">
                <a:off x="3631" y="3555"/>
                <a:ext cx="799" cy="84"/>
              </a:xfrm>
              <a:prstGeom prst="homePlate">
                <a:avLst>
                  <a:gd name="adj" fmla="val 75038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892" name="AutoShape 12"/>
              <p:cNvSpPr>
                <a:spLocks noChangeArrowheads="1"/>
              </p:cNvSpPr>
              <p:nvPr/>
            </p:nvSpPr>
            <p:spPr bwMode="auto">
              <a:xfrm rot="10800000">
                <a:off x="3797" y="3831"/>
                <a:ext cx="278" cy="296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8893" name="Group 13"/>
            <p:cNvGrpSpPr>
              <a:grpSpLocks/>
            </p:cNvGrpSpPr>
            <p:nvPr/>
          </p:nvGrpSpPr>
          <p:grpSpPr bwMode="auto">
            <a:xfrm>
              <a:off x="2715" y="2611"/>
              <a:ext cx="559" cy="278"/>
              <a:chOff x="3350" y="3810"/>
              <a:chExt cx="559" cy="278"/>
            </a:xfrm>
          </p:grpSpPr>
          <p:sp>
            <p:nvSpPr>
              <p:cNvPr id="378894" name="AutoShape 14"/>
              <p:cNvSpPr>
                <a:spLocks noChangeArrowheads="1"/>
              </p:cNvSpPr>
              <p:nvPr/>
            </p:nvSpPr>
            <p:spPr bwMode="auto">
              <a:xfrm rot="10800000">
                <a:off x="3534" y="4003"/>
                <a:ext cx="375" cy="84"/>
              </a:xfrm>
              <a:prstGeom prst="homePlate">
                <a:avLst>
                  <a:gd name="adj" fmla="val 72627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895" name="AutoShape 15"/>
              <p:cNvSpPr>
                <a:spLocks noChangeArrowheads="1"/>
              </p:cNvSpPr>
              <p:nvPr/>
            </p:nvSpPr>
            <p:spPr bwMode="auto">
              <a:xfrm rot="16200000">
                <a:off x="3359" y="3801"/>
                <a:ext cx="278" cy="296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8896" name="Group 16"/>
            <p:cNvGrpSpPr>
              <a:grpSpLocks/>
            </p:cNvGrpSpPr>
            <p:nvPr/>
          </p:nvGrpSpPr>
          <p:grpSpPr bwMode="auto">
            <a:xfrm>
              <a:off x="2798" y="1515"/>
              <a:ext cx="437" cy="701"/>
              <a:chOff x="3433" y="2714"/>
              <a:chExt cx="437" cy="701"/>
            </a:xfrm>
          </p:grpSpPr>
          <p:sp>
            <p:nvSpPr>
              <p:cNvPr id="378897" name="AutoShape 17"/>
              <p:cNvSpPr>
                <a:spLocks noChangeArrowheads="1"/>
              </p:cNvSpPr>
              <p:nvPr/>
            </p:nvSpPr>
            <p:spPr bwMode="auto">
              <a:xfrm rot="16200000">
                <a:off x="3303" y="2997"/>
                <a:ext cx="701" cy="136"/>
              </a:xfrm>
              <a:prstGeom prst="chevron">
                <a:avLst>
                  <a:gd name="adj" fmla="val 51473"/>
                </a:avLst>
              </a:prstGeom>
              <a:solidFill>
                <a:srgbClr val="FFFF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898" name="Text Box 18"/>
              <p:cNvSpPr txBox="1">
                <a:spLocks noChangeArrowheads="1"/>
              </p:cNvSpPr>
              <p:nvPr/>
            </p:nvSpPr>
            <p:spPr bwMode="auto">
              <a:xfrm>
                <a:off x="3433" y="2769"/>
                <a:ext cx="43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75</a:t>
                </a:r>
              </a:p>
            </p:txBody>
          </p:sp>
        </p:grpSp>
        <p:grpSp>
          <p:nvGrpSpPr>
            <p:cNvPr id="378899" name="Group 19"/>
            <p:cNvGrpSpPr>
              <a:grpSpLocks/>
            </p:cNvGrpSpPr>
            <p:nvPr/>
          </p:nvGrpSpPr>
          <p:grpSpPr bwMode="auto">
            <a:xfrm>
              <a:off x="2637" y="1515"/>
              <a:ext cx="354" cy="1185"/>
              <a:chOff x="3272" y="2714"/>
              <a:chExt cx="354" cy="1185"/>
            </a:xfrm>
          </p:grpSpPr>
          <p:sp>
            <p:nvSpPr>
              <p:cNvPr id="378900" name="AutoShape 20"/>
              <p:cNvSpPr>
                <a:spLocks noChangeArrowheads="1"/>
              </p:cNvSpPr>
              <p:nvPr/>
            </p:nvSpPr>
            <p:spPr bwMode="auto">
              <a:xfrm rot="16200000">
                <a:off x="2844" y="3261"/>
                <a:ext cx="1185" cy="92"/>
              </a:xfrm>
              <a:prstGeom prst="homePlate">
                <a:avLst>
                  <a:gd name="adj" fmla="val 77223"/>
                </a:avLst>
              </a:prstGeom>
              <a:solidFill>
                <a:srgbClr val="FF993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01" name="Text Box 21"/>
              <p:cNvSpPr txBox="1">
                <a:spLocks noChangeArrowheads="1"/>
              </p:cNvSpPr>
              <p:nvPr/>
            </p:nvSpPr>
            <p:spPr bwMode="auto">
              <a:xfrm>
                <a:off x="3272" y="2867"/>
                <a:ext cx="3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30</a:t>
                </a:r>
              </a:p>
            </p:txBody>
          </p:sp>
        </p:grpSp>
        <p:grpSp>
          <p:nvGrpSpPr>
            <p:cNvPr id="378902" name="Group 22"/>
            <p:cNvGrpSpPr>
              <a:grpSpLocks/>
            </p:cNvGrpSpPr>
            <p:nvPr/>
          </p:nvGrpSpPr>
          <p:grpSpPr bwMode="auto">
            <a:xfrm>
              <a:off x="3363" y="1998"/>
              <a:ext cx="542" cy="1101"/>
              <a:chOff x="3330" y="3171"/>
              <a:chExt cx="542" cy="1101"/>
            </a:xfrm>
          </p:grpSpPr>
          <p:sp>
            <p:nvSpPr>
              <p:cNvPr id="378903" name="AutoShape 23"/>
              <p:cNvSpPr>
                <a:spLocks noChangeArrowheads="1"/>
              </p:cNvSpPr>
              <p:nvPr/>
            </p:nvSpPr>
            <p:spPr bwMode="auto">
              <a:xfrm rot="5400000">
                <a:off x="3034" y="3543"/>
                <a:ext cx="1101" cy="357"/>
              </a:xfrm>
              <a:prstGeom prst="homePlate">
                <a:avLst>
                  <a:gd name="adj" fmla="val 47346"/>
                </a:avLst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04" name="Text Box 24"/>
              <p:cNvSpPr txBox="1">
                <a:spLocks noChangeArrowheads="1"/>
              </p:cNvSpPr>
              <p:nvPr/>
            </p:nvSpPr>
            <p:spPr bwMode="auto">
              <a:xfrm>
                <a:off x="3330" y="3262"/>
                <a:ext cx="54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165</a:t>
                </a:r>
              </a:p>
            </p:txBody>
          </p:sp>
        </p:grpSp>
        <p:grpSp>
          <p:nvGrpSpPr>
            <p:cNvPr id="378905" name="Group 25"/>
            <p:cNvGrpSpPr>
              <a:grpSpLocks/>
            </p:cNvGrpSpPr>
            <p:nvPr/>
          </p:nvGrpSpPr>
          <p:grpSpPr bwMode="auto">
            <a:xfrm>
              <a:off x="4291" y="1420"/>
              <a:ext cx="599" cy="700"/>
              <a:chOff x="4967" y="2587"/>
              <a:chExt cx="542" cy="700"/>
            </a:xfrm>
          </p:grpSpPr>
          <p:sp>
            <p:nvSpPr>
              <p:cNvPr id="378906" name="AutoShape 26"/>
              <p:cNvSpPr>
                <a:spLocks noChangeArrowheads="1"/>
              </p:cNvSpPr>
              <p:nvPr/>
            </p:nvSpPr>
            <p:spPr bwMode="auto">
              <a:xfrm rot="16200000">
                <a:off x="4881" y="2762"/>
                <a:ext cx="700" cy="349"/>
              </a:xfrm>
              <a:prstGeom prst="homePlate">
                <a:avLst>
                  <a:gd name="adj" fmla="val 47571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07" name="Text Box 27"/>
              <p:cNvSpPr txBox="1">
                <a:spLocks noChangeArrowheads="1"/>
              </p:cNvSpPr>
              <p:nvPr/>
            </p:nvSpPr>
            <p:spPr bwMode="auto">
              <a:xfrm>
                <a:off x="4967" y="2759"/>
                <a:ext cx="54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195</a:t>
                </a:r>
              </a:p>
            </p:txBody>
          </p:sp>
        </p:grpSp>
        <p:grpSp>
          <p:nvGrpSpPr>
            <p:cNvPr id="378908" name="Group 28"/>
            <p:cNvGrpSpPr>
              <a:grpSpLocks/>
            </p:cNvGrpSpPr>
            <p:nvPr/>
          </p:nvGrpSpPr>
          <p:grpSpPr bwMode="auto">
            <a:xfrm>
              <a:off x="3794" y="1996"/>
              <a:ext cx="420" cy="447"/>
              <a:chOff x="4397" y="3175"/>
              <a:chExt cx="420" cy="447"/>
            </a:xfrm>
          </p:grpSpPr>
          <p:sp>
            <p:nvSpPr>
              <p:cNvPr id="378909" name="AutoShape 29"/>
              <p:cNvSpPr>
                <a:spLocks noChangeArrowheads="1"/>
              </p:cNvSpPr>
              <p:nvPr/>
            </p:nvSpPr>
            <p:spPr bwMode="auto">
              <a:xfrm rot="10800000" flipH="1">
                <a:off x="4397" y="3175"/>
                <a:ext cx="420" cy="447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10" name="Text Box 30"/>
              <p:cNvSpPr txBox="1">
                <a:spLocks noChangeArrowheads="1"/>
              </p:cNvSpPr>
              <p:nvPr/>
            </p:nvSpPr>
            <p:spPr bwMode="auto">
              <a:xfrm>
                <a:off x="4447" y="3370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/>
                  <a:t>70</a:t>
                </a:r>
              </a:p>
            </p:txBody>
          </p:sp>
        </p:grpSp>
        <p:grpSp>
          <p:nvGrpSpPr>
            <p:cNvPr id="378911" name="Group 31"/>
            <p:cNvGrpSpPr>
              <a:grpSpLocks/>
            </p:cNvGrpSpPr>
            <p:nvPr/>
          </p:nvGrpSpPr>
          <p:grpSpPr bwMode="auto">
            <a:xfrm>
              <a:off x="3929" y="2295"/>
              <a:ext cx="1049" cy="597"/>
              <a:chOff x="3764" y="3462"/>
              <a:chExt cx="1049" cy="597"/>
            </a:xfrm>
          </p:grpSpPr>
          <p:sp>
            <p:nvSpPr>
              <p:cNvPr id="378912" name="AutoShape 32"/>
              <p:cNvSpPr>
                <a:spLocks noChangeArrowheads="1"/>
              </p:cNvSpPr>
              <p:nvPr/>
            </p:nvSpPr>
            <p:spPr bwMode="auto">
              <a:xfrm rot="16200000">
                <a:off x="3975" y="3423"/>
                <a:ext cx="597" cy="675"/>
              </a:xfrm>
              <a:prstGeom prst="homePlate">
                <a:avLst>
                  <a:gd name="adj" fmla="val 33505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13" name="Text Box 33"/>
              <p:cNvSpPr txBox="1">
                <a:spLocks noChangeArrowheads="1"/>
              </p:cNvSpPr>
              <p:nvPr/>
            </p:nvSpPr>
            <p:spPr bwMode="auto">
              <a:xfrm>
                <a:off x="3764" y="3645"/>
                <a:ext cx="104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360</a:t>
                </a:r>
              </a:p>
            </p:txBody>
          </p:sp>
        </p:grpSp>
        <p:grpSp>
          <p:nvGrpSpPr>
            <p:cNvPr id="378914" name="Group 34"/>
            <p:cNvGrpSpPr>
              <a:grpSpLocks/>
            </p:cNvGrpSpPr>
            <p:nvPr/>
          </p:nvGrpSpPr>
          <p:grpSpPr bwMode="auto">
            <a:xfrm>
              <a:off x="4698" y="1418"/>
              <a:ext cx="345" cy="1477"/>
              <a:chOff x="4533" y="2585"/>
              <a:chExt cx="345" cy="1477"/>
            </a:xfrm>
          </p:grpSpPr>
          <p:sp>
            <p:nvSpPr>
              <p:cNvPr id="378915" name="AutoShape 35"/>
              <p:cNvSpPr>
                <a:spLocks noChangeArrowheads="1"/>
              </p:cNvSpPr>
              <p:nvPr/>
            </p:nvSpPr>
            <p:spPr bwMode="auto">
              <a:xfrm rot="16200000">
                <a:off x="3967" y="3250"/>
                <a:ext cx="1477" cy="148"/>
              </a:xfrm>
              <a:prstGeom prst="homePlate">
                <a:avLst>
                  <a:gd name="adj" fmla="val 107467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16" name="Text Box 36"/>
              <p:cNvSpPr txBox="1">
                <a:spLocks noChangeArrowheads="1"/>
              </p:cNvSpPr>
              <p:nvPr/>
            </p:nvSpPr>
            <p:spPr bwMode="auto">
              <a:xfrm>
                <a:off x="4533" y="3647"/>
                <a:ext cx="34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20</a:t>
                </a:r>
              </a:p>
            </p:txBody>
          </p:sp>
        </p:grpSp>
        <p:grpSp>
          <p:nvGrpSpPr>
            <p:cNvPr id="378917" name="Group 37"/>
            <p:cNvGrpSpPr>
              <a:grpSpLocks/>
            </p:cNvGrpSpPr>
            <p:nvPr/>
          </p:nvGrpSpPr>
          <p:grpSpPr bwMode="auto">
            <a:xfrm>
              <a:off x="4859" y="2478"/>
              <a:ext cx="800" cy="432"/>
              <a:chOff x="5211" y="3639"/>
              <a:chExt cx="507" cy="432"/>
            </a:xfrm>
          </p:grpSpPr>
          <p:sp>
            <p:nvSpPr>
              <p:cNvPr id="378918" name="AutoShape 38"/>
              <p:cNvSpPr>
                <a:spLocks noChangeArrowheads="1"/>
              </p:cNvSpPr>
              <p:nvPr/>
            </p:nvSpPr>
            <p:spPr bwMode="auto">
              <a:xfrm rot="5400000">
                <a:off x="5236" y="3686"/>
                <a:ext cx="425" cy="346"/>
              </a:xfrm>
              <a:prstGeom prst="homePlate">
                <a:avLst>
                  <a:gd name="adj" fmla="val 41155"/>
                </a:avLst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19" name="Text Box 39"/>
              <p:cNvSpPr txBox="1">
                <a:spLocks noChangeArrowheads="1"/>
              </p:cNvSpPr>
              <p:nvPr/>
            </p:nvSpPr>
            <p:spPr bwMode="auto">
              <a:xfrm>
                <a:off x="5211" y="3639"/>
                <a:ext cx="50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/>
                  <a:t>335</a:t>
                </a:r>
              </a:p>
            </p:txBody>
          </p:sp>
        </p:grpSp>
        <p:grpSp>
          <p:nvGrpSpPr>
            <p:cNvPr id="378920" name="Group 40"/>
            <p:cNvGrpSpPr>
              <a:grpSpLocks/>
            </p:cNvGrpSpPr>
            <p:nvPr/>
          </p:nvGrpSpPr>
          <p:grpSpPr bwMode="auto">
            <a:xfrm>
              <a:off x="5500" y="2404"/>
              <a:ext cx="250" cy="490"/>
              <a:chOff x="5335" y="3571"/>
              <a:chExt cx="250" cy="490"/>
            </a:xfrm>
          </p:grpSpPr>
          <p:sp>
            <p:nvSpPr>
              <p:cNvPr id="378921" name="AutoShape 41"/>
              <p:cNvSpPr>
                <a:spLocks noChangeArrowheads="1"/>
              </p:cNvSpPr>
              <p:nvPr/>
            </p:nvSpPr>
            <p:spPr bwMode="auto">
              <a:xfrm rot="16200000">
                <a:off x="5214" y="3740"/>
                <a:ext cx="490" cy="152"/>
              </a:xfrm>
              <a:prstGeom prst="homePlate">
                <a:avLst>
                  <a:gd name="adj" fmla="val 48325"/>
                </a:avLst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22" name="Text Box 42"/>
              <p:cNvSpPr txBox="1">
                <a:spLocks noChangeArrowheads="1"/>
              </p:cNvSpPr>
              <p:nvPr/>
            </p:nvSpPr>
            <p:spPr bwMode="auto">
              <a:xfrm rot="16200000">
                <a:off x="5258" y="3649"/>
                <a:ext cx="40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1"/>
                    </a:solidFill>
                  </a:rPr>
                  <a:t>110</a:t>
                </a:r>
              </a:p>
            </p:txBody>
          </p:sp>
        </p:grpSp>
        <p:sp>
          <p:nvSpPr>
            <p:cNvPr id="378923" name="Rectangle 43"/>
            <p:cNvSpPr>
              <a:spLocks noChangeArrowheads="1"/>
            </p:cNvSpPr>
            <p:nvPr/>
          </p:nvSpPr>
          <p:spPr bwMode="auto">
            <a:xfrm>
              <a:off x="4097" y="2116"/>
              <a:ext cx="1663" cy="369"/>
            </a:xfrm>
            <a:prstGeom prst="rect">
              <a:avLst/>
            </a:prstGeom>
            <a:solidFill>
              <a:srgbClr val="009900">
                <a:alpha val="34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/>
              <a:r>
                <a:rPr lang="en-US" b="1"/>
                <a:t>540</a:t>
              </a:r>
            </a:p>
          </p:txBody>
        </p:sp>
        <p:grpSp>
          <p:nvGrpSpPr>
            <p:cNvPr id="378924" name="Group 44"/>
            <p:cNvGrpSpPr>
              <a:grpSpLocks/>
            </p:cNvGrpSpPr>
            <p:nvPr/>
          </p:nvGrpSpPr>
          <p:grpSpPr bwMode="auto">
            <a:xfrm>
              <a:off x="2649" y="1992"/>
              <a:ext cx="3104" cy="1152"/>
              <a:chOff x="2903" y="3198"/>
              <a:chExt cx="2395" cy="1152"/>
            </a:xfrm>
          </p:grpSpPr>
          <p:sp>
            <p:nvSpPr>
              <p:cNvPr id="378925" name="Rectangle 45"/>
              <p:cNvSpPr>
                <a:spLocks noChangeArrowheads="1"/>
              </p:cNvSpPr>
              <p:nvPr/>
            </p:nvSpPr>
            <p:spPr bwMode="auto">
              <a:xfrm>
                <a:off x="2903" y="4100"/>
                <a:ext cx="2395" cy="220"/>
              </a:xfrm>
              <a:prstGeom prst="rect">
                <a:avLst/>
              </a:prstGeom>
              <a:solidFill>
                <a:srgbClr val="009900">
                  <a:alpha val="78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26" name="Rectangle 46"/>
              <p:cNvSpPr>
                <a:spLocks noChangeArrowheads="1"/>
              </p:cNvSpPr>
              <p:nvPr/>
            </p:nvSpPr>
            <p:spPr bwMode="auto">
              <a:xfrm>
                <a:off x="2903" y="3198"/>
                <a:ext cx="2395" cy="902"/>
              </a:xfrm>
              <a:prstGeom prst="rect">
                <a:avLst/>
              </a:prstGeom>
              <a:gradFill rotWithShape="1">
                <a:gsLst>
                  <a:gs pos="0">
                    <a:schemeClr val="accent1">
                      <a:alpha val="33000"/>
                    </a:schemeClr>
                  </a:gs>
                  <a:gs pos="100000">
                    <a:schemeClr val="accent1">
                      <a:gamma/>
                      <a:shade val="46275"/>
                      <a:invGamma/>
                      <a:alpha val="41000"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27" name="Text Box 47"/>
              <p:cNvSpPr txBox="1">
                <a:spLocks noChangeArrowheads="1"/>
              </p:cNvSpPr>
              <p:nvPr/>
            </p:nvSpPr>
            <p:spPr bwMode="auto">
              <a:xfrm>
                <a:off x="2903" y="4100"/>
                <a:ext cx="239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</a:rPr>
                  <a:t>GROUND</a:t>
                </a:r>
              </a:p>
            </p:txBody>
          </p:sp>
          <p:sp>
            <p:nvSpPr>
              <p:cNvPr id="378928" name="Text Box 48"/>
              <p:cNvSpPr txBox="1">
                <a:spLocks noChangeArrowheads="1"/>
              </p:cNvSpPr>
              <p:nvPr/>
            </p:nvSpPr>
            <p:spPr bwMode="auto">
              <a:xfrm>
                <a:off x="2903" y="3658"/>
                <a:ext cx="2395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endParaRPr lang="en-US" b="1">
                  <a:solidFill>
                    <a:schemeClr val="bg2"/>
                  </a:solidFill>
                </a:endParaRPr>
              </a:p>
              <a:p>
                <a:pPr algn="ctr"/>
                <a:r>
                  <a:rPr lang="en-US" b="1">
                    <a:solidFill>
                      <a:schemeClr val="bg2"/>
                    </a:solidFill>
                  </a:rPr>
                  <a:t>GREENHOUSE ATMOSPHERE</a:t>
                </a:r>
              </a:p>
            </p:txBody>
          </p:sp>
        </p:grpSp>
        <p:sp>
          <p:nvSpPr>
            <p:cNvPr id="378929" name="Rectangle 49"/>
            <p:cNvSpPr>
              <a:spLocks noChangeArrowheads="1"/>
            </p:cNvSpPr>
            <p:nvPr/>
          </p:nvSpPr>
          <p:spPr bwMode="auto">
            <a:xfrm>
              <a:off x="2640" y="2894"/>
              <a:ext cx="3119" cy="166"/>
            </a:xfrm>
            <a:prstGeom prst="rect">
              <a:avLst/>
            </a:prstGeom>
            <a:solidFill>
              <a:srgbClr val="FF0000">
                <a:alpha val="23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/>
              <a:r>
                <a:rPr lang="en-US" b="1"/>
                <a:t>500</a:t>
              </a:r>
              <a:r>
                <a:rPr lang="en-US" b="1" baseline="-25000"/>
                <a:t> </a:t>
              </a:r>
              <a:r>
                <a:rPr lang="en-US" b="1"/>
                <a:t>  </a:t>
              </a:r>
            </a:p>
          </p:txBody>
        </p:sp>
      </p:grpSp>
      <p:sp>
        <p:nvSpPr>
          <p:cNvPr id="378930" name="Rectangle 50"/>
          <p:cNvSpPr>
            <a:spLocks noChangeArrowheads="1"/>
          </p:cNvSpPr>
          <p:nvPr/>
        </p:nvSpPr>
        <p:spPr bwMode="auto">
          <a:xfrm>
            <a:off x="4160838" y="4500563"/>
            <a:ext cx="4919662" cy="2174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78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8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37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8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8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8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88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8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88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88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88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88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88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88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88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88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89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89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ChangeArrowheads="1"/>
          </p:cNvSpPr>
          <p:nvPr/>
        </p:nvSpPr>
        <p:spPr bwMode="auto">
          <a:xfrm>
            <a:off x="685800" y="1879600"/>
            <a:ext cx="7772400" cy="497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685800" y="1401763"/>
            <a:ext cx="7772400" cy="4984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  <p:pic>
        <p:nvPicPr>
          <p:cNvPr id="360454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922463"/>
            <a:ext cx="7739062" cy="1054100"/>
          </a:xfrm>
          <a:prstGeom prst="rect">
            <a:avLst/>
          </a:prstGeom>
          <a:noFill/>
        </p:spPr>
      </p:pic>
      <p:pic>
        <p:nvPicPr>
          <p:cNvPr id="360459" name="Picture 1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6438" y="4344988"/>
            <a:ext cx="5688012" cy="285750"/>
          </a:xfrm>
          <a:prstGeom prst="rect">
            <a:avLst/>
          </a:prstGeom>
          <a:noFill/>
        </p:spPr>
      </p:pic>
      <p:pic>
        <p:nvPicPr>
          <p:cNvPr id="360462" name="Picture 1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1200" y="4648200"/>
            <a:ext cx="7621588" cy="2209800"/>
          </a:xfrm>
          <a:prstGeom prst="rect">
            <a:avLst/>
          </a:prstGeom>
          <a:noFill/>
        </p:spPr>
      </p:pic>
      <p:sp>
        <p:nvSpPr>
          <p:cNvPr id="360457" name="Text Box 9"/>
          <p:cNvSpPr txBox="1">
            <a:spLocks noChangeArrowheads="1"/>
          </p:cNvSpPr>
          <p:nvPr/>
        </p:nvSpPr>
        <p:spPr bwMode="auto">
          <a:xfrm>
            <a:off x="1165225" y="4891088"/>
            <a:ext cx="7913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solidFill>
                  <a:schemeClr val="hlink"/>
                </a:solidFill>
                <a:latin typeface="Arial" charset="0"/>
              </a:rPr>
              <a:t>From Stefan-Boltzmann we have 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P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eAT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4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so that</a:t>
            </a:r>
            <a:endParaRPr lang="en-US" sz="240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60458" name="Text Box 10"/>
          <p:cNvSpPr txBox="1">
            <a:spLocks noChangeArrowheads="1"/>
          </p:cNvSpPr>
          <p:nvPr/>
        </p:nvSpPr>
        <p:spPr bwMode="auto">
          <a:xfrm>
            <a:off x="1293813" y="5238750"/>
            <a:ext cx="6494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P / A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(0.72)(5.6710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-8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)242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4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140 W</a:t>
            </a:r>
            <a:r>
              <a:rPr lang="en-US" sz="2400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.</a:t>
            </a:r>
          </a:p>
        </p:txBody>
      </p:sp>
      <p:pic>
        <p:nvPicPr>
          <p:cNvPr id="360465" name="Picture 1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87936" y="2792291"/>
            <a:ext cx="4038600" cy="1533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8663" y="3117850"/>
            <a:ext cx="4130675" cy="1185863"/>
          </a:xfrm>
          <a:prstGeom prst="rect">
            <a:avLst/>
          </a:prstGeom>
          <a:noFill/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0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0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0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0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0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0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0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0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7" grpId="0"/>
      <p:bldP spid="3604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ChangeArrowheads="1"/>
          </p:cNvSpPr>
          <p:nvPr/>
        </p:nvSpPr>
        <p:spPr bwMode="auto">
          <a:xfrm>
            <a:off x="685800" y="1879600"/>
            <a:ext cx="7772400" cy="497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7" name="Picture 1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87936" y="2792291"/>
            <a:ext cx="4038600" cy="1533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70691" name="Rectangle 3"/>
          <p:cNvSpPr>
            <a:spLocks noChangeArrowheads="1"/>
          </p:cNvSpPr>
          <p:nvPr/>
        </p:nvSpPr>
        <p:spPr bwMode="auto">
          <a:xfrm>
            <a:off x="685800" y="1401763"/>
            <a:ext cx="7772400" cy="4984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  <p:pic>
        <p:nvPicPr>
          <p:cNvPr id="370694" name="Picture 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922463"/>
            <a:ext cx="7739062" cy="1054100"/>
          </a:xfrm>
          <a:prstGeom prst="rect">
            <a:avLst/>
          </a:prstGeom>
          <a:noFill/>
        </p:spPr>
      </p:pic>
      <p:pic>
        <p:nvPicPr>
          <p:cNvPr id="37069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8663" y="3117850"/>
            <a:ext cx="4130675" cy="1185863"/>
          </a:xfrm>
          <a:prstGeom prst="rect">
            <a:avLst/>
          </a:prstGeom>
          <a:noFill/>
        </p:spPr>
      </p:pic>
      <p:pic>
        <p:nvPicPr>
          <p:cNvPr id="370696" name="Picture 8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6438" y="4344988"/>
            <a:ext cx="5688012" cy="285750"/>
          </a:xfrm>
          <a:prstGeom prst="rect">
            <a:avLst/>
          </a:prstGeom>
          <a:noFill/>
        </p:spPr>
      </p:pic>
      <p:pic>
        <p:nvPicPr>
          <p:cNvPr id="370700" name="Picture 12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9613" y="4645025"/>
            <a:ext cx="7726362" cy="1371600"/>
          </a:xfrm>
          <a:prstGeom prst="rect">
            <a:avLst/>
          </a:prstGeom>
          <a:noFill/>
        </p:spPr>
      </p:pic>
      <p:sp>
        <p:nvSpPr>
          <p:cNvPr id="370701" name="Text Box 13"/>
          <p:cNvSpPr txBox="1">
            <a:spLocks noChangeArrowheads="1"/>
          </p:cNvSpPr>
          <p:nvPr/>
        </p:nvSpPr>
        <p:spPr bwMode="auto">
          <a:xfrm>
            <a:off x="798513" y="5097463"/>
            <a:ext cx="8345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 i="1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P / A</a:t>
            </a:r>
            <a:r>
              <a:rPr lang="en-US" sz="24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 = (1)(5.6710</a:t>
            </a:r>
            <a:r>
              <a:rPr lang="en-US" sz="2400" baseline="300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-8</a:t>
            </a:r>
            <a:r>
              <a:rPr lang="en-US" sz="24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)288</a:t>
            </a:r>
            <a:r>
              <a:rPr lang="en-US" sz="2400" baseline="300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4</a:t>
            </a:r>
            <a:r>
              <a:rPr lang="en-US" sz="24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 = 390 W</a:t>
            </a:r>
            <a:r>
              <a:rPr lang="en-US" sz="2400" baseline="-250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 dirty="0">
                <a:solidFill>
                  <a:srgbClr val="FF3300"/>
                </a:solidFill>
                <a:latin typeface="Arial" charset="0"/>
                <a:sym typeface="Symbol" pitchFamily="18" charset="2"/>
              </a:rPr>
              <a:t> (amount radiated)</a:t>
            </a:r>
          </a:p>
        </p:txBody>
      </p:sp>
      <p:sp>
        <p:nvSpPr>
          <p:cNvPr id="370702" name="Rectangle 14"/>
          <p:cNvSpPr>
            <a:spLocks noChangeArrowheads="1"/>
          </p:cNvSpPr>
          <p:nvPr/>
        </p:nvSpPr>
        <p:spPr bwMode="auto">
          <a:xfrm>
            <a:off x="698500" y="2751138"/>
            <a:ext cx="3524250" cy="217487"/>
          </a:xfrm>
          <a:prstGeom prst="rect">
            <a:avLst/>
          </a:prstGeom>
          <a:solidFill>
            <a:srgbClr val="FF3300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0703" name="Text Box 15"/>
          <p:cNvSpPr txBox="1">
            <a:spLocks noChangeArrowheads="1"/>
          </p:cNvSpPr>
          <p:nvPr/>
        </p:nvSpPr>
        <p:spPr bwMode="auto">
          <a:xfrm>
            <a:off x="809625" y="5521325"/>
            <a:ext cx="8334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P / A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140 W</a:t>
            </a:r>
            <a:r>
              <a:rPr lang="en-US" sz="2400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(amount absorbed from atmosphere)</a:t>
            </a:r>
          </a:p>
        </p:txBody>
      </p:sp>
      <p:sp>
        <p:nvSpPr>
          <p:cNvPr id="370704" name="Text Box 16"/>
          <p:cNvSpPr txBox="1">
            <a:spLocks noChangeArrowheads="1"/>
          </p:cNvSpPr>
          <p:nvPr/>
        </p:nvSpPr>
        <p:spPr bwMode="auto">
          <a:xfrm>
            <a:off x="817563" y="5937250"/>
            <a:ext cx="7913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rgbClr val="FF3300"/>
                </a:solidFill>
                <a:latin typeface="Arial" charset="0"/>
                <a:sym typeface="Symbol" pitchFamily="18" charset="2"/>
              </a:rPr>
              <a:t>390</a:t>
            </a:r>
            <a:r>
              <a:rPr lang="en-US" sz="24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– 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140</a:t>
            </a:r>
            <a:r>
              <a:rPr lang="en-US" sz="24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=</a:t>
            </a:r>
            <a:r>
              <a:rPr lang="en-US" sz="24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 250 W</a:t>
            </a:r>
            <a:r>
              <a:rPr lang="en-US" sz="2400" baseline="-250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 (amount absorbed from sun).</a:t>
            </a:r>
          </a:p>
        </p:txBody>
      </p:sp>
      <p:sp>
        <p:nvSpPr>
          <p:cNvPr id="370705" name="Rectangle 17"/>
          <p:cNvSpPr>
            <a:spLocks noChangeArrowheads="1"/>
          </p:cNvSpPr>
          <p:nvPr/>
        </p:nvSpPr>
        <p:spPr bwMode="auto">
          <a:xfrm>
            <a:off x="4344988" y="2236788"/>
            <a:ext cx="1839912" cy="217487"/>
          </a:xfrm>
          <a:prstGeom prst="rect">
            <a:avLst/>
          </a:prstGeom>
          <a:solidFill>
            <a:srgbClr val="008000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008000"/>
              </a:solidFill>
            </a:endParaRPr>
          </a:p>
        </p:txBody>
      </p:sp>
      <p:sp>
        <p:nvSpPr>
          <p:cNvPr id="370706" name="Rectangle 18"/>
          <p:cNvSpPr>
            <a:spLocks noChangeArrowheads="1"/>
          </p:cNvSpPr>
          <p:nvPr/>
        </p:nvSpPr>
        <p:spPr bwMode="auto">
          <a:xfrm>
            <a:off x="5121377" y="3638330"/>
            <a:ext cx="1588912" cy="272489"/>
          </a:xfrm>
          <a:prstGeom prst="rect">
            <a:avLst/>
          </a:prstGeom>
          <a:solidFill>
            <a:schemeClr val="hlink">
              <a:alpha val="35001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008000"/>
              </a:solidFill>
            </a:endParaRPr>
          </a:p>
        </p:txBody>
      </p:sp>
      <p:sp>
        <p:nvSpPr>
          <p:cNvPr id="370707" name="Rectangle 19"/>
          <p:cNvSpPr>
            <a:spLocks noChangeArrowheads="1"/>
          </p:cNvSpPr>
          <p:nvPr/>
        </p:nvSpPr>
        <p:spPr bwMode="auto">
          <a:xfrm>
            <a:off x="7061983" y="3608606"/>
            <a:ext cx="1187276" cy="302211"/>
          </a:xfrm>
          <a:prstGeom prst="rect">
            <a:avLst/>
          </a:prstGeom>
          <a:solidFill>
            <a:srgbClr val="008000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0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0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0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0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0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0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0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701" grpId="0"/>
      <p:bldP spid="370702" grpId="0" animBg="1"/>
      <p:bldP spid="370703" grpId="0"/>
      <p:bldP spid="370704" grpId="0"/>
      <p:bldP spid="370705" grpId="0" animBg="1"/>
      <p:bldP spid="370706" grpId="0" animBg="1"/>
      <p:bldP spid="37070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ChangeArrowheads="1"/>
          </p:cNvSpPr>
          <p:nvPr/>
        </p:nvSpPr>
        <p:spPr bwMode="auto">
          <a:xfrm>
            <a:off x="685800" y="1879600"/>
            <a:ext cx="7772400" cy="497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1" name="Picture 1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87936" y="2792291"/>
            <a:ext cx="4038600" cy="1533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72739" name="Rectangle 3"/>
          <p:cNvSpPr>
            <a:spLocks noChangeArrowheads="1"/>
          </p:cNvSpPr>
          <p:nvPr/>
        </p:nvSpPr>
        <p:spPr bwMode="auto">
          <a:xfrm>
            <a:off x="685800" y="1401763"/>
            <a:ext cx="7772400" cy="4984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  <p:pic>
        <p:nvPicPr>
          <p:cNvPr id="372742" name="Picture 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922463"/>
            <a:ext cx="7739062" cy="1054100"/>
          </a:xfrm>
          <a:prstGeom prst="rect">
            <a:avLst/>
          </a:prstGeom>
          <a:noFill/>
        </p:spPr>
      </p:pic>
      <p:pic>
        <p:nvPicPr>
          <p:cNvPr id="372753" name="Picture 1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3263" y="4402138"/>
            <a:ext cx="7753350" cy="809625"/>
          </a:xfrm>
          <a:prstGeom prst="rect">
            <a:avLst/>
          </a:prstGeom>
          <a:noFill/>
        </p:spPr>
      </p:pic>
      <p:pic>
        <p:nvPicPr>
          <p:cNvPr id="372754" name="Picture 18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5251450"/>
            <a:ext cx="7745412" cy="1485900"/>
          </a:xfrm>
          <a:prstGeom prst="rect">
            <a:avLst/>
          </a:prstGeom>
          <a:noFill/>
        </p:spPr>
      </p:pic>
      <p:sp>
        <p:nvSpPr>
          <p:cNvPr id="372755" name="Text Box 19"/>
          <p:cNvSpPr txBox="1">
            <a:spLocks noChangeArrowheads="1"/>
          </p:cNvSpPr>
          <p:nvPr/>
        </p:nvSpPr>
        <p:spPr bwMode="auto">
          <a:xfrm>
            <a:off x="1296988" y="5441950"/>
            <a:ext cx="7132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P / A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(0.72)(5.6710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-8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)(242 + 6)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4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154 W</a:t>
            </a:r>
            <a:r>
              <a:rPr lang="en-US" sz="2400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.</a:t>
            </a: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8663" y="3117850"/>
            <a:ext cx="4130675" cy="1185863"/>
          </a:xfrm>
          <a:prstGeom prst="rect">
            <a:avLst/>
          </a:prstGeom>
          <a:noFill/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2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2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2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2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2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5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ChangeArrowheads="1"/>
          </p:cNvSpPr>
          <p:nvPr/>
        </p:nvSpPr>
        <p:spPr bwMode="auto">
          <a:xfrm>
            <a:off x="685800" y="1879600"/>
            <a:ext cx="7772400" cy="497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4787" name="Rectangle 3"/>
          <p:cNvSpPr>
            <a:spLocks noChangeArrowheads="1"/>
          </p:cNvSpPr>
          <p:nvPr/>
        </p:nvSpPr>
        <p:spPr bwMode="auto">
          <a:xfrm>
            <a:off x="685800" y="1401763"/>
            <a:ext cx="7772400" cy="4984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  <p:pic>
        <p:nvPicPr>
          <p:cNvPr id="374790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922463"/>
            <a:ext cx="7739062" cy="1054100"/>
          </a:xfrm>
          <a:prstGeom prst="rect">
            <a:avLst/>
          </a:prstGeom>
          <a:noFill/>
        </p:spPr>
      </p:pic>
      <p:pic>
        <p:nvPicPr>
          <p:cNvPr id="374792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3263" y="4402138"/>
            <a:ext cx="7753350" cy="809625"/>
          </a:xfrm>
          <a:prstGeom prst="rect">
            <a:avLst/>
          </a:prstGeom>
          <a:noFill/>
        </p:spPr>
      </p:pic>
      <p:pic>
        <p:nvPicPr>
          <p:cNvPr id="374795" name="Picture 1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5233988"/>
            <a:ext cx="7745412" cy="962025"/>
          </a:xfrm>
          <a:prstGeom prst="rect">
            <a:avLst/>
          </a:prstGeom>
          <a:noFill/>
        </p:spPr>
      </p:pic>
      <p:sp>
        <p:nvSpPr>
          <p:cNvPr id="374796" name="Text Box 12"/>
          <p:cNvSpPr txBox="1">
            <a:spLocks noChangeArrowheads="1"/>
          </p:cNvSpPr>
          <p:nvPr/>
        </p:nvSpPr>
        <p:spPr bwMode="auto">
          <a:xfrm>
            <a:off x="1160463" y="5376863"/>
            <a:ext cx="7913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Amount absorbed from sun 250 W</a:t>
            </a:r>
            <a:r>
              <a:rPr lang="en-US" sz="2400" baseline="-250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solidFill>
                  <a:srgbClr val="008000"/>
                </a:solidFill>
                <a:latin typeface="Arial" charset="0"/>
                <a:sym typeface="Symbol" pitchFamily="18" charset="2"/>
              </a:rPr>
              <a:t> is still same.</a:t>
            </a:r>
          </a:p>
        </p:txBody>
      </p:sp>
      <p:sp>
        <p:nvSpPr>
          <p:cNvPr id="374797" name="Text Box 13"/>
          <p:cNvSpPr txBox="1">
            <a:spLocks noChangeArrowheads="1"/>
          </p:cNvSpPr>
          <p:nvPr/>
        </p:nvSpPr>
        <p:spPr bwMode="auto">
          <a:xfrm>
            <a:off x="1158875" y="5738813"/>
            <a:ext cx="7132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P / A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154 W</a:t>
            </a:r>
            <a:r>
              <a:rPr lang="en-US" sz="2400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+ 250 W</a:t>
            </a:r>
            <a:r>
              <a:rPr lang="en-US" sz="2400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404 W</a:t>
            </a:r>
            <a:r>
              <a:rPr lang="en-US" sz="2400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m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.</a:t>
            </a:r>
            <a:r>
              <a:rPr lang="en-US" sz="2400">
                <a:latin typeface="Arial" charset="0"/>
                <a:sym typeface="Symbol" pitchFamily="18" charset="2"/>
              </a:rPr>
              <a:t> </a:t>
            </a:r>
          </a:p>
        </p:txBody>
      </p:sp>
      <p:pic>
        <p:nvPicPr>
          <p:cNvPr id="12" name="Picture 1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87936" y="2792291"/>
            <a:ext cx="4038600" cy="1533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8663" y="3117850"/>
            <a:ext cx="4130675" cy="1185863"/>
          </a:xfrm>
          <a:prstGeom prst="rect">
            <a:avLst/>
          </a:prstGeom>
          <a:noFill/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4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4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4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4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4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4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96" grpId="0"/>
      <p:bldP spid="37479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ChangeArrowheads="1"/>
          </p:cNvSpPr>
          <p:nvPr/>
        </p:nvSpPr>
        <p:spPr bwMode="auto">
          <a:xfrm>
            <a:off x="685800" y="1879600"/>
            <a:ext cx="7772400" cy="497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685800" y="1401763"/>
            <a:ext cx="7772400" cy="4984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Energy balance in Earth surface / atmosphere system</a:t>
            </a:r>
          </a:p>
        </p:txBody>
      </p:sp>
      <p:pic>
        <p:nvPicPr>
          <p:cNvPr id="376838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922463"/>
            <a:ext cx="7739062" cy="1054100"/>
          </a:xfrm>
          <a:prstGeom prst="rect">
            <a:avLst/>
          </a:prstGeom>
          <a:noFill/>
        </p:spPr>
      </p:pic>
      <p:pic>
        <p:nvPicPr>
          <p:cNvPr id="37683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8663" y="3117850"/>
            <a:ext cx="4130675" cy="1185863"/>
          </a:xfrm>
          <a:prstGeom prst="rect">
            <a:avLst/>
          </a:prstGeom>
          <a:noFill/>
        </p:spPr>
      </p:pic>
      <p:pic>
        <p:nvPicPr>
          <p:cNvPr id="376844" name="Picture 12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4538" y="4443413"/>
            <a:ext cx="7691437" cy="1430337"/>
          </a:xfrm>
          <a:prstGeom prst="rect">
            <a:avLst/>
          </a:prstGeom>
          <a:noFill/>
        </p:spPr>
      </p:pic>
      <p:sp>
        <p:nvSpPr>
          <p:cNvPr id="376845" name="Text Box 13"/>
          <p:cNvSpPr txBox="1">
            <a:spLocks noChangeArrowheads="1"/>
          </p:cNvSpPr>
          <p:nvPr/>
        </p:nvSpPr>
        <p:spPr bwMode="auto">
          <a:xfrm>
            <a:off x="809625" y="4637088"/>
            <a:ext cx="7661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solidFill>
                  <a:schemeClr val="hlink"/>
                </a:solidFill>
                <a:latin typeface="Arial" charset="0"/>
              </a:rPr>
              <a:t>From Stefan-Boltzmann we have 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P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AT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4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.</a:t>
            </a:r>
            <a:endParaRPr lang="en-US" sz="240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76846" name="Text Box 14"/>
          <p:cNvSpPr txBox="1">
            <a:spLocks noChangeArrowheads="1"/>
          </p:cNvSpPr>
          <p:nvPr/>
        </p:nvSpPr>
        <p:spPr bwMode="auto">
          <a:xfrm>
            <a:off x="811213" y="5021263"/>
            <a:ext cx="7661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Thus 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P / A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T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4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or 404 = 5.6710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-8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T</a:t>
            </a:r>
            <a:r>
              <a:rPr lang="en-US" sz="2400" baseline="30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4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, and </a:t>
            </a:r>
          </a:p>
        </p:txBody>
      </p:sp>
      <p:sp>
        <p:nvSpPr>
          <p:cNvPr id="376847" name="Text Box 15"/>
          <p:cNvSpPr txBox="1">
            <a:spLocks noChangeArrowheads="1"/>
          </p:cNvSpPr>
          <p:nvPr/>
        </p:nvSpPr>
        <p:spPr bwMode="auto">
          <a:xfrm>
            <a:off x="808038" y="5426075"/>
            <a:ext cx="7661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</a:t>
            </a:r>
            <a:r>
              <a:rPr lang="en-US" sz="2400" i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T</a:t>
            </a:r>
            <a:r>
              <a:rPr lang="en-US" sz="24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 = 291 K, or an increase of 291 – 288 = 3 K.</a:t>
            </a:r>
          </a:p>
        </p:txBody>
      </p:sp>
      <p:pic>
        <p:nvPicPr>
          <p:cNvPr id="12" name="Picture 1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87936" y="2792291"/>
            <a:ext cx="4038600" cy="1533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6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6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6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6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6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6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6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6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45" grpId="0"/>
      <p:bldP spid="376846" grpId="0"/>
      <p:bldP spid="37684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2" name="Rectangle 4"/>
          <p:cNvSpPr>
            <a:spLocks noChangeArrowheads="1"/>
          </p:cNvSpPr>
          <p:nvPr/>
        </p:nvSpPr>
        <p:spPr bwMode="auto">
          <a:xfrm>
            <a:off x="682625" y="5754688"/>
            <a:ext cx="4778375" cy="1103312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</a:pPr>
            <a:r>
              <a:rPr lang="en-US" sz="2400" b="1" i="1">
                <a:latin typeface="Arial" charset="0"/>
              </a:rPr>
              <a:t>FYI</a:t>
            </a:r>
            <a:r>
              <a:rPr lang="en-US" sz="2400" b="1">
                <a:latin typeface="Arial" charset="0"/>
                <a:sym typeface="Symbol" pitchFamily="18" charset="2"/>
              </a:rPr>
              <a:t>  </a:t>
            </a:r>
            <a:r>
              <a:rPr lang="en-US" sz="2400">
                <a:latin typeface="Arial" charset="0"/>
                <a:sym typeface="Symbol" pitchFamily="18" charset="2"/>
              </a:rPr>
              <a:t>Water IN represents the incoming energy and water OUT represents the outgoing energy.</a:t>
            </a:r>
          </a:p>
        </p:txBody>
      </p:sp>
      <p:sp>
        <p:nvSpPr>
          <p:cNvPr id="380930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3973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 simple 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Excel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global warming model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Real global warming models are complex, because the earth and all of its energy-exchanging and storing systems are extremely complex. Supercomputers are used with some success.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To gain some sort of insight into computer modeling, consider the following simple model: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5 kg of water is added to an                              aquarium once each second.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10% of the water is removed from                                   the aquarium once each second.</a:t>
            </a:r>
          </a:p>
        </p:txBody>
      </p:sp>
      <p:pic>
        <p:nvPicPr>
          <p:cNvPr id="38093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91175" y="3967163"/>
            <a:ext cx="3552825" cy="2890837"/>
          </a:xfrm>
          <a:prstGeom prst="rect">
            <a:avLst/>
          </a:prstGeom>
          <a:noFill/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 simple 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Excel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global warming model</a:t>
            </a:r>
            <a:endParaRPr 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0" hangingPunct="0">
              <a:spcBef>
                <a:spcPct val="1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At first glance it might appear that the water level will never stop increasing.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But consider the time when 5 kg is exactly 10% of the total water in the aquarium.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From that time on, the water will be removed exactly as fast as it is added.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>
                <a:solidFill>
                  <a:srgbClr val="000000"/>
                </a:solidFill>
                <a:latin typeface="Arial" charset="0"/>
                <a:cs typeface="Times New Roman" pitchFamily="18" charset="0"/>
                <a:sym typeface="Symbol" pitchFamily="18" charset="2"/>
              </a:rPr>
              <a:t>Thus, at that time the “energy”                           represented by the water mass                                            will have reached equilibrium.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 b="1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  <a:sym typeface="Symbol" pitchFamily="18" charset="2"/>
              </a:rPr>
              <a:t>The challenge is to find out how                                    long it takes to reach equilibrium.</a:t>
            </a:r>
          </a:p>
          <a:p>
            <a:pPr eaLnBrk="0" hangingPunct="0">
              <a:spcBef>
                <a:spcPct val="10000"/>
              </a:spcBef>
            </a:pPr>
            <a:r>
              <a:rPr lang="en-US" sz="2400" b="1">
                <a:latin typeface="Arial" charset="0"/>
                <a:sym typeface="Symbol" pitchFamily="18" charset="2"/>
              </a:rPr>
              <a:t></a:t>
            </a:r>
            <a:r>
              <a:rPr lang="en-US" sz="2400">
                <a:latin typeface="Arial" charset="0"/>
                <a:sym typeface="Symbol" pitchFamily="18" charset="2"/>
              </a:rPr>
              <a:t>Hand calculations are tedious                                          but possible:</a:t>
            </a:r>
          </a:p>
        </p:txBody>
      </p:sp>
      <p:pic>
        <p:nvPicPr>
          <p:cNvPr id="382980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91175" y="3967163"/>
            <a:ext cx="3552825" cy="2890837"/>
          </a:xfrm>
          <a:prstGeom prst="rect">
            <a:avLst/>
          </a:prstGeom>
          <a:noFill/>
        </p:spPr>
      </p:pic>
      <p:sp>
        <p:nvSpPr>
          <p:cNvPr id="382981" name="Freeform 5"/>
          <p:cNvSpPr>
            <a:spLocks/>
          </p:cNvSpPr>
          <p:nvPr/>
        </p:nvSpPr>
        <p:spPr bwMode="auto">
          <a:xfrm>
            <a:off x="5678488" y="5870575"/>
            <a:ext cx="3333750" cy="565150"/>
          </a:xfrm>
          <a:custGeom>
            <a:avLst/>
            <a:gdLst/>
            <a:ahLst/>
            <a:cxnLst>
              <a:cxn ang="0">
                <a:pos x="0" y="159"/>
              </a:cxn>
              <a:cxn ang="0">
                <a:pos x="402" y="356"/>
              </a:cxn>
              <a:cxn ang="0">
                <a:pos x="2100" y="151"/>
              </a:cxn>
              <a:cxn ang="0">
                <a:pos x="1592" y="0"/>
              </a:cxn>
              <a:cxn ang="0">
                <a:pos x="0" y="159"/>
              </a:cxn>
            </a:cxnLst>
            <a:rect l="0" t="0" r="r" b="b"/>
            <a:pathLst>
              <a:path w="2100" h="356">
                <a:moveTo>
                  <a:pt x="0" y="159"/>
                </a:moveTo>
                <a:lnTo>
                  <a:pt x="402" y="356"/>
                </a:lnTo>
                <a:lnTo>
                  <a:pt x="2100" y="151"/>
                </a:lnTo>
                <a:lnTo>
                  <a:pt x="1592" y="0"/>
                </a:lnTo>
                <a:lnTo>
                  <a:pt x="0" y="159"/>
                </a:lnTo>
                <a:close/>
              </a:path>
            </a:pathLst>
          </a:custGeom>
          <a:solidFill>
            <a:srgbClr val="009999">
              <a:alpha val="2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2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2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2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2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2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2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2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2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2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2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2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2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22222E-6 L -0.00104 -0.14907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-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1" grpId="0" animBg="1"/>
      <p:bldP spid="382981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8" name="Rectangle 4"/>
          <p:cNvSpPr>
            <a:spLocks noChangeArrowheads="1"/>
          </p:cNvSpPr>
          <p:nvPr/>
        </p:nvSpPr>
        <p:spPr bwMode="auto">
          <a:xfrm>
            <a:off x="685800" y="1771650"/>
            <a:ext cx="7772400" cy="50863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>
                <a:latin typeface="Arial" charset="0"/>
              </a:rPr>
              <a:t>PRACTICE: For the water model just proposed, complete the table:</a:t>
            </a:r>
          </a:p>
          <a:p>
            <a:endParaRPr lang="en-US" sz="2400">
              <a:latin typeface="Arial" charset="0"/>
            </a:endParaRPr>
          </a:p>
          <a:p>
            <a:endParaRPr lang="en-US" sz="2400">
              <a:latin typeface="Arial" charset="0"/>
            </a:endParaRPr>
          </a:p>
          <a:p>
            <a:endParaRPr lang="en-US" sz="2400">
              <a:latin typeface="Arial" charset="0"/>
            </a:endParaRPr>
          </a:p>
          <a:p>
            <a:endParaRPr lang="en-US" sz="2400">
              <a:latin typeface="Arial" charset="0"/>
            </a:endParaRPr>
          </a:p>
          <a:p>
            <a:endParaRPr lang="en-US" sz="2400">
              <a:latin typeface="Arial" charset="0"/>
            </a:endParaRPr>
          </a:p>
          <a:p>
            <a:endParaRPr lang="en-US" sz="2400">
              <a:latin typeface="Arial" charset="0"/>
            </a:endParaRPr>
          </a:p>
          <a:p>
            <a:endParaRPr lang="en-US" sz="2400">
              <a:latin typeface="Arial" charset="0"/>
            </a:endParaRPr>
          </a:p>
          <a:p>
            <a:r>
              <a:rPr lang="en-US" sz="2400">
                <a:latin typeface="Arial" charset="0"/>
              </a:rPr>
              <a:t>SOLUTION: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The next cell would be 8.55 + 5 = 13.55.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The next cell would be 0.10(13.55) = 1.355.</a:t>
            </a:r>
          </a:p>
          <a:p>
            <a:r>
              <a:rPr lang="en-US" sz="2400">
                <a:latin typeface="Arial" charset="0"/>
                <a:sym typeface="Symbol" pitchFamily="18" charset="2"/>
              </a:rPr>
              <a:t>The next cell would be 13.55 – 1.355 = 12.195.</a:t>
            </a:r>
          </a:p>
        </p:txBody>
      </p:sp>
      <p:pic>
        <p:nvPicPr>
          <p:cNvPr id="385070" name="Picture 4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8713" y="2599600"/>
            <a:ext cx="6886575" cy="2362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5067" name="Text Box 43"/>
          <p:cNvSpPr txBox="1">
            <a:spLocks noChangeArrowheads="1"/>
          </p:cNvSpPr>
          <p:nvPr/>
        </p:nvSpPr>
        <p:spPr bwMode="auto">
          <a:xfrm>
            <a:off x="3886200" y="4478338"/>
            <a:ext cx="819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CC99"/>
                </a:solidFill>
                <a:latin typeface="Arial" charset="0"/>
              </a:rPr>
              <a:t>13.55</a:t>
            </a:r>
          </a:p>
        </p:txBody>
      </p:sp>
      <p:sp>
        <p:nvSpPr>
          <p:cNvPr id="385068" name="Text Box 44"/>
          <p:cNvSpPr txBox="1">
            <a:spLocks noChangeArrowheads="1"/>
          </p:cNvSpPr>
          <p:nvPr/>
        </p:nvSpPr>
        <p:spPr bwMode="auto">
          <a:xfrm>
            <a:off x="5403850" y="4479925"/>
            <a:ext cx="819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CC99"/>
                </a:solidFill>
                <a:latin typeface="Arial" charset="0"/>
              </a:rPr>
              <a:t>1.355</a:t>
            </a:r>
          </a:p>
        </p:txBody>
      </p:sp>
      <p:sp>
        <p:nvSpPr>
          <p:cNvPr id="385069" name="Text Box 45"/>
          <p:cNvSpPr txBox="1">
            <a:spLocks noChangeArrowheads="1"/>
          </p:cNvSpPr>
          <p:nvPr/>
        </p:nvSpPr>
        <p:spPr bwMode="auto">
          <a:xfrm>
            <a:off x="6727825" y="4481513"/>
            <a:ext cx="960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CC99"/>
                </a:solidFill>
                <a:latin typeface="Arial" charset="0"/>
              </a:rPr>
              <a:t>12.195</a:t>
            </a:r>
          </a:p>
        </p:txBody>
      </p:sp>
      <p:sp>
        <p:nvSpPr>
          <p:cNvPr id="385026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270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 simple 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Excel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global warming model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5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5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5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5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" fill="hold"/>
                                        <p:tgtEl>
                                          <p:spTgt spid="385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" fill="hold"/>
                                        <p:tgtEl>
                                          <p:spTgt spid="385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50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50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" fill="hold"/>
                                        <p:tgtEl>
                                          <p:spTgt spid="38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" fill="hold"/>
                                        <p:tgtEl>
                                          <p:spTgt spid="38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50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50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" fill="hold"/>
                                        <p:tgtEl>
                                          <p:spTgt spid="38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" fill="hold"/>
                                        <p:tgtEl>
                                          <p:spTgt spid="38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67" grpId="0" autoUpdateAnimBg="0"/>
      <p:bldP spid="385068" grpId="0" autoUpdateAnimBg="0"/>
      <p:bldP spid="385069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6" name="Rectangle 4"/>
          <p:cNvSpPr>
            <a:spLocks noChangeArrowheads="1"/>
          </p:cNvSpPr>
          <p:nvPr/>
        </p:nvSpPr>
        <p:spPr bwMode="auto">
          <a:xfrm>
            <a:off x="674688" y="1806575"/>
            <a:ext cx="7772400" cy="50514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Create a spreadsheet to determine what the mass will be when the aquarium reaches equilibrium and how many seconds it will take.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 Create a new spreadsheet with five columns as shown here:</a:t>
            </a: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Highlight cell A3 and type in </a:t>
            </a:r>
            <a:r>
              <a:rPr lang="en-US" sz="2400" b="1" i="1">
                <a:latin typeface="Arial" charset="0"/>
                <a:sym typeface="Symbol" pitchFamily="18" charset="2"/>
              </a:rPr>
              <a:t>=A2+1</a:t>
            </a:r>
            <a:r>
              <a:rPr lang="en-US" sz="2400">
                <a:latin typeface="Arial" charset="0"/>
                <a:sym typeface="Symbol" pitchFamily="18" charset="2"/>
              </a:rPr>
              <a:t> as shown.</a:t>
            </a: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This will increment the A cells by 1 second.</a:t>
            </a:r>
          </a:p>
        </p:txBody>
      </p:sp>
      <p:pic>
        <p:nvPicPr>
          <p:cNvPr id="387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60550" y="3762375"/>
            <a:ext cx="5584825" cy="80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87078" name="Group 6"/>
          <p:cNvGrpSpPr>
            <a:grpSpLocks/>
          </p:cNvGrpSpPr>
          <p:nvPr/>
        </p:nvGrpSpPr>
        <p:grpSpPr bwMode="auto">
          <a:xfrm>
            <a:off x="1855788" y="5091113"/>
            <a:ext cx="5600700" cy="1343025"/>
            <a:chOff x="987" y="3119"/>
            <a:chExt cx="3710" cy="890"/>
          </a:xfrm>
        </p:grpSpPr>
        <p:pic>
          <p:nvPicPr>
            <p:cNvPr id="387079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87" y="3119"/>
              <a:ext cx="3710" cy="8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87080" name="Rectangle 8"/>
            <p:cNvSpPr>
              <a:spLocks noChangeArrowheads="1"/>
            </p:cNvSpPr>
            <p:nvPr/>
          </p:nvSpPr>
          <p:spPr bwMode="auto">
            <a:xfrm>
              <a:off x="2691" y="3850"/>
              <a:ext cx="545" cy="13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7081" name="Rectangle 9"/>
            <p:cNvSpPr>
              <a:spLocks noChangeArrowheads="1"/>
            </p:cNvSpPr>
            <p:nvPr/>
          </p:nvSpPr>
          <p:spPr bwMode="auto">
            <a:xfrm>
              <a:off x="3458" y="3844"/>
              <a:ext cx="545" cy="13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7082" name="Rectangle 10"/>
            <p:cNvSpPr>
              <a:spLocks noChangeArrowheads="1"/>
            </p:cNvSpPr>
            <p:nvPr/>
          </p:nvSpPr>
          <p:spPr bwMode="auto">
            <a:xfrm>
              <a:off x="4087" y="3851"/>
              <a:ext cx="545" cy="13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7083" name="Rectangle 11"/>
          <p:cNvSpPr>
            <a:spLocks noChangeArrowheads="1"/>
          </p:cNvSpPr>
          <p:nvPr/>
        </p:nvSpPr>
        <p:spPr bwMode="auto">
          <a:xfrm>
            <a:off x="4414838" y="5102225"/>
            <a:ext cx="795337" cy="288925"/>
          </a:xfrm>
          <a:prstGeom prst="rect">
            <a:avLst/>
          </a:prstGeom>
          <a:solidFill>
            <a:srgbClr val="FF6600">
              <a:alpha val="24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7084" name="Rectangle 12"/>
          <p:cNvSpPr>
            <a:spLocks noChangeArrowheads="1"/>
          </p:cNvSpPr>
          <p:nvPr/>
        </p:nvSpPr>
        <p:spPr bwMode="auto">
          <a:xfrm>
            <a:off x="685800" y="1401763"/>
            <a:ext cx="7772400" cy="4270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 simple 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Excel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global warming model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7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7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7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7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38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7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7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8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7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7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8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4" name="Rectangle 4"/>
          <p:cNvSpPr>
            <a:spLocks noChangeArrowheads="1"/>
          </p:cNvSpPr>
          <p:nvPr/>
        </p:nvSpPr>
        <p:spPr bwMode="auto">
          <a:xfrm>
            <a:off x="674688" y="1806575"/>
            <a:ext cx="7772400" cy="50514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Create a spreadsheet to determine what the mass will be when the aquarium reaches equilibrium and how many seconds it will take.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Highlight cell B2 and enter 5.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Highlight cell C3 and type in </a:t>
            </a:r>
            <a:r>
              <a:rPr lang="en-US" sz="2400" b="1" i="1">
                <a:latin typeface="Arial" charset="0"/>
                <a:sym typeface="Symbol" pitchFamily="18" charset="2"/>
              </a:rPr>
              <a:t>=B3+E2</a:t>
            </a:r>
            <a:r>
              <a:rPr lang="en-US" sz="2400">
                <a:latin typeface="Arial" charset="0"/>
                <a:sym typeface="Symbol" pitchFamily="18" charset="2"/>
              </a:rPr>
              <a:t> as shown.</a:t>
            </a: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This will add the new input of 5 to the previous total.  </a:t>
            </a:r>
          </a:p>
        </p:txBody>
      </p:sp>
      <p:grpSp>
        <p:nvGrpSpPr>
          <p:cNvPr id="389125" name="Group 5"/>
          <p:cNvGrpSpPr>
            <a:grpSpLocks/>
          </p:cNvGrpSpPr>
          <p:nvPr/>
        </p:nvGrpSpPr>
        <p:grpSpPr bwMode="auto">
          <a:xfrm>
            <a:off x="1963738" y="4322763"/>
            <a:ext cx="5443537" cy="1277937"/>
            <a:chOff x="554" y="3114"/>
            <a:chExt cx="4567" cy="1072"/>
          </a:xfrm>
        </p:grpSpPr>
        <p:pic>
          <p:nvPicPr>
            <p:cNvPr id="389126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54" y="3114"/>
              <a:ext cx="4567" cy="10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89127" name="Rectangle 7"/>
            <p:cNvSpPr>
              <a:spLocks noChangeArrowheads="1"/>
            </p:cNvSpPr>
            <p:nvPr/>
          </p:nvSpPr>
          <p:spPr bwMode="auto">
            <a:xfrm>
              <a:off x="3638" y="3987"/>
              <a:ext cx="614" cy="1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128" name="Rectangle 8"/>
            <p:cNvSpPr>
              <a:spLocks noChangeArrowheads="1"/>
            </p:cNvSpPr>
            <p:nvPr/>
          </p:nvSpPr>
          <p:spPr bwMode="auto">
            <a:xfrm>
              <a:off x="4413" y="3988"/>
              <a:ext cx="614" cy="1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9129" name="Rectangle 9"/>
          <p:cNvSpPr>
            <a:spLocks noChangeArrowheads="1"/>
          </p:cNvSpPr>
          <p:nvPr/>
        </p:nvSpPr>
        <p:spPr bwMode="auto">
          <a:xfrm>
            <a:off x="685800" y="1401763"/>
            <a:ext cx="7772400" cy="4270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 simple 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Excel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global warming model</a:t>
            </a:r>
          </a:p>
        </p:txBody>
      </p:sp>
      <p:sp>
        <p:nvSpPr>
          <p:cNvPr id="389130" name="Rectangle 10"/>
          <p:cNvSpPr>
            <a:spLocks noChangeArrowheads="1"/>
          </p:cNvSpPr>
          <p:nvPr/>
        </p:nvSpPr>
        <p:spPr bwMode="auto">
          <a:xfrm>
            <a:off x="4462463" y="4308475"/>
            <a:ext cx="890587" cy="288925"/>
          </a:xfrm>
          <a:prstGeom prst="rect">
            <a:avLst/>
          </a:prstGeom>
          <a:solidFill>
            <a:srgbClr val="FF6600">
              <a:alpha val="24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9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9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2" name="Rectangle 4"/>
          <p:cNvSpPr>
            <a:spLocks noChangeArrowheads="1"/>
          </p:cNvSpPr>
          <p:nvPr/>
        </p:nvSpPr>
        <p:spPr bwMode="auto">
          <a:xfrm>
            <a:off x="674688" y="1806575"/>
            <a:ext cx="7772400" cy="50514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Create a spreadsheet to determine what the mass will be when the aquarium reaches equilibrium and how many seconds it will take. </a:t>
            </a:r>
          </a:p>
          <a:p>
            <a:pPr eaLnBrk="0" hangingPunct="0"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</a:t>
            </a:r>
          </a:p>
          <a:p>
            <a:pPr eaLnBrk="0" hangingPunct="0"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Highlight cell D3 and enter </a:t>
            </a:r>
            <a:r>
              <a:rPr lang="en-US" sz="2400" b="1" i="1">
                <a:latin typeface="Arial" charset="0"/>
                <a:sym typeface="Symbol" pitchFamily="18" charset="2"/>
              </a:rPr>
              <a:t>=0.1*C3</a:t>
            </a:r>
            <a:r>
              <a:rPr lang="en-US" sz="2400">
                <a:latin typeface="Arial" charset="0"/>
                <a:sym typeface="Symbol" pitchFamily="18" charset="2"/>
              </a:rPr>
              <a:t>. </a:t>
            </a:r>
          </a:p>
          <a:p>
            <a:pPr eaLnBrk="0" hangingPunct="0">
              <a:spcBef>
                <a:spcPct val="15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endParaRPr lang="en-US" sz="2400">
              <a:latin typeface="Arial" charset="0"/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Highlight cell E3 and enter </a:t>
            </a:r>
            <a:r>
              <a:rPr lang="en-US" sz="2400" b="1" i="1">
                <a:latin typeface="Arial" charset="0"/>
                <a:sym typeface="Symbol" pitchFamily="18" charset="2"/>
              </a:rPr>
              <a:t>=C3-D3</a:t>
            </a:r>
            <a:r>
              <a:rPr lang="en-US" sz="2400">
                <a:latin typeface="Arial" charset="0"/>
                <a:sym typeface="Symbol" pitchFamily="18" charset="2"/>
              </a:rPr>
              <a:t>.</a:t>
            </a:r>
          </a:p>
        </p:txBody>
      </p:sp>
      <p:pic>
        <p:nvPicPr>
          <p:cNvPr id="391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4225" y="5480050"/>
            <a:ext cx="5321300" cy="1266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91174" name="Group 6"/>
          <p:cNvGrpSpPr>
            <a:grpSpLocks/>
          </p:cNvGrpSpPr>
          <p:nvPr/>
        </p:nvGrpSpPr>
        <p:grpSpPr bwMode="auto">
          <a:xfrm>
            <a:off x="2062163" y="3784600"/>
            <a:ext cx="5340350" cy="1266825"/>
            <a:chOff x="994" y="2225"/>
            <a:chExt cx="3669" cy="870"/>
          </a:xfrm>
        </p:grpSpPr>
        <p:pic>
          <p:nvPicPr>
            <p:cNvPr id="391175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94" y="2225"/>
              <a:ext cx="3669" cy="87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91176" name="Rectangle 8"/>
            <p:cNvSpPr>
              <a:spLocks noChangeArrowheads="1"/>
            </p:cNvSpPr>
            <p:nvPr/>
          </p:nvSpPr>
          <p:spPr bwMode="auto">
            <a:xfrm>
              <a:off x="4123" y="2933"/>
              <a:ext cx="440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1177" name="Rectangle 9"/>
          <p:cNvSpPr>
            <a:spLocks noChangeArrowheads="1"/>
          </p:cNvSpPr>
          <p:nvPr/>
        </p:nvSpPr>
        <p:spPr bwMode="auto">
          <a:xfrm>
            <a:off x="685800" y="1401763"/>
            <a:ext cx="7772400" cy="4270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 simple 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Excel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global warming model</a:t>
            </a:r>
          </a:p>
        </p:txBody>
      </p:sp>
      <p:sp>
        <p:nvSpPr>
          <p:cNvPr id="391178" name="Rectangle 10"/>
          <p:cNvSpPr>
            <a:spLocks noChangeArrowheads="1"/>
          </p:cNvSpPr>
          <p:nvPr/>
        </p:nvSpPr>
        <p:spPr bwMode="auto">
          <a:xfrm>
            <a:off x="4511675" y="3790950"/>
            <a:ext cx="795338" cy="288925"/>
          </a:xfrm>
          <a:prstGeom prst="rect">
            <a:avLst/>
          </a:prstGeom>
          <a:solidFill>
            <a:srgbClr val="FF6600">
              <a:alpha val="24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1179" name="Rectangle 11"/>
          <p:cNvSpPr>
            <a:spLocks noChangeArrowheads="1"/>
          </p:cNvSpPr>
          <p:nvPr/>
        </p:nvSpPr>
        <p:spPr bwMode="auto">
          <a:xfrm>
            <a:off x="4475163" y="5462588"/>
            <a:ext cx="795337" cy="288925"/>
          </a:xfrm>
          <a:prstGeom prst="rect">
            <a:avLst/>
          </a:prstGeom>
          <a:solidFill>
            <a:srgbClr val="FF6600">
              <a:alpha val="24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39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1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1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9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8" grpId="0" animBg="1"/>
      <p:bldP spid="39117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20" name="Rectangle 4"/>
          <p:cNvSpPr>
            <a:spLocks noChangeArrowheads="1"/>
          </p:cNvSpPr>
          <p:nvPr/>
        </p:nvSpPr>
        <p:spPr bwMode="auto">
          <a:xfrm>
            <a:off x="674688" y="1806575"/>
            <a:ext cx="7772400" cy="50514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Create a spreadsheet to determine what the mass will be when the aquarium reaches equilibrium and how many seconds it will take.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Highlight cells                                                                   A3 through E3                                                                       all the way down                                                                 to about row 100.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Then select  </a:t>
            </a:r>
            <a:r>
              <a:rPr lang="en-US" sz="2400" i="1">
                <a:latin typeface="Arial" charset="0"/>
                <a:sym typeface="Symbol" pitchFamily="18" charset="2"/>
              </a:rPr>
              <a:t>EditFill                                                   Down</a:t>
            </a:r>
            <a:r>
              <a:rPr lang="en-US" sz="2400">
                <a:latin typeface="Arial" charset="0"/>
                <a:sym typeface="Symbol" pitchFamily="18" charset="2"/>
              </a:rPr>
              <a:t> (or </a:t>
            </a:r>
            <a:r>
              <a:rPr lang="en-US" sz="2400" i="1">
                <a:latin typeface="Arial" charset="0"/>
                <a:sym typeface="Symbol" pitchFamily="18" charset="2"/>
              </a:rPr>
              <a:t>Ctrl+D</a:t>
            </a:r>
            <a:r>
              <a:rPr lang="en-US" sz="2400">
                <a:latin typeface="Arial" charset="0"/>
                <a:sym typeface="Symbol" pitchFamily="18" charset="2"/>
              </a:rPr>
              <a:t>) to                                                     copy down all of the                                                             formulas to each cell                                                          for all 100 rows.</a:t>
            </a:r>
            <a:endParaRPr lang="en-US" sz="2400" i="1">
              <a:latin typeface="Arial" charset="0"/>
              <a:sym typeface="Symbol" pitchFamily="18" charset="2"/>
            </a:endParaRPr>
          </a:p>
        </p:txBody>
      </p:sp>
      <p:pic>
        <p:nvPicPr>
          <p:cNvPr id="39322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7788" y="2930525"/>
            <a:ext cx="4340225" cy="1403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3222" name="Picture 6"/>
          <p:cNvPicPr>
            <a:picLocks noChangeAspect="1" noChangeArrowheads="1"/>
          </p:cNvPicPr>
          <p:nvPr/>
        </p:nvPicPr>
        <p:blipFill>
          <a:blip r:embed="rId5" cstate="print"/>
          <a:srcRect b="27519"/>
          <a:stretch>
            <a:fillRect/>
          </a:stretch>
        </p:blipFill>
        <p:spPr bwMode="auto">
          <a:xfrm>
            <a:off x="4592638" y="4513263"/>
            <a:ext cx="3795712" cy="21669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3223" name="Rectangle 7"/>
          <p:cNvSpPr>
            <a:spLocks noChangeArrowheads="1"/>
          </p:cNvSpPr>
          <p:nvPr/>
        </p:nvSpPr>
        <p:spPr bwMode="auto">
          <a:xfrm>
            <a:off x="685800" y="1401763"/>
            <a:ext cx="7772400" cy="4270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 simple 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Excel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global warming model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3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3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3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3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8" name="Rectangle 4"/>
          <p:cNvSpPr>
            <a:spLocks noChangeArrowheads="1"/>
          </p:cNvSpPr>
          <p:nvPr/>
        </p:nvSpPr>
        <p:spPr bwMode="auto">
          <a:xfrm>
            <a:off x="674688" y="1806575"/>
            <a:ext cx="7772400" cy="50514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EXAMPLE: Create a spreadsheet to determine what the mass will be when the aquarium reaches equilibrium and how many seconds it will take. 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SOLUTION: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Finally, make a                                                              graph or read the                                                    spreadsheet: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The graph shows                                                            that the mass of                                                              water will be 45 kg                                                                 at equilibrium.</a:t>
            </a:r>
          </a:p>
          <a:p>
            <a:pPr eaLnBrk="0" hangingPunct="0">
              <a:spcBef>
                <a:spcPct val="20000"/>
              </a:spcBef>
            </a:pPr>
            <a:r>
              <a:rPr lang="en-US" sz="2400">
                <a:latin typeface="Arial" charset="0"/>
                <a:sym typeface="Symbol" pitchFamily="18" charset="2"/>
              </a:rPr>
              <a:t>This will occur after                                                      about 60 seconds.</a:t>
            </a:r>
          </a:p>
        </p:txBody>
      </p:sp>
      <p:pic>
        <p:nvPicPr>
          <p:cNvPr id="395275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65538" y="3036888"/>
            <a:ext cx="5095875" cy="3676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5270" name="Text Box 6"/>
          <p:cNvSpPr txBox="1">
            <a:spLocks noChangeArrowheads="1"/>
          </p:cNvSpPr>
          <p:nvPr/>
        </p:nvSpPr>
        <p:spPr bwMode="auto">
          <a:xfrm>
            <a:off x="6650038" y="3852863"/>
            <a:ext cx="186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FF"/>
                </a:solidFill>
              </a:rPr>
              <a:t>equilibrium</a:t>
            </a:r>
          </a:p>
        </p:txBody>
      </p:sp>
      <p:sp>
        <p:nvSpPr>
          <p:cNvPr id="395271" name="Line 7"/>
          <p:cNvSpPr>
            <a:spLocks noChangeShapeType="1"/>
          </p:cNvSpPr>
          <p:nvPr/>
        </p:nvSpPr>
        <p:spPr bwMode="auto">
          <a:xfrm flipV="1">
            <a:off x="6570663" y="3902075"/>
            <a:ext cx="0" cy="2208213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5273" name="Rectangle 9"/>
          <p:cNvSpPr>
            <a:spLocks noChangeArrowheads="1"/>
          </p:cNvSpPr>
          <p:nvPr/>
        </p:nvSpPr>
        <p:spPr bwMode="auto">
          <a:xfrm>
            <a:off x="685800" y="1401763"/>
            <a:ext cx="7772400" cy="4270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A simple </a:t>
            </a:r>
            <a:r>
              <a:rPr lang="en-US" sz="2400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Excel </a:t>
            </a:r>
            <a:r>
              <a:rPr lang="en-US" sz="2400" i="1">
                <a:solidFill>
                  <a:schemeClr val="accent2"/>
                </a:solidFill>
                <a:latin typeface="Arial" charset="0"/>
                <a:cs typeface="Times New Roman" pitchFamily="18" charset="0"/>
              </a:rPr>
              <a:t>global warming model</a:t>
            </a:r>
          </a:p>
        </p:txBody>
      </p:sp>
      <p:sp>
        <p:nvSpPr>
          <p:cNvPr id="395274" name="Line 10"/>
          <p:cNvSpPr>
            <a:spLocks noChangeShapeType="1"/>
          </p:cNvSpPr>
          <p:nvPr/>
        </p:nvSpPr>
        <p:spPr bwMode="auto">
          <a:xfrm flipH="1">
            <a:off x="4567238" y="3860800"/>
            <a:ext cx="13366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5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5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5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5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5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70" grpId="0"/>
      <p:bldP spid="395271" grpId="0" animBg="1"/>
      <p:bldP spid="395274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22198</TotalTime>
  <Words>3360</Words>
  <Application>Microsoft Macintosh PowerPoint</Application>
  <PresentationFormat>On-screen Show (4:3)</PresentationFormat>
  <Paragraphs>425</Paragraphs>
  <Slides>45</Slides>
  <Notes>45</Notes>
  <HiddenSlides>8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Courier New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Bay View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Motion Along a Straight Line Position, Displacement, Average Speed</dc:title>
  <dc:creator>Timothy K Lund</dc:creator>
  <cp:lastModifiedBy>Raymund Dimayuga</cp:lastModifiedBy>
  <cp:revision>929</cp:revision>
  <dcterms:created xsi:type="dcterms:W3CDTF">2006-01-31T23:43:34Z</dcterms:created>
  <dcterms:modified xsi:type="dcterms:W3CDTF">2025-12-16T13:41:32Z</dcterms:modified>
</cp:coreProperties>
</file>