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5" r:id="rId2"/>
    <p:sldId id="530" r:id="rId3"/>
    <p:sldId id="453" r:id="rId4"/>
    <p:sldId id="454" r:id="rId5"/>
    <p:sldId id="460" r:id="rId6"/>
    <p:sldId id="468" r:id="rId7"/>
    <p:sldId id="469" r:id="rId8"/>
    <p:sldId id="456" r:id="rId9"/>
    <p:sldId id="457" r:id="rId10"/>
    <p:sldId id="458" r:id="rId11"/>
    <p:sldId id="459" r:id="rId12"/>
    <p:sldId id="518" r:id="rId13"/>
    <p:sldId id="461" r:id="rId14"/>
    <p:sldId id="462" r:id="rId15"/>
    <p:sldId id="463" r:id="rId16"/>
    <p:sldId id="465" r:id="rId17"/>
    <p:sldId id="464" r:id="rId18"/>
    <p:sldId id="466" r:id="rId19"/>
    <p:sldId id="511" r:id="rId20"/>
    <p:sldId id="527" r:id="rId21"/>
    <p:sldId id="529" r:id="rId22"/>
    <p:sldId id="467" r:id="rId23"/>
    <p:sldId id="524" r:id="rId24"/>
    <p:sldId id="522" r:id="rId25"/>
    <p:sldId id="523" r:id="rId26"/>
    <p:sldId id="517" r:id="rId27"/>
    <p:sldId id="479" r:id="rId28"/>
    <p:sldId id="483" r:id="rId29"/>
    <p:sldId id="519" r:id="rId30"/>
    <p:sldId id="520" r:id="rId31"/>
    <p:sldId id="521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009999"/>
    <a:srgbClr val="FF0000"/>
    <a:srgbClr val="008000"/>
    <a:srgbClr val="808080"/>
    <a:srgbClr val="33CCFF"/>
    <a:srgbClr val="FFFF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5"/>
    <p:restoredTop sz="92985" autoAdjust="0"/>
  </p:normalViewPr>
  <p:slideViewPr>
    <p:cSldViewPr snapToGrid="0">
      <p:cViewPr>
        <p:scale>
          <a:sx n="97" d="100"/>
          <a:sy n="97" d="100"/>
        </p:scale>
        <p:origin x="2592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2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41CE5F6-4EF6-418D-9630-29508CE4E8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9086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9009C35-0E34-4842-91E7-1F28A74BF320}" type="slidenum">
              <a:rPr lang="en-US" altLang="en-US" sz="1200" smtClean="0"/>
              <a:pPr eaLnBrk="1" hangingPunct="1"/>
              <a:t>1</a:t>
            </a:fld>
            <a:endParaRPr lang="en-US" alt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9009C35-0E34-4842-91E7-1F28A74BF320}" type="slidenum">
              <a:rPr lang="en-US" altLang="en-US" sz="1200" smtClean="0"/>
              <a:pPr eaLnBrk="1" hangingPunct="1"/>
              <a:t>2</a:t>
            </a:fld>
            <a:endParaRPr lang="en-US" alt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1011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3AD5759-8541-4551-B1F6-3C8688F90C3E}" type="slidenum">
              <a:rPr lang="en-US" altLang="en-US" sz="1200" smtClean="0"/>
              <a:pPr eaLnBrk="1" hangingPunct="1"/>
              <a:t>3</a:t>
            </a:fld>
            <a:endParaRPr lang="en-US" alt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BC3C22-CA9F-4831-98B4-F8B64B3AA180}" type="slidenum">
              <a:rPr lang="en-US" altLang="en-US" sz="1200" smtClean="0"/>
              <a:pPr eaLnBrk="1" hangingPunct="1"/>
              <a:t>4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BE1CAC5-C13C-4F50-8D66-43A2A954E017}" type="slidenum">
              <a:rPr lang="en-US" altLang="en-US" sz="1200" smtClean="0"/>
              <a:pPr eaLnBrk="1" hangingPunct="1"/>
              <a:t>5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1EADDE0-376F-493F-9BAE-BC030EF76B41}" type="slidenum">
              <a:rPr lang="en-US" altLang="en-US" sz="1200" smtClean="0"/>
              <a:pPr eaLnBrk="1" hangingPunct="1"/>
              <a:t>6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9057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22A63-4A1F-4AF2-8EFB-222D40C475DE}" type="slidenum">
              <a:rPr lang="en-US" altLang="en-US" sz="1200" smtClean="0"/>
              <a:pPr eaLnBrk="1" hangingPunct="1"/>
              <a:t>7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7855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8E9BA51-92A8-4824-BE81-400AD13BDF94}" type="slidenum">
              <a:rPr lang="en-US" altLang="en-US" sz="1200" smtClean="0"/>
              <a:pPr eaLnBrk="1" hangingPunct="1"/>
              <a:t>8</a:t>
            </a:fld>
            <a:endParaRPr lang="en-US" alt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D9BB87-50C7-47C0-A22C-2344AC20B587}" type="slidenum">
              <a:rPr lang="en-US" altLang="en-US" sz="1200" smtClean="0"/>
              <a:pPr eaLnBrk="1" hangingPunct="1"/>
              <a:t>9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394DFE4-BF8C-4263-B423-F122F4452EF4}" type="slidenum">
              <a:rPr lang="en-US" altLang="en-US" sz="1200" smtClean="0"/>
              <a:pPr eaLnBrk="1" hangingPunct="1"/>
              <a:t>10</a:t>
            </a:fld>
            <a:endParaRPr lang="en-US" alt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06BFCEC-7499-4970-AB89-ACDEB35C23B2}" type="slidenum">
              <a:rPr lang="en-US" altLang="en-US" sz="1200" smtClean="0"/>
              <a:pPr eaLnBrk="1" hangingPunct="1"/>
              <a:t>11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03B4A1F8-4407-4455-A7B9-97E8144B4FC6}" type="slidenum">
              <a:rPr lang="en-US" altLang="en-US" sz="1200"/>
              <a:pPr algn="r" eaLnBrk="1" hangingPunct="1"/>
              <a:t>12</a:t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02A72A4-AB40-45EC-A75E-E2DF2B4CD6FF}" type="slidenum">
              <a:rPr lang="en-US" altLang="en-US" sz="1200" smtClean="0"/>
              <a:pPr eaLnBrk="1" hangingPunct="1"/>
              <a:t>13</a:t>
            </a:fld>
            <a:endParaRPr lang="en-US" alt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D4B5753-0572-4EDC-8C00-AA3CD8C2DD87}" type="slidenum">
              <a:rPr lang="en-US" altLang="en-US" sz="1200" smtClean="0"/>
              <a:pPr eaLnBrk="1" hangingPunct="1"/>
              <a:t>14</a:t>
            </a:fld>
            <a:endParaRPr lang="en-US" alt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E47DE47-207E-4C06-9714-B86A0897D421}" type="slidenum">
              <a:rPr lang="en-US" altLang="en-US" sz="1200" smtClean="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DD2D00-CC00-4FD5-9719-BBBA423DA593}" type="slidenum">
              <a:rPr lang="en-US" altLang="en-US" sz="1200" smtClean="0"/>
              <a:pPr eaLnBrk="1" hangingPunct="1"/>
              <a:t>16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ACD76B-1CEB-421E-8619-160C94E6B4FE}" type="slidenum">
              <a:rPr lang="en-US" altLang="en-US" sz="1200" smtClean="0"/>
              <a:pPr eaLnBrk="1" hangingPunct="1"/>
              <a:t>17</a:t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0825BCA-6733-454C-AC5D-BBADD5C1A644}" type="slidenum">
              <a:rPr lang="en-US" altLang="en-US" sz="1200" smtClean="0"/>
              <a:pPr eaLnBrk="1" hangingPunct="1"/>
              <a:t>18</a:t>
            </a:fld>
            <a:endParaRPr lang="en-US" alt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299293A9-E86B-4335-B97E-3A83D4BB1C2F}" type="slidenum">
              <a:rPr lang="en-US" altLang="en-US" sz="1200"/>
              <a:pPr algn="r" eaLnBrk="1" hangingPunct="1"/>
              <a:t>19</a:t>
            </a:fld>
            <a:endParaRPr lang="en-US" alt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6BE4F41-1708-4607-80C2-D5470D59D587}" type="slidenum">
              <a:rPr lang="en-US" altLang="en-US" sz="1200" smtClean="0"/>
              <a:pPr eaLnBrk="1" hangingPunct="1"/>
              <a:t>20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0867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6BE4F41-1708-4607-80C2-D5470D59D587}" type="slidenum">
              <a:rPr lang="en-US" altLang="en-US" sz="1200" smtClean="0"/>
              <a:pPr eaLnBrk="1" hangingPunct="1"/>
              <a:t>21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0265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88D1DC-FAEE-40BB-8F31-9536E10C053F}" type="slidenum">
              <a:rPr lang="en-US" altLang="en-US" sz="1200" smtClean="0"/>
              <a:pPr eaLnBrk="1" hangingPunct="1"/>
              <a:t>22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001C9641-90DC-4FB6-B726-4CCFC1CA0180}" type="slidenum">
              <a:rPr lang="en-US" altLang="en-US" sz="1200"/>
              <a:pPr algn="r" eaLnBrk="1" hangingPunct="1"/>
              <a:t>23</a:t>
            </a:fld>
            <a:endParaRPr lang="en-US" alt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B97A4085-9056-48B3-BF00-68564E92E9AF}" type="slidenum">
              <a:rPr lang="en-US" altLang="en-US" sz="1200"/>
              <a:pPr algn="r" eaLnBrk="1" hangingPunct="1"/>
              <a:t>24</a:t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504D70C3-8AB5-474A-A0EC-AB2D7D596EC1}" type="slidenum">
              <a:rPr lang="en-US" altLang="en-US" sz="1200"/>
              <a:pPr algn="r" eaLnBrk="1" hangingPunct="1"/>
              <a:t>25</a:t>
            </a:fld>
            <a:endParaRPr lang="en-US" alt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3B09A361-080A-4539-8452-FC752A476078}" type="slidenum">
              <a:rPr lang="en-US" altLang="en-US" sz="1200"/>
              <a:pPr algn="r" eaLnBrk="1" hangingPunct="1"/>
              <a:t>26</a:t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7C40F2C-FD6B-403B-90E8-1D20651DC2F0}" type="slidenum">
              <a:rPr lang="en-US" altLang="en-US" sz="1200" smtClean="0"/>
              <a:pPr eaLnBrk="1" hangingPunct="1"/>
              <a:t>27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E04A370-7A2C-4740-940B-8B5C0C0D902B}" type="slidenum">
              <a:rPr lang="en-US" altLang="en-US" sz="1200" smtClean="0"/>
              <a:pPr eaLnBrk="1" hangingPunct="1"/>
              <a:t>28</a:t>
            </a:fld>
            <a:endParaRPr lang="en-US" alt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9193E387-CD4D-45E5-B712-DD4B9F18FABE}" type="slidenum">
              <a:rPr lang="en-US" altLang="en-US" sz="1200"/>
              <a:pPr algn="r" eaLnBrk="1" hangingPunct="1"/>
              <a:t>29</a:t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BCC772F7-80F0-4B48-8EC7-6DA0A6A485F8}" type="slidenum">
              <a:rPr lang="en-US" altLang="en-US" sz="1200"/>
              <a:pPr algn="r" eaLnBrk="1" hangingPunct="1"/>
              <a:t>30</a:t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441759EC-3344-4574-B2F0-7ECB3FE95C9E}" type="slidenum">
              <a:rPr lang="en-US" altLang="en-US" sz="1200"/>
              <a:pPr algn="r" eaLnBrk="1" hangingPunct="1"/>
              <a:t>31</a:t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71706-E675-43BB-AA88-11F195019A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752160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55EFC-6E40-4E47-B7BA-FC138E39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19301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22D10-0A83-42F3-BA88-B4DF147AF0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550730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B4BD2-0B1A-469D-8918-395C3357FF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9388727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21B66E-FA66-4AEC-8E73-D6D932BE24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4057895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AB1E5-1C7E-407F-8C2E-E8E0009EE4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001713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EE56D6-3641-4CD4-9127-E767F5E0BF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210998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2165D-2142-4B8B-AC95-DF4399FD36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4415442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07971-3D3F-405C-91FE-7A8B12E39E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537076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5EB74-2BD6-4E24-AFF8-6FA8FD529F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900693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48CF0-E6D2-41B5-9617-DFD337B770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662999"/>
      </p:ext>
    </p:extLst>
  </p:cSld>
  <p:clrMapOvr>
    <a:masterClrMapping/>
  </p:clrMapOvr>
  <p:transition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D7B0293A-5822-4F08-85A2-F2649BB834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ransition>
    <p:sndAc>
      <p:stSnd>
        <p:snd r:embed="rId13" name="camera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4.wav"/><Relationship Id="rId4" Type="http://schemas.openxmlformats.org/officeDocument/2006/relationships/audio" Target="../media/audio2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4.wav"/><Relationship Id="rId4" Type="http://schemas.openxmlformats.org/officeDocument/2006/relationships/audio" Target="../media/audio2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wav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audio" Target="../media/audio2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audio" Target="../media/audio2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audio" Target="../media/audio2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audio" Target="../media/audio1.wav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4.wav"/><Relationship Id="rId5" Type="http://schemas.openxmlformats.org/officeDocument/2006/relationships/audio" Target="../media/audio6.wav"/><Relationship Id="rId4" Type="http://schemas.openxmlformats.org/officeDocument/2006/relationships/audio" Target="../media/audio2.wav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audio" Target="../media/audio2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audio" Target="../media/audio1.wav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audio" Target="../media/audio4.wav"/><Relationship Id="rId4" Type="http://schemas.openxmlformats.org/officeDocument/2006/relationships/audio" Target="../media/audio2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audio" Target="../media/audio4.wav"/><Relationship Id="rId4" Type="http://schemas.openxmlformats.org/officeDocument/2006/relationships/audio" Target="../media/audio2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audio" Target="../media/audio1.wav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notesSlide" Target="../notesSlides/notesSlide20.xm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../media/image17.png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9.png"/><Relationship Id="rId3" Type="http://schemas.openxmlformats.org/officeDocument/2006/relationships/audio" Target="../media/audio1.wav"/><Relationship Id="rId7" Type="http://schemas.openxmlformats.org/officeDocument/2006/relationships/image" Target="../media/image20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../media/image47.png"/><Relationship Id="rId5" Type="http://schemas.openxmlformats.org/officeDocument/2006/relationships/image" Target="../media/image18.png"/><Relationship Id="rId10" Type="http://schemas.openxmlformats.org/officeDocument/2006/relationships/image" Target="../media/image46.png"/><Relationship Id="rId4" Type="http://schemas.openxmlformats.org/officeDocument/2006/relationships/image" Target="../media/image17.pn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wav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1.wav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wav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4.wav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4.wav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4.wav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2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audio" Target="../media/audio2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B4E43D-6688-2F44-8422-D11754B4A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7981627" cy="6804539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292141"/>
      </p:ext>
    </p:extLst>
  </p:cSld>
  <p:clrMapOvr>
    <a:masterClrMapping/>
  </p:clrMapOvr>
  <p:transition>
    <p:sndAc>
      <p:stSnd>
        <p:snd r:embed="rId3" name="camera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 dirty="0">
                <a:solidFill>
                  <a:srgbClr val="333399"/>
                </a:solidFill>
                <a:cs typeface="Times New Roman" pitchFamily="18" charset="0"/>
              </a:rPr>
              <a:t>Pressure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	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Consider a gas molecule confined in a                             closed box as shown.	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Since the molecule’s direction is always                             changing, it is accelerating, and thus                                                 feeling a force from the walls of the box.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From Newton’s third law, the molecule is exerting an equal and opposite force on the walls of the box.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The walls of the box feel a </a:t>
            </a:r>
            <a:r>
              <a:rPr lang="en-US" altLang="en-US" b="1" dirty="0">
                <a:solidFill>
                  <a:srgbClr val="000000"/>
                </a:solidFill>
                <a:cs typeface="Times New Roman" pitchFamily="18" charset="0"/>
              </a:rPr>
              <a:t>pressure </a:t>
            </a:r>
            <a:r>
              <a:rPr lang="en-US" altLang="en-US" i="1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, given by the formula below: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From the formula we can see that the units of pressure are (N</a:t>
            </a:r>
            <a:r>
              <a:rPr lang="en-US" altLang="en-US" baseline="-250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m</a:t>
            </a:r>
            <a:r>
              <a:rPr lang="en-US" altLang="en-US" baseline="30000" dirty="0">
                <a:solidFill>
                  <a:srgbClr val="000000"/>
                </a:solidFill>
                <a:cs typeface="Times New Roman" pitchFamily="18" charset="0"/>
              </a:rPr>
              <a:t>-2</a:t>
            </a:r>
            <a:r>
              <a:rPr lang="en-US" altLang="en-US" dirty="0">
                <a:solidFill>
                  <a:srgbClr val="000000"/>
                </a:solidFill>
                <a:cs typeface="Times New Roman" pitchFamily="18" charset="0"/>
              </a:rPr>
              <a:t>), also known as Pascals (Pa).</a:t>
            </a:r>
          </a:p>
        </p:txBody>
      </p:sp>
      <p:sp>
        <p:nvSpPr>
          <p:cNvPr id="614404" name="Rectangle 4"/>
          <p:cNvSpPr>
            <a:spLocks noChangeArrowheads="1"/>
          </p:cNvSpPr>
          <p:nvPr/>
        </p:nvSpPr>
        <p:spPr bwMode="auto">
          <a:xfrm>
            <a:off x="6450013" y="1792288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406" name="Rectangle 6"/>
          <p:cNvSpPr>
            <a:spLocks noChangeArrowheads="1"/>
          </p:cNvSpPr>
          <p:nvPr/>
        </p:nvSpPr>
        <p:spPr bwMode="auto">
          <a:xfrm>
            <a:off x="6403975" y="1733550"/>
            <a:ext cx="2033588" cy="20335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14405" name="Oval 5"/>
          <p:cNvSpPr>
            <a:spLocks noChangeArrowheads="1"/>
          </p:cNvSpPr>
          <p:nvPr/>
        </p:nvSpPr>
        <p:spPr bwMode="auto">
          <a:xfrm>
            <a:off x="6461125" y="3463925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828675" y="5591175"/>
            <a:ext cx="7464425" cy="461963"/>
            <a:chOff x="828675" y="5530848"/>
            <a:chExt cx="7464425" cy="461963"/>
          </a:xfrm>
        </p:grpSpPr>
        <p:sp>
          <p:nvSpPr>
            <p:cNvPr id="614408" name="Rectangle 8"/>
            <p:cNvSpPr>
              <a:spLocks noChangeArrowheads="1"/>
            </p:cNvSpPr>
            <p:nvPr/>
          </p:nvSpPr>
          <p:spPr bwMode="auto">
            <a:xfrm>
              <a:off x="879475" y="5537198"/>
              <a:ext cx="2855913" cy="3206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/>
                <a:t>p</a:t>
              </a:r>
              <a:r>
                <a:rPr lang="en-US" altLang="en-US"/>
                <a:t> = </a:t>
              </a:r>
              <a:r>
                <a:rPr lang="en-US" altLang="en-US" i="1"/>
                <a:t>F / A</a:t>
              </a:r>
            </a:p>
          </p:txBody>
        </p:sp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6657975" y="5530848"/>
              <a:ext cx="1635125" cy="46196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pressure</a:t>
              </a:r>
            </a:p>
          </p:txBody>
        </p:sp>
        <p:sp>
          <p:nvSpPr>
            <p:cNvPr id="7178" name="Rectangle 10"/>
            <p:cNvSpPr>
              <a:spLocks noChangeArrowheads="1"/>
            </p:cNvSpPr>
            <p:nvPr/>
          </p:nvSpPr>
          <p:spPr bwMode="auto">
            <a:xfrm>
              <a:off x="828675" y="5534023"/>
              <a:ext cx="7462838" cy="4587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0" presetClass="pat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23" dur="2000" fill="hold"/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144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tretc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4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14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14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4" grpId="0" animBg="1"/>
      <p:bldP spid="614406" grpId="0" animBg="1"/>
      <p:bldP spid="614405" grpId="0" animBg="1"/>
      <p:bldP spid="61440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06203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Pressure </a:t>
            </a:r>
            <a:r>
              <a:rPr lang="en-US" altLang="en-US" sz="200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20555" name="Rectangle 11"/>
          <p:cNvSpPr>
            <a:spLocks noChangeArrowheads="1"/>
          </p:cNvSpPr>
          <p:nvPr/>
        </p:nvSpPr>
        <p:spPr bwMode="auto">
          <a:xfrm>
            <a:off x="685800" y="2613025"/>
            <a:ext cx="7772400" cy="42449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PRACTICE: 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A 150-kg man stands on one foot on some ice. Given that his foot is about 9.0 cm by 10. cm in rectangular cross-section, find the pressure on the ice.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SOLUTION: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First, find the force: </a:t>
            </a:r>
          </a:p>
          <a:p>
            <a:pPr eaLnBrk="1" hangingPunct="1"/>
            <a:r>
              <a:rPr lang="en-US" altLang="en-US" i="1">
                <a:sym typeface="Symbol" pitchFamily="18" charset="2"/>
              </a:rPr>
              <a:t>                     F</a:t>
            </a:r>
            <a:r>
              <a:rPr lang="en-US" altLang="en-US">
                <a:sym typeface="Symbol" pitchFamily="18" charset="2"/>
              </a:rPr>
              <a:t> = </a:t>
            </a:r>
            <a:r>
              <a:rPr lang="en-US" altLang="en-US" i="1">
                <a:sym typeface="Symbol" pitchFamily="18" charset="2"/>
              </a:rPr>
              <a:t>mg</a:t>
            </a:r>
            <a:r>
              <a:rPr lang="en-US" altLang="en-US">
                <a:sym typeface="Symbol" pitchFamily="18" charset="2"/>
              </a:rPr>
              <a:t> = 150(10) = 1500 n.</a:t>
            </a:r>
            <a:endParaRPr lang="en-US" altLang="en-US" i="1"/>
          </a:p>
          <a:p>
            <a:pPr eaLnBrk="1" hangingPunct="1"/>
            <a:r>
              <a:rPr lang="en-US" altLang="en-US">
                <a:sym typeface="Symbol" pitchFamily="18" charset="2"/>
              </a:rPr>
              <a:t>Then find the area: </a:t>
            </a:r>
          </a:p>
          <a:p>
            <a:pPr eaLnBrk="1" hangingPunct="1"/>
            <a:r>
              <a:rPr lang="en-US" altLang="en-US" i="1">
                <a:sym typeface="Symbol" pitchFamily="18" charset="2"/>
              </a:rPr>
              <a:t>                  A</a:t>
            </a:r>
            <a:r>
              <a:rPr lang="en-US" altLang="en-US">
                <a:sym typeface="Symbol" pitchFamily="18" charset="2"/>
              </a:rPr>
              <a:t> = </a:t>
            </a:r>
            <a:r>
              <a:rPr lang="en-US" altLang="en-US" i="1">
                <a:sym typeface="Symbol" pitchFamily="18" charset="2"/>
              </a:rPr>
              <a:t>LW </a:t>
            </a:r>
            <a:r>
              <a:rPr lang="en-US" altLang="en-US">
                <a:sym typeface="Symbol" pitchFamily="18" charset="2"/>
              </a:rPr>
              <a:t>= (.09)(.10) = 0.009 m</a:t>
            </a:r>
            <a:r>
              <a:rPr lang="en-US" altLang="en-US" baseline="30000">
                <a:sym typeface="Symbol" pitchFamily="18" charset="2"/>
              </a:rPr>
              <a:t>2</a:t>
            </a:r>
            <a:r>
              <a:rPr lang="en-US" altLang="en-US">
                <a:cs typeface="Courier New" pitchFamily="49" charset="0"/>
                <a:sym typeface="Symbol" pitchFamily="18" charset="2"/>
              </a:rPr>
              <a:t>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Finally</a:t>
            </a:r>
          </a:p>
          <a:p>
            <a:pPr eaLnBrk="1" hangingPunct="1"/>
            <a:r>
              <a:rPr lang="en-US" altLang="en-US" i="1">
                <a:sym typeface="Symbol" pitchFamily="18" charset="2"/>
              </a:rPr>
              <a:t>    </a:t>
            </a:r>
            <a:r>
              <a:rPr lang="en-US" altLang="en-US" i="1"/>
              <a:t>p</a:t>
            </a:r>
            <a:r>
              <a:rPr lang="en-US" altLang="en-US"/>
              <a:t> = </a:t>
            </a:r>
            <a:r>
              <a:rPr lang="en-US" altLang="en-US" i="1"/>
              <a:t>F / A </a:t>
            </a:r>
            <a:r>
              <a:rPr lang="en-US" altLang="en-US"/>
              <a:t>= 1500 </a:t>
            </a:r>
            <a:r>
              <a:rPr lang="en-US" altLang="en-US" i="1"/>
              <a:t>/ </a:t>
            </a:r>
            <a:r>
              <a:rPr lang="en-US" altLang="en-US"/>
              <a:t>.009 = 170000 N</a:t>
            </a:r>
            <a:r>
              <a:rPr lang="en-US" altLang="en-US" baseline="-25000"/>
              <a:t> </a:t>
            </a:r>
            <a:r>
              <a:rPr lang="en-US" altLang="en-US"/>
              <a:t>m</a:t>
            </a:r>
            <a:r>
              <a:rPr lang="en-US" altLang="en-US" baseline="30000"/>
              <a:t>-2</a:t>
            </a:r>
            <a:r>
              <a:rPr lang="en-US" altLang="en-US" baseline="-25000"/>
              <a:t> </a:t>
            </a:r>
            <a:r>
              <a:rPr lang="en-US" altLang="en-US"/>
              <a:t>= 170000 Pa.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28675" y="2047875"/>
            <a:ext cx="7464425" cy="461963"/>
            <a:chOff x="828675" y="5530848"/>
            <a:chExt cx="7464425" cy="461963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879475" y="5537198"/>
              <a:ext cx="2855913" cy="3206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/>
                <a:t>p</a:t>
              </a:r>
              <a:r>
                <a:rPr lang="en-US" altLang="en-US"/>
                <a:t> = </a:t>
              </a:r>
              <a:r>
                <a:rPr lang="en-US" altLang="en-US" i="1"/>
                <a:t>F / A</a:t>
              </a:r>
            </a:p>
          </p:txBody>
        </p:sp>
        <p:sp>
          <p:nvSpPr>
            <p:cNvPr id="8199" name="Text Box 9"/>
            <p:cNvSpPr txBox="1">
              <a:spLocks noChangeArrowheads="1"/>
            </p:cNvSpPr>
            <p:nvPr/>
          </p:nvSpPr>
          <p:spPr bwMode="auto">
            <a:xfrm>
              <a:off x="6657975" y="5530848"/>
              <a:ext cx="1635125" cy="46196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pressure</a:t>
              </a:r>
            </a:p>
          </p:txBody>
        </p:sp>
        <p:sp>
          <p:nvSpPr>
            <p:cNvPr id="8200" name="Rectangle 10"/>
            <p:cNvSpPr>
              <a:spLocks noChangeArrowheads="1"/>
            </p:cNvSpPr>
            <p:nvPr/>
          </p:nvSpPr>
          <p:spPr bwMode="auto">
            <a:xfrm>
              <a:off x="828675" y="5534023"/>
              <a:ext cx="7462838" cy="4587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0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0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0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0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0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0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0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0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0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0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20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20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0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20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20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20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20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20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06203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Pressure </a:t>
            </a:r>
            <a:r>
              <a:rPr lang="en-US" altLang="en-US" sz="2000">
                <a:solidFill>
                  <a:srgbClr val="000000"/>
                </a:solidFill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20555" name="Rectangle 11"/>
          <p:cNvSpPr>
            <a:spLocks noChangeArrowheads="1"/>
          </p:cNvSpPr>
          <p:nvPr/>
        </p:nvSpPr>
        <p:spPr bwMode="auto">
          <a:xfrm>
            <a:off x="685800" y="2613025"/>
            <a:ext cx="7772400" cy="42449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PRACTICE: 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If the ice is thin enough that it will break under a pressure of 1.010</a:t>
            </a:r>
            <a:r>
              <a:rPr lang="en-US" altLang="en-US" baseline="30000">
                <a:sym typeface="Symbol" pitchFamily="18" charset="2"/>
              </a:rPr>
              <a:t>5</a:t>
            </a:r>
            <a:r>
              <a:rPr lang="en-US" altLang="en-US">
                <a:sym typeface="Symbol" pitchFamily="18" charset="2"/>
              </a:rPr>
              <a:t> Pa, what should be the area of a snowshoe that will just prevent him from breaking through when on one foot?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SOLUTION: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From </a:t>
            </a:r>
            <a:r>
              <a:rPr lang="en-US" altLang="en-US" i="1"/>
              <a:t>p</a:t>
            </a:r>
            <a:r>
              <a:rPr lang="en-US" altLang="en-US"/>
              <a:t> = </a:t>
            </a:r>
            <a:r>
              <a:rPr lang="en-US" altLang="en-US" i="1"/>
              <a:t>F / A </a:t>
            </a:r>
            <a:r>
              <a:rPr lang="en-US" altLang="en-US"/>
              <a:t>we have:</a:t>
            </a:r>
          </a:p>
          <a:p>
            <a:pPr eaLnBrk="1" hangingPunct="1"/>
            <a:r>
              <a:rPr lang="en-US" altLang="en-US" i="1"/>
              <a:t>       A</a:t>
            </a:r>
            <a:r>
              <a:rPr lang="en-US" altLang="en-US"/>
              <a:t> = </a:t>
            </a:r>
            <a:r>
              <a:rPr lang="en-US" altLang="en-US" i="1"/>
              <a:t>F / p </a:t>
            </a:r>
            <a:r>
              <a:rPr lang="en-US" altLang="en-US"/>
              <a:t>= 1500 </a:t>
            </a:r>
            <a:r>
              <a:rPr lang="en-US" altLang="en-US" i="1"/>
              <a:t>/</a:t>
            </a:r>
            <a:r>
              <a:rPr lang="en-US" altLang="en-US"/>
              <a:t> 100000 = 0.015 m</a:t>
            </a:r>
            <a:r>
              <a:rPr lang="en-US" altLang="en-US" baseline="30000"/>
              <a:t>2</a:t>
            </a:r>
            <a:r>
              <a:rPr lang="en-US" altLang="en-US"/>
              <a:t>.</a:t>
            </a:r>
          </a:p>
        </p:txBody>
      </p:sp>
      <p:pic>
        <p:nvPicPr>
          <p:cNvPr id="620557" name="Picture 13" descr="snowshoe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10313" y="4110038"/>
            <a:ext cx="2482850" cy="272256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</p:spPr>
      </p:pic>
      <p:grpSp>
        <p:nvGrpSpPr>
          <p:cNvPr id="9222" name="Group 9"/>
          <p:cNvGrpSpPr>
            <a:grpSpLocks/>
          </p:cNvGrpSpPr>
          <p:nvPr/>
        </p:nvGrpSpPr>
        <p:grpSpPr bwMode="auto">
          <a:xfrm>
            <a:off x="828675" y="2047875"/>
            <a:ext cx="7464425" cy="461963"/>
            <a:chOff x="828675" y="5530848"/>
            <a:chExt cx="7464425" cy="461963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879475" y="5537198"/>
              <a:ext cx="2855913" cy="3206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/>
                <a:t>p</a:t>
              </a:r>
              <a:r>
                <a:rPr lang="en-US" altLang="en-US"/>
                <a:t> = </a:t>
              </a:r>
              <a:r>
                <a:rPr lang="en-US" altLang="en-US" i="1"/>
                <a:t>F / A</a:t>
              </a:r>
            </a:p>
          </p:txBody>
        </p:sp>
        <p:sp>
          <p:nvSpPr>
            <p:cNvPr id="9224" name="Text Box 9"/>
            <p:cNvSpPr txBox="1">
              <a:spLocks noChangeArrowheads="1"/>
            </p:cNvSpPr>
            <p:nvPr/>
          </p:nvSpPr>
          <p:spPr bwMode="auto">
            <a:xfrm>
              <a:off x="6657975" y="5530848"/>
              <a:ext cx="1635125" cy="46196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pressure</a:t>
              </a:r>
            </a:p>
          </p:txBody>
        </p:sp>
        <p:sp>
          <p:nvSpPr>
            <p:cNvPr id="9225" name="Rectangle 10"/>
            <p:cNvSpPr>
              <a:spLocks noChangeArrowheads="1"/>
            </p:cNvSpPr>
            <p:nvPr/>
          </p:nvSpPr>
          <p:spPr bwMode="auto">
            <a:xfrm>
              <a:off x="828675" y="5534023"/>
              <a:ext cx="7462838" cy="4587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0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0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0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0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0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0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20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20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0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0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20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314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Differences between real and ideal gases</a:t>
            </a:r>
            <a:endParaRPr lang="en-US" altLang="en-US">
              <a:solidFill>
                <a:srgbClr val="333399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Recall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 the properties of an ideal gas:</a:t>
            </a: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80000"/>
              </a:spcBef>
            </a:pP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The kinetic theory of gases is, of course, a </a:t>
            </a:r>
            <a:r>
              <a:rPr lang="en-US" altLang="en-US" b="1">
                <a:solidFill>
                  <a:srgbClr val="000000"/>
                </a:solidFill>
                <a:sym typeface="Symbol" pitchFamily="18" charset="2"/>
              </a:rPr>
              <a:t>model</a:t>
            </a: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As such, it doesn’t apply </a:t>
            </a:r>
            <a:r>
              <a:rPr lang="en-US" altLang="en-US" i="1">
                <a:solidFill>
                  <a:srgbClr val="000000"/>
                </a:solidFill>
                <a:sym typeface="Symbol" pitchFamily="18" charset="2"/>
              </a:rPr>
              <a:t>perfectly</a:t>
            </a: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 to real gases.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8675" y="2276475"/>
            <a:ext cx="7486650" cy="3781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4808587"/>
      </p:ext>
    </p:extLst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5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5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5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5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65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53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5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653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7" name="Rectangle 27"/>
          <p:cNvSpPr>
            <a:spLocks noChangeArrowheads="1"/>
          </p:cNvSpPr>
          <p:nvPr/>
        </p:nvSpPr>
        <p:spPr bwMode="auto">
          <a:xfrm>
            <a:off x="682625" y="4600575"/>
            <a:ext cx="7764463" cy="2257425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1" i="1"/>
              <a:t>FYI</a:t>
            </a:r>
          </a:p>
          <a:p>
            <a:pPr eaLnBrk="1" hangingPunct="1"/>
            <a:r>
              <a:rPr lang="en-US" altLang="en-US" b="1">
                <a:sym typeface="Symbol" pitchFamily="18" charset="2"/>
              </a:rPr>
              <a:t></a:t>
            </a:r>
            <a:r>
              <a:rPr lang="en-US" altLang="en-US">
                <a:sym typeface="Symbol" pitchFamily="18" charset="2"/>
              </a:rPr>
              <a:t>Real gases are often polyatomic (N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, O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, H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O, NH</a:t>
            </a:r>
            <a:r>
              <a:rPr lang="en-US" altLang="en-US" baseline="-25000">
                <a:sym typeface="Symbol" pitchFamily="18" charset="2"/>
              </a:rPr>
              <a:t>4</a:t>
            </a:r>
            <a:r>
              <a:rPr lang="en-US" altLang="en-US">
                <a:sym typeface="Symbol" pitchFamily="18" charset="2"/>
              </a:rPr>
              <a:t>, etc.) and thus not spherical.</a:t>
            </a:r>
          </a:p>
          <a:p>
            <a:pPr eaLnBrk="1" hangingPunct="1"/>
            <a:r>
              <a:rPr lang="en-US" altLang="en-US" b="1">
                <a:sym typeface="Symbol" pitchFamily="18" charset="2"/>
              </a:rPr>
              <a:t></a:t>
            </a:r>
            <a:r>
              <a:rPr lang="en-US" altLang="en-US">
                <a:sym typeface="Symbol" pitchFamily="18" charset="2"/>
              </a:rPr>
              <a:t>Ideal gases cannot be liquefied, but real gases have intermolecular forces and non-zero volume, so they can be liquefied.</a:t>
            </a:r>
          </a:p>
          <a:p>
            <a:pPr eaLnBrk="1" hangingPunct="1"/>
            <a:endParaRPr lang="en-US" altLang="en-US">
              <a:sym typeface="Symbol" pitchFamily="18" charset="2"/>
            </a:endParaRPr>
          </a:p>
        </p:txBody>
      </p:sp>
      <p:sp>
        <p:nvSpPr>
          <p:cNvPr id="1167362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32543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Differences between real and ideal gases</a:t>
            </a:r>
            <a:endParaRPr lang="en-US" altLang="en-US">
              <a:solidFill>
                <a:srgbClr val="333399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 Here are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 the properties of a real gas.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8675" y="2271713"/>
            <a:ext cx="7486650" cy="2314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1580765"/>
      </p:ext>
    </p:extLst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7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67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67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7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295116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</a:defRPr>
            </a:lvl1pPr>
            <a:lvl2pPr marL="571500"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altLang="en-US" sz="2400" i="1" dirty="0">
                <a:solidFill>
                  <a:srgbClr val="333399"/>
                </a:solidFill>
                <a:latin typeface="+mn-lt"/>
                <a:cs typeface="Times New Roman" pitchFamily="18" charset="0"/>
              </a:rPr>
              <a:t>The kinetic model of an ideal gas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Just as temperature was a measure of the random kinetic energy of molecules for solids and liquids, so it is for an ideal gas.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If the temperature of a gas increases, so does the average speed (and hence kinetic energy) of the molecules.</a:t>
            </a:r>
          </a:p>
        </p:txBody>
      </p:sp>
      <p:sp>
        <p:nvSpPr>
          <p:cNvPr id="622596" name="Rectangle 4"/>
          <p:cNvSpPr>
            <a:spLocks noChangeArrowheads="1"/>
          </p:cNvSpPr>
          <p:nvPr/>
        </p:nvSpPr>
        <p:spPr bwMode="auto">
          <a:xfrm>
            <a:off x="733425" y="4418013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2598" name="Oval 6"/>
          <p:cNvSpPr>
            <a:spLocks noChangeArrowheads="1"/>
          </p:cNvSpPr>
          <p:nvPr/>
        </p:nvSpPr>
        <p:spPr bwMode="auto">
          <a:xfrm>
            <a:off x="744538" y="6089650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2599" name="Rectangle 7"/>
          <p:cNvSpPr>
            <a:spLocks noChangeArrowheads="1"/>
          </p:cNvSpPr>
          <p:nvPr/>
        </p:nvSpPr>
        <p:spPr bwMode="auto">
          <a:xfrm>
            <a:off x="3638550" y="4419600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2601" name="Oval 9"/>
          <p:cNvSpPr>
            <a:spLocks noChangeArrowheads="1"/>
          </p:cNvSpPr>
          <p:nvPr/>
        </p:nvSpPr>
        <p:spPr bwMode="auto">
          <a:xfrm>
            <a:off x="3649663" y="6091238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2602" name="Rectangle 10"/>
          <p:cNvSpPr>
            <a:spLocks noChangeArrowheads="1"/>
          </p:cNvSpPr>
          <p:nvPr/>
        </p:nvSpPr>
        <p:spPr bwMode="auto">
          <a:xfrm>
            <a:off x="6475413" y="4422775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2604" name="Oval 12"/>
          <p:cNvSpPr>
            <a:spLocks noChangeArrowheads="1"/>
          </p:cNvSpPr>
          <p:nvPr/>
        </p:nvSpPr>
        <p:spPr bwMode="auto">
          <a:xfrm>
            <a:off x="6486525" y="6094413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2605" name="Text Box 13"/>
          <p:cNvSpPr txBox="1">
            <a:spLocks noChangeArrowheads="1"/>
          </p:cNvSpPr>
          <p:nvPr/>
        </p:nvSpPr>
        <p:spPr bwMode="auto">
          <a:xfrm>
            <a:off x="744538" y="6337300"/>
            <a:ext cx="1925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low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22606" name="Text Box 14"/>
          <p:cNvSpPr txBox="1">
            <a:spLocks noChangeArrowheads="1"/>
          </p:cNvSpPr>
          <p:nvPr/>
        </p:nvSpPr>
        <p:spPr bwMode="auto">
          <a:xfrm>
            <a:off x="3686175" y="6354763"/>
            <a:ext cx="1868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medium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</a:p>
        </p:txBody>
      </p:sp>
      <p:sp>
        <p:nvSpPr>
          <p:cNvPr id="622607" name="Text Box 15"/>
          <p:cNvSpPr txBox="1">
            <a:spLocks noChangeArrowheads="1"/>
          </p:cNvSpPr>
          <p:nvPr/>
        </p:nvSpPr>
        <p:spPr bwMode="auto">
          <a:xfrm>
            <a:off x="6486525" y="6354763"/>
            <a:ext cx="19256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high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 rot="1598944">
            <a:off x="2336800" y="4381500"/>
            <a:ext cx="287338" cy="1739900"/>
            <a:chOff x="4615" y="1398"/>
            <a:chExt cx="422" cy="2557"/>
          </a:xfrm>
        </p:grpSpPr>
        <p:sp>
          <p:nvSpPr>
            <p:cNvPr id="11289" name="Oval 17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90" name="Rectangle 18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91" name="Oval 19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22612" name="Line 20"/>
          <p:cNvSpPr>
            <a:spLocks noChangeShapeType="1"/>
          </p:cNvSpPr>
          <p:nvPr/>
        </p:nvSpPr>
        <p:spPr bwMode="auto">
          <a:xfrm flipV="1">
            <a:off x="2178050" y="5224463"/>
            <a:ext cx="323850" cy="625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 rot="1598944">
            <a:off x="5189538" y="4395788"/>
            <a:ext cx="287337" cy="1739900"/>
            <a:chOff x="4615" y="1398"/>
            <a:chExt cx="422" cy="2557"/>
          </a:xfrm>
        </p:grpSpPr>
        <p:sp>
          <p:nvSpPr>
            <p:cNvPr id="11286" name="Oval 22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7" name="Rectangle 23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8" name="Oval 24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22617" name="Line 25"/>
          <p:cNvSpPr>
            <a:spLocks noChangeShapeType="1"/>
          </p:cNvSpPr>
          <p:nvPr/>
        </p:nvSpPr>
        <p:spPr bwMode="auto">
          <a:xfrm flipV="1">
            <a:off x="5030788" y="4902200"/>
            <a:ext cx="481012" cy="9620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rot="1598944">
            <a:off x="8091488" y="4445000"/>
            <a:ext cx="287337" cy="1739900"/>
            <a:chOff x="4615" y="1398"/>
            <a:chExt cx="422" cy="2557"/>
          </a:xfrm>
        </p:grpSpPr>
        <p:sp>
          <p:nvSpPr>
            <p:cNvPr id="11283" name="Oval 27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4" name="Rectangle 28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5" name="Oval 29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22622" name="Line 30"/>
          <p:cNvSpPr>
            <a:spLocks noChangeShapeType="1"/>
          </p:cNvSpPr>
          <p:nvPr/>
        </p:nvSpPr>
        <p:spPr bwMode="auto">
          <a:xfrm flipV="1">
            <a:off x="7932738" y="4638675"/>
            <a:ext cx="647700" cy="12747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2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2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2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2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27" dur="5000" fill="hold"/>
                                        <p:tgtEl>
                                          <p:spTgt spid="6225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000"/>
                                        <p:tgtEl>
                                          <p:spTgt spid="62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2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2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000"/>
                                        <p:tgtEl>
                                          <p:spTgt spid="62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46" dur="2000" fill="hold"/>
                                        <p:tgtEl>
                                          <p:spTgt spid="622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2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2000"/>
                                        <p:tgtEl>
                                          <p:spTgt spid="62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62" dur="500" fill="hold"/>
                                        <p:tgtEl>
                                          <p:spTgt spid="622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22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22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226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22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22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22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22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22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226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6" grpId="0" animBg="1"/>
      <p:bldP spid="622598" grpId="0" animBg="1"/>
      <p:bldP spid="622598" grpId="1" animBg="1"/>
      <p:bldP spid="622599" grpId="0" animBg="1"/>
      <p:bldP spid="622601" grpId="0" animBg="1"/>
      <p:bldP spid="622601" grpId="1" animBg="1"/>
      <p:bldP spid="622602" grpId="0" animBg="1"/>
      <p:bldP spid="622604" grpId="0" animBg="1"/>
      <p:bldP spid="622604" grpId="1" animBg="1"/>
      <p:bldP spid="622605" grpId="0"/>
      <p:bldP spid="622606" grpId="0"/>
      <p:bldP spid="622607" grpId="0"/>
      <p:bldP spid="622612" grpId="0" animBg="1"/>
      <p:bldP spid="622617" grpId="0" animBg="1"/>
      <p:bldP spid="6226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</a:defRPr>
            </a:lvl1pPr>
            <a:lvl2pPr marL="571500"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altLang="en-US" sz="2400" i="1" dirty="0">
                <a:solidFill>
                  <a:srgbClr val="333399"/>
                </a:solidFill>
                <a:latin typeface="+mn-lt"/>
                <a:cs typeface="Times New Roman" pitchFamily="18" charset="0"/>
              </a:rPr>
              <a:t>The kinetic model of an ideal gas</a:t>
            </a: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Looking at this animation again we can see that if the speed of the molecules increases, then the number of collisions with the container walls will also increase. 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Thus the pressure will increase if the temperature increases.</a:t>
            </a:r>
          </a:p>
        </p:txBody>
      </p:sp>
      <p:sp>
        <p:nvSpPr>
          <p:cNvPr id="628740" name="Rectangle 4"/>
          <p:cNvSpPr>
            <a:spLocks noChangeArrowheads="1"/>
          </p:cNvSpPr>
          <p:nvPr/>
        </p:nvSpPr>
        <p:spPr bwMode="auto">
          <a:xfrm>
            <a:off x="733425" y="2043113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8741" name="Oval 5"/>
          <p:cNvSpPr>
            <a:spLocks noChangeArrowheads="1"/>
          </p:cNvSpPr>
          <p:nvPr/>
        </p:nvSpPr>
        <p:spPr bwMode="auto">
          <a:xfrm>
            <a:off x="744538" y="3714750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8742" name="Rectangle 6"/>
          <p:cNvSpPr>
            <a:spLocks noChangeArrowheads="1"/>
          </p:cNvSpPr>
          <p:nvPr/>
        </p:nvSpPr>
        <p:spPr bwMode="auto">
          <a:xfrm>
            <a:off x="3638550" y="2044700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8743" name="Oval 7"/>
          <p:cNvSpPr>
            <a:spLocks noChangeArrowheads="1"/>
          </p:cNvSpPr>
          <p:nvPr/>
        </p:nvSpPr>
        <p:spPr bwMode="auto">
          <a:xfrm>
            <a:off x="3649663" y="3716338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8744" name="Rectangle 8"/>
          <p:cNvSpPr>
            <a:spLocks noChangeArrowheads="1"/>
          </p:cNvSpPr>
          <p:nvPr/>
        </p:nvSpPr>
        <p:spPr bwMode="auto">
          <a:xfrm>
            <a:off x="6475413" y="2047875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8745" name="Oval 9"/>
          <p:cNvSpPr>
            <a:spLocks noChangeArrowheads="1"/>
          </p:cNvSpPr>
          <p:nvPr/>
        </p:nvSpPr>
        <p:spPr bwMode="auto">
          <a:xfrm>
            <a:off x="6486525" y="3719513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8746" name="Text Box 10"/>
          <p:cNvSpPr txBox="1">
            <a:spLocks noChangeArrowheads="1"/>
          </p:cNvSpPr>
          <p:nvPr/>
        </p:nvSpPr>
        <p:spPr bwMode="auto">
          <a:xfrm>
            <a:off x="742950" y="3962400"/>
            <a:ext cx="1927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low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28747" name="Text Box 11"/>
          <p:cNvSpPr txBox="1">
            <a:spLocks noChangeArrowheads="1"/>
          </p:cNvSpPr>
          <p:nvPr/>
        </p:nvSpPr>
        <p:spPr bwMode="auto">
          <a:xfrm>
            <a:off x="3649663" y="3979863"/>
            <a:ext cx="1925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medium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</a:p>
        </p:txBody>
      </p:sp>
      <p:sp>
        <p:nvSpPr>
          <p:cNvPr id="628748" name="Text Box 12"/>
          <p:cNvSpPr txBox="1">
            <a:spLocks noChangeArrowheads="1"/>
          </p:cNvSpPr>
          <p:nvPr/>
        </p:nvSpPr>
        <p:spPr bwMode="auto">
          <a:xfrm>
            <a:off x="6484938" y="3979863"/>
            <a:ext cx="1927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high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 rot="1598944">
            <a:off x="2336800" y="2006600"/>
            <a:ext cx="287338" cy="1739900"/>
            <a:chOff x="4615" y="1398"/>
            <a:chExt cx="422" cy="2557"/>
          </a:xfrm>
        </p:grpSpPr>
        <p:sp>
          <p:nvSpPr>
            <p:cNvPr id="12316" name="Oval 14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7" name="Rectangle 15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8" name="Oval 16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28753" name="Line 17"/>
          <p:cNvSpPr>
            <a:spLocks noChangeShapeType="1"/>
          </p:cNvSpPr>
          <p:nvPr/>
        </p:nvSpPr>
        <p:spPr bwMode="auto">
          <a:xfrm flipV="1">
            <a:off x="2178050" y="2849563"/>
            <a:ext cx="323850" cy="625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 rot="1598944">
            <a:off x="5189538" y="2020888"/>
            <a:ext cx="287337" cy="1739900"/>
            <a:chOff x="4615" y="1398"/>
            <a:chExt cx="422" cy="2557"/>
          </a:xfrm>
        </p:grpSpPr>
        <p:sp>
          <p:nvSpPr>
            <p:cNvPr id="12313" name="Oval 19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4" name="Rectangle 20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5" name="Oval 21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28758" name="Line 22"/>
          <p:cNvSpPr>
            <a:spLocks noChangeShapeType="1"/>
          </p:cNvSpPr>
          <p:nvPr/>
        </p:nvSpPr>
        <p:spPr bwMode="auto">
          <a:xfrm flipV="1">
            <a:off x="5030788" y="2527300"/>
            <a:ext cx="481012" cy="9620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 rot="1598944">
            <a:off x="8091488" y="2070100"/>
            <a:ext cx="287337" cy="1739900"/>
            <a:chOff x="4615" y="1398"/>
            <a:chExt cx="422" cy="2557"/>
          </a:xfrm>
        </p:grpSpPr>
        <p:sp>
          <p:nvSpPr>
            <p:cNvPr id="12310" name="Oval 24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1" name="Rectangle 25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12" name="Oval 26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28763" name="Line 27"/>
          <p:cNvSpPr>
            <a:spLocks noChangeShapeType="1"/>
          </p:cNvSpPr>
          <p:nvPr/>
        </p:nvSpPr>
        <p:spPr bwMode="auto">
          <a:xfrm flipV="1">
            <a:off x="7932738" y="2263775"/>
            <a:ext cx="647700" cy="12747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8764" name="Text Box 28"/>
          <p:cNvSpPr txBox="1">
            <a:spLocks noChangeArrowheads="1"/>
          </p:cNvSpPr>
          <p:nvPr/>
        </p:nvSpPr>
        <p:spPr bwMode="auto">
          <a:xfrm>
            <a:off x="744538" y="4265613"/>
            <a:ext cx="1927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low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28765" name="Text Box 29"/>
          <p:cNvSpPr txBox="1">
            <a:spLocks noChangeArrowheads="1"/>
          </p:cNvSpPr>
          <p:nvPr/>
        </p:nvSpPr>
        <p:spPr bwMode="auto">
          <a:xfrm>
            <a:off x="3649663" y="4283075"/>
            <a:ext cx="1925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medium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</a:p>
        </p:txBody>
      </p:sp>
      <p:sp>
        <p:nvSpPr>
          <p:cNvPr id="628766" name="Text Box 30"/>
          <p:cNvSpPr txBox="1">
            <a:spLocks noChangeArrowheads="1"/>
          </p:cNvSpPr>
          <p:nvPr/>
        </p:nvSpPr>
        <p:spPr bwMode="auto">
          <a:xfrm>
            <a:off x="6486525" y="4283075"/>
            <a:ext cx="1927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high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15" dur="5000" fill="hold"/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000"/>
                                        <p:tgtEl>
                                          <p:spTgt spid="62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6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34" dur="2000" fill="hold"/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000"/>
                                        <p:tgtEl>
                                          <p:spTgt spid="62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50" dur="500" fill="hold"/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28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87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28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87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28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28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87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8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28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287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287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28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28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287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28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28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287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28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28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28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40" grpId="0" animBg="1"/>
      <p:bldP spid="628741" grpId="0" animBg="1"/>
      <p:bldP spid="628741" grpId="1" animBg="1"/>
      <p:bldP spid="628742" grpId="0" animBg="1"/>
      <p:bldP spid="628743" grpId="0" animBg="1"/>
      <p:bldP spid="628743" grpId="1" animBg="1"/>
      <p:bldP spid="628744" grpId="0" animBg="1"/>
      <p:bldP spid="628745" grpId="0" animBg="1"/>
      <p:bldP spid="628745" grpId="1" animBg="1"/>
      <p:bldP spid="628746" grpId="0"/>
      <p:bldP spid="628747" grpId="0"/>
      <p:bldP spid="628748" grpId="0"/>
      <p:bldP spid="628753" grpId="0" animBg="1"/>
      <p:bldP spid="628758" grpId="0" animBg="1"/>
      <p:bldP spid="628763" grpId="0" animBg="1"/>
      <p:bldP spid="628764" grpId="0"/>
      <p:bldP spid="628765" grpId="0"/>
      <p:bldP spid="6287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</a:defRPr>
            </a:lvl1pPr>
            <a:lvl2pPr marL="571500"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altLang="en-US" sz="2400" i="1" dirty="0">
                <a:solidFill>
                  <a:srgbClr val="333399"/>
                </a:solidFill>
                <a:latin typeface="+mn-lt"/>
                <a:cs typeface="Times New Roman" pitchFamily="18" charset="0"/>
              </a:rPr>
              <a:t>The kinetic model of an ideal gas</a:t>
            </a: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spcBef>
                <a:spcPts val="18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Consider small, medium and large containers.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In a smaller volume the molecules have less distance to travel to hit a wall. Thus the wall is hit more often. 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Thus the pressure will be bigger if the volume is smaller.</a:t>
            </a:r>
          </a:p>
        </p:txBody>
      </p:sp>
      <p:sp>
        <p:nvSpPr>
          <p:cNvPr id="630794" name="Text Box 10"/>
          <p:cNvSpPr txBox="1">
            <a:spLocks noChangeArrowheads="1"/>
          </p:cNvSpPr>
          <p:nvPr/>
        </p:nvSpPr>
        <p:spPr bwMode="auto">
          <a:xfrm>
            <a:off x="1219200" y="3822700"/>
            <a:ext cx="1335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small 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30812" name="Text Box 28"/>
          <p:cNvSpPr txBox="1">
            <a:spLocks noChangeArrowheads="1"/>
          </p:cNvSpPr>
          <p:nvPr/>
        </p:nvSpPr>
        <p:spPr bwMode="auto">
          <a:xfrm>
            <a:off x="1219200" y="4137025"/>
            <a:ext cx="133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high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30815" name="Rectangle 31"/>
          <p:cNvSpPr>
            <a:spLocks noChangeArrowheads="1"/>
          </p:cNvSpPr>
          <p:nvPr/>
        </p:nvSpPr>
        <p:spPr bwMode="auto">
          <a:xfrm>
            <a:off x="1219200" y="2468563"/>
            <a:ext cx="1335088" cy="13350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30816" name="Oval 32"/>
          <p:cNvSpPr>
            <a:spLocks noChangeArrowheads="1"/>
          </p:cNvSpPr>
          <p:nvPr/>
        </p:nvSpPr>
        <p:spPr bwMode="auto">
          <a:xfrm>
            <a:off x="1217613" y="3598863"/>
            <a:ext cx="174625" cy="174625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 rot="1598944">
            <a:off x="2276475" y="2119313"/>
            <a:ext cx="287338" cy="1739900"/>
            <a:chOff x="4615" y="1398"/>
            <a:chExt cx="422" cy="2557"/>
          </a:xfrm>
        </p:grpSpPr>
        <p:sp>
          <p:nvSpPr>
            <p:cNvPr id="13340" name="Oval 14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41" name="Rectangle 15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42" name="Oval 16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30801" name="Line 17"/>
          <p:cNvSpPr>
            <a:spLocks noChangeShapeType="1"/>
          </p:cNvSpPr>
          <p:nvPr/>
        </p:nvSpPr>
        <p:spPr bwMode="auto">
          <a:xfrm flipV="1">
            <a:off x="2117725" y="2962275"/>
            <a:ext cx="323850" cy="625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0822" name="Text Box 38"/>
          <p:cNvSpPr txBox="1">
            <a:spLocks noChangeArrowheads="1"/>
          </p:cNvSpPr>
          <p:nvPr/>
        </p:nvSpPr>
        <p:spPr bwMode="auto">
          <a:xfrm>
            <a:off x="3459163" y="3956050"/>
            <a:ext cx="1685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medium 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30823" name="Text Box 39"/>
          <p:cNvSpPr txBox="1">
            <a:spLocks noChangeArrowheads="1"/>
          </p:cNvSpPr>
          <p:nvPr/>
        </p:nvSpPr>
        <p:spPr bwMode="auto">
          <a:xfrm>
            <a:off x="3459163" y="4303713"/>
            <a:ext cx="1687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medium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30824" name="Rectangle 40"/>
          <p:cNvSpPr>
            <a:spLocks noChangeArrowheads="1"/>
          </p:cNvSpPr>
          <p:nvPr/>
        </p:nvSpPr>
        <p:spPr bwMode="auto">
          <a:xfrm>
            <a:off x="3448050" y="2217738"/>
            <a:ext cx="1697038" cy="1697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30825" name="Oval 41"/>
          <p:cNvSpPr>
            <a:spLocks noChangeArrowheads="1"/>
          </p:cNvSpPr>
          <p:nvPr/>
        </p:nvSpPr>
        <p:spPr bwMode="auto">
          <a:xfrm>
            <a:off x="3459163" y="3706813"/>
            <a:ext cx="176212" cy="176212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 rot="1598944">
            <a:off x="4852988" y="2170113"/>
            <a:ext cx="287337" cy="1739900"/>
            <a:chOff x="4615" y="1398"/>
            <a:chExt cx="422" cy="2557"/>
          </a:xfrm>
        </p:grpSpPr>
        <p:sp>
          <p:nvSpPr>
            <p:cNvPr id="13337" name="Oval 43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8" name="Rectangle 44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9" name="Oval 45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30830" name="Line 46"/>
          <p:cNvSpPr>
            <a:spLocks noChangeShapeType="1"/>
          </p:cNvSpPr>
          <p:nvPr/>
        </p:nvSpPr>
        <p:spPr bwMode="auto">
          <a:xfrm flipV="1">
            <a:off x="4706938" y="2987675"/>
            <a:ext cx="323850" cy="625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0831" name="Text Box 47"/>
          <p:cNvSpPr txBox="1">
            <a:spLocks noChangeArrowheads="1"/>
          </p:cNvSpPr>
          <p:nvPr/>
        </p:nvSpPr>
        <p:spPr bwMode="auto">
          <a:xfrm>
            <a:off x="5915025" y="4140200"/>
            <a:ext cx="2082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large 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30832" name="Text Box 48"/>
          <p:cNvSpPr txBox="1">
            <a:spLocks noChangeArrowheads="1"/>
          </p:cNvSpPr>
          <p:nvPr/>
        </p:nvSpPr>
        <p:spPr bwMode="auto">
          <a:xfrm>
            <a:off x="5915025" y="4443413"/>
            <a:ext cx="208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hlink"/>
                </a:solidFill>
              </a:rPr>
              <a:t>low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630833" name="Rectangle 49"/>
          <p:cNvSpPr>
            <a:spLocks noChangeArrowheads="1"/>
          </p:cNvSpPr>
          <p:nvPr/>
        </p:nvSpPr>
        <p:spPr bwMode="auto">
          <a:xfrm>
            <a:off x="5903913" y="2017713"/>
            <a:ext cx="2093912" cy="20939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30834" name="Oval 50"/>
          <p:cNvSpPr>
            <a:spLocks noChangeArrowheads="1"/>
          </p:cNvSpPr>
          <p:nvPr/>
        </p:nvSpPr>
        <p:spPr bwMode="auto">
          <a:xfrm>
            <a:off x="5915025" y="3911600"/>
            <a:ext cx="184150" cy="18415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4" name="Group 51"/>
          <p:cNvGrpSpPr>
            <a:grpSpLocks/>
          </p:cNvGrpSpPr>
          <p:nvPr/>
        </p:nvGrpSpPr>
        <p:grpSpPr bwMode="auto">
          <a:xfrm rot="1598944">
            <a:off x="7669213" y="2271713"/>
            <a:ext cx="287337" cy="1739900"/>
            <a:chOff x="4615" y="1398"/>
            <a:chExt cx="422" cy="2557"/>
          </a:xfrm>
        </p:grpSpPr>
        <p:sp>
          <p:nvSpPr>
            <p:cNvPr id="13334" name="Oval 52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5" name="Rectangle 53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36" name="Oval 54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30839" name="Line 55"/>
          <p:cNvSpPr>
            <a:spLocks noChangeShapeType="1"/>
          </p:cNvSpPr>
          <p:nvPr/>
        </p:nvSpPr>
        <p:spPr bwMode="auto">
          <a:xfrm flipV="1">
            <a:off x="7510463" y="3114675"/>
            <a:ext cx="323850" cy="625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0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037 L 0.12899 -0.08056 L 0.03559 -0.17199 L -0.00278 -0.1331 L 0.12708 -0.04283 L 0.05937 0.00856 L -0.00104 -0.04028 L 0.09687 -0.17107 L 0.13003 -0.1331 L 0.03472 0.00486 L -0.00278 -0.07199 L 0.0493 -0.16852 L 0.12708 -0.09537 L 3.05556E-6 0.0037 Z " pathEditMode="relative" rAng="0" ptsTypes="AAAAAAAAAAAAAA">
                                      <p:cBhvr>
                                        <p:cTn id="12" dur="1000" fill="hold"/>
                                        <p:tgtEl>
                                          <p:spTgt spid="6308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-854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000"/>
                                        <p:tgtEl>
                                          <p:spTgt spid="630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59259E-6 L 0.16406 -0.10718 L 0.04531 -0.22338 L -0.00348 -0.17408 L 0.16163 -0.05926 L 0.07552 0.00625 L -0.00139 -0.05602 L 0.12326 -0.22222 L 0.16545 -0.17408 L 0.04409 0.00139 L -0.00348 -0.0963 L 0.06267 -0.21898 L 0.16163 -0.12616 L 3.05556E-6 2.59259E-6 Z " pathEditMode="relative" rAng="0" ptsTypes="AAAAAAAAAAAAAA">
                                      <p:cBhvr>
                                        <p:cTn id="28" dur="2000" fill="hold"/>
                                        <p:tgtEl>
                                          <p:spTgt spid="6308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90" y="-10856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000"/>
                                        <p:tgtEl>
                                          <p:spTgt spid="63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59259E-6 L 0.20417 -0.13334 L 0.05643 -0.27778 L -0.00416 -0.21667 L 0.20104 -0.07385 L 0.09393 0.00787 L -0.00173 -0.06968 L 0.1533 -0.27639 L 0.20591 -0.21667 L 0.05486 0.00162 L -0.00416 -0.11991 L 0.07795 -0.27246 L 0.20104 -0.15695 L -2.5E-6 2.59259E-6 Z " pathEditMode="relative" rAng="0" ptsTypes="AAAAAAAAAAAAAA">
                                      <p:cBhvr>
                                        <p:cTn id="44" dur="5000" fill="hold"/>
                                        <p:tgtEl>
                                          <p:spTgt spid="6308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87" y="-1349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000"/>
                                        <p:tgtEl>
                                          <p:spTgt spid="63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0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0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0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0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07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30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30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308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30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0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308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307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307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307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307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30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30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0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30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30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0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30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30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30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94" grpId="0"/>
      <p:bldP spid="630812" grpId="0"/>
      <p:bldP spid="630815" grpId="0" animBg="1"/>
      <p:bldP spid="630816" grpId="0" animBg="1"/>
      <p:bldP spid="630816" grpId="1" animBg="1"/>
      <p:bldP spid="630801" grpId="0" animBg="1"/>
      <p:bldP spid="630822" grpId="0"/>
      <p:bldP spid="630823" grpId="0"/>
      <p:bldP spid="630824" grpId="0" animBg="1"/>
      <p:bldP spid="630825" grpId="0" animBg="1"/>
      <p:bldP spid="630825" grpId="1" animBg="1"/>
      <p:bldP spid="630830" grpId="0" animBg="1"/>
      <p:bldP spid="630831" grpId="0"/>
      <p:bldP spid="630832" grpId="0"/>
      <p:bldP spid="630833" grpId="0" animBg="1"/>
      <p:bldP spid="630834" grpId="0" animBg="1"/>
      <p:bldP spid="630834" grpId="1" animBg="1"/>
      <p:bldP spid="6308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5308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</a:defRPr>
            </a:lvl1pPr>
            <a:lvl2pPr marL="571500"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altLang="en-US" sz="2400" i="1" dirty="0">
                <a:solidFill>
                  <a:srgbClr val="333399"/>
                </a:solidFill>
                <a:latin typeface="+mn-lt"/>
                <a:cs typeface="Times New Roman" pitchFamily="18" charset="0"/>
              </a:rPr>
              <a:t>The kinetic model of an ideal gas</a:t>
            </a: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Consider a syringe full of an ideal gas.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If we make the volume less we see that the   temperature will increase. 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Since the plunger exerts a force on the gas,  and executes a displacement, it does work on the gas.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From the work-kinetic energy theorem we know            that if we do work on the gas, its kinetic energy                  must increase.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Thus its speed will increase, which means its temperature increases.</a:t>
            </a:r>
          </a:p>
          <a:p>
            <a:pPr algn="l"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On the other hand, if the process is reversed                                the gas will do the work, lose </a:t>
            </a:r>
            <a:r>
              <a:rPr lang="en-US" altLang="en-US" sz="2400" i="1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E</a:t>
            </a:r>
            <a:r>
              <a:rPr lang="en-US" altLang="en-US" sz="2400" baseline="-250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 and cool.</a:t>
            </a:r>
          </a:p>
        </p:txBody>
      </p:sp>
      <p:sp>
        <p:nvSpPr>
          <p:cNvPr id="632863" name="Rectangle 31"/>
          <p:cNvSpPr>
            <a:spLocks noChangeArrowheads="1"/>
          </p:cNvSpPr>
          <p:nvPr/>
        </p:nvSpPr>
        <p:spPr bwMode="auto">
          <a:xfrm>
            <a:off x="7526338" y="4038600"/>
            <a:ext cx="973137" cy="103505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7491413" y="4691063"/>
            <a:ext cx="1055687" cy="2006600"/>
            <a:chOff x="923" y="2592"/>
            <a:chExt cx="665" cy="1264"/>
          </a:xfrm>
        </p:grpSpPr>
        <p:sp>
          <p:nvSpPr>
            <p:cNvPr id="14347" name="Rectangle 35"/>
            <p:cNvSpPr>
              <a:spLocks noChangeArrowheads="1"/>
            </p:cNvSpPr>
            <p:nvPr/>
          </p:nvSpPr>
          <p:spPr bwMode="auto">
            <a:xfrm>
              <a:off x="923" y="3792"/>
              <a:ext cx="661" cy="6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32868" name="Rectangle 36"/>
            <p:cNvSpPr>
              <a:spLocks noChangeArrowheads="1"/>
            </p:cNvSpPr>
            <p:nvPr/>
          </p:nvSpPr>
          <p:spPr bwMode="auto">
            <a:xfrm>
              <a:off x="927" y="2592"/>
              <a:ext cx="661" cy="1264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17000"/>
                  </a:schemeClr>
                </a:gs>
                <a:gs pos="5000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349" name="Line 37"/>
            <p:cNvSpPr>
              <a:spLocks noChangeShapeType="1"/>
            </p:cNvSpPr>
            <p:nvPr/>
          </p:nvSpPr>
          <p:spPr bwMode="auto">
            <a:xfrm>
              <a:off x="1056" y="283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Line 38"/>
            <p:cNvSpPr>
              <a:spLocks noChangeShapeType="1"/>
            </p:cNvSpPr>
            <p:nvPr/>
          </p:nvSpPr>
          <p:spPr bwMode="auto">
            <a:xfrm>
              <a:off x="1056" y="292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Line 39"/>
            <p:cNvSpPr>
              <a:spLocks noChangeShapeType="1"/>
            </p:cNvSpPr>
            <p:nvPr/>
          </p:nvSpPr>
          <p:spPr bwMode="auto">
            <a:xfrm>
              <a:off x="1056" y="30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40"/>
            <p:cNvSpPr>
              <a:spLocks noChangeShapeType="1"/>
            </p:cNvSpPr>
            <p:nvPr/>
          </p:nvSpPr>
          <p:spPr bwMode="auto">
            <a:xfrm>
              <a:off x="1056" y="31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41"/>
            <p:cNvSpPr>
              <a:spLocks noChangeShapeType="1"/>
            </p:cNvSpPr>
            <p:nvPr/>
          </p:nvSpPr>
          <p:spPr bwMode="auto">
            <a:xfrm>
              <a:off x="1056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Line 42"/>
            <p:cNvSpPr>
              <a:spLocks noChangeShapeType="1"/>
            </p:cNvSpPr>
            <p:nvPr/>
          </p:nvSpPr>
          <p:spPr bwMode="auto">
            <a:xfrm>
              <a:off x="1056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Line 43"/>
            <p:cNvSpPr>
              <a:spLocks noChangeShapeType="1"/>
            </p:cNvSpPr>
            <p:nvPr/>
          </p:nvSpPr>
          <p:spPr bwMode="auto">
            <a:xfrm>
              <a:off x="1056" y="34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Line 44"/>
            <p:cNvSpPr>
              <a:spLocks noChangeShapeType="1"/>
            </p:cNvSpPr>
            <p:nvPr/>
          </p:nvSpPr>
          <p:spPr bwMode="auto">
            <a:xfrm>
              <a:off x="1056" y="350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Line 45"/>
            <p:cNvSpPr>
              <a:spLocks noChangeShapeType="1"/>
            </p:cNvSpPr>
            <p:nvPr/>
          </p:nvSpPr>
          <p:spPr bwMode="auto">
            <a:xfrm>
              <a:off x="1056" y="360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Line 46"/>
            <p:cNvSpPr>
              <a:spLocks noChangeShapeType="1"/>
            </p:cNvSpPr>
            <p:nvPr/>
          </p:nvSpPr>
          <p:spPr bwMode="auto">
            <a:xfrm>
              <a:off x="1056" y="36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64"/>
          <p:cNvGrpSpPr>
            <a:grpSpLocks/>
          </p:cNvGrpSpPr>
          <p:nvPr/>
        </p:nvGrpSpPr>
        <p:grpSpPr bwMode="auto">
          <a:xfrm rot="1598944">
            <a:off x="8413750" y="4767263"/>
            <a:ext cx="287338" cy="1739900"/>
            <a:chOff x="4615" y="1398"/>
            <a:chExt cx="422" cy="2557"/>
          </a:xfrm>
        </p:grpSpPr>
        <p:sp>
          <p:nvSpPr>
            <p:cNvPr id="14344" name="Oval 65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45" name="Rectangle 66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46" name="Oval 67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32900" name="Line 68"/>
          <p:cNvSpPr>
            <a:spLocks noChangeShapeType="1"/>
          </p:cNvSpPr>
          <p:nvPr/>
        </p:nvSpPr>
        <p:spPr bwMode="auto">
          <a:xfrm flipV="1">
            <a:off x="8255000" y="4960938"/>
            <a:ext cx="647700" cy="12747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-2.77778E-7 0.11366 " pathEditMode="relative" rAng="0" ptsTypes="AA">
                                      <p:cBhvr>
                                        <p:cTn id="27" dur="3000" fill="hold"/>
                                        <p:tgtEl>
                                          <p:spTgt spid="6328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7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tretc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000"/>
                                        <p:tgtEl>
                                          <p:spTgt spid="63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2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2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2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2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3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3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.11366 L -1.38889E-6 -0.01805 " pathEditMode="relative" rAng="0" ptsTypes="AA">
                                      <p:cBhvr>
                                        <p:cTn id="58" dur="3000" fill="hold"/>
                                        <p:tgtEl>
                                          <p:spTgt spid="6328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tretc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0" dur="3000"/>
                                        <p:tgtEl>
                                          <p:spTgt spid="632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3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63" grpId="0" animBg="1"/>
      <p:bldP spid="632863" grpId="1" animBg="1"/>
      <p:bldP spid="632863" grpId="2" animBg="1"/>
      <p:bldP spid="632900" grpId="0" animBg="1"/>
      <p:bldP spid="63290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Rectangle 4"/>
          <p:cNvSpPr>
            <a:spLocks noChangeArrowheads="1"/>
          </p:cNvSpPr>
          <p:nvPr/>
        </p:nvSpPr>
        <p:spPr bwMode="auto">
          <a:xfrm>
            <a:off x="685800" y="1835150"/>
            <a:ext cx="7772400" cy="50228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5085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333399"/>
                </a:solidFill>
              </a:rPr>
              <a:t>The kinetic model of an ideal gas</a:t>
            </a:r>
          </a:p>
        </p:txBody>
      </p:sp>
      <p:pic>
        <p:nvPicPr>
          <p:cNvPr id="1189903" name="Picture 1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893888"/>
            <a:ext cx="7775575" cy="293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9904" name="Text Box 16"/>
          <p:cNvSpPr txBox="1">
            <a:spLocks noChangeArrowheads="1"/>
          </p:cNvSpPr>
          <p:nvPr/>
        </p:nvSpPr>
        <p:spPr bwMode="auto">
          <a:xfrm>
            <a:off x="666750" y="4810125"/>
            <a:ext cx="7805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Temperature is a measure of the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altLang="en-US" i="1" baseline="-2500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of the gas.</a:t>
            </a:r>
          </a:p>
        </p:txBody>
      </p:sp>
      <p:sp>
        <p:nvSpPr>
          <p:cNvPr id="1189905" name="Text Box 17"/>
          <p:cNvSpPr txBox="1">
            <a:spLocks noChangeArrowheads="1"/>
          </p:cNvSpPr>
          <p:nvPr/>
        </p:nvSpPr>
        <p:spPr bwMode="auto">
          <a:xfrm>
            <a:off x="666750" y="5219700"/>
            <a:ext cx="792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Reducing the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altLang="en-US" i="1" baseline="-2500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reduces the frequency of collisions.</a:t>
            </a:r>
          </a:p>
        </p:txBody>
      </p:sp>
      <p:sp>
        <p:nvSpPr>
          <p:cNvPr id="1189906" name="Text Box 18"/>
          <p:cNvSpPr txBox="1">
            <a:spLocks noChangeArrowheads="1"/>
          </p:cNvSpPr>
          <p:nvPr/>
        </p:nvSpPr>
        <p:spPr bwMode="auto">
          <a:xfrm>
            <a:off x="666750" y="5661025"/>
            <a:ext cx="78057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For </a:t>
            </a:r>
            <a:r>
              <a:rPr lang="en-US" altLang="en-US" u="sng">
                <a:solidFill>
                  <a:schemeClr val="hlink"/>
                </a:solidFill>
                <a:sym typeface="Symbol" pitchFamily="18" charset="2"/>
              </a:rPr>
              <a:t>perfectly elastic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collisions (as in an ideal gas) contact time is zero regardless of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E</a:t>
            </a:r>
            <a:r>
              <a:rPr lang="en-US" altLang="en-US" i="1" baseline="-25000">
                <a:solidFill>
                  <a:schemeClr val="hlink"/>
                </a:solidFill>
                <a:sym typeface="Symbol" pitchFamily="18" charset="2"/>
              </a:rPr>
              <a:t>K</a:t>
            </a:r>
            <a:r>
              <a:rPr lang="en-US" altLang="en-US" baseline="-25000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alt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89907" name="Oval 19"/>
          <p:cNvSpPr>
            <a:spLocks noChangeArrowheads="1"/>
          </p:cNvSpPr>
          <p:nvPr/>
        </p:nvSpPr>
        <p:spPr bwMode="auto">
          <a:xfrm>
            <a:off x="696913" y="2659063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9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9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9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9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9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9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9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9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89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89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89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990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335" name="Rectangle 39"/>
          <p:cNvSpPr>
            <a:spLocks noChangeArrowheads="1"/>
          </p:cNvSpPr>
          <p:nvPr/>
        </p:nvSpPr>
        <p:spPr bwMode="auto">
          <a:xfrm>
            <a:off x="674688" y="5173663"/>
            <a:ext cx="7781925" cy="168433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57150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en-US" sz="2400" dirty="0">
                <a:latin typeface="+mn-lt"/>
                <a:sym typeface="Symbol" pitchFamily="18" charset="2"/>
              </a:rPr>
              <a:t>EXAMPLE: Find the mass (in kg) of one mole of carbon.</a:t>
            </a:r>
            <a:endParaRPr lang="en-US" altLang="en-US" sz="2400" dirty="0">
              <a:latin typeface="+mn-lt"/>
              <a:cs typeface="Courier New" pitchFamily="49" charset="0"/>
              <a:sym typeface="Symbol" pitchFamily="18" charset="2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sz="2400" dirty="0">
                <a:latin typeface="+mn-lt"/>
              </a:rPr>
              <a:t>SOLUTION:</a:t>
            </a:r>
          </a:p>
          <a:p>
            <a:pPr eaLnBrk="1" hangingPunct="1">
              <a:buFont typeface="Symbol" pitchFamily="18" charset="2"/>
              <a:buChar char="·"/>
              <a:defRPr/>
            </a:pPr>
            <a:r>
              <a:rPr lang="en-US" altLang="en-US" sz="2400" dirty="0">
                <a:latin typeface="+mn-lt"/>
              </a:rPr>
              <a:t>From the periodic table we see that it is just 1 mole C = 12.011 grams = 0.012011 kg.</a:t>
            </a:r>
            <a:endParaRPr lang="en-US" altLang="en-US" sz="2400" dirty="0">
              <a:latin typeface="+mn-lt"/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567298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362743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</a:defRPr>
            </a:lvl1pPr>
            <a:lvl2pPr marL="571500"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altLang="en-US" sz="2400" i="1" dirty="0">
                <a:solidFill>
                  <a:srgbClr val="333399"/>
                </a:solidFill>
                <a:latin typeface="+mn-lt"/>
                <a:cs typeface="Times New Roman" pitchFamily="18" charset="0"/>
              </a:rPr>
              <a:t>The mole and molar mass	</a:t>
            </a:r>
          </a:p>
          <a:p>
            <a:pPr algn="l">
              <a:spcBef>
                <a:spcPts val="4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Recall from the periodic table of the                                elements that each element has certain                             numbers associated with it.</a:t>
            </a:r>
          </a:p>
          <a:p>
            <a:pPr algn="l">
              <a:spcBef>
                <a:spcPts val="4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We define the mole of a homogeneous                                   substance as follows: </a:t>
            </a: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 algn="l">
              <a:defRPr/>
            </a:pPr>
            <a:endParaRPr lang="en-US" altLang="en-US" sz="2400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828675" y="3881438"/>
            <a:ext cx="7464425" cy="1200150"/>
            <a:chOff x="522" y="2436"/>
            <a:chExt cx="4702" cy="756"/>
          </a:xfrm>
        </p:grpSpPr>
        <p:sp>
          <p:nvSpPr>
            <p:cNvPr id="15369" name="Rectangle 35"/>
            <p:cNvSpPr>
              <a:spLocks noChangeArrowheads="1"/>
            </p:cNvSpPr>
            <p:nvPr/>
          </p:nvSpPr>
          <p:spPr bwMode="auto">
            <a:xfrm>
              <a:off x="522" y="2440"/>
              <a:ext cx="3773" cy="5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buFontTx/>
                <a:buNone/>
                <a:defRPr/>
              </a:pPr>
              <a:r>
                <a:rPr lang="en-US" altLang="en-US" sz="2400" i="1" dirty="0">
                  <a:solidFill>
                    <a:srgbClr val="333399"/>
                  </a:solidFill>
                  <a:latin typeface="+mn-lt"/>
                </a:rPr>
                <a:t>1 mole is the number of atoms of an element that will have a mass in grams equal to its gram atomic weight.</a:t>
              </a:r>
              <a:endParaRPr lang="en-US" altLang="en-US" sz="2400" baseline="-25000" dirty="0">
                <a:solidFill>
                  <a:srgbClr val="333399"/>
                </a:solidFill>
                <a:latin typeface="+mn-lt"/>
                <a:cs typeface="Courier New" pitchFamily="49" charset="0"/>
              </a:endParaRPr>
            </a:p>
          </p:txBody>
        </p:sp>
        <p:sp>
          <p:nvSpPr>
            <p:cNvPr id="15370" name="Text Box 36"/>
            <p:cNvSpPr txBox="1">
              <a:spLocks noChangeArrowheads="1"/>
            </p:cNvSpPr>
            <p:nvPr/>
          </p:nvSpPr>
          <p:spPr bwMode="auto">
            <a:xfrm>
              <a:off x="3993" y="2436"/>
              <a:ext cx="1231" cy="7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definition of mole and molar mass</a:t>
              </a:r>
            </a:p>
          </p:txBody>
        </p:sp>
        <p:sp>
          <p:nvSpPr>
            <p:cNvPr id="15371" name="Rectangle 37"/>
            <p:cNvSpPr>
              <a:spLocks noChangeArrowheads="1"/>
            </p:cNvSpPr>
            <p:nvPr/>
          </p:nvSpPr>
          <p:spPr bwMode="auto">
            <a:xfrm>
              <a:off x="522" y="2438"/>
              <a:ext cx="4701" cy="75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567337" name="Rectangle 41"/>
          <p:cNvSpPr>
            <a:spLocks noChangeArrowheads="1"/>
          </p:cNvSpPr>
          <p:nvPr/>
        </p:nvSpPr>
        <p:spPr bwMode="auto">
          <a:xfrm>
            <a:off x="2414588" y="4587875"/>
            <a:ext cx="2816225" cy="358775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81750" y="42863"/>
            <a:ext cx="2481263" cy="3668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7336" name="Rectangle 40"/>
          <p:cNvSpPr>
            <a:spLocks noChangeArrowheads="1"/>
          </p:cNvSpPr>
          <p:nvPr/>
        </p:nvSpPr>
        <p:spPr bwMode="auto">
          <a:xfrm>
            <a:off x="7142163" y="1843088"/>
            <a:ext cx="990600" cy="341312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7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7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7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7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7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7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7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7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7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7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7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7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6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37" grpId="0" animBg="1"/>
      <p:bldP spid="5673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55" name="Rectangle 11"/>
          <p:cNvSpPr>
            <a:spLocks noChangeArrowheads="1"/>
          </p:cNvSpPr>
          <p:nvPr/>
        </p:nvSpPr>
        <p:spPr bwMode="auto">
          <a:xfrm>
            <a:off x="685800" y="1955800"/>
            <a:ext cx="7772400" cy="49022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PRACTICE:  </a:t>
            </a:r>
          </a:p>
          <a:p>
            <a:pPr eaLnBrk="1" hangingPunct="1"/>
            <a:r>
              <a:rPr lang="en-US" altLang="en-US"/>
              <a:t>What is the </a:t>
            </a:r>
            <a:r>
              <a:rPr lang="en-US" altLang="en-US" i="1"/>
              <a:t>gram atomic weight</a:t>
            </a:r>
            <a:r>
              <a:rPr lang="en-US" altLang="en-US"/>
              <a:t> of oxygen?</a:t>
            </a:r>
          </a:p>
          <a:p>
            <a:pPr eaLnBrk="1" hangingPunct="1"/>
            <a:r>
              <a:rPr lang="en-US" altLang="en-US"/>
              <a:t>SOLUTION: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It is 15.9994 g, or if you prefer, 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   (15.9994 g)(1 kg </a:t>
            </a:r>
            <a:r>
              <a:rPr lang="en-US" altLang="en-US" i="1">
                <a:sym typeface="Symbol" pitchFamily="18" charset="2"/>
              </a:rPr>
              <a:t>/</a:t>
            </a:r>
            <a:r>
              <a:rPr lang="en-US" altLang="en-US">
                <a:sym typeface="Symbol" pitchFamily="18" charset="2"/>
              </a:rPr>
              <a:t> 1000 g) = 0.015994 kg.</a:t>
            </a:r>
          </a:p>
          <a:p>
            <a:pPr eaLnBrk="1" hangingPunct="1"/>
            <a:endParaRPr lang="en-US" altLang="en-US">
              <a:sym typeface="Symbol" pitchFamily="18" charset="2"/>
            </a:endParaRPr>
          </a:p>
          <a:p>
            <a:pPr eaLnBrk="1" hangingPunct="1"/>
            <a:r>
              <a:rPr lang="en-US" altLang="en-US">
                <a:sym typeface="Symbol" pitchFamily="18" charset="2"/>
              </a:rPr>
              <a:t>PRACTICE: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What is the molar mass of phosphorus in                    kilograms?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From the periodic table we see that the                                   molar mass of phosphorus is                                          30.973762 grams.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The molar mass in kilograms is 0.030973762 kg.</a:t>
            </a: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4476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The mole and molar mass</a:t>
            </a: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pic>
        <p:nvPicPr>
          <p:cNvPr id="16397" name="Picture 1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69088" y="1758950"/>
            <a:ext cx="2379662" cy="2124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9356" name="Rectangle 12"/>
          <p:cNvSpPr>
            <a:spLocks noChangeArrowheads="1"/>
          </p:cNvSpPr>
          <p:nvPr/>
        </p:nvSpPr>
        <p:spPr bwMode="auto">
          <a:xfrm>
            <a:off x="7391400" y="3492500"/>
            <a:ext cx="987425" cy="292100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6398" name="Picture 1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72263" y="4243388"/>
            <a:ext cx="2366962" cy="2128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7361238" y="5953125"/>
            <a:ext cx="1036637" cy="306388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9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9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9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9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9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9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9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9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9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9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9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9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9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9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69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69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9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9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56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8" name="Rectangle 6"/>
          <p:cNvSpPr>
            <a:spLocks noChangeArrowheads="1"/>
          </p:cNvSpPr>
          <p:nvPr/>
        </p:nvSpPr>
        <p:spPr bwMode="auto">
          <a:xfrm>
            <a:off x="685800" y="1951038"/>
            <a:ext cx="7772400" cy="490696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PRACTICE: </a:t>
            </a:r>
            <a:r>
              <a:rPr lang="en-US" altLang="en-US">
                <a:sym typeface="Symbol" pitchFamily="18" charset="2"/>
              </a:rPr>
              <a:t>Water is made up of 2 hydrogen                  atoms and 1 oxygen atom and has a                              molecular formula given by H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O. Find </a:t>
            </a:r>
          </a:p>
          <a:p>
            <a:pPr eaLnBrk="1" hangingPunct="1">
              <a:buFontTx/>
              <a:buAutoNum type="alphaLcParenBoth"/>
            </a:pPr>
            <a:r>
              <a:rPr lang="en-US" altLang="en-US">
                <a:sym typeface="Symbol" pitchFamily="18" charset="2"/>
              </a:rPr>
              <a:t> the gram atomic weight of water. 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(b) the mass in grams of 1 mole of water.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(c) how many moles of hydrogen and oxygen                       there are in 1 mole of water.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SOLUTION: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(a) The GAW of H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O is given by 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      2(1.00794) + 1(15.9994) = 18.01528 g per mole.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(b) Thus the mass of 1 mole of H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O is 18.01528 g.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(c) Since each mole of H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O has 2H and 1O, there are 2 moles of H and 1 mole of O for each mole of water.</a:t>
            </a: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4476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The mole and molar mass</a:t>
            </a: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23100" y="1492250"/>
            <a:ext cx="1981200" cy="180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5638" y="3467100"/>
            <a:ext cx="1995487" cy="1793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71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1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1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71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1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1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13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13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713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713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2"/>
          <p:cNvSpPr>
            <a:spLocks noChangeArrowheads="1"/>
          </p:cNvSpPr>
          <p:nvPr/>
        </p:nvSpPr>
        <p:spPr bwMode="auto">
          <a:xfrm>
            <a:off x="682625" y="6035675"/>
            <a:ext cx="7764463" cy="822325"/>
          </a:xfrm>
          <a:prstGeom prst="rect">
            <a:avLst/>
          </a:prstGeom>
          <a:solidFill>
            <a:srgbClr val="FF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1" i="1"/>
              <a:t>FYI</a:t>
            </a:r>
          </a:p>
          <a:p>
            <a:pPr eaLnBrk="1" hangingPunct="1"/>
            <a:r>
              <a:rPr lang="en-US" altLang="en-US" b="1">
                <a:sym typeface="Symbol" pitchFamily="18" charset="2"/>
              </a:rPr>
              <a:t></a:t>
            </a:r>
            <a:r>
              <a:rPr lang="en-US" altLang="en-US">
                <a:sym typeface="Symbol" pitchFamily="18" charset="2"/>
              </a:rPr>
              <a:t>Maintain your vigilance regarding significant figures!</a:t>
            </a: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571398" name="Rectangle 6"/>
          <p:cNvSpPr>
            <a:spLocks noChangeArrowheads="1"/>
          </p:cNvSpPr>
          <p:nvPr/>
        </p:nvSpPr>
        <p:spPr bwMode="auto">
          <a:xfrm>
            <a:off x="685800" y="1951038"/>
            <a:ext cx="7772400" cy="41259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PRACTICE: 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Suppose we have 12.25 g of water in a                           Dixie</a:t>
            </a:r>
            <a:r>
              <a:rPr lang="en-US" altLang="en-US" baseline="30000">
                <a:sym typeface="Symbol" pitchFamily="18" charset="2"/>
              </a:rPr>
              <a:t>TM</a:t>
            </a:r>
            <a:r>
              <a:rPr lang="en-US" altLang="en-US">
                <a:sym typeface="Symbol" pitchFamily="18" charset="2"/>
              </a:rPr>
              <a:t> Cup? How many moles                                                        of water does this amount to?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SOLUTION: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We determined that the GAW of                                               H</a:t>
            </a:r>
            <a:r>
              <a:rPr lang="en-US" altLang="en-US" baseline="-25000">
                <a:sym typeface="Symbol" pitchFamily="18" charset="2"/>
              </a:rPr>
              <a:t>2</a:t>
            </a:r>
            <a:r>
              <a:rPr lang="en-US" altLang="en-US">
                <a:sym typeface="Symbol" pitchFamily="18" charset="2"/>
              </a:rPr>
              <a:t>O is 18.01528 g per mole in                                                      the previous problem.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Thus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  (12.25 g)(1 mol </a:t>
            </a:r>
            <a:r>
              <a:rPr lang="en-US" altLang="en-US" i="1">
                <a:sym typeface="Symbol" pitchFamily="18" charset="2"/>
              </a:rPr>
              <a:t>/</a:t>
            </a:r>
            <a:r>
              <a:rPr lang="en-US" altLang="en-US">
                <a:sym typeface="Symbol" pitchFamily="18" charset="2"/>
              </a:rPr>
              <a:t> 18.01528 g) 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                                = 0.6800 mol.</a:t>
            </a: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4476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The mole and molar mass</a:t>
            </a:r>
            <a:endParaRPr lang="en-US" altLang="en-US" sz="2000">
              <a:solidFill>
                <a:srgbClr val="000000"/>
              </a:solidFill>
              <a:latin typeface="Courier New" pitchFamily="49" charset="0"/>
              <a:cs typeface="Times New Roman" pitchFamily="18" charset="0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60975" y="2744788"/>
            <a:ext cx="3043238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05638" y="3467100"/>
            <a:ext cx="1995487" cy="1793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23100" y="1492250"/>
            <a:ext cx="1981200" cy="180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Connector 10"/>
          <p:cNvCxnSpPr/>
          <p:nvPr/>
        </p:nvCxnSpPr>
        <p:spPr>
          <a:xfrm rot="16200000" flipH="1">
            <a:off x="1758950" y="5402263"/>
            <a:ext cx="379413" cy="2111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6200000" flipH="1">
            <a:off x="4484688" y="5386388"/>
            <a:ext cx="381000" cy="2095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1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1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1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1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71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1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62" name="Rectangle 18"/>
          <p:cNvSpPr>
            <a:spLocks noChangeArrowheads="1"/>
          </p:cNvSpPr>
          <p:nvPr/>
        </p:nvSpPr>
        <p:spPr bwMode="auto">
          <a:xfrm>
            <a:off x="674688" y="4656138"/>
            <a:ext cx="7781925" cy="22018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en-US" dirty="0">
                <a:latin typeface="+mn-lt"/>
                <a:sym typeface="Symbol" pitchFamily="18" charset="2"/>
              </a:rPr>
              <a:t>EXAMPLE: How many atoms of P are there in 31.0 g of it?</a:t>
            </a:r>
            <a:r>
              <a:rPr lang="en-US" altLang="en-US" dirty="0">
                <a:latin typeface="+mn-lt"/>
                <a:cs typeface="Courier New" pitchFamily="49" charset="0"/>
                <a:sym typeface="Symbol" pitchFamily="18" charset="2"/>
              </a:rPr>
              <a:t> How many atoms of C are there in 12.0 g of it?</a:t>
            </a:r>
          </a:p>
          <a:p>
            <a:pPr>
              <a:spcBef>
                <a:spcPct val="20000"/>
              </a:spcBef>
              <a:defRPr/>
            </a:pPr>
            <a:r>
              <a:rPr lang="en-US" altLang="en-US" dirty="0">
                <a:latin typeface="+mn-lt"/>
              </a:rPr>
              <a:t>SOLUTION:</a:t>
            </a:r>
          </a:p>
          <a:p>
            <a:pPr>
              <a:spcBef>
                <a:spcPct val="20000"/>
              </a:spcBef>
              <a:buFont typeface="Symbol" pitchFamily="18" charset="2"/>
              <a:buChar char="·"/>
              <a:defRPr/>
            </a:pPr>
            <a:r>
              <a:rPr lang="en-US" altLang="en-US" dirty="0">
                <a:latin typeface="+mn-lt"/>
              </a:rPr>
              <a:t>There are </a:t>
            </a:r>
            <a:r>
              <a:rPr lang="en-US" altLang="en-US" i="1" dirty="0">
                <a:latin typeface="+mn-lt"/>
              </a:rPr>
              <a:t>N</a:t>
            </a:r>
            <a:r>
              <a:rPr lang="en-US" altLang="en-US" baseline="-25000" dirty="0">
                <a:latin typeface="+mn-lt"/>
              </a:rPr>
              <a:t>A</a:t>
            </a:r>
            <a:r>
              <a:rPr lang="en-US" altLang="en-US" dirty="0">
                <a:latin typeface="+mn-lt"/>
              </a:rPr>
              <a:t> = 6.02</a:t>
            </a:r>
            <a:r>
              <a:rPr lang="en-US" altLang="en-US" dirty="0">
                <a:latin typeface="+mn-lt"/>
                <a:sym typeface="Symbol" pitchFamily="18" charset="2"/>
              </a:rPr>
              <a:t>10</a:t>
            </a:r>
            <a:r>
              <a:rPr lang="en-US" altLang="en-US" baseline="30000" dirty="0">
                <a:latin typeface="+mn-lt"/>
                <a:sym typeface="Symbol" pitchFamily="18" charset="2"/>
              </a:rPr>
              <a:t>23</a:t>
            </a:r>
            <a:r>
              <a:rPr lang="en-US" altLang="en-US" dirty="0">
                <a:latin typeface="+mn-lt"/>
                <a:sym typeface="Symbol" pitchFamily="18" charset="2"/>
              </a:rPr>
              <a:t> atoms of P in 31.0 g of it.</a:t>
            </a:r>
          </a:p>
          <a:p>
            <a:pPr>
              <a:spcBef>
                <a:spcPct val="20000"/>
              </a:spcBef>
              <a:buFont typeface="Symbol" pitchFamily="18" charset="2"/>
              <a:buChar char="·"/>
              <a:defRPr/>
            </a:pPr>
            <a:r>
              <a:rPr lang="en-US" altLang="en-US" dirty="0"/>
              <a:t>There are </a:t>
            </a:r>
            <a:r>
              <a:rPr lang="en-US" altLang="en-US" i="1" dirty="0"/>
              <a:t>N</a:t>
            </a:r>
            <a:r>
              <a:rPr lang="en-US" altLang="en-US" baseline="-25000" dirty="0"/>
              <a:t>A</a:t>
            </a:r>
            <a:r>
              <a:rPr lang="en-US" altLang="en-US" dirty="0"/>
              <a:t> = 6.02</a:t>
            </a:r>
            <a:r>
              <a:rPr lang="en-US" altLang="en-US" dirty="0">
                <a:sym typeface="Symbol" pitchFamily="18" charset="2"/>
              </a:rPr>
              <a:t>10</a:t>
            </a:r>
            <a:r>
              <a:rPr lang="en-US" altLang="en-US" baseline="30000" dirty="0">
                <a:sym typeface="Symbol" pitchFamily="18" charset="2"/>
              </a:rPr>
              <a:t>23</a:t>
            </a:r>
            <a:r>
              <a:rPr lang="en-US" altLang="en-US" dirty="0">
                <a:sym typeface="Symbol" pitchFamily="18" charset="2"/>
              </a:rPr>
              <a:t> atoms of C in 12.0 g of it.</a:t>
            </a:r>
          </a:p>
          <a:p>
            <a:pPr>
              <a:spcBef>
                <a:spcPct val="20000"/>
              </a:spcBef>
              <a:buFont typeface="Symbol" pitchFamily="18" charset="2"/>
              <a:buChar char="·"/>
              <a:defRPr/>
            </a:pPr>
            <a:endParaRPr lang="en-US" altLang="en-US" dirty="0">
              <a:latin typeface="+mn-lt"/>
              <a:sym typeface="Symbol" pitchFamily="18" charset="2"/>
            </a:endParaRPr>
          </a:p>
        </p:txBody>
      </p:sp>
      <p:sp>
        <p:nvSpPr>
          <p:cNvPr id="569346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31210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The Avogadro constant</a:t>
            </a: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It turns out the a mole of carbon (12 g) and a mole of phosphorus (31 g) </a:t>
            </a:r>
            <a:r>
              <a:rPr lang="en-US" altLang="en-US" b="1">
                <a:solidFill>
                  <a:srgbClr val="000000"/>
                </a:solidFill>
                <a:cs typeface="Times New Roman" pitchFamily="18" charset="0"/>
              </a:rPr>
              <a:t>has the same number of atoms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.	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This means that 30.973762 g of P has the same number of atoms and 12.011 g of C.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That number 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altLang="en-US" baseline="-25000">
                <a:solidFill>
                  <a:srgbClr val="000000"/>
                </a:solidFill>
                <a:cs typeface="Times New Roman" pitchFamily="18" charset="0"/>
              </a:rPr>
              <a:t>A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 is given here: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828675" y="4073525"/>
            <a:ext cx="7464425" cy="487363"/>
            <a:chOff x="522" y="2956"/>
            <a:chExt cx="4702" cy="307"/>
          </a:xfrm>
        </p:grpSpPr>
        <p:sp>
          <p:nvSpPr>
            <p:cNvPr id="16394" name="Rectangle 14"/>
            <p:cNvSpPr>
              <a:spLocks noChangeArrowheads="1"/>
            </p:cNvSpPr>
            <p:nvPr/>
          </p:nvSpPr>
          <p:spPr bwMode="auto">
            <a:xfrm>
              <a:off x="554" y="2976"/>
              <a:ext cx="28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en-US" i="1" dirty="0">
                  <a:latin typeface="+mn-lt"/>
                </a:rPr>
                <a:t>N</a:t>
              </a:r>
              <a:r>
                <a:rPr lang="en-US" altLang="en-US" baseline="-25000" dirty="0">
                  <a:latin typeface="+mn-lt"/>
                </a:rPr>
                <a:t>A</a:t>
              </a:r>
              <a:r>
                <a:rPr lang="en-US" altLang="en-US" dirty="0">
                  <a:latin typeface="+mn-lt"/>
                </a:rPr>
                <a:t> = 6.02</a:t>
              </a:r>
              <a:r>
                <a:rPr lang="en-US" altLang="en-US" dirty="0">
                  <a:latin typeface="+mn-lt"/>
                  <a:sym typeface="Symbol" pitchFamily="18" charset="2"/>
                </a:rPr>
                <a:t>10</a:t>
              </a:r>
              <a:r>
                <a:rPr lang="en-US" altLang="en-US" baseline="30000" dirty="0">
                  <a:latin typeface="+mn-lt"/>
                  <a:sym typeface="Symbol" pitchFamily="18" charset="2"/>
                </a:rPr>
                <a:t>23</a:t>
              </a:r>
              <a:r>
                <a:rPr lang="en-US" altLang="en-US" dirty="0">
                  <a:latin typeface="+mn-lt"/>
                  <a:sym typeface="Symbol" pitchFamily="18" charset="2"/>
                </a:rPr>
                <a:t> molecules.</a:t>
              </a:r>
              <a:endParaRPr lang="en-US" altLang="en-US" baseline="-25000" dirty="0">
                <a:latin typeface="+mn-lt"/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19467" name="Text Box 15"/>
            <p:cNvSpPr txBox="1">
              <a:spLocks noChangeArrowheads="1"/>
            </p:cNvSpPr>
            <p:nvPr/>
          </p:nvSpPr>
          <p:spPr bwMode="auto">
            <a:xfrm>
              <a:off x="3040" y="2972"/>
              <a:ext cx="2184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the Avogadro constant</a:t>
              </a:r>
            </a:p>
          </p:txBody>
        </p:sp>
        <p:sp>
          <p:nvSpPr>
            <p:cNvPr id="19468" name="Rectangle 16"/>
            <p:cNvSpPr>
              <a:spLocks noChangeArrowheads="1"/>
            </p:cNvSpPr>
            <p:nvPr/>
          </p:nvSpPr>
          <p:spPr bwMode="auto">
            <a:xfrm>
              <a:off x="522" y="2956"/>
              <a:ext cx="4701" cy="30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35550" y="65088"/>
            <a:ext cx="2024063" cy="1819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19925" y="65088"/>
            <a:ext cx="2024063" cy="1819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9356" name="Rectangle 12"/>
          <p:cNvSpPr>
            <a:spLocks noChangeArrowheads="1"/>
          </p:cNvSpPr>
          <p:nvPr/>
        </p:nvSpPr>
        <p:spPr bwMode="auto">
          <a:xfrm>
            <a:off x="5591175" y="1524000"/>
            <a:ext cx="987425" cy="265113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699375" y="1519238"/>
            <a:ext cx="727075" cy="266700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9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9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9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9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56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62" name="Rectangle 18"/>
          <p:cNvSpPr>
            <a:spLocks noChangeArrowheads="1"/>
          </p:cNvSpPr>
          <p:nvPr/>
        </p:nvSpPr>
        <p:spPr bwMode="auto">
          <a:xfrm>
            <a:off x="674688" y="4725988"/>
            <a:ext cx="7781925" cy="21320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en-US" dirty="0">
                <a:latin typeface="+mn-lt"/>
                <a:sym typeface="Symbol" pitchFamily="18" charset="2"/>
              </a:rPr>
              <a:t>EXAMPLE: How many atoms                                                      of P are there in 145.8 g of it?</a:t>
            </a:r>
            <a:endParaRPr lang="en-US" altLang="en-US" dirty="0">
              <a:latin typeface="+mn-lt"/>
              <a:cs typeface="Courier New" pitchFamily="49" charset="0"/>
              <a:sym typeface="Symbol" pitchFamily="18" charset="2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en-US" dirty="0">
                <a:latin typeface="+mn-lt"/>
              </a:rPr>
              <a:t>SOLUTION: It is best to start with the given quantity.</a:t>
            </a:r>
          </a:p>
          <a:p>
            <a:pPr>
              <a:spcBef>
                <a:spcPct val="20000"/>
              </a:spcBef>
              <a:defRPr/>
            </a:pPr>
            <a:r>
              <a:rPr lang="en-US" altLang="en-US" dirty="0">
                <a:latin typeface="+mn-lt"/>
              </a:rPr>
              <a:t>(145.8 g)(1 mol </a:t>
            </a:r>
            <a:r>
              <a:rPr lang="en-US" altLang="en-US" i="1" dirty="0">
                <a:latin typeface="+mn-lt"/>
              </a:rPr>
              <a:t>/</a:t>
            </a:r>
            <a:r>
              <a:rPr lang="en-US" altLang="en-US" dirty="0">
                <a:latin typeface="+mn-lt"/>
              </a:rPr>
              <a:t> 30.984 g)(6.02</a:t>
            </a:r>
            <a:r>
              <a:rPr lang="en-US" altLang="en-US" dirty="0">
                <a:sym typeface="Symbol" pitchFamily="18" charset="2"/>
              </a:rPr>
              <a:t>10</a:t>
            </a:r>
            <a:r>
              <a:rPr lang="en-US" altLang="en-US" baseline="30000" dirty="0">
                <a:sym typeface="Symbol" pitchFamily="18" charset="2"/>
              </a:rPr>
              <a:t>23</a:t>
            </a:r>
            <a:r>
              <a:rPr lang="en-US" altLang="en-US" dirty="0">
                <a:sym typeface="Symbol" pitchFamily="18" charset="2"/>
              </a:rPr>
              <a:t> atoms </a:t>
            </a:r>
            <a:r>
              <a:rPr lang="en-US" altLang="en-US" i="1" dirty="0">
                <a:sym typeface="Symbol" pitchFamily="18" charset="2"/>
              </a:rPr>
              <a:t>/</a:t>
            </a:r>
            <a:r>
              <a:rPr lang="en-US" altLang="en-US" dirty="0">
                <a:sym typeface="Symbol" pitchFamily="18" charset="2"/>
              </a:rPr>
              <a:t> 1 mol)</a:t>
            </a:r>
            <a:endParaRPr lang="en-US" altLang="en-US" dirty="0">
              <a:latin typeface="+mn-lt"/>
              <a:sym typeface="Symbol" pitchFamily="18" charset="2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en-US" dirty="0"/>
              <a:t>                                                   = 2.83</a:t>
            </a:r>
            <a:r>
              <a:rPr lang="en-US" altLang="en-US" dirty="0">
                <a:sym typeface="Symbol" pitchFamily="18" charset="2"/>
              </a:rPr>
              <a:t>10</a:t>
            </a:r>
            <a:r>
              <a:rPr lang="en-US" altLang="en-US" baseline="30000" dirty="0">
                <a:sym typeface="Symbol" pitchFamily="18" charset="2"/>
              </a:rPr>
              <a:t>24</a:t>
            </a:r>
            <a:r>
              <a:rPr lang="en-US" altLang="en-US" dirty="0">
                <a:sym typeface="Symbol" pitchFamily="18" charset="2"/>
              </a:rPr>
              <a:t> atoms of P.</a:t>
            </a:r>
          </a:p>
          <a:p>
            <a:pPr>
              <a:spcBef>
                <a:spcPct val="20000"/>
              </a:spcBef>
              <a:buFont typeface="Symbol" pitchFamily="18" charset="2"/>
              <a:buChar char="·"/>
              <a:defRPr/>
            </a:pPr>
            <a:endParaRPr lang="en-US" altLang="en-US" dirty="0">
              <a:latin typeface="+mn-lt"/>
              <a:sym typeface="Symbol" pitchFamily="18" charset="2"/>
            </a:endParaRPr>
          </a:p>
        </p:txBody>
      </p:sp>
      <p:sp>
        <p:nvSpPr>
          <p:cNvPr id="569346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321945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altLang="en-US" i="1" dirty="0">
                <a:solidFill>
                  <a:srgbClr val="333399"/>
                </a:solidFill>
                <a:latin typeface="+mn-lt"/>
                <a:cs typeface="Times New Roman" pitchFamily="18" charset="0"/>
              </a:rPr>
              <a:t>The Avogadro constant</a:t>
            </a:r>
            <a:endParaRPr lang="en-US" altLang="en-US" dirty="0">
              <a:solidFill>
                <a:srgbClr val="000000"/>
              </a:solidFill>
              <a:latin typeface="+mn-lt"/>
              <a:cs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endParaRPr lang="en-US" altLang="en-US" dirty="0">
              <a:solidFill>
                <a:srgbClr val="000000"/>
              </a:solidFill>
              <a:latin typeface="+mn-lt"/>
              <a:cs typeface="Times New Roman" pitchFamily="18" charset="0"/>
              <a:sym typeface="Symbol" pitchFamily="18" charset="2"/>
            </a:endParaRPr>
          </a:p>
          <a:p>
            <a:pPr>
              <a:spcBef>
                <a:spcPts val="1800"/>
              </a:spcBef>
              <a:defRPr/>
            </a:pPr>
            <a:r>
              <a:rPr lang="en-US" altLang="en-US" dirty="0">
                <a:solidFill>
                  <a:srgbClr val="000000"/>
                </a:solidFill>
                <a:latin typeface="+mn-lt"/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To find the number of atoms                                                   in a sample, simply convert                                               sample to moles, then use                                                          the conversion</a:t>
            </a:r>
          </a:p>
          <a:p>
            <a:pPr>
              <a:spcBef>
                <a:spcPts val="1200"/>
              </a:spcBef>
              <a:defRPr/>
            </a:pPr>
            <a:r>
              <a:rPr lang="en-US" altLang="en-US" dirty="0">
                <a:solidFill>
                  <a:srgbClr val="000000"/>
                </a:solidFill>
                <a:latin typeface="+mn-lt"/>
                <a:cs typeface="Times New Roman" pitchFamily="18" charset="0"/>
              </a:rPr>
              <a:t>  </a:t>
            </a:r>
            <a:r>
              <a:rPr lang="en-US" altLang="en-US" dirty="0">
                <a:solidFill>
                  <a:srgbClr val="333399"/>
                </a:solidFill>
                <a:latin typeface="+mn-lt"/>
                <a:cs typeface="Times New Roman" pitchFamily="18" charset="0"/>
              </a:rPr>
              <a:t>1 mol = </a:t>
            </a:r>
            <a:r>
              <a:rPr lang="en-US" altLang="en-US" dirty="0">
                <a:solidFill>
                  <a:srgbClr val="333399"/>
                </a:solidFill>
              </a:rPr>
              <a:t>6.02</a:t>
            </a:r>
            <a:r>
              <a:rPr lang="en-US" altLang="en-US" dirty="0">
                <a:solidFill>
                  <a:srgbClr val="333399"/>
                </a:solidFill>
                <a:sym typeface="Symbol" pitchFamily="18" charset="2"/>
              </a:rPr>
              <a:t>10</a:t>
            </a:r>
            <a:r>
              <a:rPr lang="en-US" altLang="en-US" baseline="30000" dirty="0">
                <a:solidFill>
                  <a:srgbClr val="333399"/>
                </a:solidFill>
                <a:sym typeface="Symbol" pitchFamily="18" charset="2"/>
              </a:rPr>
              <a:t>23</a:t>
            </a:r>
            <a:r>
              <a:rPr lang="en-US" altLang="en-US" dirty="0">
                <a:solidFill>
                  <a:srgbClr val="333399"/>
                </a:solidFill>
                <a:sym typeface="Symbol" pitchFamily="18" charset="2"/>
              </a:rPr>
              <a:t> molecules</a:t>
            </a:r>
            <a:r>
              <a:rPr lang="en-US" altLang="en-US" dirty="0">
                <a:sym typeface="Symbol" pitchFamily="18" charset="2"/>
              </a:rPr>
              <a:t>.</a:t>
            </a:r>
            <a:endParaRPr lang="en-US" altLang="en-US" dirty="0">
              <a:solidFill>
                <a:srgbClr val="000000"/>
              </a:solidFill>
              <a:latin typeface="+mn-lt"/>
              <a:cs typeface="Times New Roman" pitchFamily="18" charset="0"/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828675" y="1992313"/>
            <a:ext cx="7464425" cy="473075"/>
            <a:chOff x="522" y="2956"/>
            <a:chExt cx="4702" cy="298"/>
          </a:xfrm>
        </p:grpSpPr>
        <p:sp>
          <p:nvSpPr>
            <p:cNvPr id="16394" name="Rectangle 14"/>
            <p:cNvSpPr>
              <a:spLocks noChangeArrowheads="1"/>
            </p:cNvSpPr>
            <p:nvPr/>
          </p:nvSpPr>
          <p:spPr bwMode="auto">
            <a:xfrm>
              <a:off x="554" y="2976"/>
              <a:ext cx="28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en-US" i="1" dirty="0">
                  <a:latin typeface="+mn-lt"/>
                </a:rPr>
                <a:t>N</a:t>
              </a:r>
              <a:r>
                <a:rPr lang="en-US" altLang="en-US" baseline="-25000" dirty="0">
                  <a:latin typeface="+mn-lt"/>
                </a:rPr>
                <a:t>A</a:t>
              </a:r>
              <a:r>
                <a:rPr lang="en-US" altLang="en-US" dirty="0">
                  <a:latin typeface="+mn-lt"/>
                </a:rPr>
                <a:t> = 6.02</a:t>
              </a:r>
              <a:r>
                <a:rPr lang="en-US" altLang="en-US" dirty="0">
                  <a:latin typeface="+mn-lt"/>
                  <a:sym typeface="Symbol" pitchFamily="18" charset="2"/>
                </a:rPr>
                <a:t>10</a:t>
              </a:r>
              <a:r>
                <a:rPr lang="en-US" altLang="en-US" baseline="30000" dirty="0">
                  <a:latin typeface="+mn-lt"/>
                  <a:sym typeface="Symbol" pitchFamily="18" charset="2"/>
                </a:rPr>
                <a:t>23</a:t>
              </a:r>
              <a:r>
                <a:rPr lang="en-US" altLang="en-US" dirty="0">
                  <a:latin typeface="+mn-lt"/>
                  <a:sym typeface="Symbol" pitchFamily="18" charset="2"/>
                </a:rPr>
                <a:t> molecules.</a:t>
              </a:r>
              <a:endParaRPr lang="en-US" altLang="en-US" baseline="-25000" dirty="0">
                <a:latin typeface="+mn-lt"/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20496" name="Text Box 15"/>
            <p:cNvSpPr txBox="1">
              <a:spLocks noChangeArrowheads="1"/>
            </p:cNvSpPr>
            <p:nvPr/>
          </p:nvSpPr>
          <p:spPr bwMode="auto">
            <a:xfrm>
              <a:off x="3040" y="2963"/>
              <a:ext cx="2184" cy="2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the Avogadro constant</a:t>
              </a:r>
            </a:p>
          </p:txBody>
        </p:sp>
        <p:sp>
          <p:nvSpPr>
            <p:cNvPr id="20497" name="Rectangle 16"/>
            <p:cNvSpPr>
              <a:spLocks noChangeArrowheads="1"/>
            </p:cNvSpPr>
            <p:nvPr/>
          </p:nvSpPr>
          <p:spPr bwMode="auto">
            <a:xfrm>
              <a:off x="522" y="2956"/>
              <a:ext cx="4701" cy="29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35550" y="65088"/>
            <a:ext cx="2024063" cy="1819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19925" y="65088"/>
            <a:ext cx="2024063" cy="1819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488" name="Rectangle 12"/>
          <p:cNvSpPr>
            <a:spLocks noChangeArrowheads="1"/>
          </p:cNvSpPr>
          <p:nvPr/>
        </p:nvSpPr>
        <p:spPr bwMode="auto">
          <a:xfrm>
            <a:off x="5591175" y="1524000"/>
            <a:ext cx="987425" cy="265113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489" name="Rectangle 12"/>
          <p:cNvSpPr>
            <a:spLocks noChangeArrowheads="1"/>
          </p:cNvSpPr>
          <p:nvPr/>
        </p:nvSpPr>
        <p:spPr bwMode="auto">
          <a:xfrm>
            <a:off x="7699375" y="1519238"/>
            <a:ext cx="727075" cy="266700"/>
          </a:xfrm>
          <a:prstGeom prst="rect">
            <a:avLst/>
          </a:prstGeom>
          <a:solidFill>
            <a:srgbClr val="FF9900">
              <a:alpha val="2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ED1C24"/>
              </a:clrFrom>
              <a:clrTo>
                <a:srgbClr val="ED1C24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21387076">
            <a:off x="5002213" y="2690813"/>
            <a:ext cx="4046537" cy="246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5" name="Straight Connector 14"/>
          <p:cNvCxnSpPr/>
          <p:nvPr/>
        </p:nvCxnSpPr>
        <p:spPr>
          <a:xfrm rot="16200000" flipH="1">
            <a:off x="1547019" y="6147594"/>
            <a:ext cx="381000" cy="2111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H="1">
            <a:off x="3951287" y="6145213"/>
            <a:ext cx="379413" cy="21113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305050" y="6075363"/>
            <a:ext cx="438150" cy="3111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169150" y="6072188"/>
            <a:ext cx="511175" cy="3143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9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9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9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3" name="Picture 2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650" y="0"/>
            <a:ext cx="1030288" cy="160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9362" name="Rectangle 18"/>
          <p:cNvSpPr>
            <a:spLocks noChangeArrowheads="1"/>
          </p:cNvSpPr>
          <p:nvPr/>
        </p:nvSpPr>
        <p:spPr bwMode="auto">
          <a:xfrm>
            <a:off x="674688" y="3246438"/>
            <a:ext cx="7781925" cy="36115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EXAMPLE: A sample of carbon has 1.2810</a:t>
            </a:r>
            <a:r>
              <a:rPr lang="en-US" altLang="en-US" baseline="30000">
                <a:sym typeface="Symbol" pitchFamily="18" charset="2"/>
              </a:rPr>
              <a:t>24</a:t>
            </a:r>
            <a:r>
              <a:rPr lang="en-US" altLang="en-US">
                <a:sym typeface="Symbol" pitchFamily="18" charset="2"/>
              </a:rPr>
              <a:t> atoms as counted by Marvin the Paranoid Android.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a) How many moles is this?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b) What is its mass?</a:t>
            </a:r>
            <a:endParaRPr lang="en-US" altLang="en-US">
              <a:cs typeface="Courier New" pitchFamily="49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SOLUTION: It is best to start with the given quantity.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a)    (</a:t>
            </a:r>
            <a:r>
              <a:rPr lang="en-US" altLang="en-US">
                <a:sym typeface="Symbol" pitchFamily="18" charset="2"/>
              </a:rPr>
              <a:t>1.2810</a:t>
            </a:r>
            <a:r>
              <a:rPr lang="en-US" altLang="en-US" baseline="30000">
                <a:sym typeface="Symbol" pitchFamily="18" charset="2"/>
              </a:rPr>
              <a:t>24</a:t>
            </a:r>
            <a:r>
              <a:rPr lang="en-US" altLang="en-US">
                <a:sym typeface="Symbol" pitchFamily="18" charset="2"/>
              </a:rPr>
              <a:t> atoms</a:t>
            </a:r>
            <a:r>
              <a:rPr lang="en-US" altLang="en-US"/>
              <a:t>)(1 mol </a:t>
            </a:r>
            <a:r>
              <a:rPr lang="en-US" altLang="en-US" i="1"/>
              <a:t>/</a:t>
            </a:r>
            <a:r>
              <a:rPr lang="en-US" altLang="en-US"/>
              <a:t> 6.02</a:t>
            </a:r>
            <a:r>
              <a:rPr lang="en-US" altLang="en-US">
                <a:sym typeface="Symbol" pitchFamily="18" charset="2"/>
              </a:rPr>
              <a:t>10</a:t>
            </a:r>
            <a:r>
              <a:rPr lang="en-US" altLang="en-US" baseline="30000">
                <a:sym typeface="Symbol" pitchFamily="18" charset="2"/>
              </a:rPr>
              <a:t>23</a:t>
            </a:r>
            <a:r>
              <a:rPr lang="en-US" altLang="en-US">
                <a:sym typeface="Symbol" pitchFamily="18" charset="2"/>
              </a:rPr>
              <a:t> atoms)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						= 2.13 mol.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b)       (2.13 mol)(12.011 g / mol) = 25.5 g</a:t>
            </a:r>
            <a:r>
              <a:rPr lang="en-US" altLang="en-US">
                <a:sym typeface="Symbol" pitchFamily="18" charset="2"/>
              </a:rPr>
              <a:t> of C.</a:t>
            </a:r>
          </a:p>
        </p:txBody>
      </p:sp>
      <p:sp>
        <p:nvSpPr>
          <p:cNvPr id="569346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7399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The Avogadro constant</a:t>
            </a: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To find the number of moles 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n 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in a sample containing 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N 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atoms, use this formula:</a:t>
            </a:r>
          </a:p>
        </p:txBody>
      </p:sp>
      <p:cxnSp>
        <p:nvCxnSpPr>
          <p:cNvPr id="15" name="Straight Connector 14"/>
          <p:cNvCxnSpPr/>
          <p:nvPr/>
        </p:nvCxnSpPr>
        <p:spPr>
          <a:xfrm rot="16200000" flipH="1">
            <a:off x="3237706" y="5226845"/>
            <a:ext cx="238125" cy="7286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H="1">
            <a:off x="6665913" y="5226050"/>
            <a:ext cx="198438" cy="7889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424113" y="6340475"/>
            <a:ext cx="401637" cy="3111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557713" y="6326188"/>
            <a:ext cx="403225" cy="2889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902" name="Group 22"/>
          <p:cNvGrpSpPr>
            <a:grpSpLocks/>
          </p:cNvGrpSpPr>
          <p:nvPr/>
        </p:nvGrpSpPr>
        <p:grpSpPr bwMode="auto">
          <a:xfrm>
            <a:off x="838200" y="2762250"/>
            <a:ext cx="7464425" cy="471488"/>
            <a:chOff x="528" y="2132"/>
            <a:chExt cx="4702" cy="297"/>
          </a:xfrm>
        </p:grpSpPr>
        <p:sp>
          <p:nvSpPr>
            <p:cNvPr id="16394" name="Rectangle 14"/>
            <p:cNvSpPr>
              <a:spLocks noChangeArrowheads="1"/>
            </p:cNvSpPr>
            <p:nvPr/>
          </p:nvSpPr>
          <p:spPr bwMode="auto">
            <a:xfrm>
              <a:off x="560" y="2152"/>
              <a:ext cx="28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/>
                <a:t>n </a:t>
              </a:r>
              <a:r>
                <a:rPr lang="en-US" altLang="en-US"/>
                <a:t>= </a:t>
              </a:r>
              <a:r>
                <a:rPr lang="en-US" altLang="en-US" i="1"/>
                <a:t>N / N</a:t>
              </a:r>
              <a:r>
                <a:rPr lang="en-US" altLang="en-US" baseline="-25000"/>
                <a:t>A</a:t>
              </a:r>
              <a:endParaRPr lang="en-US" altLang="en-US" baseline="-25000">
                <a:cs typeface="Courier New" pitchFamily="49" charset="0"/>
                <a:sym typeface="Symbol" pitchFamily="18" charset="2"/>
              </a:endParaRPr>
            </a:p>
          </p:txBody>
        </p:sp>
        <p:sp>
          <p:nvSpPr>
            <p:cNvPr id="122900" name="Text Box 15"/>
            <p:cNvSpPr txBox="1">
              <a:spLocks noChangeArrowheads="1"/>
            </p:cNvSpPr>
            <p:nvPr/>
          </p:nvSpPr>
          <p:spPr bwMode="auto">
            <a:xfrm>
              <a:off x="3638" y="2139"/>
              <a:ext cx="1592" cy="28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the molar ratio</a:t>
              </a:r>
            </a:p>
          </p:txBody>
        </p:sp>
        <p:sp>
          <p:nvSpPr>
            <p:cNvPr id="122901" name="Rectangle 16"/>
            <p:cNvSpPr>
              <a:spLocks noChangeArrowheads="1"/>
            </p:cNvSpPr>
            <p:nvPr/>
          </p:nvSpPr>
          <p:spPr bwMode="auto">
            <a:xfrm>
              <a:off x="528" y="2132"/>
              <a:ext cx="4701" cy="29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650" y="0"/>
            <a:ext cx="2024063" cy="1819275"/>
          </a:xfrm>
          <a:prstGeom prst="rect">
            <a:avLst/>
          </a:prstGeom>
          <a:noFill/>
          <a:ln>
            <a:noFill/>
          </a:ln>
          <a:effectLst>
            <a:outerShdw dist="139700" dir="2700000" algn="tl" rotWithShape="0">
              <a:srgbClr val="333333">
                <a:alpha val="6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9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122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8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E31B7-1259-6D7D-B3B0-1D14578D4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19" y="1924456"/>
            <a:ext cx="2340515" cy="37113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BC470C-2A1A-DCEE-247A-B2F834695E75}"/>
                  </a:ext>
                </a:extLst>
              </p:cNvPr>
              <p:cNvSpPr txBox="1"/>
              <p:nvPr/>
            </p:nvSpPr>
            <p:spPr>
              <a:xfrm>
                <a:off x="448966" y="58156"/>
                <a:ext cx="9126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BC470C-2A1A-DCEE-247A-B2F834695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66" y="58156"/>
                <a:ext cx="912622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B69937-E323-3540-7851-0D3EFFEABEE1}"/>
                  </a:ext>
                </a:extLst>
              </p:cNvPr>
              <p:cNvSpPr txBox="1"/>
              <p:nvPr/>
            </p:nvSpPr>
            <p:spPr>
              <a:xfrm>
                <a:off x="1267134" y="68762"/>
                <a:ext cx="15370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B69937-E323-3540-7851-0D3EFFEAB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134" y="68762"/>
                <a:ext cx="15370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D69D5C-B2CD-2514-53D4-FF26AD8E7093}"/>
                  </a:ext>
                </a:extLst>
              </p:cNvPr>
              <p:cNvSpPr txBox="1"/>
              <p:nvPr/>
            </p:nvSpPr>
            <p:spPr>
              <a:xfrm>
                <a:off x="2658650" y="68762"/>
                <a:ext cx="1210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D69D5C-B2CD-2514-53D4-FF26AD8E7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650" y="68762"/>
                <a:ext cx="12102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6513232-FD55-DB31-C702-0EB6F852AC0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39"/>
          <a:stretch/>
        </p:blipFill>
        <p:spPr>
          <a:xfrm rot="10800000">
            <a:off x="-279708" y="1911591"/>
            <a:ext cx="481234" cy="371138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569F14-C445-4B8D-96F2-F0686E141E6E}"/>
              </a:ext>
            </a:extLst>
          </p:cNvPr>
          <p:cNvCxnSpPr>
            <a:cxnSpLocks/>
          </p:cNvCxnSpPr>
          <p:nvPr/>
        </p:nvCxnSpPr>
        <p:spPr>
          <a:xfrm>
            <a:off x="169258" y="3745769"/>
            <a:ext cx="35280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6715765-37ED-6A57-198F-367CBB235CD6}"/>
              </a:ext>
            </a:extLst>
          </p:cNvPr>
          <p:cNvSpPr/>
          <p:nvPr/>
        </p:nvSpPr>
        <p:spPr>
          <a:xfrm>
            <a:off x="127989" y="1911591"/>
            <a:ext cx="3583390" cy="3711388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1F730B-5FD9-2A6C-47A9-158EBFAC62EE}"/>
                  </a:ext>
                </a:extLst>
              </p:cNvPr>
              <p:cNvSpPr txBox="1"/>
              <p:nvPr/>
            </p:nvSpPr>
            <p:spPr>
              <a:xfrm>
                <a:off x="1366794" y="3397953"/>
                <a:ext cx="389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1F730B-5FD9-2A6C-47A9-158EBFAC6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794" y="3397953"/>
                <a:ext cx="38914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7129D0-1A3D-5DC8-8444-06E1C13730AF}"/>
                  </a:ext>
                </a:extLst>
              </p:cNvPr>
              <p:cNvSpPr txBox="1"/>
              <p:nvPr/>
            </p:nvSpPr>
            <p:spPr>
              <a:xfrm>
                <a:off x="286485" y="950484"/>
                <a:ext cx="1075103" cy="663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7129D0-1A3D-5DC8-8444-06E1C1373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85" y="950484"/>
                <a:ext cx="1075103" cy="6635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EBEEFD-CADF-68ED-0D46-C7538E28AFB2}"/>
                  </a:ext>
                </a:extLst>
              </p:cNvPr>
              <p:cNvSpPr txBox="1"/>
              <p:nvPr/>
            </p:nvSpPr>
            <p:spPr>
              <a:xfrm>
                <a:off x="8013397" y="1404760"/>
                <a:ext cx="1016240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EBEEFD-CADF-68ED-0D46-C7538E28A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397" y="1404760"/>
                <a:ext cx="1016240" cy="648126"/>
              </a:xfrm>
              <a:prstGeom prst="rect">
                <a:avLst/>
              </a:prstGeom>
              <a:blipFill>
                <a:blip r:embed="rId11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B13A94-8B9E-6348-AFB8-481C09B6E99E}"/>
              </a:ext>
            </a:extLst>
          </p:cNvPr>
          <p:cNvCxnSpPr>
            <a:cxnSpLocks/>
          </p:cNvCxnSpPr>
          <p:nvPr/>
        </p:nvCxnSpPr>
        <p:spPr>
          <a:xfrm>
            <a:off x="3905017" y="1924456"/>
            <a:ext cx="0" cy="372425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C9657F-F769-1F42-AAAA-576D0B8ADB59}"/>
                  </a:ext>
                </a:extLst>
              </p:cNvPr>
              <p:cNvSpPr txBox="1"/>
              <p:nvPr/>
            </p:nvSpPr>
            <p:spPr>
              <a:xfrm>
                <a:off x="3843496" y="3114639"/>
                <a:ext cx="389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C9657F-F769-1F42-AAAA-576D0B8AD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96" y="3114639"/>
                <a:ext cx="38914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98C8D52-13A5-8846-8EAD-3F6B3E1738F2}"/>
              </a:ext>
            </a:extLst>
          </p:cNvPr>
          <p:cNvSpPr txBox="1"/>
          <p:nvPr/>
        </p:nvSpPr>
        <p:spPr>
          <a:xfrm>
            <a:off x="3976966" y="-53992"/>
            <a:ext cx="2154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Momentum change </a:t>
            </a:r>
          </a:p>
          <a:p>
            <a:pPr algn="ctr"/>
            <a:r>
              <a:rPr lang="en-US" sz="1800" dirty="0"/>
              <a:t>of molecule</a:t>
            </a:r>
            <a:endParaRPr lang="en-CN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34004-4FB6-004F-8E21-14AA4D97CB26}"/>
              </a:ext>
            </a:extLst>
          </p:cNvPr>
          <p:cNvSpPr txBox="1"/>
          <p:nvPr/>
        </p:nvSpPr>
        <p:spPr>
          <a:xfrm>
            <a:off x="1168936" y="492014"/>
            <a:ext cx="342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Momentum change on wall</a:t>
            </a:r>
            <a:endParaRPr lang="en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4DE4B2-DE4D-6D47-9A94-C600406FBFBB}"/>
                  </a:ext>
                </a:extLst>
              </p:cNvPr>
              <p:cNvSpPr txBox="1"/>
              <p:nvPr/>
            </p:nvSpPr>
            <p:spPr>
              <a:xfrm>
                <a:off x="448966" y="491062"/>
                <a:ext cx="7998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4DE4B2-DE4D-6D47-9A94-C600406FB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966" y="491062"/>
                <a:ext cx="79989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BB9605B7-A137-BB47-ACA4-8FB5B4A1E90F}"/>
              </a:ext>
            </a:extLst>
          </p:cNvPr>
          <p:cNvSpPr txBox="1"/>
          <p:nvPr/>
        </p:nvSpPr>
        <p:spPr>
          <a:xfrm>
            <a:off x="1361588" y="1084186"/>
            <a:ext cx="342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Time for consecutive collisions</a:t>
            </a:r>
            <a:endParaRPr lang="en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DB704CD-700C-3C46-B7F4-DD0C4B2752DB}"/>
                  </a:ext>
                </a:extLst>
              </p:cNvPr>
              <p:cNvSpPr txBox="1"/>
              <p:nvPr/>
            </p:nvSpPr>
            <p:spPr>
              <a:xfrm>
                <a:off x="3976966" y="4304071"/>
                <a:ext cx="2127505" cy="609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𝑷𝒓𝒆𝒔𝒔𝒖𝒓𝒆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</m:oMath>
                  </m:oMathPara>
                </a14:m>
                <a:endParaRPr lang="en-CN" sz="18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DB704CD-700C-3C46-B7F4-DD0C4B275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66" y="4304071"/>
                <a:ext cx="2127505" cy="609077"/>
              </a:xfrm>
              <a:prstGeom prst="rect">
                <a:avLst/>
              </a:prstGeom>
              <a:blipFill>
                <a:blip r:embed="rId1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CD3E82-E765-7042-B7EC-F085021D7025}"/>
                  </a:ext>
                </a:extLst>
              </p:cNvPr>
              <p:cNvSpPr txBox="1"/>
              <p:nvPr/>
            </p:nvSpPr>
            <p:spPr>
              <a:xfrm>
                <a:off x="5545012" y="1440154"/>
                <a:ext cx="165449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𝑤𝑎𝑙𝑙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3CD3E82-E765-7042-B7EC-F085021D7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012" y="1440154"/>
                <a:ext cx="1654491" cy="612732"/>
              </a:xfrm>
              <a:prstGeom prst="rect">
                <a:avLst/>
              </a:prstGeom>
              <a:blipFill>
                <a:blip r:embed="rId14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6D5538-BD9B-DB45-A84F-73CC454B237E}"/>
                  </a:ext>
                </a:extLst>
              </p:cNvPr>
              <p:cNvSpPr txBox="1"/>
              <p:nvPr/>
            </p:nvSpPr>
            <p:spPr>
              <a:xfrm>
                <a:off x="7056195" y="1445695"/>
                <a:ext cx="1037142" cy="9015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6D5538-BD9B-DB45-A84F-73CC454B2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95" y="1445695"/>
                <a:ext cx="1037142" cy="90159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69330A-E1AA-3B45-9508-5649C61BA046}"/>
                  </a:ext>
                </a:extLst>
              </p:cNvPr>
              <p:cNvSpPr txBox="1"/>
              <p:nvPr/>
            </p:nvSpPr>
            <p:spPr>
              <a:xfrm>
                <a:off x="5545872" y="2346995"/>
                <a:ext cx="2238240" cy="871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𝑤𝑎𝑙𝑙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69330A-E1AA-3B45-9508-5649C61BA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872" y="2346995"/>
                <a:ext cx="2238240" cy="871264"/>
              </a:xfrm>
              <a:prstGeom prst="rect">
                <a:avLst/>
              </a:prstGeom>
              <a:blipFill>
                <a:blip r:embed="rId16"/>
                <a:stretch>
                  <a:fillRect t="-92857" b="-1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D5E280-A678-9347-9B50-5A1F434091F3}"/>
                  </a:ext>
                </a:extLst>
              </p:cNvPr>
              <p:cNvSpPr txBox="1"/>
              <p:nvPr/>
            </p:nvSpPr>
            <p:spPr>
              <a:xfrm>
                <a:off x="4268621" y="3290507"/>
                <a:ext cx="1759135" cy="6556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D5E280-A678-9347-9B50-5A1F4340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621" y="3290507"/>
                <a:ext cx="1759135" cy="655692"/>
              </a:xfrm>
              <a:prstGeom prst="rect">
                <a:avLst/>
              </a:prstGeom>
              <a:blipFill>
                <a:blip r:embed="rId17"/>
                <a:stretch>
                  <a:fillRect t="-61538" b="-5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E7B4FC-FFFE-224C-B995-AA2FF3C8541E}"/>
                  </a:ext>
                </a:extLst>
              </p:cNvPr>
              <p:cNvSpPr txBox="1"/>
              <p:nvPr/>
            </p:nvSpPr>
            <p:spPr>
              <a:xfrm>
                <a:off x="7665664" y="2361484"/>
                <a:ext cx="1471044" cy="871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5E7B4FC-FFFE-224C-B995-AA2FF3C85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664" y="2361484"/>
                <a:ext cx="1471044" cy="871264"/>
              </a:xfrm>
              <a:prstGeom prst="rect">
                <a:avLst/>
              </a:prstGeom>
              <a:blipFill>
                <a:blip r:embed="rId18"/>
                <a:stretch>
                  <a:fillRect l="-17949" t="-92857" b="-1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71EDD03-6109-CB48-AD81-53AEA329378E}"/>
              </a:ext>
            </a:extLst>
          </p:cNvPr>
          <p:cNvSpPr txBox="1"/>
          <p:nvPr/>
        </p:nvSpPr>
        <p:spPr>
          <a:xfrm>
            <a:off x="4203023" y="1447117"/>
            <a:ext cx="1371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One molecule</a:t>
            </a:r>
            <a:endParaRPr lang="en-CN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78F9F46-950B-914C-8DC6-6818F15DFAA7}"/>
                  </a:ext>
                </a:extLst>
              </p:cNvPr>
              <p:cNvSpPr txBox="1"/>
              <p:nvPr/>
            </p:nvSpPr>
            <p:spPr>
              <a:xfrm>
                <a:off x="4310946" y="2466200"/>
                <a:ext cx="12125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molecules</a:t>
                </a:r>
                <a:endParaRPr lang="en-CN" sz="1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78F9F46-950B-914C-8DC6-6818F15DF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946" y="2466200"/>
                <a:ext cx="1212550" cy="646331"/>
              </a:xfrm>
              <a:prstGeom prst="rect">
                <a:avLst/>
              </a:prstGeom>
              <a:blipFill>
                <a:blip r:embed="rId19"/>
                <a:stretch>
                  <a:fillRect l="-4167" r="-4167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78F35D-6ED0-7F4A-950C-5F0DB5463B59}"/>
                  </a:ext>
                </a:extLst>
              </p:cNvPr>
              <p:cNvSpPr txBox="1"/>
              <p:nvPr/>
            </p:nvSpPr>
            <p:spPr>
              <a:xfrm>
                <a:off x="6865455" y="3396424"/>
                <a:ext cx="1489639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𝑜𝑛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𝑤𝑎𝑙𝑙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78F35D-6ED0-7F4A-950C-5F0DB5463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455" y="3396424"/>
                <a:ext cx="1489639" cy="564898"/>
              </a:xfrm>
              <a:prstGeom prst="rect">
                <a:avLst/>
              </a:prstGeom>
              <a:blipFill>
                <a:blip r:embed="rId2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321E7FA-2560-A948-9C17-DCF1CF90F4D3}"/>
                  </a:ext>
                </a:extLst>
              </p:cNvPr>
              <p:cNvSpPr txBox="1"/>
              <p:nvPr/>
            </p:nvSpPr>
            <p:spPr>
              <a:xfrm>
                <a:off x="8172978" y="3466106"/>
                <a:ext cx="872034" cy="390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321E7FA-2560-A948-9C17-DCF1CF90F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978" y="3466106"/>
                <a:ext cx="872034" cy="39010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23D8CD-DF67-4247-AE81-4FBF4E699F2D}"/>
                  </a:ext>
                </a:extLst>
              </p:cNvPr>
              <p:cNvSpPr txBox="1"/>
              <p:nvPr/>
            </p:nvSpPr>
            <p:spPr>
              <a:xfrm>
                <a:off x="5996216" y="4153868"/>
                <a:ext cx="1358513" cy="7611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023D8CD-DF67-4247-AE81-4FBF4E699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216" y="4153868"/>
                <a:ext cx="1358513" cy="761106"/>
              </a:xfrm>
              <a:prstGeom prst="rect">
                <a:avLst/>
              </a:prstGeom>
              <a:blipFill>
                <a:blip r:embed="rId2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7C74F2-8867-CE4A-A2A0-BBCD270432B7}"/>
                  </a:ext>
                </a:extLst>
              </p:cNvPr>
              <p:cNvSpPr txBox="1"/>
              <p:nvPr/>
            </p:nvSpPr>
            <p:spPr>
              <a:xfrm>
                <a:off x="7262035" y="4228991"/>
                <a:ext cx="1358513" cy="667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07C74F2-8867-CE4A-A2A0-BBCD27043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035" y="4228991"/>
                <a:ext cx="1358513" cy="667940"/>
              </a:xfrm>
              <a:prstGeom prst="rect">
                <a:avLst/>
              </a:prstGeom>
              <a:blipFill>
                <a:blip r:embed="rId2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E6404A-26A2-C540-8F8D-E23F4AAF5E6A}"/>
                  </a:ext>
                </a:extLst>
              </p:cNvPr>
              <p:cNvSpPr txBox="1"/>
              <p:nvPr/>
            </p:nvSpPr>
            <p:spPr>
              <a:xfrm>
                <a:off x="3955250" y="5204595"/>
                <a:ext cx="2417007" cy="418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9E6404A-26A2-C540-8F8D-E23F4AAF5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250" y="5204595"/>
                <a:ext cx="2417007" cy="418384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BEC8FD-E390-E042-9747-9F8B03F30C73}"/>
                  </a:ext>
                </a:extLst>
              </p:cNvPr>
              <p:cNvSpPr txBox="1"/>
              <p:nvPr/>
            </p:nvSpPr>
            <p:spPr>
              <a:xfrm>
                <a:off x="3982486" y="5618489"/>
                <a:ext cx="1256498" cy="390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acc>
                        <m:accPr>
                          <m:chr m:val="̅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BEC8FD-E390-E042-9747-9F8B03F3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486" y="5618489"/>
                <a:ext cx="1256498" cy="39010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A309255-3EF1-A84D-B83B-302CEFB35B24}"/>
                  </a:ext>
                </a:extLst>
              </p:cNvPr>
              <p:cNvSpPr txBox="1"/>
              <p:nvPr/>
            </p:nvSpPr>
            <p:spPr>
              <a:xfrm>
                <a:off x="4009722" y="6032383"/>
                <a:ext cx="1128258" cy="667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A309255-3EF1-A84D-B83B-302CEFB35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9722" y="6032383"/>
                <a:ext cx="1128258" cy="667940"/>
              </a:xfrm>
              <a:prstGeom prst="rect">
                <a:avLst/>
              </a:prstGeom>
              <a:blipFill>
                <a:blip r:embed="rId2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6CAC2D-C72F-7742-88F8-81FB6DE4C99C}"/>
                  </a:ext>
                </a:extLst>
              </p:cNvPr>
              <p:cNvSpPr txBox="1"/>
              <p:nvPr/>
            </p:nvSpPr>
            <p:spPr>
              <a:xfrm>
                <a:off x="7262035" y="4945507"/>
                <a:ext cx="1272080" cy="669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6CAC2D-C72F-7742-88F8-81FB6DE4C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035" y="4945507"/>
                <a:ext cx="1272080" cy="669735"/>
              </a:xfrm>
              <a:prstGeom prst="rect">
                <a:avLst/>
              </a:prstGeom>
              <a:blipFill>
                <a:blip r:embed="rId27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9D6E297-6418-7B49-8177-E1FE386A1564}"/>
                  </a:ext>
                </a:extLst>
              </p:cNvPr>
              <p:cNvSpPr txBox="1"/>
              <p:nvPr/>
            </p:nvSpPr>
            <p:spPr>
              <a:xfrm>
                <a:off x="7095870" y="5560538"/>
                <a:ext cx="1467261" cy="669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9D6E297-6418-7B49-8177-E1FE386A1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870" y="5560538"/>
                <a:ext cx="1467261" cy="669799"/>
              </a:xfrm>
              <a:prstGeom prst="rect">
                <a:avLst/>
              </a:prstGeom>
              <a:blipFill>
                <a:blip r:embed="rId28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6A6559-F5A3-BD46-8E35-C3485AAE8999}"/>
              </a:ext>
            </a:extLst>
          </p:cNvPr>
          <p:cNvCxnSpPr/>
          <p:nvPr/>
        </p:nvCxnSpPr>
        <p:spPr>
          <a:xfrm>
            <a:off x="4106201" y="2345170"/>
            <a:ext cx="4933685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C2CC1C-531F-874A-879F-C91E9EB7D4F4}"/>
              </a:ext>
            </a:extLst>
          </p:cNvPr>
          <p:cNvCxnSpPr/>
          <p:nvPr/>
        </p:nvCxnSpPr>
        <p:spPr>
          <a:xfrm>
            <a:off x="4096186" y="4153868"/>
            <a:ext cx="4933685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0903742-22BF-4F42-8CCD-ED40F8826D5D}"/>
                  </a:ext>
                </a:extLst>
              </p:cNvPr>
              <p:cNvSpPr txBox="1"/>
              <p:nvPr/>
            </p:nvSpPr>
            <p:spPr>
              <a:xfrm>
                <a:off x="6705717" y="6229359"/>
                <a:ext cx="1903534" cy="6186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d>
                        <m:d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den>
                          </m:f>
                        </m:e>
                      </m:d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CN" sz="1800" b="1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0903742-22BF-4F42-8CCD-ED40F8826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717" y="6229359"/>
                <a:ext cx="1903534" cy="618631"/>
              </a:xfrm>
              <a:prstGeom prst="rect">
                <a:avLst/>
              </a:prstGeom>
              <a:blipFill>
                <a:blip r:embed="rId29"/>
                <a:stretch>
                  <a:fillRect b="-2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19B9253-290F-2D4D-906D-A529211A966D}"/>
              </a:ext>
            </a:extLst>
          </p:cNvPr>
          <p:cNvSpPr/>
          <p:nvPr/>
        </p:nvSpPr>
        <p:spPr>
          <a:xfrm>
            <a:off x="8251115" y="2361484"/>
            <a:ext cx="778522" cy="9290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85866"/>
      </p:ext>
    </p:extLst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2" grpId="0" animBg="1"/>
      <p:bldP spid="13" grpId="0"/>
      <p:bldP spid="15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2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5" grpId="0" animBg="1"/>
      <p:bldP spid="4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E31B7-1259-6D7D-B3B0-1D14578D4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819" y="1924456"/>
            <a:ext cx="2340515" cy="3711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513232-FD55-DB31-C702-0EB6F852AC0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39"/>
          <a:stretch/>
        </p:blipFill>
        <p:spPr>
          <a:xfrm rot="10800000">
            <a:off x="-279708" y="1911591"/>
            <a:ext cx="481234" cy="371138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569F14-C445-4B8D-96F2-F0686E141E6E}"/>
              </a:ext>
            </a:extLst>
          </p:cNvPr>
          <p:cNvCxnSpPr>
            <a:cxnSpLocks/>
          </p:cNvCxnSpPr>
          <p:nvPr/>
        </p:nvCxnSpPr>
        <p:spPr>
          <a:xfrm>
            <a:off x="169258" y="3745769"/>
            <a:ext cx="35280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6715765-37ED-6A57-198F-367CBB235CD6}"/>
              </a:ext>
            </a:extLst>
          </p:cNvPr>
          <p:cNvSpPr/>
          <p:nvPr/>
        </p:nvSpPr>
        <p:spPr>
          <a:xfrm>
            <a:off x="127989" y="1911591"/>
            <a:ext cx="3583390" cy="3711388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1F730B-5FD9-2A6C-47A9-158EBFAC62EE}"/>
                  </a:ext>
                </a:extLst>
              </p:cNvPr>
              <p:cNvSpPr txBox="1"/>
              <p:nvPr/>
            </p:nvSpPr>
            <p:spPr>
              <a:xfrm>
                <a:off x="1366794" y="3397953"/>
                <a:ext cx="389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1F730B-5FD9-2A6C-47A9-158EBFAC6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794" y="3397953"/>
                <a:ext cx="3891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B13A94-8B9E-6348-AFB8-481C09B6E99E}"/>
              </a:ext>
            </a:extLst>
          </p:cNvPr>
          <p:cNvCxnSpPr>
            <a:cxnSpLocks/>
          </p:cNvCxnSpPr>
          <p:nvPr/>
        </p:nvCxnSpPr>
        <p:spPr>
          <a:xfrm>
            <a:off x="3905017" y="1924456"/>
            <a:ext cx="0" cy="372425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C9657F-F769-1F42-AAAA-576D0B8ADB59}"/>
                  </a:ext>
                </a:extLst>
              </p:cNvPr>
              <p:cNvSpPr txBox="1"/>
              <p:nvPr/>
            </p:nvSpPr>
            <p:spPr>
              <a:xfrm>
                <a:off x="3843496" y="3114639"/>
                <a:ext cx="389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CN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C9657F-F769-1F42-AAAA-576D0B8AD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96" y="3114639"/>
                <a:ext cx="38914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CBA9E6C-409C-0843-AFDD-4F8EE4715F76}"/>
                  </a:ext>
                </a:extLst>
              </p:cNvPr>
              <p:cNvSpPr txBox="1"/>
              <p:nvPr/>
            </p:nvSpPr>
            <p:spPr>
              <a:xfrm>
                <a:off x="4065678" y="2392262"/>
                <a:ext cx="2419765" cy="612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N" sz="18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CBA9E6C-409C-0843-AFDD-4F8EE4715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678" y="2392262"/>
                <a:ext cx="2419765" cy="612732"/>
              </a:xfrm>
              <a:prstGeom prst="rect">
                <a:avLst/>
              </a:prstGeom>
              <a:blipFill>
                <a:blip r:embed="rId7"/>
                <a:stretch>
                  <a:fillRect b="-40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6BFCEE-4382-AB44-BCF8-F517F4E5A64D}"/>
                  </a:ext>
                </a:extLst>
              </p:cNvPr>
              <p:cNvSpPr txBox="1"/>
              <p:nvPr/>
            </p:nvSpPr>
            <p:spPr>
              <a:xfrm>
                <a:off x="4970546" y="229509"/>
                <a:ext cx="1903534" cy="61863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d>
                        <m:d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den>
                          </m:f>
                        </m:e>
                      </m:d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CN" sz="1800" b="1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6BFCEE-4382-AB44-BCF8-F517F4E5A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546" y="229509"/>
                <a:ext cx="1903534" cy="618631"/>
              </a:xfrm>
              <a:prstGeom prst="rect">
                <a:avLst/>
              </a:prstGeom>
              <a:blipFill>
                <a:blip r:embed="rId8"/>
                <a:stretch>
                  <a:fillRect b="-196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631DD0-0F8A-4C41-B32E-CDE71A81733A}"/>
                  </a:ext>
                </a:extLst>
              </p:cNvPr>
              <p:cNvSpPr txBox="1"/>
              <p:nvPr/>
            </p:nvSpPr>
            <p:spPr>
              <a:xfrm>
                <a:off x="4038068" y="993721"/>
                <a:ext cx="2079864" cy="6186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d>
                        <m:d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num>
                            <m:den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den>
                          </m:f>
                        </m:e>
                      </m:d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CN" sz="1800" b="1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D631DD0-0F8A-4C41-B32E-CDE71A817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068" y="993721"/>
                <a:ext cx="2079864" cy="618631"/>
              </a:xfrm>
              <a:prstGeom prst="rect">
                <a:avLst/>
              </a:prstGeom>
              <a:blipFill>
                <a:blip r:embed="rId9"/>
                <a:stretch>
                  <a:fillRect b="-40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CF7CA27-6358-454F-9361-9A238AE905B9}"/>
                  </a:ext>
                </a:extLst>
              </p:cNvPr>
              <p:cNvSpPr txBox="1"/>
              <p:nvPr/>
            </p:nvSpPr>
            <p:spPr>
              <a:xfrm>
                <a:off x="4164604" y="1780330"/>
                <a:ext cx="2141034" cy="612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𝑝𝑉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N" sz="18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CF7CA27-6358-454F-9361-9A238AE90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604" y="1780330"/>
                <a:ext cx="2141034" cy="612732"/>
              </a:xfrm>
              <a:prstGeom prst="rect">
                <a:avLst/>
              </a:prstGeom>
              <a:blipFill>
                <a:blip r:embed="rId10"/>
                <a:stretch>
                  <a:fillRect b="-40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7F67BF6-C9A9-F246-B1C3-C01A699CC041}"/>
                  </a:ext>
                </a:extLst>
              </p:cNvPr>
              <p:cNvSpPr txBox="1"/>
              <p:nvPr/>
            </p:nvSpPr>
            <p:spPr>
              <a:xfrm>
                <a:off x="4476662" y="3062456"/>
                <a:ext cx="1893339" cy="65934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sSub>
                            <m:sSub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</m:den>
                      </m:f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CN" sz="1800" b="1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7F67BF6-C9A9-F246-B1C3-C01A699CC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662" y="3062456"/>
                <a:ext cx="1893339" cy="6593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D1A4D14-DF3B-184D-93BE-7F408D59CCF0}"/>
                  </a:ext>
                </a:extLst>
              </p:cNvPr>
              <p:cNvSpPr txBox="1"/>
              <p:nvPr/>
            </p:nvSpPr>
            <p:spPr>
              <a:xfrm>
                <a:off x="4442909" y="3853007"/>
                <a:ext cx="1763496" cy="6109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CN" sz="1800" b="1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D1A4D14-DF3B-184D-93BE-7F408D59C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909" y="3853007"/>
                <a:ext cx="1763496" cy="610936"/>
              </a:xfrm>
              <a:prstGeom prst="rect">
                <a:avLst/>
              </a:prstGeom>
              <a:blipFill>
                <a:blip r:embed="rId12"/>
                <a:stretch>
                  <a:fillRect b="-4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15C8E576-802F-E647-95DF-5E90F50E3C65}"/>
              </a:ext>
            </a:extLst>
          </p:cNvPr>
          <p:cNvSpPr txBox="1"/>
          <p:nvPr/>
        </p:nvSpPr>
        <p:spPr>
          <a:xfrm>
            <a:off x="6351508" y="3849543"/>
            <a:ext cx="2154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Ave. KE of one particle</a:t>
            </a:r>
            <a:endParaRPr lang="en-CN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9045C86-C61C-B048-A0D6-7EA21DEC0C62}"/>
                  </a:ext>
                </a:extLst>
              </p:cNvPr>
              <p:cNvSpPr txBox="1"/>
              <p:nvPr/>
            </p:nvSpPr>
            <p:spPr>
              <a:xfrm>
                <a:off x="4700270" y="5706828"/>
                <a:ext cx="2869567" cy="61093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1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𝒏𝑹</m:t>
                      </m:r>
                      <m:r>
                        <a:rPr lang="en-US" sz="1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CN" sz="1800" b="1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9045C86-C61C-B048-A0D6-7EA21DEC0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270" y="5706828"/>
                <a:ext cx="2869567" cy="610936"/>
              </a:xfrm>
              <a:prstGeom prst="rect">
                <a:avLst/>
              </a:prstGeom>
              <a:blipFill>
                <a:blip r:embed="rId13"/>
                <a:stretch>
                  <a:fillRect b="-40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20EA08D1-0A8D-224C-B980-B31E57398D58}"/>
              </a:ext>
            </a:extLst>
          </p:cNvPr>
          <p:cNvSpPr txBox="1"/>
          <p:nvPr/>
        </p:nvSpPr>
        <p:spPr>
          <a:xfrm>
            <a:off x="5130340" y="5043087"/>
            <a:ext cx="2154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Total KE of N particles</a:t>
            </a:r>
            <a:endParaRPr lang="en-CN" sz="1800" dirty="0"/>
          </a:p>
        </p:txBody>
      </p:sp>
    </p:spTree>
    <p:extLst>
      <p:ext uri="{BB962C8B-B14F-4D97-AF65-F5344CB8AC3E}">
        <p14:creationId xmlns:p14="http://schemas.microsoft.com/office/powerpoint/2010/main" val="1172186209"/>
      </p:ext>
    </p:extLst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 animBg="1"/>
      <p:bldP spid="54" grpId="0" animBg="1"/>
      <p:bldP spid="55" grpId="0"/>
      <p:bldP spid="56" grpId="0" animBg="1"/>
      <p:bldP spid="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54562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  <a:cs typeface="Times New Roman" pitchFamily="18" charset="0"/>
              </a:rPr>
              <a:t>Equation of state for an ideal gas</a:t>
            </a:r>
            <a:endParaRPr lang="en-US" altLang="en-US">
              <a:solidFill>
                <a:srgbClr val="333399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Without proof, here is the </a:t>
            </a:r>
            <a:r>
              <a:rPr lang="en-US" altLang="en-US" b="1">
                <a:solidFill>
                  <a:srgbClr val="000000"/>
                </a:solidFill>
                <a:cs typeface="Times New Roman" pitchFamily="18" charset="0"/>
              </a:rPr>
              <a:t>equation of state 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for an ideal gas. </a:t>
            </a: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We will explain what an ideal gas is a bit later...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The variables 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 (pressure), 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V 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(volume), 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 (number of moles), and 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T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 (temperature) are all called the four </a:t>
            </a:r>
            <a:r>
              <a:rPr lang="en-US" altLang="en-US" b="1">
                <a:solidFill>
                  <a:srgbClr val="000000"/>
                </a:solidFill>
                <a:cs typeface="Times New Roman" pitchFamily="18" charset="0"/>
              </a:rPr>
              <a:t>state variables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 is measured in Pascals or Nm</a:t>
            </a:r>
            <a:r>
              <a:rPr lang="en-US" altLang="en-US" baseline="30000">
                <a:solidFill>
                  <a:srgbClr val="000000"/>
                </a:solidFill>
                <a:cs typeface="Times New Roman" pitchFamily="18" charset="0"/>
              </a:rPr>
              <a:t>-2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V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is measured in m</a:t>
            </a:r>
            <a:r>
              <a:rPr lang="en-US" altLang="en-US" baseline="30000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</a:t>
            </a:r>
            <a:r>
              <a:rPr lang="en-US" altLang="en-US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T</a:t>
            </a: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 is measured in K.</a:t>
            </a:r>
            <a:endParaRPr lang="en-US" altLang="en-US">
              <a:solidFill>
                <a:srgbClr val="000000"/>
              </a:solidFill>
              <a:cs typeface="Times New Roman" pitchFamily="18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88988" y="2719388"/>
            <a:ext cx="7464425" cy="1187450"/>
            <a:chOff x="497" y="3207"/>
            <a:chExt cx="4702" cy="748"/>
          </a:xfrm>
        </p:grpSpPr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3864" y="3207"/>
              <a:ext cx="1335" cy="7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equation of state of an ideal gas</a:t>
              </a: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497" y="3209"/>
              <a:ext cx="4701" cy="74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11" name="Text Box 7"/>
            <p:cNvSpPr txBox="1">
              <a:spLocks noChangeArrowheads="1"/>
            </p:cNvSpPr>
            <p:nvPr/>
          </p:nvSpPr>
          <p:spPr bwMode="auto">
            <a:xfrm>
              <a:off x="637" y="3221"/>
              <a:ext cx="13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i="1"/>
                <a:t>pV</a:t>
              </a:r>
              <a:r>
                <a:rPr lang="en-US" altLang="en-US"/>
                <a:t> = </a:t>
              </a:r>
              <a:r>
                <a:rPr lang="en-US" altLang="en-US" i="1"/>
                <a:t>nRT</a:t>
              </a:r>
            </a:p>
          </p:txBody>
        </p:sp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1649" y="3432"/>
              <a:ext cx="22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i="1">
                  <a:solidFill>
                    <a:schemeClr val="hlink"/>
                  </a:solidFill>
                </a:rPr>
                <a:t>R</a:t>
              </a:r>
              <a:r>
                <a:rPr lang="en-US" altLang="en-US">
                  <a:solidFill>
                    <a:schemeClr val="hlink"/>
                  </a:solidFill>
                </a:rPr>
                <a:t> = 8.31</a:t>
              </a:r>
              <a:r>
                <a:rPr lang="en-US" altLang="en-US">
                  <a:solidFill>
                    <a:schemeClr val="hlink"/>
                  </a:solidFill>
                  <a:sym typeface="Symbol" pitchFamily="18" charset="2"/>
                </a:rPr>
                <a:t> J </a:t>
              </a:r>
              <a:r>
                <a:rPr lang="en-US" altLang="en-US" i="1">
                  <a:solidFill>
                    <a:schemeClr val="hlink"/>
                  </a:solidFill>
                  <a:sym typeface="Symbol" pitchFamily="18" charset="2"/>
                </a:rPr>
                <a:t>/</a:t>
              </a:r>
              <a:r>
                <a:rPr lang="en-US" altLang="en-US">
                  <a:solidFill>
                    <a:schemeClr val="hlink"/>
                  </a:solidFill>
                  <a:sym typeface="Symbol" pitchFamily="18" charset="2"/>
                </a:rPr>
                <a:t> mol·K is the </a:t>
              </a:r>
              <a:r>
                <a:rPr lang="en-US" altLang="en-US" b="1">
                  <a:solidFill>
                    <a:schemeClr val="hlink"/>
                  </a:solidFill>
                  <a:sym typeface="Symbol" pitchFamily="18" charset="2"/>
                </a:rPr>
                <a:t>universal gas constant</a:t>
              </a:r>
            </a:p>
          </p:txBody>
        </p:sp>
      </p:grp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3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3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3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3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63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3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3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63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63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63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63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63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63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63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4"/>
          <p:cNvSpPr>
            <a:spLocks noChangeArrowheads="1"/>
          </p:cNvSpPr>
          <p:nvPr/>
        </p:nvSpPr>
        <p:spPr bwMode="auto">
          <a:xfrm>
            <a:off x="685800" y="1855788"/>
            <a:ext cx="7772400" cy="500221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93999" name="Picture 1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916113"/>
            <a:ext cx="7704138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4000" name="Text Box 16"/>
          <p:cNvSpPr txBox="1">
            <a:spLocks noChangeArrowheads="1"/>
          </p:cNvSpPr>
          <p:nvPr/>
        </p:nvSpPr>
        <p:spPr bwMode="auto">
          <a:xfrm>
            <a:off x="674688" y="4662488"/>
            <a:ext cx="305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Use </a:t>
            </a:r>
            <a:r>
              <a:rPr lang="en-US" altLang="en-US" i="1">
                <a:solidFill>
                  <a:schemeClr val="hlink"/>
                </a:solidFill>
              </a:rPr>
              <a:t>pV</a:t>
            </a:r>
            <a:r>
              <a:rPr lang="en-US" altLang="en-US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</a:rPr>
              <a:t>nRT</a:t>
            </a:r>
            <a:r>
              <a:rPr lang="en-US" altLang="en-US">
                <a:solidFill>
                  <a:schemeClr val="hlink"/>
                </a:solidFill>
              </a:rPr>
              <a:t>.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01" name="Text Box 17"/>
          <p:cNvSpPr txBox="1">
            <a:spLocks noChangeArrowheads="1"/>
          </p:cNvSpPr>
          <p:nvPr/>
        </p:nvSpPr>
        <p:spPr bwMode="auto">
          <a:xfrm>
            <a:off x="788988" y="5464175"/>
            <a:ext cx="384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altLang="en-US" i="1" baseline="-25000">
                <a:solidFill>
                  <a:schemeClr val="hlink"/>
                </a:solidFill>
                <a:sym typeface="Symbol" pitchFamily="18" charset="2"/>
              </a:rPr>
              <a:t>i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 30 + 273 = 303 K.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02" name="Text Box 18"/>
          <p:cNvSpPr txBox="1">
            <a:spLocks noChangeArrowheads="1"/>
          </p:cNvSpPr>
          <p:nvPr/>
        </p:nvSpPr>
        <p:spPr bwMode="auto">
          <a:xfrm>
            <a:off x="682625" y="5070475"/>
            <a:ext cx="383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From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  <a:r>
              <a:rPr lang="en-US" altLang="en-US">
                <a:solidFill>
                  <a:schemeClr val="hlink"/>
                </a:solidFill>
              </a:rPr>
              <a:t>(K) =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  <a:r>
              <a:rPr lang="en-US" altLang="en-US">
                <a:solidFill>
                  <a:schemeClr val="hlink"/>
                </a:solidFill>
              </a:rPr>
              <a:t>(°C) + 273</a:t>
            </a:r>
          </a:p>
        </p:txBody>
      </p:sp>
      <p:sp>
        <p:nvSpPr>
          <p:cNvPr id="1194003" name="Text Box 19"/>
          <p:cNvSpPr txBox="1">
            <a:spLocks noChangeArrowheads="1"/>
          </p:cNvSpPr>
          <p:nvPr/>
        </p:nvSpPr>
        <p:spPr bwMode="auto">
          <a:xfrm>
            <a:off x="4883150" y="4683125"/>
            <a:ext cx="2144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  <a:r>
              <a:rPr lang="en-US" altLang="en-US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</a:rPr>
              <a:t>nRT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  <a:r>
              <a:rPr lang="en-US" altLang="en-US">
                <a:solidFill>
                  <a:schemeClr val="hlink"/>
                </a:solidFill>
              </a:rPr>
              <a:t>,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04" name="Text Box 20"/>
          <p:cNvSpPr txBox="1">
            <a:spLocks noChangeArrowheads="1"/>
          </p:cNvSpPr>
          <p:nvPr/>
        </p:nvSpPr>
        <p:spPr bwMode="auto">
          <a:xfrm>
            <a:off x="6689725" y="4670425"/>
            <a:ext cx="201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</a:rPr>
              <a:t>nRT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.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05" name="Text Box 21"/>
          <p:cNvSpPr txBox="1">
            <a:spLocks noChangeArrowheads="1"/>
          </p:cNvSpPr>
          <p:nvPr/>
        </p:nvSpPr>
        <p:spPr bwMode="auto">
          <a:xfrm>
            <a:off x="649288" y="6257925"/>
            <a:ext cx="2701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altLang="en-US" i="1" baseline="-25000">
                <a:solidFill>
                  <a:schemeClr val="hlink"/>
                </a:solidFill>
                <a:sym typeface="Symbol" pitchFamily="18" charset="2"/>
              </a:rPr>
              <a:t>i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altLang="en-US" i="1" baseline="-25000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.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06" name="Text Box 22"/>
          <p:cNvSpPr txBox="1">
            <a:spLocks noChangeArrowheads="1"/>
          </p:cNvSpPr>
          <p:nvPr/>
        </p:nvSpPr>
        <p:spPr bwMode="auto">
          <a:xfrm>
            <a:off x="5540375" y="5062538"/>
            <a:ext cx="8016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</a:p>
        </p:txBody>
      </p:sp>
      <p:sp>
        <p:nvSpPr>
          <p:cNvPr id="1194007" name="Line 23"/>
          <p:cNvSpPr>
            <a:spLocks noChangeShapeType="1"/>
          </p:cNvSpPr>
          <p:nvPr/>
        </p:nvSpPr>
        <p:spPr bwMode="auto">
          <a:xfrm>
            <a:off x="5614988" y="5491163"/>
            <a:ext cx="5175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4008" name="Text Box 24"/>
          <p:cNvSpPr txBox="1">
            <a:spLocks noChangeArrowheads="1"/>
          </p:cNvSpPr>
          <p:nvPr/>
        </p:nvSpPr>
        <p:spPr bwMode="auto">
          <a:xfrm>
            <a:off x="6286500" y="5243513"/>
            <a:ext cx="392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=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09" name="Text Box 25"/>
          <p:cNvSpPr txBox="1">
            <a:spLocks noChangeArrowheads="1"/>
          </p:cNvSpPr>
          <p:nvPr/>
        </p:nvSpPr>
        <p:spPr bwMode="auto">
          <a:xfrm>
            <a:off x="6721475" y="5053013"/>
            <a:ext cx="135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nRT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nRT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</a:p>
        </p:txBody>
      </p:sp>
      <p:sp>
        <p:nvSpPr>
          <p:cNvPr id="1194010" name="Line 26"/>
          <p:cNvSpPr>
            <a:spLocks noChangeShapeType="1"/>
          </p:cNvSpPr>
          <p:nvPr/>
        </p:nvSpPr>
        <p:spPr bwMode="auto">
          <a:xfrm>
            <a:off x="6824663" y="5481638"/>
            <a:ext cx="51752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4011" name="Rectangle 27"/>
          <p:cNvSpPr>
            <a:spLocks noChangeArrowheads="1"/>
          </p:cNvSpPr>
          <p:nvPr/>
        </p:nvSpPr>
        <p:spPr bwMode="auto">
          <a:xfrm>
            <a:off x="4756150" y="2238375"/>
            <a:ext cx="1587500" cy="277813"/>
          </a:xfrm>
          <a:prstGeom prst="rect">
            <a:avLst/>
          </a:prstGeom>
          <a:solidFill>
            <a:srgbClr val="FF6600">
              <a:alpha val="3098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4012" name="Line 28"/>
          <p:cNvSpPr>
            <a:spLocks noChangeShapeType="1"/>
          </p:cNvSpPr>
          <p:nvPr/>
        </p:nvSpPr>
        <p:spPr bwMode="auto">
          <a:xfrm>
            <a:off x="5934075" y="5159375"/>
            <a:ext cx="119063" cy="620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4013" name="Line 29"/>
          <p:cNvSpPr>
            <a:spLocks noChangeShapeType="1"/>
          </p:cNvSpPr>
          <p:nvPr/>
        </p:nvSpPr>
        <p:spPr bwMode="auto">
          <a:xfrm>
            <a:off x="6873875" y="5146675"/>
            <a:ext cx="23813" cy="620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4014" name="Line 30"/>
          <p:cNvSpPr>
            <a:spLocks noChangeShapeType="1"/>
          </p:cNvSpPr>
          <p:nvPr/>
        </p:nvSpPr>
        <p:spPr bwMode="auto">
          <a:xfrm>
            <a:off x="7091363" y="5145088"/>
            <a:ext cx="23812" cy="620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4015" name="Text Box 31"/>
          <p:cNvSpPr txBox="1">
            <a:spLocks noChangeArrowheads="1"/>
          </p:cNvSpPr>
          <p:nvPr/>
        </p:nvSpPr>
        <p:spPr bwMode="auto">
          <a:xfrm>
            <a:off x="5153025" y="5765800"/>
            <a:ext cx="1889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  <a:r>
              <a:rPr lang="en-US" altLang="en-US" i="1" baseline="-25000">
                <a:solidFill>
                  <a:schemeClr val="hlink"/>
                </a:solidFill>
              </a:rPr>
              <a:t>f </a:t>
            </a:r>
            <a:r>
              <a:rPr lang="en-US" altLang="en-US" i="1">
                <a:solidFill>
                  <a:schemeClr val="hlink"/>
                </a:solidFill>
              </a:rPr>
              <a:t>/ T</a:t>
            </a:r>
            <a:r>
              <a:rPr lang="en-US" altLang="en-US" i="1" baseline="-25000">
                <a:solidFill>
                  <a:schemeClr val="hlink"/>
                </a:solidFill>
              </a:rPr>
              <a:t>i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16" name="Text Box 32"/>
          <p:cNvSpPr txBox="1">
            <a:spLocks noChangeArrowheads="1"/>
          </p:cNvSpPr>
          <p:nvPr/>
        </p:nvSpPr>
        <p:spPr bwMode="auto">
          <a:xfrm>
            <a:off x="5164138" y="6146800"/>
            <a:ext cx="363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 i="1" baseline="-25000">
                <a:solidFill>
                  <a:schemeClr val="hlink"/>
                </a:solidFill>
              </a:rPr>
              <a:t>f</a:t>
            </a:r>
            <a:r>
              <a:rPr lang="en-US" altLang="en-US">
                <a:solidFill>
                  <a:schemeClr val="hlink"/>
                </a:solidFill>
              </a:rPr>
              <a:t> = (6)(603) </a:t>
            </a:r>
            <a:r>
              <a:rPr lang="en-US" altLang="en-US" i="1">
                <a:solidFill>
                  <a:schemeClr val="hlink"/>
                </a:solidFill>
              </a:rPr>
              <a:t>/ </a:t>
            </a:r>
            <a:r>
              <a:rPr lang="en-US" altLang="en-US">
                <a:solidFill>
                  <a:schemeClr val="hlink"/>
                </a:solidFill>
              </a:rPr>
              <a:t>303 = 12</a:t>
            </a:r>
            <a:endParaRPr lang="en-US" alt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4017" name="Oval 33"/>
          <p:cNvSpPr>
            <a:spLocks noChangeArrowheads="1"/>
          </p:cNvSpPr>
          <p:nvPr/>
        </p:nvSpPr>
        <p:spPr bwMode="auto">
          <a:xfrm>
            <a:off x="4848225" y="4381500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4018" name="Text Box 34"/>
          <p:cNvSpPr txBox="1">
            <a:spLocks noChangeArrowheads="1"/>
          </p:cNvSpPr>
          <p:nvPr/>
        </p:nvSpPr>
        <p:spPr bwMode="auto">
          <a:xfrm>
            <a:off x="777875" y="5884863"/>
            <a:ext cx="384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altLang="en-US" i="1" baseline="-25000">
                <a:solidFill>
                  <a:schemeClr val="hlink"/>
                </a:solidFill>
                <a:sym typeface="Symbol" pitchFamily="18" charset="2"/>
              </a:rPr>
              <a:t>f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330 + 273 = 603 K.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5772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51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</a:rPr>
              <a:t>Equation of state for an ideal gas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3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3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4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4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4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94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94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94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9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9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94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94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1000"/>
                                        <p:tgtEl>
                                          <p:spTgt spid="1194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9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9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9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94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94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940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94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94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9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94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94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94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940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94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940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19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194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194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194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194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94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94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94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94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94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94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4007" grpId="0" animBg="1"/>
      <p:bldP spid="1194010" grpId="0" animBg="1"/>
      <p:bldP spid="1194011" grpId="0" animBg="1"/>
      <p:bldP spid="1194012" grpId="0" animBg="1"/>
      <p:bldP spid="1194013" grpId="0" animBg="1"/>
      <p:bldP spid="1194014" grpId="0" animBg="1"/>
      <p:bldP spid="11940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51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</a:rPr>
              <a:t>Equation of state for an ideal gas</a:t>
            </a:r>
          </a:p>
        </p:txBody>
      </p:sp>
      <p:sp>
        <p:nvSpPr>
          <p:cNvPr id="153603" name="Rectangle 4"/>
          <p:cNvSpPr>
            <a:spLocks noChangeArrowheads="1"/>
          </p:cNvSpPr>
          <p:nvPr/>
        </p:nvSpPr>
        <p:spPr bwMode="auto">
          <a:xfrm>
            <a:off x="685800" y="1854200"/>
            <a:ext cx="7772400" cy="50038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79660" name="Picture 1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3378200"/>
            <a:ext cx="7751762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9661" name="Text Box 13"/>
          <p:cNvSpPr txBox="1">
            <a:spLocks noChangeArrowheads="1"/>
          </p:cNvSpPr>
          <p:nvPr/>
        </p:nvSpPr>
        <p:spPr bwMode="auto">
          <a:xfrm>
            <a:off x="1422400" y="3746500"/>
            <a:ext cx="653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For an ideal gas use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pV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nRT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1179662" name="Text Box 14"/>
          <p:cNvSpPr txBox="1">
            <a:spLocks noChangeArrowheads="1"/>
          </p:cNvSpPr>
          <p:nvPr/>
        </p:nvSpPr>
        <p:spPr bwMode="auto">
          <a:xfrm>
            <a:off x="1389063" y="4510088"/>
            <a:ext cx="653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    </a:t>
            </a:r>
            <a:r>
              <a:rPr lang="en-US" altLang="en-US" baseline="-2500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GIVEN: 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2010</a:t>
            </a:r>
            <a:r>
              <a:rPr lang="en-US" altLang="en-US" baseline="30000">
                <a:solidFill>
                  <a:schemeClr val="hlink"/>
                </a:solidFill>
                <a:sym typeface="Symbol" pitchFamily="18" charset="2"/>
              </a:rPr>
              <a:t>6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Pa,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2.010</a:t>
            </a:r>
            <a:r>
              <a:rPr lang="en-US" altLang="en-US" baseline="30000">
                <a:solidFill>
                  <a:schemeClr val="hlink"/>
                </a:solidFill>
                <a:sym typeface="Symbol" pitchFamily="18" charset="2"/>
              </a:rPr>
              <a:t>-2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m</a:t>
            </a:r>
            <a:r>
              <a:rPr lang="en-US" altLang="en-US" baseline="30000">
                <a:solidFill>
                  <a:schemeClr val="hlink"/>
                </a:solidFill>
                <a:sym typeface="Symbol" pitchFamily="18" charset="2"/>
              </a:rPr>
              <a:t>3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1179663" name="Text Box 15"/>
          <p:cNvSpPr txBox="1">
            <a:spLocks noChangeArrowheads="1"/>
          </p:cNvSpPr>
          <p:nvPr/>
        </p:nvSpPr>
        <p:spPr bwMode="auto">
          <a:xfrm>
            <a:off x="1390650" y="4799013"/>
            <a:ext cx="653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From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  <a:r>
              <a:rPr lang="en-US" altLang="en-US">
                <a:solidFill>
                  <a:schemeClr val="hlink"/>
                </a:solidFill>
              </a:rPr>
              <a:t>(K) = 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  <a:r>
              <a:rPr lang="en-US" altLang="en-US">
                <a:solidFill>
                  <a:schemeClr val="hlink"/>
                </a:solidFill>
              </a:rPr>
              <a:t>(°C) + 273</a:t>
            </a:r>
          </a:p>
        </p:txBody>
      </p:sp>
      <p:sp>
        <p:nvSpPr>
          <p:cNvPr id="1179664" name="Text Box 16"/>
          <p:cNvSpPr txBox="1">
            <a:spLocks noChangeArrowheads="1"/>
          </p:cNvSpPr>
          <p:nvPr/>
        </p:nvSpPr>
        <p:spPr bwMode="auto">
          <a:xfrm>
            <a:off x="1401763" y="4176713"/>
            <a:ext cx="653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WANTED: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, the number of moles.</a:t>
            </a:r>
          </a:p>
        </p:txBody>
      </p:sp>
      <p:sp>
        <p:nvSpPr>
          <p:cNvPr id="1179665" name="Text Box 17"/>
          <p:cNvSpPr txBox="1">
            <a:spLocks noChangeArrowheads="1"/>
          </p:cNvSpPr>
          <p:nvPr/>
        </p:nvSpPr>
        <p:spPr bwMode="auto">
          <a:xfrm>
            <a:off x="2330450" y="5121275"/>
            <a:ext cx="3968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T</a:t>
            </a:r>
            <a:r>
              <a:rPr lang="en-US" altLang="en-US">
                <a:solidFill>
                  <a:schemeClr val="hlink"/>
                </a:solidFill>
              </a:rPr>
              <a:t>(K) = 17 + 273 = 290 K.</a:t>
            </a:r>
          </a:p>
        </p:txBody>
      </p:sp>
      <p:sp>
        <p:nvSpPr>
          <p:cNvPr id="1179666" name="Text Box 18"/>
          <p:cNvSpPr txBox="1">
            <a:spLocks noChangeArrowheads="1"/>
          </p:cNvSpPr>
          <p:nvPr/>
        </p:nvSpPr>
        <p:spPr bwMode="auto">
          <a:xfrm>
            <a:off x="1382713" y="5405438"/>
            <a:ext cx="653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Then 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</a:rPr>
              <a:t>pV / </a:t>
            </a:r>
            <a:r>
              <a:rPr lang="en-US" altLang="en-US">
                <a:solidFill>
                  <a:schemeClr val="hlink"/>
                </a:solidFill>
              </a:rPr>
              <a:t>(</a:t>
            </a:r>
            <a:r>
              <a:rPr lang="en-US" altLang="en-US" i="1">
                <a:solidFill>
                  <a:schemeClr val="hlink"/>
                </a:solidFill>
              </a:rPr>
              <a:t>RT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1179667" name="Text Box 19"/>
          <p:cNvSpPr txBox="1">
            <a:spLocks noChangeArrowheads="1"/>
          </p:cNvSpPr>
          <p:nvPr/>
        </p:nvSpPr>
        <p:spPr bwMode="auto">
          <a:xfrm>
            <a:off x="2301875" y="5748338"/>
            <a:ext cx="564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 = (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2010</a:t>
            </a:r>
            <a:r>
              <a:rPr lang="en-US" altLang="en-US" baseline="30000">
                <a:solidFill>
                  <a:schemeClr val="hlink"/>
                </a:solidFill>
                <a:sym typeface="Symbol" pitchFamily="18" charset="2"/>
              </a:rPr>
              <a:t>6</a:t>
            </a:r>
            <a:r>
              <a:rPr lang="en-US" altLang="en-US">
                <a:solidFill>
                  <a:schemeClr val="hlink"/>
                </a:solidFill>
              </a:rPr>
              <a:t>)(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210</a:t>
            </a:r>
            <a:r>
              <a:rPr lang="en-US" altLang="en-US" baseline="30000">
                <a:solidFill>
                  <a:schemeClr val="hlink"/>
                </a:solidFill>
                <a:sym typeface="Symbol" pitchFamily="18" charset="2"/>
              </a:rPr>
              <a:t>-2</a:t>
            </a:r>
            <a:r>
              <a:rPr lang="en-US" altLang="en-US">
                <a:solidFill>
                  <a:schemeClr val="hlink"/>
                </a:solidFill>
              </a:rPr>
              <a:t>) </a:t>
            </a:r>
            <a:r>
              <a:rPr lang="en-US" altLang="en-US" i="1">
                <a:solidFill>
                  <a:schemeClr val="hlink"/>
                </a:solidFill>
              </a:rPr>
              <a:t>/ </a:t>
            </a:r>
            <a:r>
              <a:rPr lang="en-US" altLang="en-US">
                <a:solidFill>
                  <a:schemeClr val="hlink"/>
                </a:solidFill>
              </a:rPr>
              <a:t>[ (8.31)(290) ]</a:t>
            </a:r>
          </a:p>
        </p:txBody>
      </p:sp>
      <p:sp>
        <p:nvSpPr>
          <p:cNvPr id="1179668" name="Text Box 20"/>
          <p:cNvSpPr txBox="1">
            <a:spLocks noChangeArrowheads="1"/>
          </p:cNvSpPr>
          <p:nvPr/>
        </p:nvSpPr>
        <p:spPr bwMode="auto">
          <a:xfrm>
            <a:off x="2306638" y="6135688"/>
            <a:ext cx="305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 = 170 mol.</a:t>
            </a:r>
          </a:p>
        </p:txBody>
      </p:sp>
      <p:pic>
        <p:nvPicPr>
          <p:cNvPr id="153614" name="Picture 14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76425"/>
            <a:ext cx="7764462" cy="148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9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9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9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9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9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9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9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9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79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79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79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79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79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79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7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7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9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79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51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</a:rPr>
              <a:t>Equation of state for an ideal gas</a:t>
            </a:r>
          </a:p>
        </p:txBody>
      </p:sp>
      <p:sp>
        <p:nvSpPr>
          <p:cNvPr id="155651" name="Rectangle 4"/>
          <p:cNvSpPr>
            <a:spLocks noChangeArrowheads="1"/>
          </p:cNvSpPr>
          <p:nvPr/>
        </p:nvSpPr>
        <p:spPr bwMode="auto">
          <a:xfrm>
            <a:off x="685800" y="1854200"/>
            <a:ext cx="7772400" cy="50038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55653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76425"/>
            <a:ext cx="7764462" cy="148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1711" name="Picture 15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3378200"/>
            <a:ext cx="7783513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713" name="Text Box 17"/>
          <p:cNvSpPr txBox="1">
            <a:spLocks noChangeArrowheads="1"/>
          </p:cNvSpPr>
          <p:nvPr/>
        </p:nvSpPr>
        <p:spPr bwMode="auto">
          <a:xfrm>
            <a:off x="2333625" y="4884738"/>
            <a:ext cx="2633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 = 170 mol 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1181714" name="Text Box 18"/>
          <p:cNvSpPr txBox="1">
            <a:spLocks noChangeArrowheads="1"/>
          </p:cNvSpPr>
          <p:nvPr/>
        </p:nvSpPr>
        <p:spPr bwMode="auto">
          <a:xfrm>
            <a:off x="4024313" y="4783138"/>
            <a:ext cx="31384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u="sng">
                <a:solidFill>
                  <a:schemeClr val="hlink"/>
                </a:solidFill>
              </a:rPr>
              <a:t>6.02</a:t>
            </a:r>
            <a:r>
              <a:rPr lang="en-US" altLang="en-US" u="sng">
                <a:solidFill>
                  <a:schemeClr val="hlink"/>
                </a:solidFill>
                <a:sym typeface="Symbol" pitchFamily="18" charset="2"/>
              </a:rPr>
              <a:t>10</a:t>
            </a:r>
            <a:r>
              <a:rPr lang="en-US" altLang="en-US" u="sng" baseline="30000">
                <a:solidFill>
                  <a:schemeClr val="hlink"/>
                </a:solidFill>
                <a:sym typeface="Symbol" pitchFamily="18" charset="2"/>
              </a:rPr>
              <a:t>23</a:t>
            </a:r>
            <a:r>
              <a:rPr lang="en-US" altLang="en-US" u="sng">
                <a:solidFill>
                  <a:schemeClr val="hlink"/>
                </a:solidFill>
                <a:sym typeface="Symbol" pitchFamily="18" charset="2"/>
              </a:rPr>
              <a:t> atoms</a:t>
            </a:r>
          </a:p>
          <a:p>
            <a:pPr algn="ctr"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mol</a:t>
            </a:r>
          </a:p>
        </p:txBody>
      </p:sp>
      <p:sp>
        <p:nvSpPr>
          <p:cNvPr id="1181715" name="Line 19"/>
          <p:cNvSpPr>
            <a:spLocks noChangeShapeType="1"/>
          </p:cNvSpPr>
          <p:nvPr/>
        </p:nvSpPr>
        <p:spPr bwMode="auto">
          <a:xfrm flipV="1">
            <a:off x="3582988" y="5006975"/>
            <a:ext cx="501650" cy="238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1716" name="Line 20"/>
          <p:cNvSpPr>
            <a:spLocks noChangeShapeType="1"/>
          </p:cNvSpPr>
          <p:nvPr/>
        </p:nvSpPr>
        <p:spPr bwMode="auto">
          <a:xfrm flipV="1">
            <a:off x="5327650" y="5265738"/>
            <a:ext cx="549275" cy="238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1717" name="Text Box 21"/>
          <p:cNvSpPr txBox="1">
            <a:spLocks noChangeArrowheads="1"/>
          </p:cNvSpPr>
          <p:nvPr/>
        </p:nvSpPr>
        <p:spPr bwMode="auto">
          <a:xfrm>
            <a:off x="2320925" y="5422900"/>
            <a:ext cx="359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 = 1.0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10</a:t>
            </a:r>
            <a:r>
              <a:rPr lang="en-US" altLang="en-US" baseline="30000">
                <a:solidFill>
                  <a:schemeClr val="hlink"/>
                </a:solidFill>
                <a:sym typeface="Symbol" pitchFamily="18" charset="2"/>
              </a:rPr>
              <a:t>26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atoms.</a:t>
            </a:r>
          </a:p>
        </p:txBody>
      </p:sp>
      <p:sp>
        <p:nvSpPr>
          <p:cNvPr id="1181712" name="Text Box 16"/>
          <p:cNvSpPr txBox="1">
            <a:spLocks noChangeArrowheads="1"/>
          </p:cNvSpPr>
          <p:nvPr/>
        </p:nvSpPr>
        <p:spPr bwMode="auto">
          <a:xfrm>
            <a:off x="1406525" y="3821113"/>
            <a:ext cx="743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Use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n 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=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N / 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 i="1" baseline="-25000">
                <a:solidFill>
                  <a:schemeClr val="hlink"/>
                </a:solidFill>
              </a:rPr>
              <a:t>A</a:t>
            </a:r>
            <a:r>
              <a:rPr lang="en-US" altLang="en-US" i="1">
                <a:solidFill>
                  <a:schemeClr val="hlink"/>
                </a:solidFill>
              </a:rPr>
              <a:t> </a:t>
            </a:r>
            <a:r>
              <a:rPr lang="en-US" altLang="en-US">
                <a:solidFill>
                  <a:schemeClr val="hlink"/>
                </a:solidFill>
              </a:rPr>
              <a:t>where 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 i="1" baseline="-25000">
                <a:solidFill>
                  <a:schemeClr val="hlink"/>
                </a:solidFill>
              </a:rPr>
              <a:t>A</a:t>
            </a:r>
            <a:r>
              <a:rPr lang="en-US" altLang="en-US">
                <a:solidFill>
                  <a:schemeClr val="hlink"/>
                </a:solidFill>
              </a:rPr>
              <a:t> = 6.02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10</a:t>
            </a:r>
            <a:r>
              <a:rPr lang="en-US" altLang="en-US" baseline="30000">
                <a:solidFill>
                  <a:schemeClr val="hlink"/>
                </a:solidFill>
                <a:sym typeface="Symbol" pitchFamily="18" charset="2"/>
              </a:rPr>
              <a:t>23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atoms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/ 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mol.</a:t>
            </a:r>
          </a:p>
        </p:txBody>
      </p:sp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1412875" y="4411663"/>
            <a:ext cx="653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Then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N 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=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n 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 i="1" baseline="-25000">
                <a:solidFill>
                  <a:schemeClr val="hlink"/>
                </a:solidFill>
              </a:rPr>
              <a:t>A</a:t>
            </a:r>
            <a:r>
              <a:rPr lang="en-US" altLang="en-US" i="1">
                <a:solidFill>
                  <a:schemeClr val="hlink"/>
                </a:solidFill>
              </a:rPr>
              <a:t>.</a:t>
            </a:r>
            <a:endParaRPr lang="en-US" altLang="en-US">
              <a:solidFill>
                <a:schemeClr val="hlink"/>
              </a:solidFill>
              <a:sym typeface="Symbol" pitchFamily="18" charset="2"/>
            </a:endParaRP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1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1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1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1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1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1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1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1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1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81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81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81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81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1715" grpId="0" animBg="1"/>
      <p:bldP spid="11817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355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333399"/>
                </a:solidFill>
              </a:rPr>
              <a:t>Differences between real and ideal gases</a:t>
            </a:r>
          </a:p>
        </p:txBody>
      </p:sp>
      <p:sp>
        <p:nvSpPr>
          <p:cNvPr id="135171" name="Rectangle 4"/>
          <p:cNvSpPr>
            <a:spLocks noChangeArrowheads="1"/>
          </p:cNvSpPr>
          <p:nvPr/>
        </p:nvSpPr>
        <p:spPr bwMode="auto">
          <a:xfrm>
            <a:off x="685800" y="1846263"/>
            <a:ext cx="7772400" cy="5011737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85804" name="Picture 1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8" y="1890713"/>
            <a:ext cx="7686675" cy="328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5805" name="Text Box 13"/>
          <p:cNvSpPr txBox="1">
            <a:spLocks noChangeArrowheads="1"/>
          </p:cNvSpPr>
          <p:nvPr/>
        </p:nvSpPr>
        <p:spPr bwMode="auto">
          <a:xfrm>
            <a:off x="714375" y="5135563"/>
            <a:ext cx="76501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Under high pressure or low volume real gases’ intermolecular forces come into play.</a:t>
            </a:r>
          </a:p>
        </p:txBody>
      </p:sp>
      <p:sp>
        <p:nvSpPr>
          <p:cNvPr id="1185806" name="Text Box 14"/>
          <p:cNvSpPr txBox="1">
            <a:spLocks noChangeArrowheads="1"/>
          </p:cNvSpPr>
          <p:nvPr/>
        </p:nvSpPr>
        <p:spPr bwMode="auto">
          <a:xfrm>
            <a:off x="728663" y="5918200"/>
            <a:ext cx="76501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Under low pressure or large volume real gases’ obey the equation of state.</a:t>
            </a:r>
          </a:p>
        </p:txBody>
      </p:sp>
      <p:sp>
        <p:nvSpPr>
          <p:cNvPr id="1185807" name="Oval 15"/>
          <p:cNvSpPr>
            <a:spLocks noChangeArrowheads="1"/>
          </p:cNvSpPr>
          <p:nvPr/>
        </p:nvSpPr>
        <p:spPr bwMode="auto">
          <a:xfrm>
            <a:off x="733425" y="2755900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5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5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5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5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5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5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85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85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85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580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685800" y="1846263"/>
            <a:ext cx="7772400" cy="5011737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87849" name="Picture 9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892300"/>
            <a:ext cx="7710488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50" name="Text Box 10"/>
          <p:cNvSpPr txBox="1">
            <a:spLocks noChangeArrowheads="1"/>
          </p:cNvSpPr>
          <p:nvPr/>
        </p:nvSpPr>
        <p:spPr bwMode="auto">
          <a:xfrm>
            <a:off x="811213" y="4660900"/>
            <a:ext cx="75041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altLang="en-US">
                <a:solidFill>
                  <a:schemeClr val="hlink"/>
                </a:solidFill>
              </a:rPr>
              <a:t>Fixed mass and constant volume means 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 and </a:t>
            </a:r>
            <a:r>
              <a:rPr lang="en-US" altLang="en-US" i="1">
                <a:solidFill>
                  <a:schemeClr val="hlink"/>
                </a:solidFill>
              </a:rPr>
              <a:t>V</a:t>
            </a:r>
            <a:r>
              <a:rPr lang="en-US" altLang="en-US">
                <a:solidFill>
                  <a:schemeClr val="hlink"/>
                </a:solidFill>
              </a:rPr>
              <a:t> are constant. Thus</a:t>
            </a:r>
            <a:endParaRPr lang="en-US" altLang="en-US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87851" name="Text Box 11"/>
          <p:cNvSpPr txBox="1">
            <a:spLocks noChangeArrowheads="1"/>
          </p:cNvSpPr>
          <p:nvPr/>
        </p:nvSpPr>
        <p:spPr bwMode="auto">
          <a:xfrm>
            <a:off x="817563" y="5449888"/>
            <a:ext cx="192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altLang="en-US" i="1">
                <a:solidFill>
                  <a:schemeClr val="hlink"/>
                </a:solidFill>
              </a:rPr>
              <a:t>pV</a:t>
            </a:r>
            <a:r>
              <a:rPr lang="en-US" altLang="en-US">
                <a:solidFill>
                  <a:schemeClr val="hlink"/>
                </a:solidFill>
              </a:rPr>
              <a:t> = </a:t>
            </a:r>
            <a:r>
              <a:rPr lang="en-US" altLang="en-US" i="1">
                <a:solidFill>
                  <a:schemeClr val="hlink"/>
                </a:solidFill>
              </a:rPr>
              <a:t>nRT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87852" name="Text Box 12"/>
          <p:cNvSpPr txBox="1">
            <a:spLocks noChangeArrowheads="1"/>
          </p:cNvSpPr>
          <p:nvPr/>
        </p:nvSpPr>
        <p:spPr bwMode="auto">
          <a:xfrm>
            <a:off x="2214563" y="5451475"/>
            <a:ext cx="255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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>
                <a:solidFill>
                  <a:schemeClr val="hlink"/>
                </a:solidFill>
              </a:rPr>
              <a:t> = (</a:t>
            </a:r>
            <a:r>
              <a:rPr lang="en-US" altLang="en-US" i="1">
                <a:solidFill>
                  <a:schemeClr val="hlink"/>
                </a:solidFill>
              </a:rPr>
              <a:t>nR/V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T</a:t>
            </a:r>
          </a:p>
        </p:txBody>
      </p:sp>
      <p:sp>
        <p:nvSpPr>
          <p:cNvPr id="1187853" name="Text Box 13"/>
          <p:cNvSpPr txBox="1">
            <a:spLocks noChangeArrowheads="1"/>
          </p:cNvSpPr>
          <p:nvPr/>
        </p:nvSpPr>
        <p:spPr bwMode="auto">
          <a:xfrm>
            <a:off x="4435475" y="5441950"/>
            <a:ext cx="4408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 </a:t>
            </a:r>
            <a:r>
              <a:rPr lang="en-US" altLang="en-US" i="1">
                <a:solidFill>
                  <a:schemeClr val="hlink"/>
                </a:solidFill>
              </a:rPr>
              <a:t>p</a:t>
            </a:r>
            <a:r>
              <a:rPr lang="en-US" altLang="en-US">
                <a:solidFill>
                  <a:schemeClr val="hlink"/>
                </a:solidFill>
              </a:rPr>
              <a:t> = (</a:t>
            </a:r>
            <a:r>
              <a:rPr lang="en-US" altLang="en-US" i="1">
                <a:solidFill>
                  <a:schemeClr val="hlink"/>
                </a:solidFill>
              </a:rPr>
              <a:t>CONST</a:t>
            </a:r>
            <a:r>
              <a:rPr lang="en-US" altLang="en-US">
                <a:solidFill>
                  <a:schemeClr val="hlink"/>
                </a:solidFill>
              </a:rPr>
              <a:t>)</a:t>
            </a:r>
            <a:r>
              <a:rPr lang="en-US" altLang="en-US" i="1">
                <a:solidFill>
                  <a:schemeClr val="hlink"/>
                </a:solidFill>
              </a:rPr>
              <a:t>T. (LINEAR)</a:t>
            </a:r>
          </a:p>
        </p:txBody>
      </p:sp>
      <p:sp>
        <p:nvSpPr>
          <p:cNvPr id="1187854" name="Line 14"/>
          <p:cNvSpPr>
            <a:spLocks noChangeShapeType="1"/>
          </p:cNvSpPr>
          <p:nvPr/>
        </p:nvSpPr>
        <p:spPr bwMode="auto">
          <a:xfrm>
            <a:off x="6483350" y="2932113"/>
            <a:ext cx="1479550" cy="14795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855" name="Text Box 15"/>
          <p:cNvSpPr txBox="1">
            <a:spLocks noChangeArrowheads="1"/>
          </p:cNvSpPr>
          <p:nvPr/>
        </p:nvSpPr>
        <p:spPr bwMode="auto">
          <a:xfrm>
            <a:off x="833438" y="5897563"/>
            <a:ext cx="75644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Since the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axis is in </a:t>
            </a:r>
            <a:r>
              <a:rPr lang="en-US" alt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ºC, but </a:t>
            </a:r>
            <a:r>
              <a:rPr lang="en-US" altLang="en-US" i="1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T</a:t>
            </a:r>
            <a:r>
              <a:rPr lang="en-US" altLang="en-US">
                <a:solidFill>
                  <a:schemeClr val="hlink"/>
                </a:solidFill>
                <a:cs typeface="Courier New" pitchFamily="49" charset="0"/>
                <a:sym typeface="Symbol" pitchFamily="18" charset="2"/>
              </a:rPr>
              <a:t> is in Kelvin, the horizontal intercept must be NEGATIVE…</a:t>
            </a:r>
            <a:endParaRPr lang="en-US" altLang="en-US">
              <a:solidFill>
                <a:schemeClr val="hlink"/>
              </a:solidFill>
              <a:cs typeface="Courier New" pitchFamily="49" charset="0"/>
            </a:endParaRPr>
          </a:p>
        </p:txBody>
      </p:sp>
      <p:sp>
        <p:nvSpPr>
          <p:cNvPr id="1187856" name="Line 16"/>
          <p:cNvSpPr>
            <a:spLocks noChangeShapeType="1"/>
          </p:cNvSpPr>
          <p:nvPr/>
        </p:nvSpPr>
        <p:spPr bwMode="auto">
          <a:xfrm>
            <a:off x="2816225" y="2994025"/>
            <a:ext cx="1479550" cy="14795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857" name="Line 17"/>
          <p:cNvSpPr>
            <a:spLocks noChangeShapeType="1"/>
          </p:cNvSpPr>
          <p:nvPr/>
        </p:nvSpPr>
        <p:spPr bwMode="auto">
          <a:xfrm>
            <a:off x="4670425" y="2959100"/>
            <a:ext cx="1479550" cy="14795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859" name="Oval 19"/>
          <p:cNvSpPr>
            <a:spLocks noChangeArrowheads="1"/>
          </p:cNvSpPr>
          <p:nvPr/>
        </p:nvSpPr>
        <p:spPr bwMode="auto">
          <a:xfrm>
            <a:off x="1527175" y="2798763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860" name="Rectangle 20"/>
          <p:cNvSpPr>
            <a:spLocks noChangeArrowheads="1"/>
          </p:cNvSpPr>
          <p:nvPr/>
        </p:nvSpPr>
        <p:spPr bwMode="auto">
          <a:xfrm>
            <a:off x="977900" y="1889125"/>
            <a:ext cx="1216025" cy="277813"/>
          </a:xfrm>
          <a:prstGeom prst="rect">
            <a:avLst/>
          </a:prstGeom>
          <a:solidFill>
            <a:srgbClr val="FF6600">
              <a:alpha val="3098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861" name="Rectangle 21"/>
          <p:cNvSpPr>
            <a:spLocks noChangeArrowheads="1"/>
          </p:cNvSpPr>
          <p:nvPr/>
        </p:nvSpPr>
        <p:spPr bwMode="auto">
          <a:xfrm>
            <a:off x="4951413" y="1890713"/>
            <a:ext cx="1733550" cy="277812"/>
          </a:xfrm>
          <a:prstGeom prst="rect">
            <a:avLst/>
          </a:prstGeom>
          <a:solidFill>
            <a:srgbClr val="FF6600">
              <a:alpha val="3098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71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51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</a:rPr>
              <a:t>Sketching and interpreting state change graphs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1187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1187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8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8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87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87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87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87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87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87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87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87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87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878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187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87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87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878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54" grpId="0" animBg="1"/>
      <p:bldP spid="1187856" grpId="0" animBg="1"/>
      <p:bldP spid="1187857" grpId="0" animBg="1"/>
      <p:bldP spid="1187859" grpId="0" animBg="1"/>
      <p:bldP spid="1187860" grpId="0" animBg="1"/>
      <p:bldP spid="118786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685800" y="1835150"/>
            <a:ext cx="7772400" cy="50228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96057" name="Picture 2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931988"/>
            <a:ext cx="7762875" cy="437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6058" name="Text Box 26"/>
          <p:cNvSpPr txBox="1">
            <a:spLocks noChangeArrowheads="1"/>
          </p:cNvSpPr>
          <p:nvPr/>
        </p:nvSpPr>
        <p:spPr bwMode="auto">
          <a:xfrm>
            <a:off x="747713" y="2562225"/>
            <a:ext cx="197961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0 at absolute zero.</a:t>
            </a:r>
            <a:endParaRPr lang="en-US" altLang="en-US" i="1">
              <a:solidFill>
                <a:schemeClr val="hlink"/>
              </a:solidFill>
              <a:sym typeface="Symbol" pitchFamily="18" charset="2"/>
            </a:endParaRPr>
          </a:p>
        </p:txBody>
      </p:sp>
      <p:sp>
        <p:nvSpPr>
          <p:cNvPr id="1196059" name="Line 27"/>
          <p:cNvSpPr>
            <a:spLocks noChangeShapeType="1"/>
          </p:cNvSpPr>
          <p:nvPr/>
        </p:nvSpPr>
        <p:spPr bwMode="auto">
          <a:xfrm>
            <a:off x="1579563" y="4808538"/>
            <a:ext cx="3703637" cy="3317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6060" name="Line 28"/>
          <p:cNvSpPr>
            <a:spLocks noChangeShapeType="1"/>
          </p:cNvSpPr>
          <p:nvPr/>
        </p:nvSpPr>
        <p:spPr bwMode="auto">
          <a:xfrm>
            <a:off x="1571625" y="5919788"/>
            <a:ext cx="3703638" cy="3317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6061" name="Rectangle 29"/>
          <p:cNvSpPr>
            <a:spLocks noChangeArrowheads="1"/>
          </p:cNvSpPr>
          <p:nvPr/>
        </p:nvSpPr>
        <p:spPr bwMode="auto">
          <a:xfrm>
            <a:off x="4767263" y="1900238"/>
            <a:ext cx="2225675" cy="277812"/>
          </a:xfrm>
          <a:prstGeom prst="rect">
            <a:avLst/>
          </a:prstGeom>
          <a:solidFill>
            <a:srgbClr val="FF6600">
              <a:alpha val="3098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6062" name="Text Box 30"/>
          <p:cNvSpPr txBox="1">
            <a:spLocks noChangeArrowheads="1"/>
          </p:cNvSpPr>
          <p:nvPr/>
        </p:nvSpPr>
        <p:spPr bwMode="auto">
          <a:xfrm>
            <a:off x="5464175" y="2538413"/>
            <a:ext cx="285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From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 pV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nRT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:</a:t>
            </a:r>
          </a:p>
        </p:txBody>
      </p:sp>
      <p:sp>
        <p:nvSpPr>
          <p:cNvPr id="1196063" name="Text Box 31"/>
          <p:cNvSpPr txBox="1">
            <a:spLocks noChangeArrowheads="1"/>
          </p:cNvSpPr>
          <p:nvPr/>
        </p:nvSpPr>
        <p:spPr bwMode="auto">
          <a:xfrm>
            <a:off x="5468938" y="2913063"/>
            <a:ext cx="3230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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p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 = (</a:t>
            </a:r>
            <a:r>
              <a:rPr lang="en-US" altLang="en-US">
                <a:solidFill>
                  <a:srgbClr val="FF00FF"/>
                </a:solidFill>
                <a:sym typeface="Symbol" pitchFamily="18" charset="2"/>
              </a:rPr>
              <a:t>1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R / V 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)</a:t>
            </a:r>
            <a:r>
              <a:rPr lang="en-US" altLang="en-US" i="1">
                <a:solidFill>
                  <a:schemeClr val="hlink"/>
                </a:solidFill>
                <a:sym typeface="Symbol" pitchFamily="18" charset="2"/>
              </a:rPr>
              <a:t>T</a:t>
            </a:r>
            <a:r>
              <a:rPr lang="en-US" altLang="en-US">
                <a:solidFill>
                  <a:schemeClr val="hlink"/>
                </a:solidFill>
                <a:sym typeface="Symbol" pitchFamily="18" charset="2"/>
              </a:rPr>
              <a:t>:</a:t>
            </a:r>
          </a:p>
        </p:txBody>
      </p:sp>
      <p:sp>
        <p:nvSpPr>
          <p:cNvPr id="1196064" name="Rectangle 32"/>
          <p:cNvSpPr>
            <a:spLocks noChangeArrowheads="1"/>
          </p:cNvSpPr>
          <p:nvPr/>
        </p:nvSpPr>
        <p:spPr bwMode="auto">
          <a:xfrm>
            <a:off x="1171575" y="2178050"/>
            <a:ext cx="927100" cy="290513"/>
          </a:xfrm>
          <a:prstGeom prst="rect">
            <a:avLst/>
          </a:prstGeom>
          <a:solidFill>
            <a:srgbClr val="FF00FF">
              <a:alpha val="3098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6065" name="Rectangle 33"/>
          <p:cNvSpPr>
            <a:spLocks noChangeArrowheads="1"/>
          </p:cNvSpPr>
          <p:nvPr/>
        </p:nvSpPr>
        <p:spPr bwMode="auto">
          <a:xfrm>
            <a:off x="6516688" y="3000375"/>
            <a:ext cx="704850" cy="3032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6066" name="Oval 34"/>
          <p:cNvSpPr>
            <a:spLocks noChangeArrowheads="1"/>
          </p:cNvSpPr>
          <p:nvPr/>
        </p:nvSpPr>
        <p:spPr bwMode="auto">
          <a:xfrm>
            <a:off x="1082675" y="5199063"/>
            <a:ext cx="301625" cy="3016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6067" name="Rectangle 35"/>
          <p:cNvSpPr>
            <a:spLocks noChangeArrowheads="1"/>
          </p:cNvSpPr>
          <p:nvPr/>
        </p:nvSpPr>
        <p:spPr bwMode="auto">
          <a:xfrm>
            <a:off x="6294438" y="5221288"/>
            <a:ext cx="528637" cy="2762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6068" name="Oval 36"/>
          <p:cNvSpPr>
            <a:spLocks noChangeArrowheads="1"/>
          </p:cNvSpPr>
          <p:nvPr/>
        </p:nvSpPr>
        <p:spPr bwMode="auto">
          <a:xfrm>
            <a:off x="3101975" y="3741738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67" name="Rectangle 2"/>
          <p:cNvSpPr>
            <a:spLocks noChangeArrowheads="1"/>
          </p:cNvSpPr>
          <p:nvPr/>
        </p:nvSpPr>
        <p:spPr bwMode="auto">
          <a:xfrm>
            <a:off x="685800" y="1401763"/>
            <a:ext cx="7772400" cy="46513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</a:rPr>
              <a:t>Sketching and interpreting state change graphs</a:t>
            </a:r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6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6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11960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96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6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96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96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960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960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96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96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96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96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96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1000"/>
                                        <p:tgtEl>
                                          <p:spTgt spid="1196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96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96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960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96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96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960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96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96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960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6059" grpId="0" animBg="1"/>
      <p:bldP spid="1196060" grpId="0" animBg="1"/>
      <p:bldP spid="1196061" grpId="0" animBg="1"/>
      <p:bldP spid="1196064" grpId="0" animBg="1"/>
      <p:bldP spid="1196065" grpId="0" animBg="1"/>
      <p:bldP spid="1196066" grpId="0" animBg="1"/>
      <p:bldP spid="1196067" grpId="0" animBg="1"/>
      <p:bldP spid="119606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494823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i="1">
                <a:solidFill>
                  <a:srgbClr val="333399"/>
                </a:solidFill>
              </a:rPr>
              <a:t>Average kinetic/internal energy of an ideal gas</a:t>
            </a:r>
            <a:endParaRPr lang="en-US" alt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Since ideal gases have no intermolecular forces, their internal energy is stored completely                                  as kinetic energy.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The individual molecules making up an                         ideal gas all travel at different speeds: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Without proof, the </a:t>
            </a:r>
            <a:r>
              <a:rPr lang="en-US" altLang="en-US" b="1">
                <a:solidFill>
                  <a:srgbClr val="000000"/>
                </a:solidFill>
                <a:sym typeface="Symbol" pitchFamily="18" charset="2"/>
              </a:rPr>
              <a:t>average kinetic                              energy </a:t>
            </a:r>
            <a:r>
              <a:rPr lang="en-US" altLang="en-US" i="1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en-US" baseline="-25000">
                <a:solidFill>
                  <a:srgbClr val="000000"/>
                </a:solidFill>
                <a:sym typeface="Symbol" pitchFamily="18" charset="2"/>
              </a:rPr>
              <a:t>K </a:t>
            </a: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of each ideal gas molecule                                has the following forms:</a:t>
            </a: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</a:t>
            </a:r>
            <a:r>
              <a:rPr lang="en-US" altLang="en-US" i="1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baseline="-25000">
                <a:solidFill>
                  <a:srgbClr val="000000"/>
                </a:solidFill>
                <a:sym typeface="Symbol" pitchFamily="18" charset="2"/>
              </a:rPr>
              <a:t>B</a:t>
            </a: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 is called the </a:t>
            </a:r>
            <a:r>
              <a:rPr lang="en-US" altLang="en-US" b="1">
                <a:solidFill>
                  <a:srgbClr val="000000"/>
                </a:solidFill>
                <a:sym typeface="Symbol" pitchFamily="18" charset="2"/>
              </a:rPr>
              <a:t>Boltzmann constant</a:t>
            </a:r>
            <a:r>
              <a:rPr lang="en-US" altLang="en-US">
                <a:solidFill>
                  <a:srgbClr val="000000"/>
                </a:solidFill>
                <a:sym typeface="Symbol" pitchFamily="18" charset="2"/>
              </a:rPr>
              <a:t>.</a:t>
            </a:r>
          </a:p>
        </p:txBody>
      </p:sp>
      <p:sp>
        <p:nvSpPr>
          <p:cNvPr id="628742" name="Rectangle 6"/>
          <p:cNvSpPr>
            <a:spLocks noChangeArrowheads="1"/>
          </p:cNvSpPr>
          <p:nvPr/>
        </p:nvSpPr>
        <p:spPr bwMode="auto">
          <a:xfrm>
            <a:off x="6457950" y="2654300"/>
            <a:ext cx="1936750" cy="1936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28743" name="Oval 7"/>
          <p:cNvSpPr>
            <a:spLocks noChangeArrowheads="1"/>
          </p:cNvSpPr>
          <p:nvPr/>
        </p:nvSpPr>
        <p:spPr bwMode="auto">
          <a:xfrm>
            <a:off x="6469063" y="4325938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 rot="1598944">
            <a:off x="8008938" y="2630488"/>
            <a:ext cx="287337" cy="1739900"/>
            <a:chOff x="4615" y="1398"/>
            <a:chExt cx="422" cy="2557"/>
          </a:xfrm>
        </p:grpSpPr>
        <p:sp>
          <p:nvSpPr>
            <p:cNvPr id="147463" name="Oval 19"/>
            <p:cNvSpPr>
              <a:spLocks noChangeArrowheads="1"/>
            </p:cNvSpPr>
            <p:nvPr/>
          </p:nvSpPr>
          <p:spPr bwMode="auto">
            <a:xfrm>
              <a:off x="4615" y="3533"/>
              <a:ext cx="422" cy="422"/>
            </a:xfrm>
            <a:prstGeom prst="ellipse">
              <a:avLst/>
            </a:prstGeom>
            <a:gradFill rotWithShape="1">
              <a:gsLst>
                <a:gs pos="0">
                  <a:srgbClr val="6C6C6C"/>
                </a:gs>
                <a:gs pos="100000">
                  <a:srgbClr val="EAEAEA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7464" name="Rectangle 20"/>
            <p:cNvSpPr>
              <a:spLocks noChangeArrowheads="1"/>
            </p:cNvSpPr>
            <p:nvPr/>
          </p:nvSpPr>
          <p:spPr bwMode="auto">
            <a:xfrm>
              <a:off x="4784" y="1398"/>
              <a:ext cx="91" cy="2142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7465" name="Oval 21"/>
            <p:cNvSpPr>
              <a:spLocks noChangeArrowheads="1"/>
            </p:cNvSpPr>
            <p:nvPr/>
          </p:nvSpPr>
          <p:spPr bwMode="auto">
            <a:xfrm>
              <a:off x="4643" y="3561"/>
              <a:ext cx="373" cy="365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28758" name="Line 22"/>
          <p:cNvSpPr>
            <a:spLocks noChangeShapeType="1"/>
          </p:cNvSpPr>
          <p:nvPr/>
        </p:nvSpPr>
        <p:spPr bwMode="auto">
          <a:xfrm flipV="1">
            <a:off x="7850188" y="3136900"/>
            <a:ext cx="481012" cy="9620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8741" name="Oval 5"/>
          <p:cNvSpPr>
            <a:spLocks noChangeArrowheads="1"/>
          </p:cNvSpPr>
          <p:nvPr/>
        </p:nvSpPr>
        <p:spPr bwMode="auto">
          <a:xfrm>
            <a:off x="8137525" y="4298950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28745" name="Oval 9"/>
          <p:cNvSpPr>
            <a:spLocks noChangeArrowheads="1"/>
          </p:cNvSpPr>
          <p:nvPr/>
        </p:nvSpPr>
        <p:spPr bwMode="auto">
          <a:xfrm>
            <a:off x="6475413" y="2670175"/>
            <a:ext cx="254000" cy="254000"/>
          </a:xfrm>
          <a:prstGeom prst="ellipse">
            <a:avLst/>
          </a:prstGeom>
          <a:gradFill rotWithShape="1">
            <a:gsLst>
              <a:gs pos="0">
                <a:schemeClr val="tx1">
                  <a:gamma/>
                  <a:tint val="0"/>
                  <a:invGamma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147469" name="Group 13"/>
          <p:cNvGrpSpPr>
            <a:grpSpLocks/>
          </p:cNvGrpSpPr>
          <p:nvPr/>
        </p:nvGrpSpPr>
        <p:grpSpPr bwMode="auto">
          <a:xfrm>
            <a:off x="828675" y="5186363"/>
            <a:ext cx="7464425" cy="827087"/>
            <a:chOff x="522" y="3011"/>
            <a:chExt cx="4702" cy="521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54" y="3015"/>
              <a:ext cx="2670" cy="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/>
                <a:t>E</a:t>
              </a:r>
              <a:r>
                <a:rPr lang="en-US" altLang="en-US" baseline="-25000"/>
                <a:t>K</a:t>
              </a:r>
              <a:r>
                <a:rPr lang="en-US" altLang="en-US"/>
                <a:t> = (3/2) </a:t>
              </a:r>
              <a:r>
                <a:rPr lang="en-US" altLang="en-US" i="1"/>
                <a:t>k</a:t>
              </a:r>
              <a:r>
                <a:rPr lang="en-US" altLang="en-US" baseline="-25000"/>
                <a:t>B</a:t>
              </a:r>
              <a:r>
                <a:rPr lang="en-US" altLang="en-US" i="1"/>
                <a:t>T</a:t>
              </a:r>
              <a:r>
                <a:rPr lang="en-US" altLang="en-US"/>
                <a:t> = 3</a:t>
              </a:r>
              <a:r>
                <a:rPr lang="en-US" altLang="en-US" i="1"/>
                <a:t>RT / </a:t>
              </a:r>
              <a:r>
                <a:rPr lang="en-US" altLang="en-US"/>
                <a:t>[ 2</a:t>
              </a:r>
              <a:r>
                <a:rPr lang="en-US" altLang="en-US" i="1"/>
                <a:t>N</a:t>
              </a:r>
              <a:r>
                <a:rPr lang="en-US" altLang="en-US" baseline="-25000"/>
                <a:t>A</a:t>
              </a:r>
              <a:r>
                <a:rPr lang="en-US" altLang="en-US"/>
                <a:t> ]</a:t>
              </a:r>
              <a:endParaRPr lang="en-US" altLang="en-US" i="1"/>
            </a:p>
          </p:txBody>
        </p:sp>
        <p:sp>
          <p:nvSpPr>
            <p:cNvPr id="147471" name="Text Box 9"/>
            <p:cNvSpPr txBox="1">
              <a:spLocks noChangeArrowheads="1"/>
            </p:cNvSpPr>
            <p:nvPr/>
          </p:nvSpPr>
          <p:spPr bwMode="auto">
            <a:xfrm>
              <a:off x="3171" y="3011"/>
              <a:ext cx="2053" cy="5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Average kinetic energy of ideal gas</a:t>
              </a:r>
            </a:p>
          </p:txBody>
        </p:sp>
        <p:sp>
          <p:nvSpPr>
            <p:cNvPr id="147472" name="Rectangle 10"/>
            <p:cNvSpPr>
              <a:spLocks noChangeArrowheads="1"/>
            </p:cNvSpPr>
            <p:nvPr/>
          </p:nvSpPr>
          <p:spPr bwMode="auto">
            <a:xfrm>
              <a:off x="522" y="3013"/>
              <a:ext cx="4701" cy="5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" name="Rectangle 8"/>
            <p:cNvSpPr>
              <a:spLocks noChangeArrowheads="1"/>
            </p:cNvSpPr>
            <p:nvPr/>
          </p:nvSpPr>
          <p:spPr bwMode="auto">
            <a:xfrm>
              <a:off x="645" y="3262"/>
              <a:ext cx="2670" cy="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>
                  <a:solidFill>
                    <a:srgbClr val="009999"/>
                  </a:solidFill>
                </a:rPr>
                <a:t>Where k</a:t>
              </a:r>
              <a:r>
                <a:rPr lang="en-US" altLang="en-US" baseline="-25000">
                  <a:solidFill>
                    <a:srgbClr val="009999"/>
                  </a:solidFill>
                </a:rPr>
                <a:t>B</a:t>
              </a:r>
              <a:r>
                <a:rPr lang="en-US" altLang="en-US">
                  <a:solidFill>
                    <a:srgbClr val="009999"/>
                  </a:solidFill>
                </a:rPr>
                <a:t> = 1.38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10</a:t>
              </a:r>
              <a:r>
                <a:rPr lang="en-US" altLang="en-US" baseline="30000">
                  <a:solidFill>
                    <a:srgbClr val="009999"/>
                  </a:solidFill>
                  <a:sym typeface="Symbol" pitchFamily="18" charset="2"/>
                </a:rPr>
                <a:t>-23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 J K</a:t>
              </a:r>
              <a:r>
                <a:rPr lang="en-US" altLang="en-US" baseline="30000">
                  <a:solidFill>
                    <a:srgbClr val="009999"/>
                  </a:solidFill>
                  <a:sym typeface="Symbol" pitchFamily="18" charset="2"/>
                </a:rPr>
                <a:t>-1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.</a:t>
              </a:r>
              <a:endParaRPr lang="en-US" altLang="en-US" i="1">
                <a:solidFill>
                  <a:srgbClr val="009999"/>
                </a:solidFill>
                <a:sym typeface="Symbol" pitchFamily="18" charset="2"/>
              </a:endParaRPr>
            </a:p>
          </p:txBody>
        </p:sp>
        <p:sp>
          <p:nvSpPr>
            <p:cNvPr id="147474" name="Line 18"/>
            <p:cNvSpPr>
              <a:spLocks noChangeShapeType="1"/>
            </p:cNvSpPr>
            <p:nvPr/>
          </p:nvSpPr>
          <p:spPr bwMode="auto">
            <a:xfrm>
              <a:off x="644" y="3047"/>
              <a:ext cx="1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7475" name="Line 19"/>
          <p:cNvSpPr>
            <a:spLocks noChangeShapeType="1"/>
          </p:cNvSpPr>
          <p:nvPr/>
        </p:nvSpPr>
        <p:spPr bwMode="auto">
          <a:xfrm>
            <a:off x="1901825" y="4403725"/>
            <a:ext cx="168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2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2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2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000"/>
                                        <p:tgtEl>
                                          <p:spTgt spid="6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0.00093 L 0.18472 -0.12014 L 0.05052 -0.25162 L -0.00469 -0.1956 L 0.18211 -0.06574 L 0.08472 0.00787 L -0.00209 -0.06227 L 0.13871 -0.25 L 0.18611 -0.1956 L 0.0493 0.00278 L -0.00469 -0.10787 L 0.07031 -0.24653 L 0.18211 -0.1412 L -0.0007 0.00093 Z " pathEditMode="relative" ptsTypes="AAAAAAAAAAAAAA">
                                      <p:cBhvr>
                                        <p:cTn id="36" dur="2000" fill="hold"/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48148E-6 L -0.19046 -0.12106 L -0.05261 -0.25254 L 0.00416 -0.19653 L -0.18785 -0.06667 L -0.08785 0.00695 L 0.00139 -0.06319 L -0.14323 -0.25092 L -0.19184 -0.19653 L -0.05139 0.00185 L 0.00416 -0.10879 L -0.07292 -0.24745 L -0.18785 -0.14213 L 3.88889E-6 -1.48148E-6 Z " pathEditMode="relative" rAng="0" ptsTypes="AAAAAAAAAAAAAA">
                                      <p:cBhvr>
                                        <p:cTn id="43" dur="5000" fill="hold"/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92" y="-1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L 0.0908 0.24723 L 0.18941 0.06829 L 0.1474 -0.00509 L 0.05 0.24375 L -0.00504 0.11389 L 0.0474 -0.00185 L 0.18819 0.18588 L 0.1474 0.24908 L -0.00139 0.06667 L 0.0816 -0.00509 L 0.18559 0.09468 L 0.1066 0.24375 L 8.33333E-7 -4.07407E-6 Z " pathEditMode="relative" rAng="5400000" ptsTypes="AAAAAAAAAAAAAA">
                                      <p:cBhvr>
                                        <p:cTn id="50" dur="500" fill="hold"/>
                                        <p:tgtEl>
                                          <p:spTgt spid="6287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19" y="12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2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7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7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74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3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32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42" grpId="0" animBg="1"/>
      <p:bldP spid="628743" grpId="0" animBg="1"/>
      <p:bldP spid="628743" grpId="1" animBg="1"/>
      <p:bldP spid="628758" grpId="0" animBg="1"/>
      <p:bldP spid="628741" grpId="0" animBg="1"/>
      <p:bldP spid="628741" grpId="1" animBg="1"/>
      <p:bldP spid="628745" grpId="0" animBg="1"/>
      <p:bldP spid="628745" grpId="1" animBg="1"/>
      <p:bldP spid="14747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62" name="Rectangle 18"/>
          <p:cNvSpPr>
            <a:spLocks noChangeArrowheads="1"/>
          </p:cNvSpPr>
          <p:nvPr/>
        </p:nvSpPr>
        <p:spPr bwMode="auto">
          <a:xfrm>
            <a:off x="674688" y="2921000"/>
            <a:ext cx="7781925" cy="39370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EXAMPLE: 2.50 moles of hydrogen gas is contained in a fixed volume of 1.25 m</a:t>
            </a:r>
            <a:r>
              <a:rPr lang="en-US" altLang="en-US" baseline="30000">
                <a:sym typeface="Symbol" pitchFamily="18" charset="2"/>
              </a:rPr>
              <a:t>3</a:t>
            </a:r>
            <a:r>
              <a:rPr lang="en-US" altLang="en-US">
                <a:sym typeface="Symbol" pitchFamily="18" charset="2"/>
              </a:rPr>
              <a:t> at a temperature of 175 C.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a) What is the average kinetic energy of each atom?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b) What is the total internal energy of the gas?</a:t>
            </a:r>
            <a:endParaRPr lang="en-US" altLang="en-US">
              <a:cs typeface="Courier New" pitchFamily="49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SOLUTION: </a:t>
            </a:r>
            <a:r>
              <a:rPr lang="en-US" altLang="en-US" i="1"/>
              <a:t>T</a:t>
            </a:r>
            <a:r>
              <a:rPr lang="en-US" altLang="en-US"/>
              <a:t>(K) = 175 + 273 = 448 K.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a) </a:t>
            </a:r>
            <a:r>
              <a:rPr lang="en-US" altLang="en-US" i="1"/>
              <a:t>E</a:t>
            </a:r>
            <a:r>
              <a:rPr lang="en-US" altLang="en-US" baseline="-25000"/>
              <a:t>K</a:t>
            </a:r>
            <a:r>
              <a:rPr lang="en-US" altLang="en-US"/>
              <a:t> = (3/2) </a:t>
            </a:r>
            <a:r>
              <a:rPr lang="en-US" altLang="en-US" i="1"/>
              <a:t>k</a:t>
            </a:r>
            <a:r>
              <a:rPr lang="en-US" altLang="en-US" baseline="-25000"/>
              <a:t>B</a:t>
            </a:r>
            <a:r>
              <a:rPr lang="en-US" altLang="en-US" i="1"/>
              <a:t>T</a:t>
            </a:r>
            <a:r>
              <a:rPr lang="en-US" altLang="en-US"/>
              <a:t> = (3/2)(1.38</a:t>
            </a:r>
            <a:r>
              <a:rPr lang="en-US" altLang="en-US">
                <a:sym typeface="Symbol" pitchFamily="18" charset="2"/>
              </a:rPr>
              <a:t>10</a:t>
            </a:r>
            <a:r>
              <a:rPr lang="en-US" altLang="en-US" baseline="30000">
                <a:sym typeface="Symbol" pitchFamily="18" charset="2"/>
              </a:rPr>
              <a:t>-23</a:t>
            </a:r>
            <a:r>
              <a:rPr lang="en-US" altLang="en-US">
                <a:sym typeface="Symbol" pitchFamily="18" charset="2"/>
              </a:rPr>
              <a:t>)(448) = </a:t>
            </a:r>
            <a:r>
              <a:rPr lang="en-US" altLang="en-US"/>
              <a:t>9.27</a:t>
            </a:r>
            <a:r>
              <a:rPr lang="en-US" altLang="en-US">
                <a:sym typeface="Symbol" pitchFamily="18" charset="2"/>
              </a:rPr>
              <a:t>10</a:t>
            </a:r>
            <a:r>
              <a:rPr lang="en-US" altLang="en-US" baseline="30000">
                <a:sym typeface="Symbol" pitchFamily="18" charset="2"/>
              </a:rPr>
              <a:t>-21</a:t>
            </a:r>
            <a:r>
              <a:rPr lang="en-US" altLang="en-US">
                <a:sym typeface="Symbol" pitchFamily="18" charset="2"/>
              </a:rPr>
              <a:t> J.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b) From </a:t>
            </a:r>
            <a:r>
              <a:rPr lang="en-US" altLang="en-US" i="1"/>
              <a:t>n </a:t>
            </a:r>
            <a:r>
              <a:rPr lang="en-US" altLang="en-US"/>
              <a:t>= </a:t>
            </a:r>
            <a:r>
              <a:rPr lang="en-US" altLang="en-US" i="1"/>
              <a:t>N / N</a:t>
            </a:r>
            <a:r>
              <a:rPr lang="en-US" altLang="en-US" baseline="-25000"/>
              <a:t>A</a:t>
            </a:r>
            <a:r>
              <a:rPr lang="en-US" altLang="en-US"/>
              <a:t> we get </a:t>
            </a:r>
            <a:r>
              <a:rPr lang="en-US" altLang="en-US" i="1"/>
              <a:t>N</a:t>
            </a:r>
            <a:r>
              <a:rPr lang="en-US" altLang="en-US"/>
              <a:t> = </a:t>
            </a:r>
            <a:r>
              <a:rPr lang="en-US" altLang="en-US" i="1"/>
              <a:t>nN</a:t>
            </a:r>
            <a:r>
              <a:rPr lang="en-US" altLang="en-US" baseline="-25000"/>
              <a:t>A</a:t>
            </a:r>
            <a:r>
              <a:rPr lang="en-US" altLang="en-US"/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i="1"/>
              <a:t>N </a:t>
            </a:r>
            <a:r>
              <a:rPr lang="en-US" altLang="en-US"/>
              <a:t>= (2.50 mol)(6.02</a:t>
            </a:r>
            <a:r>
              <a:rPr lang="en-US" altLang="en-US">
                <a:sym typeface="Symbol" pitchFamily="18" charset="2"/>
              </a:rPr>
              <a:t>10</a:t>
            </a:r>
            <a:r>
              <a:rPr lang="en-US" altLang="en-US" baseline="30000">
                <a:sym typeface="Symbol" pitchFamily="18" charset="2"/>
              </a:rPr>
              <a:t>23</a:t>
            </a:r>
            <a:r>
              <a:rPr lang="en-US" altLang="en-US">
                <a:sym typeface="Symbol" pitchFamily="18" charset="2"/>
              </a:rPr>
              <a:t> atoms / mol</a:t>
            </a:r>
            <a:r>
              <a:rPr lang="en-US" altLang="en-US"/>
              <a:t>) = 1.51</a:t>
            </a:r>
            <a:r>
              <a:rPr lang="en-US" altLang="en-US">
                <a:sym typeface="Symbol" pitchFamily="18" charset="2"/>
              </a:rPr>
              <a:t>10</a:t>
            </a:r>
            <a:r>
              <a:rPr lang="en-US" altLang="en-US" baseline="30000">
                <a:sym typeface="Symbol" pitchFamily="18" charset="2"/>
              </a:rPr>
              <a:t>24</a:t>
            </a:r>
            <a:r>
              <a:rPr lang="en-US" altLang="en-US">
                <a:sym typeface="Symbol" pitchFamily="18" charset="2"/>
              </a:rPr>
              <a:t> atm.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i="1">
                <a:sym typeface="Symbol" pitchFamily="18" charset="2"/>
              </a:rPr>
              <a:t>     E</a:t>
            </a:r>
            <a:r>
              <a:rPr lang="en-US" altLang="en-US" baseline="-25000">
                <a:sym typeface="Symbol" pitchFamily="18" charset="2"/>
              </a:rPr>
              <a:t>K</a:t>
            </a:r>
            <a:r>
              <a:rPr lang="en-US" altLang="en-US">
                <a:sym typeface="Symbol" pitchFamily="18" charset="2"/>
              </a:rPr>
              <a:t> = </a:t>
            </a:r>
            <a:r>
              <a:rPr lang="en-US" altLang="en-US" i="1">
                <a:sym typeface="Symbol" pitchFamily="18" charset="2"/>
              </a:rPr>
              <a:t>NE</a:t>
            </a:r>
            <a:r>
              <a:rPr lang="en-US" altLang="en-US" baseline="-25000">
                <a:sym typeface="Symbol" pitchFamily="18" charset="2"/>
              </a:rPr>
              <a:t>K</a:t>
            </a:r>
            <a:r>
              <a:rPr lang="en-US" altLang="en-US">
                <a:sym typeface="Symbol" pitchFamily="18" charset="2"/>
              </a:rPr>
              <a:t> = (</a:t>
            </a:r>
            <a:r>
              <a:rPr lang="en-US" altLang="en-US"/>
              <a:t>1.51</a:t>
            </a:r>
            <a:r>
              <a:rPr lang="en-US" altLang="en-US">
                <a:sym typeface="Symbol" pitchFamily="18" charset="2"/>
              </a:rPr>
              <a:t>10</a:t>
            </a:r>
            <a:r>
              <a:rPr lang="en-US" altLang="en-US" baseline="30000">
                <a:sym typeface="Symbol" pitchFamily="18" charset="2"/>
              </a:rPr>
              <a:t>24</a:t>
            </a:r>
            <a:r>
              <a:rPr lang="en-US" altLang="en-US">
                <a:sym typeface="Symbol" pitchFamily="18" charset="2"/>
              </a:rPr>
              <a:t>)(</a:t>
            </a:r>
            <a:r>
              <a:rPr lang="en-US" altLang="en-US"/>
              <a:t>9.27</a:t>
            </a:r>
            <a:r>
              <a:rPr lang="en-US" altLang="en-US">
                <a:sym typeface="Symbol" pitchFamily="18" charset="2"/>
              </a:rPr>
              <a:t>10</a:t>
            </a:r>
            <a:r>
              <a:rPr lang="en-US" altLang="en-US" baseline="30000">
                <a:sym typeface="Symbol" pitchFamily="18" charset="2"/>
              </a:rPr>
              <a:t>-21</a:t>
            </a:r>
            <a:r>
              <a:rPr lang="en-US" altLang="en-US">
                <a:sym typeface="Symbol" pitchFamily="18" charset="2"/>
              </a:rPr>
              <a:t> J) = 14000 J.</a:t>
            </a:r>
          </a:p>
        </p:txBody>
      </p:sp>
      <p:sp>
        <p:nvSpPr>
          <p:cNvPr id="63283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39858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333399"/>
                </a:solidFill>
              </a:rPr>
              <a:t>Average kinetic/internal energy of an ideal gas</a:t>
            </a:r>
            <a:endParaRPr lang="en-US" alt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</p:txBody>
      </p:sp>
      <p:grpSp>
        <p:nvGrpSpPr>
          <p:cNvPr id="149509" name="Group 5"/>
          <p:cNvGrpSpPr>
            <a:grpSpLocks/>
          </p:cNvGrpSpPr>
          <p:nvPr/>
        </p:nvGrpSpPr>
        <p:grpSpPr bwMode="auto">
          <a:xfrm>
            <a:off x="828675" y="2046288"/>
            <a:ext cx="7464425" cy="827087"/>
            <a:chOff x="522" y="3011"/>
            <a:chExt cx="4702" cy="521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54" y="3015"/>
              <a:ext cx="2670" cy="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/>
                <a:t>E</a:t>
              </a:r>
              <a:r>
                <a:rPr lang="en-US" altLang="en-US" baseline="-25000"/>
                <a:t>K</a:t>
              </a:r>
              <a:r>
                <a:rPr lang="en-US" altLang="en-US"/>
                <a:t> = (3/2) </a:t>
              </a:r>
              <a:r>
                <a:rPr lang="en-US" altLang="en-US" i="1"/>
                <a:t>k</a:t>
              </a:r>
              <a:r>
                <a:rPr lang="en-US" altLang="en-US" baseline="-25000"/>
                <a:t>B</a:t>
              </a:r>
              <a:r>
                <a:rPr lang="en-US" altLang="en-US" i="1"/>
                <a:t>T</a:t>
              </a:r>
              <a:r>
                <a:rPr lang="en-US" altLang="en-US"/>
                <a:t> = 3</a:t>
              </a:r>
              <a:r>
                <a:rPr lang="en-US" altLang="en-US" i="1"/>
                <a:t>RT / </a:t>
              </a:r>
              <a:r>
                <a:rPr lang="en-US" altLang="en-US"/>
                <a:t>[ 2</a:t>
              </a:r>
              <a:r>
                <a:rPr lang="en-US" altLang="en-US" i="1"/>
                <a:t>N</a:t>
              </a:r>
              <a:r>
                <a:rPr lang="en-US" altLang="en-US" baseline="-25000"/>
                <a:t>A</a:t>
              </a:r>
              <a:r>
                <a:rPr lang="en-US" altLang="en-US"/>
                <a:t> ]</a:t>
              </a:r>
              <a:endParaRPr lang="en-US" altLang="en-US" i="1"/>
            </a:p>
          </p:txBody>
        </p:sp>
        <p:sp>
          <p:nvSpPr>
            <p:cNvPr id="149511" name="Text Box 9"/>
            <p:cNvSpPr txBox="1">
              <a:spLocks noChangeArrowheads="1"/>
            </p:cNvSpPr>
            <p:nvPr/>
          </p:nvSpPr>
          <p:spPr bwMode="auto">
            <a:xfrm>
              <a:off x="3171" y="3011"/>
              <a:ext cx="2053" cy="5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Average kinetic energy of ideal gas</a:t>
              </a:r>
            </a:p>
          </p:txBody>
        </p:sp>
        <p:sp>
          <p:nvSpPr>
            <p:cNvPr id="149512" name="Rectangle 10"/>
            <p:cNvSpPr>
              <a:spLocks noChangeArrowheads="1"/>
            </p:cNvSpPr>
            <p:nvPr/>
          </p:nvSpPr>
          <p:spPr bwMode="auto">
            <a:xfrm>
              <a:off x="522" y="3013"/>
              <a:ext cx="4701" cy="5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" name="Rectangle 8"/>
            <p:cNvSpPr>
              <a:spLocks noChangeArrowheads="1"/>
            </p:cNvSpPr>
            <p:nvPr/>
          </p:nvSpPr>
          <p:spPr bwMode="auto">
            <a:xfrm>
              <a:off x="645" y="3262"/>
              <a:ext cx="2670" cy="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>
                  <a:solidFill>
                    <a:srgbClr val="009999"/>
                  </a:solidFill>
                </a:rPr>
                <a:t>Where k</a:t>
              </a:r>
              <a:r>
                <a:rPr lang="en-US" altLang="en-US" baseline="-25000">
                  <a:solidFill>
                    <a:srgbClr val="009999"/>
                  </a:solidFill>
                </a:rPr>
                <a:t>B</a:t>
              </a:r>
              <a:r>
                <a:rPr lang="en-US" altLang="en-US">
                  <a:solidFill>
                    <a:srgbClr val="009999"/>
                  </a:solidFill>
                </a:rPr>
                <a:t> = 1.38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10</a:t>
              </a:r>
              <a:r>
                <a:rPr lang="en-US" altLang="en-US" baseline="30000">
                  <a:solidFill>
                    <a:srgbClr val="009999"/>
                  </a:solidFill>
                  <a:sym typeface="Symbol" pitchFamily="18" charset="2"/>
                </a:rPr>
                <a:t>-23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 J K</a:t>
              </a:r>
              <a:r>
                <a:rPr lang="en-US" altLang="en-US" baseline="30000">
                  <a:solidFill>
                    <a:srgbClr val="009999"/>
                  </a:solidFill>
                  <a:sym typeface="Symbol" pitchFamily="18" charset="2"/>
                </a:rPr>
                <a:t>-1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.</a:t>
              </a:r>
              <a:endParaRPr lang="en-US" altLang="en-US" i="1">
                <a:solidFill>
                  <a:srgbClr val="009999"/>
                </a:solidFill>
                <a:sym typeface="Symbol" pitchFamily="18" charset="2"/>
              </a:endParaRPr>
            </a:p>
          </p:txBody>
        </p:sp>
        <p:sp>
          <p:nvSpPr>
            <p:cNvPr id="149514" name="Line 10"/>
            <p:cNvSpPr>
              <a:spLocks noChangeShapeType="1"/>
            </p:cNvSpPr>
            <p:nvPr/>
          </p:nvSpPr>
          <p:spPr bwMode="auto">
            <a:xfrm>
              <a:off x="644" y="3047"/>
              <a:ext cx="1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23100" y="0"/>
            <a:ext cx="1981200" cy="180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9516" name="Line 12"/>
          <p:cNvSpPr>
            <a:spLocks noChangeShapeType="1"/>
          </p:cNvSpPr>
          <p:nvPr/>
        </p:nvSpPr>
        <p:spPr bwMode="auto">
          <a:xfrm>
            <a:off x="1179513" y="5100638"/>
            <a:ext cx="168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517" name="Line 13"/>
          <p:cNvSpPr>
            <a:spLocks noChangeShapeType="1"/>
          </p:cNvSpPr>
          <p:nvPr/>
        </p:nvSpPr>
        <p:spPr bwMode="auto">
          <a:xfrm>
            <a:off x="2136775" y="6408738"/>
            <a:ext cx="168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9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69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9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6" grpId="0" animBg="1"/>
      <p:bldP spid="1495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62" name="Rectangle 18"/>
          <p:cNvSpPr>
            <a:spLocks noChangeArrowheads="1"/>
          </p:cNvSpPr>
          <p:nvPr/>
        </p:nvSpPr>
        <p:spPr bwMode="auto">
          <a:xfrm>
            <a:off x="674688" y="2921000"/>
            <a:ext cx="7781925" cy="34321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EXAMPLE: 2.50 moles of hydrogen gas is contained in a fixed volume of 1.25 m</a:t>
            </a:r>
            <a:r>
              <a:rPr lang="en-US" altLang="en-US" baseline="30000">
                <a:sym typeface="Symbol" pitchFamily="18" charset="2"/>
              </a:rPr>
              <a:t>3</a:t>
            </a:r>
            <a:r>
              <a:rPr lang="en-US" altLang="en-US">
                <a:sym typeface="Symbol" pitchFamily="18" charset="2"/>
              </a:rPr>
              <a:t> at a temperature of 175 C.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c) What is the pressure of the gas at this temperature? </a:t>
            </a:r>
            <a:endParaRPr lang="en-US" altLang="en-US">
              <a:cs typeface="Courier New" pitchFamily="49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SOLUTION: </a:t>
            </a:r>
            <a:r>
              <a:rPr lang="en-US" altLang="en-US" i="1"/>
              <a:t>T</a:t>
            </a:r>
            <a:r>
              <a:rPr lang="en-US" altLang="en-US"/>
              <a:t>(K) = 175 + 273 = 448 K.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c) Use </a:t>
            </a:r>
            <a:r>
              <a:rPr lang="en-US" altLang="en-US" i="1"/>
              <a:t>pV</a:t>
            </a:r>
            <a:r>
              <a:rPr lang="en-US" altLang="en-US"/>
              <a:t> = </a:t>
            </a:r>
            <a:r>
              <a:rPr lang="en-US" altLang="en-US" i="1"/>
              <a:t>nRT</a:t>
            </a:r>
            <a:r>
              <a:rPr lang="en-US" altLang="en-US"/>
              <a:t>:</a:t>
            </a:r>
            <a:r>
              <a:rPr lang="en-US" altLang="en-US">
                <a:sym typeface="Symbol" pitchFamily="18" charset="2"/>
              </a:rPr>
              <a:t>  </a:t>
            </a:r>
            <a:r>
              <a:rPr lang="en-US" altLang="en-US"/>
              <a:t>Then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i="1"/>
              <a:t>                               p</a:t>
            </a:r>
            <a:r>
              <a:rPr lang="en-US" altLang="en-US"/>
              <a:t> = </a:t>
            </a:r>
            <a:r>
              <a:rPr lang="en-US" altLang="en-US" i="1"/>
              <a:t>nRT / V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/>
              <a:t>                                  = 2.50</a:t>
            </a:r>
            <a:r>
              <a:rPr lang="en-US" altLang="en-US">
                <a:sym typeface="Symbol" pitchFamily="18" charset="2"/>
              </a:rPr>
              <a:t>8.31448 </a:t>
            </a:r>
            <a:r>
              <a:rPr lang="en-US" altLang="en-US" i="1">
                <a:sym typeface="Symbol" pitchFamily="18" charset="2"/>
              </a:rPr>
              <a:t>/ </a:t>
            </a:r>
            <a:r>
              <a:rPr lang="en-US" altLang="en-US">
                <a:sym typeface="Symbol" pitchFamily="18" charset="2"/>
              </a:rPr>
              <a:t>1.25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>
                <a:sym typeface="Symbol" pitchFamily="18" charset="2"/>
              </a:rPr>
              <a:t>                                  = 7450 Pa.</a:t>
            </a:r>
          </a:p>
        </p:txBody>
      </p:sp>
      <p:sp>
        <p:nvSpPr>
          <p:cNvPr id="632834" name="Rectangle 2"/>
          <p:cNvSpPr>
            <a:spLocks noChangeArrowheads="1"/>
          </p:cNvSpPr>
          <p:nvPr/>
        </p:nvSpPr>
        <p:spPr bwMode="auto">
          <a:xfrm>
            <a:off x="685800" y="1549400"/>
            <a:ext cx="7772400" cy="139858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333399"/>
                </a:solidFill>
              </a:rPr>
              <a:t>Average kinetic/internal energy of an ideal gas</a:t>
            </a:r>
            <a:endParaRPr lang="en-US" alt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>
              <a:solidFill>
                <a:srgbClr val="000000"/>
              </a:solidFill>
              <a:cs typeface="Times New Roman" pitchFamily="18" charset="0"/>
              <a:sym typeface="Symbol" pitchFamily="18" charset="2"/>
            </a:endParaRPr>
          </a:p>
        </p:txBody>
      </p:sp>
      <p:grpSp>
        <p:nvGrpSpPr>
          <p:cNvPr id="151557" name="Group 5"/>
          <p:cNvGrpSpPr>
            <a:grpSpLocks/>
          </p:cNvGrpSpPr>
          <p:nvPr/>
        </p:nvGrpSpPr>
        <p:grpSpPr bwMode="auto">
          <a:xfrm>
            <a:off x="828675" y="2046288"/>
            <a:ext cx="7464425" cy="827087"/>
            <a:chOff x="522" y="3011"/>
            <a:chExt cx="4702" cy="521"/>
          </a:xfrm>
        </p:grpSpPr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54" y="3015"/>
              <a:ext cx="2670" cy="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/>
                <a:t>E</a:t>
              </a:r>
              <a:r>
                <a:rPr lang="en-US" altLang="en-US" baseline="-25000"/>
                <a:t>K</a:t>
              </a:r>
              <a:r>
                <a:rPr lang="en-US" altLang="en-US"/>
                <a:t> = (3/2) </a:t>
              </a:r>
              <a:r>
                <a:rPr lang="en-US" altLang="en-US" i="1"/>
                <a:t>k</a:t>
              </a:r>
              <a:r>
                <a:rPr lang="en-US" altLang="en-US" baseline="-25000"/>
                <a:t>B</a:t>
              </a:r>
              <a:r>
                <a:rPr lang="en-US" altLang="en-US" i="1"/>
                <a:t>T</a:t>
              </a:r>
              <a:r>
                <a:rPr lang="en-US" altLang="en-US"/>
                <a:t> = 3</a:t>
              </a:r>
              <a:r>
                <a:rPr lang="en-US" altLang="en-US" i="1"/>
                <a:t>RT / </a:t>
              </a:r>
              <a:r>
                <a:rPr lang="en-US" altLang="en-US"/>
                <a:t>[ 2</a:t>
              </a:r>
              <a:r>
                <a:rPr lang="en-US" altLang="en-US" i="1"/>
                <a:t>N</a:t>
              </a:r>
              <a:r>
                <a:rPr lang="en-US" altLang="en-US" baseline="-25000"/>
                <a:t>A</a:t>
              </a:r>
              <a:r>
                <a:rPr lang="en-US" altLang="en-US"/>
                <a:t> ]</a:t>
              </a:r>
              <a:endParaRPr lang="en-US" altLang="en-US" i="1"/>
            </a:p>
          </p:txBody>
        </p:sp>
        <p:sp>
          <p:nvSpPr>
            <p:cNvPr id="151559" name="Text Box 9"/>
            <p:cNvSpPr txBox="1">
              <a:spLocks noChangeArrowheads="1"/>
            </p:cNvSpPr>
            <p:nvPr/>
          </p:nvSpPr>
          <p:spPr bwMode="auto">
            <a:xfrm>
              <a:off x="3171" y="3011"/>
              <a:ext cx="2053" cy="5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>
                  <a:solidFill>
                    <a:schemeClr val="bg1"/>
                  </a:solidFill>
                </a:rPr>
                <a:t>Average kinetic energy of ideal gas</a:t>
              </a:r>
            </a:p>
          </p:txBody>
        </p:sp>
        <p:sp>
          <p:nvSpPr>
            <p:cNvPr id="151560" name="Rectangle 10"/>
            <p:cNvSpPr>
              <a:spLocks noChangeArrowheads="1"/>
            </p:cNvSpPr>
            <p:nvPr/>
          </p:nvSpPr>
          <p:spPr bwMode="auto">
            <a:xfrm>
              <a:off x="522" y="3013"/>
              <a:ext cx="4701" cy="5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" name="Rectangle 8"/>
            <p:cNvSpPr>
              <a:spLocks noChangeArrowheads="1"/>
            </p:cNvSpPr>
            <p:nvPr/>
          </p:nvSpPr>
          <p:spPr bwMode="auto">
            <a:xfrm>
              <a:off x="645" y="3262"/>
              <a:ext cx="2670" cy="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en-US" i="1">
                  <a:solidFill>
                    <a:srgbClr val="009999"/>
                  </a:solidFill>
                </a:rPr>
                <a:t>Where k</a:t>
              </a:r>
              <a:r>
                <a:rPr lang="en-US" altLang="en-US" baseline="-25000">
                  <a:solidFill>
                    <a:srgbClr val="009999"/>
                  </a:solidFill>
                </a:rPr>
                <a:t>B</a:t>
              </a:r>
              <a:r>
                <a:rPr lang="en-US" altLang="en-US">
                  <a:solidFill>
                    <a:srgbClr val="009999"/>
                  </a:solidFill>
                </a:rPr>
                <a:t> = 1.38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10</a:t>
              </a:r>
              <a:r>
                <a:rPr lang="en-US" altLang="en-US" baseline="30000">
                  <a:solidFill>
                    <a:srgbClr val="009999"/>
                  </a:solidFill>
                  <a:sym typeface="Symbol" pitchFamily="18" charset="2"/>
                </a:rPr>
                <a:t>-23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 J K</a:t>
              </a:r>
              <a:r>
                <a:rPr lang="en-US" altLang="en-US" baseline="30000">
                  <a:solidFill>
                    <a:srgbClr val="009999"/>
                  </a:solidFill>
                  <a:sym typeface="Symbol" pitchFamily="18" charset="2"/>
                </a:rPr>
                <a:t>-1</a:t>
              </a:r>
              <a:r>
                <a:rPr lang="en-US" altLang="en-US">
                  <a:solidFill>
                    <a:srgbClr val="009999"/>
                  </a:solidFill>
                  <a:sym typeface="Symbol" pitchFamily="18" charset="2"/>
                </a:rPr>
                <a:t>.</a:t>
              </a:r>
              <a:endParaRPr lang="en-US" altLang="en-US" i="1">
                <a:solidFill>
                  <a:srgbClr val="009999"/>
                </a:solidFill>
                <a:sym typeface="Symbol" pitchFamily="18" charset="2"/>
              </a:endParaRPr>
            </a:p>
          </p:txBody>
        </p:sp>
        <p:sp>
          <p:nvSpPr>
            <p:cNvPr id="151562" name="Line 10"/>
            <p:cNvSpPr>
              <a:spLocks noChangeShapeType="1"/>
            </p:cNvSpPr>
            <p:nvPr/>
          </p:nvSpPr>
          <p:spPr bwMode="auto">
            <a:xfrm>
              <a:off x="644" y="3047"/>
              <a:ext cx="1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23100" y="0"/>
            <a:ext cx="1981200" cy="180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9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9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9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9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9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9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4728</TotalTime>
  <Words>2551</Words>
  <Application>Microsoft Macintosh PowerPoint</Application>
  <PresentationFormat>On-screen Show (4:3)</PresentationFormat>
  <Paragraphs>330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Courier New</vt:lpstr>
      <vt:lpstr>Symbol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Bay View High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Motion Along a Straight Line Position, Displacement, Average Speed</dc:title>
  <dc:creator>Timothy K Lund</dc:creator>
  <cp:lastModifiedBy>Raymund Dimayuga</cp:lastModifiedBy>
  <cp:revision>340</cp:revision>
  <dcterms:created xsi:type="dcterms:W3CDTF">2006-01-31T23:43:34Z</dcterms:created>
  <dcterms:modified xsi:type="dcterms:W3CDTF">2025-12-09T06:32:00Z</dcterms:modified>
</cp:coreProperties>
</file>