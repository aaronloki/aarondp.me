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389" r:id="rId2"/>
    <p:sldId id="393" r:id="rId3"/>
    <p:sldId id="397" r:id="rId4"/>
    <p:sldId id="509" r:id="rId5"/>
    <p:sldId id="398" r:id="rId6"/>
    <p:sldId id="399" r:id="rId7"/>
    <p:sldId id="405" r:id="rId8"/>
    <p:sldId id="406" r:id="rId9"/>
    <p:sldId id="407" r:id="rId10"/>
    <p:sldId id="510" r:id="rId11"/>
    <p:sldId id="511" r:id="rId12"/>
    <p:sldId id="507" r:id="rId13"/>
    <p:sldId id="508" r:id="rId14"/>
    <p:sldId id="408" r:id="rId15"/>
    <p:sldId id="409" r:id="rId16"/>
    <p:sldId id="411" r:id="rId17"/>
    <p:sldId id="414" r:id="rId18"/>
    <p:sldId id="529" r:id="rId19"/>
    <p:sldId id="530" r:id="rId20"/>
    <p:sldId id="531" r:id="rId21"/>
    <p:sldId id="532" r:id="rId22"/>
    <p:sldId id="421" r:id="rId23"/>
    <p:sldId id="422" r:id="rId24"/>
    <p:sldId id="437" r:id="rId25"/>
    <p:sldId id="438" r:id="rId26"/>
    <p:sldId id="439" r:id="rId27"/>
    <p:sldId id="440" r:id="rId28"/>
    <p:sldId id="441" r:id="rId29"/>
    <p:sldId id="443" r:id="rId30"/>
    <p:sldId id="444" r:id="rId31"/>
    <p:sldId id="527" r:id="rId32"/>
    <p:sldId id="445" r:id="rId33"/>
    <p:sldId id="446" r:id="rId34"/>
    <p:sldId id="447" r:id="rId35"/>
    <p:sldId id="448" r:id="rId36"/>
    <p:sldId id="454" r:id="rId37"/>
    <p:sldId id="455" r:id="rId38"/>
    <p:sldId id="514" r:id="rId39"/>
    <p:sldId id="515" r:id="rId40"/>
    <p:sldId id="456" r:id="rId41"/>
    <p:sldId id="457" r:id="rId42"/>
    <p:sldId id="458" r:id="rId43"/>
    <p:sldId id="459" r:id="rId44"/>
    <p:sldId id="460" r:id="rId45"/>
    <p:sldId id="461" r:id="rId46"/>
    <p:sldId id="463" r:id="rId47"/>
    <p:sldId id="464" r:id="rId48"/>
    <p:sldId id="465" r:id="rId49"/>
    <p:sldId id="466" r:id="rId50"/>
    <p:sldId id="516" r:id="rId51"/>
    <p:sldId id="517" r:id="rId52"/>
    <p:sldId id="518" r:id="rId53"/>
    <p:sldId id="519" r:id="rId54"/>
    <p:sldId id="520" r:id="rId55"/>
    <p:sldId id="524" r:id="rId56"/>
    <p:sldId id="525" r:id="rId57"/>
    <p:sldId id="521" r:id="rId58"/>
    <p:sldId id="522" r:id="rId5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008000"/>
    <a:srgbClr val="FFC000"/>
    <a:srgbClr val="000000"/>
    <a:srgbClr val="FF0000"/>
    <a:srgbClr val="0066FF"/>
    <a:srgbClr val="EAEAEA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4"/>
    <p:restoredTop sz="93767" autoAdjust="0"/>
  </p:normalViewPr>
  <p:slideViewPr>
    <p:cSldViewPr snapToGrid="0">
      <p:cViewPr>
        <p:scale>
          <a:sx n="77" d="100"/>
          <a:sy n="77" d="100"/>
        </p:scale>
        <p:origin x="3000" y="1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2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49014F1-4990-4598-A8E1-49674C6F1C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145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FCD57E42-CA96-4CA4-AEB5-DC59B9D2793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A1A1D16-1DAF-44DA-9C49-E6BF02FD6ABC}" type="slidenum">
              <a:rPr lang="en-US" altLang="en-US" sz="1200">
                <a:cs typeface="+mn-cs"/>
              </a:rPr>
              <a:pPr algn="r">
                <a:defRPr/>
              </a:pPr>
              <a:t>2</a:t>
            </a:fld>
            <a:endParaRPr lang="en-US" altLang="en-US" sz="1200">
              <a:cs typeface="+mn-cs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/>
              <a:t>© 2015 By Timothy K. Lund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F74DF-FC63-4039-89A6-F49F071124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71F14-1590-4797-AB7A-85515DBC2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A6550-4638-4C26-804D-683FA239A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B5AEB-1C16-4F25-A635-6A9C12BF8E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84A4B-5BF6-464A-B849-E23099570D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21D22-58B4-4355-AEA6-EB97C31E3A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905F9-276A-4AD3-AF98-82518E41E6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C2DE6-F26E-4C66-9BFA-6893913BE6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B6136E-775A-476B-82F8-0E54FA998B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C3F366-94C1-4C32-BBCE-A8374CC472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0667C-02DB-4A8A-8942-1965ABDC1E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0533E253-0077-4CF3-98EA-EA8FFC3EF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ransition>
    <p:sndAc>
      <p:stSnd>
        <p:snd r:embed="rId13" name="camera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audio" Target="../media/audio1.wav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e.wikipedia.org/w/index.php?title=Datei:Everest_North_Face_toward_Base_Camp_Tibet_Luca_Galuzzi_2006.jpg&amp;filetimestamp=20070320004704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audio" Target="../media/audio1.wav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e.wikipedia.org/w/index.php?title=Datei:Everest_North_Face_toward_Base_Camp_Tibet_Luca_Galuzzi_2006.jpg&amp;filetimestamp=20070320004704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audio" Target="../media/audio1.wav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e.wikipedia.org/w/index.php?title=Datei:Everest_North_Face_toward_Base_Camp_Tibet_Luca_Galuzzi_2006.jpg&amp;filetimestamp=20070320004704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9E5958-B5B1-344E-83FA-B253217C79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16"/>
          <a:stretch/>
        </p:blipFill>
        <p:spPr>
          <a:xfrm>
            <a:off x="0" y="-1"/>
            <a:ext cx="9119052" cy="28738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A2E552-A3C2-E743-927A-2DF51915AF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30" b="-93"/>
          <a:stretch/>
        </p:blipFill>
        <p:spPr>
          <a:xfrm>
            <a:off x="0" y="2873828"/>
            <a:ext cx="9119052" cy="3325091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685800" y="1339850"/>
            <a:ext cx="7772400" cy="38338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33413" indent="-633413"/>
            <a:r>
              <a:rPr lang="en-US" altLang="en-US" b="1" dirty="0">
                <a:solidFill>
                  <a:srgbClr val="FF0000"/>
                </a:solidFill>
              </a:rPr>
              <a:t>Data booklet reference: </a:t>
            </a:r>
            <a:endParaRPr lang="en-US" altLang="en-US" dirty="0">
              <a:solidFill>
                <a:srgbClr val="FF0000"/>
              </a:solidFill>
            </a:endParaRP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GRAVITATIONAL FIELD	ELECTROSTATIC FIELD</a:t>
            </a: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 = –</a:t>
            </a:r>
            <a:r>
              <a:rPr lang="en-US" i="1" dirty="0">
                <a:solidFill>
                  <a:srgbClr val="FF0000"/>
                </a:solidFill>
              </a:rPr>
              <a:t>GM / r</a:t>
            </a:r>
            <a:r>
              <a:rPr lang="en-US" altLang="en-US" dirty="0">
                <a:solidFill>
                  <a:srgbClr val="FF0000"/>
                </a:solidFill>
              </a:rPr>
              <a:t> 		</a:t>
            </a:r>
            <a:r>
              <a:rPr lang="en-US" i="1" dirty="0" err="1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 err="1">
                <a:solidFill>
                  <a:srgbClr val="FF0000"/>
                </a:solidFill>
              </a:rPr>
              <a:t>kq</a:t>
            </a:r>
            <a:r>
              <a:rPr lang="en-US" i="1" dirty="0">
                <a:solidFill>
                  <a:srgbClr val="FF0000"/>
                </a:solidFill>
              </a:rPr>
              <a:t> / r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/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r		E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∆</a:t>
            </a:r>
            <a:r>
              <a:rPr lang="en-US" i="1" dirty="0" err="1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/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r</a:t>
            </a:r>
            <a:endParaRPr lang="en-US" dirty="0">
              <a:solidFill>
                <a:srgbClr val="FF0000"/>
              </a:solidFill>
              <a:sym typeface="Symbol" pitchFamily="18" charset="2"/>
            </a:endParaRP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 err="1">
                <a:solidFill>
                  <a:srgbClr val="FF0000"/>
                </a:solidFill>
              </a:rPr>
              <a:t>mV</a:t>
            </a:r>
            <a:r>
              <a:rPr lang="en-US" baseline="-25000" dirty="0" err="1">
                <a:solidFill>
                  <a:srgbClr val="FF0000"/>
                </a:solidFill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 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– </a:t>
            </a:r>
            <a:r>
              <a:rPr lang="en-US" i="1" dirty="0" err="1">
                <a:solidFill>
                  <a:srgbClr val="FF0000"/>
                </a:solidFill>
              </a:rPr>
              <a:t>GMm</a:t>
            </a:r>
            <a:r>
              <a:rPr lang="en-US" i="1" dirty="0">
                <a:solidFill>
                  <a:srgbClr val="FF0000"/>
                </a:solidFill>
              </a:rPr>
              <a:t> / r</a:t>
            </a:r>
            <a:r>
              <a:rPr lang="en-US" altLang="en-US" dirty="0">
                <a:solidFill>
                  <a:srgbClr val="FF0000"/>
                </a:solidFill>
              </a:rPr>
              <a:t> 	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 err="1">
                <a:solidFill>
                  <a:srgbClr val="FF0000"/>
                </a:solidFill>
              </a:rPr>
              <a:t>qV</a:t>
            </a:r>
            <a:r>
              <a:rPr lang="en-US" baseline="-25000" dirty="0" err="1">
                <a:solidFill>
                  <a:srgbClr val="FF0000"/>
                </a:solidFill>
              </a:rPr>
              <a:t>e</a:t>
            </a:r>
            <a:r>
              <a:rPr lang="en-US" dirty="0">
                <a:solidFill>
                  <a:srgbClr val="FF0000"/>
                </a:solidFill>
              </a:rPr>
              <a:t> =</a:t>
            </a:r>
            <a:r>
              <a:rPr lang="en-US" i="1" dirty="0">
                <a:solidFill>
                  <a:srgbClr val="FF0000"/>
                </a:solidFill>
              </a:rPr>
              <a:t> kq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q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/ r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 =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US" i="1" dirty="0" err="1">
                <a:solidFill>
                  <a:srgbClr val="FF0000"/>
                </a:solidFill>
              </a:rPr>
              <a:t>GMm</a:t>
            </a:r>
            <a:r>
              <a:rPr lang="en-US" i="1" dirty="0">
                <a:solidFill>
                  <a:srgbClr val="FF0000"/>
                </a:solidFill>
              </a:rPr>
              <a:t> / r</a:t>
            </a:r>
            <a:r>
              <a:rPr lang="en-US" baseline="30000" dirty="0">
                <a:solidFill>
                  <a:srgbClr val="FF0000"/>
                </a:solidFill>
              </a:rPr>
              <a:t> 2</a:t>
            </a:r>
            <a:r>
              <a:rPr lang="en-US" altLang="en-US" dirty="0">
                <a:solidFill>
                  <a:srgbClr val="FF0000"/>
                </a:solidFill>
              </a:rPr>
              <a:t> 	 	</a:t>
            </a:r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baseline="-25000" dirty="0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i="1" dirty="0">
                <a:solidFill>
                  <a:srgbClr val="FF0000"/>
                </a:solidFill>
              </a:rPr>
              <a:t>kq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q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/ r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 err="1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esc</a:t>
            </a:r>
            <a:r>
              <a:rPr lang="en-US" dirty="0">
                <a:solidFill>
                  <a:srgbClr val="FF0000"/>
                </a:solidFill>
              </a:rPr>
              <a:t> =   2</a:t>
            </a:r>
            <a:r>
              <a:rPr lang="en-US" i="1" dirty="0">
                <a:solidFill>
                  <a:srgbClr val="FF0000"/>
                </a:solidFill>
              </a:rPr>
              <a:t>GM / r</a:t>
            </a:r>
          </a:p>
          <a:p>
            <a:pPr marL="633413" indent="-633413">
              <a:lnSpc>
                <a:spcPct val="115000"/>
              </a:lnSpc>
              <a:spcAft>
                <a:spcPct val="15000"/>
              </a:spcAft>
            </a:pPr>
            <a:r>
              <a:rPr lang="en-US" altLang="en-US" dirty="0">
                <a:solidFill>
                  <a:srgbClr val="FF0000"/>
                </a:solidFill>
              </a:rPr>
              <a:t>• </a:t>
            </a:r>
            <a:r>
              <a:rPr lang="en-US" i="1" dirty="0" err="1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sym typeface="Symbol" pitchFamily="18" charset="2"/>
              </a:rPr>
              <a:t>orbit</a:t>
            </a:r>
            <a:r>
              <a:rPr lang="en-US" dirty="0">
                <a:solidFill>
                  <a:srgbClr val="FF0000"/>
                </a:solidFill>
              </a:rPr>
              <a:t> =   </a:t>
            </a:r>
            <a:r>
              <a:rPr lang="en-US" i="1" dirty="0">
                <a:solidFill>
                  <a:srgbClr val="FF0000"/>
                </a:solidFill>
              </a:rPr>
              <a:t>GM / r</a:t>
            </a:r>
            <a:endParaRPr lang="en-US" altLang="en-US" i="1" dirty="0">
              <a:solidFill>
                <a:srgbClr val="FF0000"/>
              </a:solidFill>
            </a:endParaRPr>
          </a:p>
        </p:txBody>
      </p:sp>
      <p:sp>
        <p:nvSpPr>
          <p:cNvPr id="94212" name="Freeform 4"/>
          <p:cNvSpPr>
            <a:spLocks/>
          </p:cNvSpPr>
          <p:nvPr/>
        </p:nvSpPr>
        <p:spPr bwMode="auto">
          <a:xfrm>
            <a:off x="1806575" y="4156281"/>
            <a:ext cx="1257300" cy="298450"/>
          </a:xfrm>
          <a:custGeom>
            <a:avLst/>
            <a:gdLst>
              <a:gd name="T0" fmla="*/ 0 w 792"/>
              <a:gd name="T1" fmla="*/ 140 h 188"/>
              <a:gd name="T2" fmla="*/ 28 w 792"/>
              <a:gd name="T3" fmla="*/ 188 h 188"/>
              <a:gd name="T4" fmla="*/ 78 w 792"/>
              <a:gd name="T5" fmla="*/ 0 h 188"/>
              <a:gd name="T6" fmla="*/ 792 w 792"/>
              <a:gd name="T7" fmla="*/ 0 h 188"/>
              <a:gd name="T8" fmla="*/ 0 60000 65536"/>
              <a:gd name="T9" fmla="*/ 0 60000 65536"/>
              <a:gd name="T10" fmla="*/ 0 60000 65536"/>
              <a:gd name="T11" fmla="*/ 0 60000 65536"/>
              <a:gd name="T12" fmla="*/ 0 w 792"/>
              <a:gd name="T13" fmla="*/ 0 h 188"/>
              <a:gd name="T14" fmla="*/ 792 w 792"/>
              <a:gd name="T15" fmla="*/ 188 h 1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2" h="188">
                <a:moveTo>
                  <a:pt x="0" y="140"/>
                </a:moveTo>
                <a:lnTo>
                  <a:pt x="28" y="188"/>
                </a:lnTo>
                <a:lnTo>
                  <a:pt x="78" y="0"/>
                </a:lnTo>
                <a:lnTo>
                  <a:pt x="792" y="0"/>
                </a:ln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4" name="Freeform 6"/>
          <p:cNvSpPr>
            <a:spLocks/>
          </p:cNvSpPr>
          <p:nvPr/>
        </p:nvSpPr>
        <p:spPr bwMode="auto">
          <a:xfrm>
            <a:off x="1905000" y="4652502"/>
            <a:ext cx="1038225" cy="295275"/>
          </a:xfrm>
          <a:custGeom>
            <a:avLst/>
            <a:gdLst>
              <a:gd name="T0" fmla="*/ 0 w 654"/>
              <a:gd name="T1" fmla="*/ 144 h 186"/>
              <a:gd name="T2" fmla="*/ 42 w 654"/>
              <a:gd name="T3" fmla="*/ 186 h 186"/>
              <a:gd name="T4" fmla="*/ 84 w 654"/>
              <a:gd name="T5" fmla="*/ 0 h 186"/>
              <a:gd name="T6" fmla="*/ 654 w 654"/>
              <a:gd name="T7" fmla="*/ 0 h 186"/>
              <a:gd name="T8" fmla="*/ 0 60000 65536"/>
              <a:gd name="T9" fmla="*/ 0 60000 65536"/>
              <a:gd name="T10" fmla="*/ 0 60000 65536"/>
              <a:gd name="T11" fmla="*/ 0 60000 65536"/>
              <a:gd name="T12" fmla="*/ 0 w 654"/>
              <a:gd name="T13" fmla="*/ 0 h 186"/>
              <a:gd name="T14" fmla="*/ 654 w 654"/>
              <a:gd name="T15" fmla="*/ 186 h 1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4" h="186">
                <a:moveTo>
                  <a:pt x="0" y="144"/>
                </a:moveTo>
                <a:lnTo>
                  <a:pt x="42" y="186"/>
                </a:lnTo>
                <a:lnTo>
                  <a:pt x="84" y="0"/>
                </a:lnTo>
                <a:lnTo>
                  <a:pt x="654" y="0"/>
                </a:ln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4292600" y="1876425"/>
            <a:ext cx="0" cy="3200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animBg="1"/>
      <p:bldP spid="94214" grpId="0" animBg="1"/>
      <p:bldP spid="942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682625" y="5661025"/>
            <a:ext cx="7777163" cy="119697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The actual proof is beyond the scope of this course.</a:t>
            </a:r>
          </a:p>
          <a:p>
            <a:pPr eaLnBrk="0" hangingPunct="0"/>
            <a:r>
              <a:rPr lang="en-US">
                <a:sym typeface="Symbol" pitchFamily="18" charset="2"/>
              </a:rPr>
              <a:t>Note, in particular, the minus sign.</a:t>
            </a:r>
          </a:p>
        </p:txBody>
      </p:sp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4379912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i="1" dirty="0">
                <a:solidFill>
                  <a:schemeClr val="accent2"/>
                </a:solidFill>
              </a:rPr>
              <a:t>Potential energy </a:t>
            </a:r>
            <a:r>
              <a:rPr lang="en-US" altLang="en-US" dirty="0">
                <a:solidFill>
                  <a:schemeClr val="accent2"/>
                </a:solidFill>
              </a:rPr>
              <a:t>– gravitational</a:t>
            </a:r>
            <a:r>
              <a:rPr lang="en-US" altLang="en-US" i="1" dirty="0">
                <a:solidFill>
                  <a:schemeClr val="accent2"/>
                </a:solidFill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Think of potential energy as the 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capacity to do work.</a:t>
            </a:r>
          </a:p>
          <a:p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And work is a force </a:t>
            </a:r>
            <a:r>
              <a:rPr lang="en-US" i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F 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times a displacement </a:t>
            </a:r>
            <a:r>
              <a:rPr lang="en-US" i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.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ea typeface="Calibri" pitchFamily="34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Recall the gravitational force from Newton:</a:t>
            </a:r>
          </a:p>
          <a:p>
            <a:pPr eaLnBrk="0" hangingPunct="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If we multiply the above force by a distance </a:t>
            </a:r>
            <a:r>
              <a:rPr lang="en-US" i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we get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847725" y="2524125"/>
            <a:ext cx="7464425" cy="461963"/>
            <a:chOff x="510" y="1414"/>
            <a:chExt cx="4702" cy="291"/>
          </a:xfrm>
        </p:grpSpPr>
        <p:sp>
          <p:nvSpPr>
            <p:cNvPr id="9235" name="Rectangle 5"/>
            <p:cNvSpPr>
              <a:spLocks noChangeArrowheads="1"/>
            </p:cNvSpPr>
            <p:nvPr/>
          </p:nvSpPr>
          <p:spPr bwMode="auto">
            <a:xfrm>
              <a:off x="592" y="1433"/>
              <a:ext cx="1340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cs typeface="Courier New" pitchFamily="49" charset="0"/>
                  <a:sym typeface="Symbol" pitchFamily="18" charset="2"/>
                </a:rPr>
                <a:t>W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Fd</a:t>
              </a:r>
              <a:r>
                <a:rPr lang="en-US" i="1" baseline="-25000">
                  <a:sym typeface="Symbol" pitchFamily="18" charset="2"/>
                </a:rPr>
                <a:t> </a:t>
              </a:r>
              <a:r>
                <a:rPr lang="en-US">
                  <a:sym typeface="Symbol" pitchFamily="18" charset="2"/>
                </a:rPr>
                <a:t>cos</a:t>
              </a:r>
              <a:r>
                <a:rPr lang="en-US" baseline="-25000">
                  <a:sym typeface="Symbol" pitchFamily="18" charset="2"/>
                </a:rPr>
                <a:t> </a:t>
              </a:r>
              <a:r>
                <a:rPr lang="en-US">
                  <a:sym typeface="Symbol" pitchFamily="18" charset="2"/>
                </a:rPr>
                <a:t></a:t>
              </a:r>
              <a:endParaRPr lang="en-US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9236" name="Text Box 6"/>
            <p:cNvSpPr txBox="1">
              <a:spLocks noChangeArrowheads="1"/>
            </p:cNvSpPr>
            <p:nvPr/>
          </p:nvSpPr>
          <p:spPr bwMode="auto">
            <a:xfrm>
              <a:off x="3844" y="1414"/>
              <a:ext cx="136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work definition</a:t>
              </a:r>
            </a:p>
          </p:txBody>
        </p:sp>
        <p:sp>
          <p:nvSpPr>
            <p:cNvPr id="9237" name="Rectangle 7"/>
            <p:cNvSpPr>
              <a:spLocks noChangeArrowheads="1"/>
            </p:cNvSpPr>
            <p:nvPr/>
          </p:nvSpPr>
          <p:spPr bwMode="auto">
            <a:xfrm>
              <a:off x="510" y="1416"/>
              <a:ext cx="4701" cy="28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8"/>
            <p:cNvSpPr>
              <a:spLocks noChangeArrowheads="1"/>
            </p:cNvSpPr>
            <p:nvPr/>
          </p:nvSpPr>
          <p:spPr bwMode="auto">
            <a:xfrm>
              <a:off x="1460" y="1449"/>
              <a:ext cx="242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>
                  <a:solidFill>
                    <a:schemeClr val="hlink"/>
                  </a:solidFill>
                  <a:sym typeface="Symbol" pitchFamily="18" charset="2"/>
                </a:rPr>
                <a:t>( is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angle between </a:t>
              </a:r>
              <a:r>
                <a:rPr lang="en-US" sz="2000" i="1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F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and </a:t>
              </a:r>
              <a:r>
                <a:rPr lang="en-US" sz="2000" i="1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d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)</a:t>
              </a:r>
              <a:endParaRPr lang="en-US" sz="2000" baseline="30000">
                <a:solidFill>
                  <a:schemeClr val="hlink"/>
                </a:solidFill>
                <a:cs typeface="Courier New" pitchFamily="49" charset="0"/>
                <a:sym typeface="Symbol" pitchFamily="18" charset="2"/>
              </a:endParaRP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847725" y="3465513"/>
            <a:ext cx="7464425" cy="823912"/>
            <a:chOff x="510" y="3230"/>
            <a:chExt cx="4702" cy="519"/>
          </a:xfrm>
        </p:grpSpPr>
        <p:sp>
          <p:nvSpPr>
            <p:cNvPr id="9231" name="Rectangle 5"/>
            <p:cNvSpPr>
              <a:spLocks noChangeArrowheads="1"/>
            </p:cNvSpPr>
            <p:nvPr/>
          </p:nvSpPr>
          <p:spPr bwMode="auto">
            <a:xfrm>
              <a:off x="592" y="3243"/>
              <a:ext cx="1744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F</a:t>
              </a:r>
              <a:r>
                <a:rPr lang="en-US" baseline="-25000"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</a:t>
              </a:r>
              <a:r>
                <a:rPr lang="en-US" baseline="-25000">
                  <a:sym typeface="Symbol" pitchFamily="18" charset="2"/>
                </a:rPr>
                <a:t>1</a:t>
              </a:r>
              <a:r>
                <a:rPr lang="en-US" i="1">
                  <a:sym typeface="Symbol" pitchFamily="18" charset="2"/>
                </a:rPr>
                <a:t>m</a:t>
              </a:r>
              <a:r>
                <a:rPr lang="en-US" baseline="-25000">
                  <a:sym typeface="Symbol" pitchFamily="18" charset="2"/>
                </a:rPr>
                <a:t>2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 baseline="30000">
                  <a:sym typeface="Symbol" pitchFamily="18" charset="2"/>
                </a:rPr>
                <a:t> 2</a:t>
              </a:r>
            </a:p>
          </p:txBody>
        </p:sp>
        <p:sp>
          <p:nvSpPr>
            <p:cNvPr id="9232" name="Text Box 6"/>
            <p:cNvSpPr txBox="1">
              <a:spLocks noChangeArrowheads="1"/>
            </p:cNvSpPr>
            <p:nvPr/>
          </p:nvSpPr>
          <p:spPr bwMode="auto">
            <a:xfrm>
              <a:off x="3924" y="3230"/>
              <a:ext cx="1288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universal law of gravitation</a:t>
              </a:r>
            </a:p>
          </p:txBody>
        </p:sp>
        <p:sp>
          <p:nvSpPr>
            <p:cNvPr id="9233" name="Rectangle 7"/>
            <p:cNvSpPr>
              <a:spLocks noChangeArrowheads="1"/>
            </p:cNvSpPr>
            <p:nvPr/>
          </p:nvSpPr>
          <p:spPr bwMode="auto">
            <a:xfrm>
              <a:off x="510" y="3232"/>
              <a:ext cx="4701" cy="51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Courier New" pitchFamily="49" charset="0"/>
              </a:endParaRPr>
            </a:p>
          </p:txBody>
        </p:sp>
        <p:sp>
          <p:nvSpPr>
            <p:cNvPr id="9234" name="Rectangle 8"/>
            <p:cNvSpPr>
              <a:spLocks noChangeArrowheads="1"/>
            </p:cNvSpPr>
            <p:nvPr/>
          </p:nvSpPr>
          <p:spPr bwMode="auto">
            <a:xfrm>
              <a:off x="914" y="3487"/>
              <a:ext cx="303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i="1">
                  <a:solidFill>
                    <a:schemeClr val="hlink"/>
                  </a:solidFill>
                  <a:sym typeface="Symbol" pitchFamily="18" charset="2"/>
                </a:rPr>
                <a:t>where G</a:t>
              </a:r>
              <a:r>
                <a:rPr lang="en-US" sz="2000">
                  <a:solidFill>
                    <a:schemeClr val="hlink"/>
                  </a:solidFill>
                  <a:sym typeface="Symbol" pitchFamily="18" charset="2"/>
                </a:rPr>
                <a:t> =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6.67×10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−11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N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m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2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kg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−2</a:t>
              </a: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844550" y="4764088"/>
            <a:ext cx="7464425" cy="823912"/>
            <a:chOff x="532" y="2777"/>
            <a:chExt cx="4702" cy="519"/>
          </a:xfrm>
        </p:grpSpPr>
        <p:sp>
          <p:nvSpPr>
            <p:cNvPr id="9227" name="Rectangle 5"/>
            <p:cNvSpPr>
              <a:spLocks noChangeArrowheads="1"/>
            </p:cNvSpPr>
            <p:nvPr/>
          </p:nvSpPr>
          <p:spPr bwMode="auto">
            <a:xfrm>
              <a:off x="614" y="2790"/>
              <a:ext cx="1744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</a:t>
              </a:r>
              <a:r>
                <a:rPr lang="en-US" baseline="-25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 baseline="30000">
                  <a:sym typeface="Symbol" pitchFamily="18" charset="2"/>
                </a:rPr>
                <a:t> </a:t>
              </a:r>
            </a:p>
          </p:txBody>
        </p:sp>
        <p:sp>
          <p:nvSpPr>
            <p:cNvPr id="9228" name="Text Box 6"/>
            <p:cNvSpPr txBox="1">
              <a:spLocks noChangeArrowheads="1"/>
            </p:cNvSpPr>
            <p:nvPr/>
          </p:nvSpPr>
          <p:spPr bwMode="auto">
            <a:xfrm>
              <a:off x="3704" y="2777"/>
              <a:ext cx="1530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energy</a:t>
              </a:r>
            </a:p>
          </p:txBody>
        </p:sp>
        <p:sp>
          <p:nvSpPr>
            <p:cNvPr id="9229" name="Rectangle 7"/>
            <p:cNvSpPr>
              <a:spLocks noChangeArrowheads="1"/>
            </p:cNvSpPr>
            <p:nvPr/>
          </p:nvSpPr>
          <p:spPr bwMode="auto">
            <a:xfrm>
              <a:off x="532" y="2779"/>
              <a:ext cx="4701" cy="51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Courier New" pitchFamily="49" charset="0"/>
              </a:endParaRPr>
            </a:p>
          </p:txBody>
        </p:sp>
        <p:sp>
          <p:nvSpPr>
            <p:cNvPr id="9230" name="Rectangle 8"/>
            <p:cNvSpPr>
              <a:spLocks noChangeArrowheads="1"/>
            </p:cNvSpPr>
            <p:nvPr/>
          </p:nvSpPr>
          <p:spPr bwMode="auto">
            <a:xfrm>
              <a:off x="936" y="3034"/>
              <a:ext cx="303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i="1">
                  <a:solidFill>
                    <a:schemeClr val="hlink"/>
                  </a:solidFill>
                  <a:sym typeface="Symbol" pitchFamily="18" charset="2"/>
                </a:rPr>
                <a:t>where G</a:t>
              </a:r>
              <a:r>
                <a:rPr lang="en-US" sz="2000">
                  <a:solidFill>
                    <a:schemeClr val="hlink"/>
                  </a:solidFill>
                  <a:sym typeface="Symbol" pitchFamily="18" charset="2"/>
                </a:rPr>
                <a:t> =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6.67×10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−11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N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m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2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kg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−2</a:t>
              </a:r>
            </a:p>
          </p:txBody>
        </p:sp>
      </p:grpSp>
      <p:sp>
        <p:nvSpPr>
          <p:cNvPr id="102435" name="Text Box 35"/>
          <p:cNvSpPr txBox="1">
            <a:spLocks noChangeArrowheads="1"/>
          </p:cNvSpPr>
          <p:nvPr/>
        </p:nvSpPr>
        <p:spPr bwMode="auto">
          <a:xfrm>
            <a:off x="5486399" y="171450"/>
            <a:ext cx="3657601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hlink"/>
                </a:solidFill>
              </a:rPr>
              <a:t>Note that </a:t>
            </a:r>
            <a:r>
              <a:rPr lang="en-US" i="1" dirty="0">
                <a:solidFill>
                  <a:schemeClr val="hlink"/>
                </a:solidFill>
              </a:rPr>
              <a:t>E</a:t>
            </a:r>
            <a:r>
              <a:rPr lang="en-US" baseline="-25000" dirty="0">
                <a:solidFill>
                  <a:schemeClr val="hlink"/>
                </a:solidFill>
              </a:rPr>
              <a:t>P</a:t>
            </a:r>
            <a:r>
              <a:rPr lang="en-US" dirty="0">
                <a:solidFill>
                  <a:schemeClr val="hlink"/>
                </a:solidFill>
              </a:rPr>
              <a:t> is negative. This means that </a:t>
            </a:r>
            <a:r>
              <a:rPr lang="en-US" i="1" dirty="0">
                <a:solidFill>
                  <a:schemeClr val="hlink"/>
                </a:solidFill>
              </a:rPr>
              <a:t>E</a:t>
            </a:r>
            <a:r>
              <a:rPr lang="en-US" baseline="-25000" dirty="0">
                <a:solidFill>
                  <a:schemeClr val="hlink"/>
                </a:solidFill>
              </a:rPr>
              <a:t>P</a:t>
            </a:r>
            <a:r>
              <a:rPr lang="en-US" dirty="0">
                <a:solidFill>
                  <a:schemeClr val="hlink"/>
                </a:solidFill>
              </a:rPr>
              <a:t> is </a:t>
            </a:r>
            <a:r>
              <a:rPr lang="en-US" b="1" dirty="0">
                <a:solidFill>
                  <a:schemeClr val="hlink"/>
                </a:solidFill>
              </a:rPr>
              <a:t>greatest</a:t>
            </a:r>
            <a:r>
              <a:rPr lang="en-US" dirty="0">
                <a:solidFill>
                  <a:schemeClr val="hlink"/>
                </a:solidFill>
              </a:rPr>
              <a:t> at </a:t>
            </a:r>
            <a:r>
              <a:rPr lang="en-US" i="1" dirty="0">
                <a:solidFill>
                  <a:schemeClr val="hlink"/>
                </a:solidFill>
              </a:rPr>
              <a:t>r</a:t>
            </a:r>
            <a:r>
              <a:rPr lang="en-US" dirty="0">
                <a:solidFill>
                  <a:schemeClr val="hlink"/>
                </a:solidFill>
              </a:rPr>
              <a:t>  =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, when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= 0.</a:t>
            </a:r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1681163" y="2554288"/>
            <a:ext cx="412750" cy="360362"/>
          </a:xfrm>
          <a:prstGeom prst="rect">
            <a:avLst/>
          </a:prstGeom>
          <a:solidFill>
            <a:srgbClr val="FF3300">
              <a:alpha val="349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36" name="Rectangle 36"/>
          <p:cNvSpPr>
            <a:spLocks noChangeArrowheads="1"/>
          </p:cNvSpPr>
          <p:nvPr/>
        </p:nvSpPr>
        <p:spPr bwMode="auto">
          <a:xfrm>
            <a:off x="1712913" y="4824413"/>
            <a:ext cx="220662" cy="360362"/>
          </a:xfrm>
          <a:prstGeom prst="rect">
            <a:avLst/>
          </a:prstGeom>
          <a:solidFill>
            <a:srgbClr val="FF3300">
              <a:alpha val="349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5" grpId="0"/>
      <p:bldP spid="102416" grpId="0" animBg="1"/>
      <p:bldP spid="1024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685800" y="1766888"/>
            <a:ext cx="7772400" cy="50911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4413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Potential energy </a:t>
            </a:r>
            <a:r>
              <a:rPr lang="en-US" altLang="en-US">
                <a:solidFill>
                  <a:schemeClr val="accent2"/>
                </a:solidFill>
              </a:rPr>
              <a:t>– gravitational</a:t>
            </a:r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417796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5963" y="1795463"/>
            <a:ext cx="7704137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7797" name="Text Box 5"/>
          <p:cNvSpPr txBox="1">
            <a:spLocks noChangeArrowheads="1"/>
          </p:cNvSpPr>
          <p:nvPr/>
        </p:nvSpPr>
        <p:spPr bwMode="auto">
          <a:xfrm>
            <a:off x="701675" y="5940425"/>
            <a:ext cx="8096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The ship MUST slow down and reverse (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>
                <a:solidFill>
                  <a:schemeClr val="hlink"/>
                </a:solidFill>
              </a:rPr>
              <a:t> becomes – ).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187450" y="4225925"/>
            <a:ext cx="239713" cy="239713"/>
            <a:chOff x="955" y="2880"/>
            <a:chExt cx="235" cy="235"/>
          </a:xfrm>
        </p:grpSpPr>
        <p:sp>
          <p:nvSpPr>
            <p:cNvPr id="10258" name="Line 7"/>
            <p:cNvSpPr>
              <a:spLocks noChangeShapeType="1"/>
            </p:cNvSpPr>
            <p:nvPr/>
          </p:nvSpPr>
          <p:spPr bwMode="auto">
            <a:xfrm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Line 8"/>
            <p:cNvSpPr>
              <a:spLocks noChangeShapeType="1"/>
            </p:cNvSpPr>
            <p:nvPr/>
          </p:nvSpPr>
          <p:spPr bwMode="auto">
            <a:xfrm flipH="1"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114675" y="4241800"/>
            <a:ext cx="239713" cy="239713"/>
            <a:chOff x="955" y="2880"/>
            <a:chExt cx="235" cy="235"/>
          </a:xfrm>
        </p:grpSpPr>
        <p:sp>
          <p:nvSpPr>
            <p:cNvPr id="10256" name="Line 10"/>
            <p:cNvSpPr>
              <a:spLocks noChangeShapeType="1"/>
            </p:cNvSpPr>
            <p:nvPr/>
          </p:nvSpPr>
          <p:spPr bwMode="auto">
            <a:xfrm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11"/>
            <p:cNvSpPr>
              <a:spLocks noChangeShapeType="1"/>
            </p:cNvSpPr>
            <p:nvPr/>
          </p:nvSpPr>
          <p:spPr bwMode="auto">
            <a:xfrm flipH="1"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7804" name="Text Box 12"/>
          <p:cNvSpPr txBox="1">
            <a:spLocks noChangeArrowheads="1"/>
          </p:cNvSpPr>
          <p:nvPr/>
        </p:nvSpPr>
        <p:spPr bwMode="auto">
          <a:xfrm>
            <a:off x="700088" y="6359525"/>
            <a:ext cx="8096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The force varies as 1 </a:t>
            </a:r>
            <a:r>
              <a:rPr lang="en-US" i="1">
                <a:solidFill>
                  <a:schemeClr val="hlink"/>
                </a:solidFill>
              </a:rPr>
              <a:t>/</a:t>
            </a:r>
            <a:r>
              <a:rPr lang="en-US">
                <a:solidFill>
                  <a:schemeClr val="hlink"/>
                </a:solidFill>
              </a:rPr>
              <a:t> 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 baseline="30000">
                <a:solidFill>
                  <a:schemeClr val="hlink"/>
                </a:solidFill>
              </a:rPr>
              <a:t> 2</a:t>
            </a:r>
            <a:r>
              <a:rPr lang="en-US">
                <a:solidFill>
                  <a:schemeClr val="hlink"/>
                </a:solidFill>
              </a:rPr>
              <a:t> so that </a:t>
            </a:r>
            <a:r>
              <a:rPr lang="en-US" i="1">
                <a:solidFill>
                  <a:schemeClr val="hlink"/>
                </a:solidFill>
              </a:rPr>
              <a:t>a</a:t>
            </a:r>
            <a:r>
              <a:rPr lang="en-US">
                <a:solidFill>
                  <a:schemeClr val="hlink"/>
                </a:solidFill>
              </a:rPr>
              <a:t> is NOT linear.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724650" y="4217988"/>
            <a:ext cx="239713" cy="239712"/>
            <a:chOff x="955" y="2880"/>
            <a:chExt cx="235" cy="235"/>
          </a:xfrm>
        </p:grpSpPr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 flipH="1">
              <a:off x="955" y="2880"/>
              <a:ext cx="235" cy="2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7808" name="Text Box 16"/>
          <p:cNvSpPr txBox="1">
            <a:spLocks noChangeArrowheads="1"/>
          </p:cNvSpPr>
          <p:nvPr/>
        </p:nvSpPr>
        <p:spPr bwMode="auto">
          <a:xfrm>
            <a:off x="5511800" y="428625"/>
            <a:ext cx="3632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Recall that </a:t>
            </a:r>
            <a:r>
              <a:rPr lang="en-US" i="1">
                <a:solidFill>
                  <a:schemeClr val="hlink"/>
                </a:solidFill>
              </a:rPr>
              <a:t>a</a:t>
            </a:r>
            <a:r>
              <a:rPr lang="en-US">
                <a:solidFill>
                  <a:schemeClr val="hlink"/>
                </a:solidFill>
              </a:rPr>
              <a:t> is the slope of the 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>
                <a:solidFill>
                  <a:schemeClr val="hlink"/>
                </a:solidFill>
              </a:rPr>
              <a:t> vs. </a:t>
            </a:r>
            <a:r>
              <a:rPr lang="en-US" i="1">
                <a:solidFill>
                  <a:schemeClr val="hlink"/>
                </a:solidFill>
              </a:rPr>
              <a:t>t</a:t>
            </a:r>
            <a:r>
              <a:rPr lang="en-US">
                <a:solidFill>
                  <a:schemeClr val="hlink"/>
                </a:solidFill>
              </a:rPr>
              <a:t> graph.</a:t>
            </a:r>
            <a:endParaRPr lang="en-US" i="1">
              <a:solidFill>
                <a:schemeClr val="hlink"/>
              </a:solidFill>
            </a:endParaRPr>
          </a:p>
        </p:txBody>
      </p:sp>
      <p:sp>
        <p:nvSpPr>
          <p:cNvPr id="417809" name="Oval 17"/>
          <p:cNvSpPr>
            <a:spLocks noChangeArrowheads="1"/>
          </p:cNvSpPr>
          <p:nvPr/>
        </p:nvSpPr>
        <p:spPr bwMode="auto">
          <a:xfrm>
            <a:off x="4992688" y="4157663"/>
            <a:ext cx="349250" cy="3492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7811" name="Text Box 19"/>
          <p:cNvSpPr txBox="1">
            <a:spLocks noChangeArrowheads="1"/>
          </p:cNvSpPr>
          <p:nvPr/>
        </p:nvSpPr>
        <p:spPr bwMode="auto">
          <a:xfrm>
            <a:off x="5511800" y="0"/>
            <a:ext cx="363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Use </a:t>
            </a:r>
            <a:r>
              <a:rPr lang="en-US" i="1">
                <a:solidFill>
                  <a:schemeClr val="hlink"/>
                </a:solidFill>
              </a:rPr>
              <a:t>F</a:t>
            </a:r>
            <a:r>
              <a:rPr lang="en-US" baseline="-25000">
                <a:solidFill>
                  <a:schemeClr val="hlink"/>
                </a:solidFill>
              </a:rPr>
              <a:t>G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i="1">
                <a:solidFill>
                  <a:schemeClr val="hlink"/>
                </a:solidFill>
              </a:rPr>
              <a:t>GMm / r</a:t>
            </a:r>
            <a:r>
              <a:rPr lang="en-US" baseline="30000">
                <a:solidFill>
                  <a:schemeClr val="hlink"/>
                </a:solidFill>
              </a:rPr>
              <a:t> 2</a:t>
            </a:r>
            <a:r>
              <a:rPr lang="en-US">
                <a:solidFill>
                  <a:schemeClr val="hlink"/>
                </a:solidFill>
              </a:rPr>
              <a:t>.</a:t>
            </a:r>
            <a:endParaRPr lang="en-US" i="1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7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7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7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7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7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7" name="Rectangle 9"/>
          <p:cNvSpPr>
            <a:spLocks noChangeArrowheads="1"/>
          </p:cNvSpPr>
          <p:nvPr/>
        </p:nvSpPr>
        <p:spPr bwMode="auto">
          <a:xfrm>
            <a:off x="674688" y="2660650"/>
            <a:ext cx="7772400" cy="41973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Find the gravitational potential energy stored in the Earth-Moon system.</a:t>
            </a: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>
              <a:sym typeface="Symbol" pitchFamily="18" charset="2"/>
            </a:endParaRPr>
          </a:p>
          <a:p>
            <a:pPr eaLnBrk="0" hangingPunct="0"/>
            <a:r>
              <a:rPr lang="en-US">
                <a:sym typeface="Symbol" pitchFamily="18" charset="2"/>
              </a:rPr>
              <a:t>SOLUTION: Use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= –</a:t>
            </a:r>
            <a:r>
              <a:rPr lang="en-US" i="1">
                <a:sym typeface="Symbol" pitchFamily="18" charset="2"/>
              </a:rPr>
              <a:t>GMm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/>
            <a:r>
              <a:rPr lang="en-US" i="1">
                <a:sym typeface="Symbol" pitchFamily="18" charset="2"/>
              </a:rPr>
              <a:t>     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	= –</a:t>
            </a:r>
            <a:r>
              <a:rPr lang="en-US" i="1">
                <a:sym typeface="Symbol" pitchFamily="18" charset="2"/>
              </a:rPr>
              <a:t>GMm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</a:p>
          <a:p>
            <a:pPr eaLnBrk="0" hangingPunct="0"/>
            <a:r>
              <a:rPr lang="en-US" i="1">
                <a:sym typeface="Symbol" pitchFamily="18" charset="2"/>
              </a:rPr>
              <a:t>    </a:t>
            </a:r>
            <a:r>
              <a:rPr lang="en-US" baseline="-25000">
                <a:sym typeface="Symbol" pitchFamily="18" charset="2"/>
              </a:rPr>
              <a:t> 	</a:t>
            </a:r>
            <a:r>
              <a:rPr lang="en-US">
                <a:sym typeface="Symbol" pitchFamily="18" charset="2"/>
              </a:rPr>
              <a:t>= –(</a:t>
            </a:r>
            <a:r>
              <a:rPr lang="en-US">
                <a:cs typeface="Courier New" pitchFamily="49" charset="0"/>
                <a:sym typeface="Symbol" pitchFamily="18" charset="2"/>
              </a:rPr>
              <a:t>6.67×10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−11</a:t>
            </a:r>
            <a:r>
              <a:rPr lang="en-US">
                <a:sym typeface="Symbol" pitchFamily="18" charset="2"/>
              </a:rPr>
              <a:t>)(</a:t>
            </a:r>
            <a:r>
              <a:rPr lang="en-US">
                <a:cs typeface="Courier New" pitchFamily="49" charset="0"/>
                <a:sym typeface="Symbol" pitchFamily="18" charset="2"/>
              </a:rPr>
              <a:t>5.98×10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24</a:t>
            </a:r>
            <a:r>
              <a:rPr lang="en-US">
                <a:sym typeface="Symbol" pitchFamily="18" charset="2"/>
              </a:rPr>
              <a:t>)(</a:t>
            </a:r>
            <a:r>
              <a:rPr lang="en-US">
                <a:cs typeface="Courier New" pitchFamily="49" charset="0"/>
                <a:sym typeface="Symbol" pitchFamily="18" charset="2"/>
              </a:rPr>
              <a:t>7.36×10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22</a:t>
            </a:r>
            <a:r>
              <a:rPr lang="en-US">
                <a:sym typeface="Symbol" pitchFamily="18" charset="2"/>
              </a:rPr>
              <a:t>)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>
                <a:cs typeface="Courier New" pitchFamily="49" charset="0"/>
                <a:sym typeface="Symbol" pitchFamily="18" charset="2"/>
              </a:rPr>
              <a:t>3.82×10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8</a:t>
            </a:r>
            <a:endParaRPr lang="en-US">
              <a:cs typeface="Courier New" pitchFamily="49" charset="0"/>
              <a:sym typeface="Symbol" pitchFamily="18" charset="2"/>
            </a:endParaRPr>
          </a:p>
          <a:p>
            <a:pPr eaLnBrk="0" hangingPunct="0"/>
            <a:r>
              <a:rPr lang="en-US">
                <a:cs typeface="Courier New" pitchFamily="49" charset="0"/>
                <a:sym typeface="Symbol" pitchFamily="18" charset="2"/>
              </a:rPr>
              <a:t>    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 	</a:t>
            </a:r>
            <a:r>
              <a:rPr lang="en-US">
                <a:cs typeface="Courier New" pitchFamily="49" charset="0"/>
                <a:sym typeface="Symbol" pitchFamily="18" charset="2"/>
              </a:rPr>
              <a:t>= -7.68×10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28</a:t>
            </a:r>
            <a:r>
              <a:rPr lang="en-US">
                <a:cs typeface="Courier New" pitchFamily="49" charset="0"/>
                <a:sym typeface="Symbol" pitchFamily="18" charset="2"/>
              </a:rPr>
              <a:t> J.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13366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Potential energy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104458" name="Picture 10" descr="moon-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30305"/>
              </a:clrFrom>
              <a:clrTo>
                <a:srgbClr val="030305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20800" y="3970338"/>
            <a:ext cx="827088" cy="827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4459" name="Picture 11" descr="Earth view-white background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70625" y="3695700"/>
            <a:ext cx="1389063" cy="1344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4460" name="Line 12"/>
          <p:cNvSpPr>
            <a:spLocks noChangeShapeType="1"/>
          </p:cNvSpPr>
          <p:nvPr/>
        </p:nvSpPr>
        <p:spPr bwMode="auto">
          <a:xfrm>
            <a:off x="1771650" y="4384675"/>
            <a:ext cx="51879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1" name="Text Box 13"/>
          <p:cNvSpPr txBox="1">
            <a:spLocks noChangeArrowheads="1"/>
          </p:cNvSpPr>
          <p:nvPr/>
        </p:nvSpPr>
        <p:spPr bwMode="auto">
          <a:xfrm>
            <a:off x="5468938" y="3268663"/>
            <a:ext cx="290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5.9810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24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kg</a:t>
            </a:r>
          </a:p>
        </p:txBody>
      </p:sp>
      <p:sp>
        <p:nvSpPr>
          <p:cNvPr id="104462" name="Text Box 14"/>
          <p:cNvSpPr txBox="1">
            <a:spLocks noChangeArrowheads="1"/>
          </p:cNvSpPr>
          <p:nvPr/>
        </p:nvSpPr>
        <p:spPr bwMode="auto">
          <a:xfrm>
            <a:off x="663575" y="3579813"/>
            <a:ext cx="248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7.3610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22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kg</a:t>
            </a:r>
          </a:p>
        </p:txBody>
      </p:sp>
      <p:sp>
        <p:nvSpPr>
          <p:cNvPr id="104463" name="Freeform 15"/>
          <p:cNvSpPr>
            <a:spLocks/>
          </p:cNvSpPr>
          <p:nvPr/>
        </p:nvSpPr>
        <p:spPr bwMode="auto">
          <a:xfrm>
            <a:off x="1768475" y="4371975"/>
            <a:ext cx="5208588" cy="555625"/>
          </a:xfrm>
          <a:custGeom>
            <a:avLst/>
            <a:gdLst>
              <a:gd name="T0" fmla="*/ 0 w 3281"/>
              <a:gd name="T1" fmla="*/ 0 h 416"/>
              <a:gd name="T2" fmla="*/ 0 w 3281"/>
              <a:gd name="T3" fmla="*/ 416 h 416"/>
              <a:gd name="T4" fmla="*/ 3281 w 3281"/>
              <a:gd name="T5" fmla="*/ 416 h 416"/>
              <a:gd name="T6" fmla="*/ 3281 w 3281"/>
              <a:gd name="T7" fmla="*/ 0 h 416"/>
              <a:gd name="T8" fmla="*/ 0 60000 65536"/>
              <a:gd name="T9" fmla="*/ 0 60000 65536"/>
              <a:gd name="T10" fmla="*/ 0 60000 65536"/>
              <a:gd name="T11" fmla="*/ 0 60000 65536"/>
              <a:gd name="T12" fmla="*/ 0 w 3281"/>
              <a:gd name="T13" fmla="*/ 0 h 416"/>
              <a:gd name="T14" fmla="*/ 3281 w 3281"/>
              <a:gd name="T15" fmla="*/ 416 h 4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81" h="416">
                <a:moveTo>
                  <a:pt x="0" y="0"/>
                </a:moveTo>
                <a:lnTo>
                  <a:pt x="0" y="416"/>
                </a:lnTo>
                <a:lnTo>
                  <a:pt x="3281" y="416"/>
                </a:lnTo>
                <a:lnTo>
                  <a:pt x="3281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4" name="Text Box 16"/>
          <p:cNvSpPr txBox="1">
            <a:spLocks noChangeArrowheads="1"/>
          </p:cNvSpPr>
          <p:nvPr/>
        </p:nvSpPr>
        <p:spPr bwMode="auto">
          <a:xfrm>
            <a:off x="3162300" y="4660900"/>
            <a:ext cx="2251075" cy="457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d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3.8210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8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m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844550" y="1797050"/>
            <a:ext cx="7464425" cy="823913"/>
            <a:chOff x="532" y="2777"/>
            <a:chExt cx="4702" cy="519"/>
          </a:xfrm>
        </p:grpSpPr>
        <p:sp>
          <p:nvSpPr>
            <p:cNvPr id="11278" name="Rectangle 5"/>
            <p:cNvSpPr>
              <a:spLocks noChangeArrowheads="1"/>
            </p:cNvSpPr>
            <p:nvPr/>
          </p:nvSpPr>
          <p:spPr bwMode="auto">
            <a:xfrm>
              <a:off x="614" y="2790"/>
              <a:ext cx="1744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</a:t>
              </a:r>
              <a:r>
                <a:rPr lang="en-US" baseline="-25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 baseline="30000">
                  <a:sym typeface="Symbol" pitchFamily="18" charset="2"/>
                </a:rPr>
                <a:t> </a:t>
              </a:r>
            </a:p>
          </p:txBody>
        </p:sp>
        <p:sp>
          <p:nvSpPr>
            <p:cNvPr id="11279" name="Text Box 6"/>
            <p:cNvSpPr txBox="1">
              <a:spLocks noChangeArrowheads="1"/>
            </p:cNvSpPr>
            <p:nvPr/>
          </p:nvSpPr>
          <p:spPr bwMode="auto">
            <a:xfrm>
              <a:off x="3704" y="2777"/>
              <a:ext cx="1530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energy</a:t>
              </a:r>
            </a:p>
          </p:txBody>
        </p:sp>
        <p:sp>
          <p:nvSpPr>
            <p:cNvPr id="11280" name="Rectangle 7"/>
            <p:cNvSpPr>
              <a:spLocks noChangeArrowheads="1"/>
            </p:cNvSpPr>
            <p:nvPr/>
          </p:nvSpPr>
          <p:spPr bwMode="auto">
            <a:xfrm>
              <a:off x="532" y="2779"/>
              <a:ext cx="4701" cy="51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Courier New" pitchFamily="49" charset="0"/>
              </a:endParaRPr>
            </a:p>
          </p:txBody>
        </p:sp>
        <p:sp>
          <p:nvSpPr>
            <p:cNvPr id="11281" name="Rectangle 8"/>
            <p:cNvSpPr>
              <a:spLocks noChangeArrowheads="1"/>
            </p:cNvSpPr>
            <p:nvPr/>
          </p:nvSpPr>
          <p:spPr bwMode="auto">
            <a:xfrm>
              <a:off x="936" y="3034"/>
              <a:ext cx="303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i="1">
                  <a:solidFill>
                    <a:schemeClr val="hlink"/>
                  </a:solidFill>
                  <a:sym typeface="Symbol" pitchFamily="18" charset="2"/>
                </a:rPr>
                <a:t>where G</a:t>
              </a:r>
              <a:r>
                <a:rPr lang="en-US" sz="2000">
                  <a:solidFill>
                    <a:schemeClr val="hlink"/>
                  </a:solidFill>
                  <a:sym typeface="Symbol" pitchFamily="18" charset="2"/>
                </a:rPr>
                <a:t> =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6.67×10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−11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N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m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2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kg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−2</a:t>
              </a:r>
            </a:p>
          </p:txBody>
        </p:sp>
      </p:grpSp>
      <p:sp>
        <p:nvSpPr>
          <p:cNvPr id="104472" name="Text Box 24"/>
          <p:cNvSpPr txBox="1">
            <a:spLocks noChangeArrowheads="1"/>
          </p:cNvSpPr>
          <p:nvPr/>
        </p:nvSpPr>
        <p:spPr bwMode="auto">
          <a:xfrm>
            <a:off x="5478463" y="171450"/>
            <a:ext cx="366553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Note that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 baseline="-25000">
                <a:solidFill>
                  <a:schemeClr val="hlink"/>
                </a:solidFill>
              </a:rPr>
              <a:t>P</a:t>
            </a:r>
            <a:r>
              <a:rPr lang="en-US">
                <a:solidFill>
                  <a:schemeClr val="hlink"/>
                </a:solidFill>
              </a:rPr>
              <a:t> is negative. Note also that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 baseline="-25000">
                <a:solidFill>
                  <a:schemeClr val="hlink"/>
                </a:solidFill>
              </a:rPr>
              <a:t>P</a:t>
            </a:r>
            <a:r>
              <a:rPr lang="en-US">
                <a:solidFill>
                  <a:schemeClr val="hlink"/>
                </a:solidFill>
              </a:rPr>
              <a:t> = 0 when 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  =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.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4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4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4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4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4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4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4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4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60" grpId="0" animBg="1"/>
      <p:bldP spid="104461" grpId="0"/>
      <p:bldP spid="104462" grpId="0"/>
      <p:bldP spid="104463" grpId="0" animBg="1"/>
      <p:bldP spid="104464" grpId="0" animBg="1"/>
      <p:bldP spid="1044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5" name="Rectangle 9"/>
          <p:cNvSpPr>
            <a:spLocks noChangeArrowheads="1"/>
          </p:cNvSpPr>
          <p:nvPr/>
        </p:nvSpPr>
        <p:spPr bwMode="auto">
          <a:xfrm>
            <a:off x="682625" y="4881769"/>
            <a:ext cx="7764463" cy="1976231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The local formula works only for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CONST, which is true as long as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y</a:t>
            </a:r>
            <a:r>
              <a:rPr lang="en-US">
                <a:cs typeface="Courier New" pitchFamily="49" charset="0"/>
                <a:sym typeface="Symbol" pitchFamily="18" charset="2"/>
              </a:rPr>
              <a:t> is relatively small (say, sea level to the top of Mt. Everest). For larger distances use             		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= –</a:t>
            </a:r>
            <a:r>
              <a:rPr lang="en-US" i="1">
                <a:sym typeface="Symbol" pitchFamily="18" charset="2"/>
              </a:rPr>
              <a:t>GMm</a:t>
            </a:r>
            <a:r>
              <a:rPr lang="en-US">
                <a:sym typeface="Symbol" pitchFamily="18" charset="2"/>
              </a:rPr>
              <a:t>(1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i="1" baseline="-25000">
                <a:sym typeface="Symbol" pitchFamily="18" charset="2"/>
              </a:rPr>
              <a:t>f</a:t>
            </a:r>
            <a:r>
              <a:rPr lang="en-US">
                <a:sym typeface="Symbol" pitchFamily="18" charset="2"/>
              </a:rPr>
              <a:t>  – 1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-25000">
                <a:sym typeface="Symbol" pitchFamily="18" charset="2"/>
              </a:rPr>
              <a:t>0</a:t>
            </a:r>
            <a:r>
              <a:rPr lang="en-US">
                <a:sym typeface="Symbol" pitchFamily="18" charset="2"/>
              </a:rPr>
              <a:t>).</a:t>
            </a:r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579812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i="1">
                <a:solidFill>
                  <a:schemeClr val="accent2"/>
                </a:solidFill>
              </a:rPr>
              <a:t>Potential energy </a:t>
            </a:r>
            <a:r>
              <a:rPr lang="en-US" altLang="en-US">
                <a:solidFill>
                  <a:schemeClr val="accent2"/>
                </a:solidFill>
              </a:rPr>
              <a:t>– gravitational</a:t>
            </a: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Calibri" pitchFamily="34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The previous formula is for large-scale                gravitational fields (say, some distance from a planet).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Recall the “local” formula for                              gravitational potential energy:</a:t>
            </a:r>
          </a:p>
          <a:p>
            <a:pPr eaLnBrk="0" hangingPunct="0">
              <a:spcBef>
                <a:spcPct val="20000"/>
              </a:spcBef>
            </a:pPr>
            <a:endParaRPr lang="en-US">
              <a:solidFill>
                <a:srgbClr val="000000"/>
              </a:solidFill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The local formula treats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baseline="-2500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0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as the arbitrary “zero value” of potential energy. The general formula treats </a:t>
            </a:r>
            <a:r>
              <a:rPr lang="en-US" i="1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=  as the “zero value”.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809625" y="3332163"/>
            <a:ext cx="7464425" cy="457200"/>
            <a:chOff x="510" y="2123"/>
            <a:chExt cx="4702" cy="288"/>
          </a:xfrm>
        </p:grpSpPr>
        <p:sp>
          <p:nvSpPr>
            <p:cNvPr id="12296" name="Rectangle 5"/>
            <p:cNvSpPr>
              <a:spLocks noChangeArrowheads="1"/>
            </p:cNvSpPr>
            <p:nvPr/>
          </p:nvSpPr>
          <p:spPr bwMode="auto">
            <a:xfrm>
              <a:off x="592" y="2136"/>
              <a:ext cx="321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E</a:t>
              </a:r>
              <a:r>
                <a:rPr lang="en-US" baseline="-25000">
                  <a:cs typeface="Courier New" pitchFamily="49" charset="0"/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mg </a:t>
              </a: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y</a:t>
              </a:r>
            </a:p>
          </p:txBody>
        </p:sp>
        <p:sp>
          <p:nvSpPr>
            <p:cNvPr id="12297" name="Text Box 6"/>
            <p:cNvSpPr txBox="1">
              <a:spLocks noChangeArrowheads="1"/>
            </p:cNvSpPr>
            <p:nvPr/>
          </p:nvSpPr>
          <p:spPr bwMode="auto">
            <a:xfrm>
              <a:off x="4217" y="2123"/>
              <a:ext cx="995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local </a:t>
              </a:r>
              <a:r>
                <a:rPr lang="en-US">
                  <a:solidFill>
                    <a:schemeClr val="bg1"/>
                  </a:solidFill>
                  <a:sym typeface="Symbol" pitchFamily="18" charset="2"/>
                </a:rPr>
                <a:t>∆</a:t>
              </a:r>
              <a:r>
                <a:rPr lang="en-US" i="1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E</a:t>
              </a:r>
              <a:r>
                <a:rPr lang="en-US" baseline="-25000">
                  <a:solidFill>
                    <a:schemeClr val="bg1"/>
                  </a:solidFill>
                  <a:cs typeface="Courier New" pitchFamily="49" charset="0"/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</a:t>
              </a:r>
            </a:p>
          </p:txBody>
        </p:sp>
        <p:sp>
          <p:nvSpPr>
            <p:cNvPr id="12298" name="Rectangle 7"/>
            <p:cNvSpPr>
              <a:spLocks noChangeArrowheads="1"/>
            </p:cNvSpPr>
            <p:nvPr/>
          </p:nvSpPr>
          <p:spPr bwMode="auto">
            <a:xfrm>
              <a:off x="510" y="2125"/>
              <a:ext cx="4701" cy="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Rectangle 8"/>
            <p:cNvSpPr>
              <a:spLocks noChangeArrowheads="1"/>
            </p:cNvSpPr>
            <p:nvPr/>
          </p:nvSpPr>
          <p:spPr bwMode="auto">
            <a:xfrm>
              <a:off x="2281" y="2131"/>
              <a:ext cx="201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olidFill>
                    <a:schemeClr val="hlink"/>
                  </a:solidFill>
                  <a:sym typeface="Symbol" pitchFamily="18" charset="2"/>
                </a:rPr>
                <a:t>where g</a:t>
              </a:r>
              <a:r>
                <a:rPr lang="en-US">
                  <a:solidFill>
                    <a:schemeClr val="hlink"/>
                  </a:solidFill>
                  <a:sym typeface="Symbol" pitchFamily="18" charset="2"/>
                </a:rPr>
                <a:t> = </a:t>
              </a:r>
              <a:r>
                <a:rPr lang="en-US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9.8 m</a:t>
              </a:r>
              <a:r>
                <a:rPr lang="en-US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s</a:t>
              </a:r>
              <a:r>
                <a:rPr lang="en-US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-2</a:t>
              </a:r>
            </a:p>
          </p:txBody>
        </p:sp>
      </p:grpSp>
      <p:pic>
        <p:nvPicPr>
          <p:cNvPr id="106509" name="Picture 13"/>
          <p:cNvPicPr>
            <a:picLocks noChangeAspect="1" noChangeArrowheads="1"/>
          </p:cNvPicPr>
          <p:nvPr/>
        </p:nvPicPr>
        <p:blipFill>
          <a:blip r:embed="rId4" cstate="print"/>
          <a:srcRect t="16728"/>
          <a:stretch>
            <a:fillRect/>
          </a:stretch>
        </p:blipFill>
        <p:spPr bwMode="auto">
          <a:xfrm>
            <a:off x="5133975" y="2570163"/>
            <a:ext cx="3687763" cy="663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6510" name="Picture 1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19900" y="242888"/>
            <a:ext cx="1803400" cy="1817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9" name="Rectangle 15"/>
          <p:cNvSpPr>
            <a:spLocks noChangeArrowheads="1"/>
          </p:cNvSpPr>
          <p:nvPr/>
        </p:nvSpPr>
        <p:spPr bwMode="auto">
          <a:xfrm>
            <a:off x="682625" y="4645742"/>
            <a:ext cx="7764463" cy="2212258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14000"/>
              </a:lnSpc>
              <a:spcBef>
                <a:spcPts val="300"/>
              </a:spcBef>
            </a:pPr>
            <a:r>
              <a:rPr lang="en-US" b="1" i="1" dirty="0"/>
              <a:t>FYI</a:t>
            </a:r>
          </a:p>
          <a:p>
            <a:pPr eaLnBrk="0" hangingPunct="0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The units of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are 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. </a:t>
            </a:r>
          </a:p>
          <a:p>
            <a:pPr eaLnBrk="0" hangingPunct="0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Gravitational potential is the work done per unit mass in moving a small mass from infinity to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. (Note that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 = 0 at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 = .)</a:t>
            </a:r>
          </a:p>
        </p:txBody>
      </p:sp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685800" y="1338264"/>
            <a:ext cx="7772400" cy="3322226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Potential </a:t>
            </a:r>
            <a:r>
              <a:rPr lang="en-US" altLang="en-US" dirty="0">
                <a:solidFill>
                  <a:schemeClr val="accent2"/>
                </a:solidFill>
              </a:rPr>
              <a:t>– gravitational </a:t>
            </a:r>
            <a:endParaRPr lang="en-US" sz="2000" dirty="0">
              <a:solidFill>
                <a:srgbClr val="000000"/>
              </a:solidFill>
              <a:latin typeface="Courier New" pitchFamily="49" charset="0"/>
              <a:ea typeface="Calibri" pitchFamily="34" charset="0"/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000" dirty="0">
              <a:solidFill>
                <a:srgbClr val="000000"/>
              </a:solidFill>
              <a:latin typeface="Courier New" pitchFamily="49" charset="0"/>
              <a:ea typeface="Calibri" pitchFamily="34" charset="0"/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endParaRPr lang="en-US" sz="2000" dirty="0">
              <a:solidFill>
                <a:srgbClr val="000000"/>
              </a:solidFill>
              <a:latin typeface="Courier New" pitchFamily="49" charset="0"/>
              <a:ea typeface="Calibri" pitchFamily="34" charset="0"/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We now define </a:t>
            </a:r>
            <a:r>
              <a:rPr lang="en-US" b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gravitational potential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as gravitational potential energy per unit mass:</a:t>
            </a:r>
          </a:p>
          <a:p>
            <a:pPr eaLnBrk="0" hangingPunct="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ea typeface="Calibri" pitchFamily="34" charset="0"/>
              <a:cs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This is why it is called “potential”.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812800" y="3336925"/>
            <a:ext cx="7464425" cy="825500"/>
            <a:chOff x="512" y="2549"/>
            <a:chExt cx="4702" cy="520"/>
          </a:xfrm>
        </p:grpSpPr>
        <p:sp>
          <p:nvSpPr>
            <p:cNvPr id="13325" name="Rectangle 10"/>
            <p:cNvSpPr>
              <a:spLocks noChangeArrowheads="1"/>
            </p:cNvSpPr>
            <p:nvPr/>
          </p:nvSpPr>
          <p:spPr bwMode="auto">
            <a:xfrm>
              <a:off x="594" y="2562"/>
              <a:ext cx="243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sym typeface="Symbol" pitchFamily="18" charset="2"/>
                </a:rPr>
                <a:t>V</a:t>
              </a:r>
              <a:r>
                <a:rPr lang="en-US" baseline="-25000"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>
                  <a:solidFill>
                    <a:srgbClr val="000000"/>
                  </a:solidFill>
                  <a:ea typeface="Times New Roman" pitchFamily="18" charset="0"/>
                  <a:cs typeface="Courier New" pitchFamily="49" charset="0"/>
                  <a:sym typeface="Symbol" pitchFamily="18" charset="2"/>
                </a:rPr>
                <a:t>∆</a:t>
              </a: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 i="1" baseline="-25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m</a:t>
              </a:r>
            </a:p>
          </p:txBody>
        </p:sp>
        <p:sp>
          <p:nvSpPr>
            <p:cNvPr id="13326" name="Text Box 11"/>
            <p:cNvSpPr txBox="1">
              <a:spLocks noChangeArrowheads="1"/>
            </p:cNvSpPr>
            <p:nvPr/>
          </p:nvSpPr>
          <p:spPr bwMode="auto">
            <a:xfrm>
              <a:off x="3984" y="2549"/>
              <a:ext cx="1230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</a:t>
              </a:r>
            </a:p>
          </p:txBody>
        </p:sp>
        <p:sp>
          <p:nvSpPr>
            <p:cNvPr id="13327" name="Rectangle 12"/>
            <p:cNvSpPr>
              <a:spLocks noChangeArrowheads="1"/>
            </p:cNvSpPr>
            <p:nvPr/>
          </p:nvSpPr>
          <p:spPr bwMode="auto">
            <a:xfrm>
              <a:off x="512" y="2551"/>
              <a:ext cx="4701" cy="51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8" name="Rectangle 14"/>
            <p:cNvSpPr>
              <a:spLocks noChangeArrowheads="1"/>
            </p:cNvSpPr>
            <p:nvPr/>
          </p:nvSpPr>
          <p:spPr bwMode="auto">
            <a:xfrm>
              <a:off x="708" y="2791"/>
              <a:ext cx="243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 baseline="-25000"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  <p:sp>
        <p:nvSpPr>
          <p:cNvPr id="118800" name="Rectangle 16"/>
          <p:cNvSpPr>
            <a:spLocks noChangeArrowheads="1"/>
          </p:cNvSpPr>
          <p:nvPr/>
        </p:nvSpPr>
        <p:spPr bwMode="auto">
          <a:xfrm>
            <a:off x="1854200" y="3405188"/>
            <a:ext cx="1098550" cy="355600"/>
          </a:xfrm>
          <a:prstGeom prst="rect">
            <a:avLst/>
          </a:prstGeom>
          <a:solidFill>
            <a:srgbClr val="FF3300">
              <a:alpha val="3490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844550" y="1768475"/>
            <a:ext cx="7464425" cy="823913"/>
            <a:chOff x="532" y="2777"/>
            <a:chExt cx="4702" cy="519"/>
          </a:xfrm>
        </p:grpSpPr>
        <p:sp>
          <p:nvSpPr>
            <p:cNvPr id="13321" name="Rectangle 5"/>
            <p:cNvSpPr>
              <a:spLocks noChangeArrowheads="1"/>
            </p:cNvSpPr>
            <p:nvPr/>
          </p:nvSpPr>
          <p:spPr bwMode="auto">
            <a:xfrm>
              <a:off x="614" y="2790"/>
              <a:ext cx="1744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</a:t>
              </a:r>
              <a:r>
                <a:rPr lang="en-US" baseline="-25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 baseline="30000">
                  <a:sym typeface="Symbol" pitchFamily="18" charset="2"/>
                </a:rPr>
                <a:t> </a:t>
              </a:r>
            </a:p>
          </p:txBody>
        </p:sp>
        <p:sp>
          <p:nvSpPr>
            <p:cNvPr id="13322" name="Text Box 6"/>
            <p:cNvSpPr txBox="1">
              <a:spLocks noChangeArrowheads="1"/>
            </p:cNvSpPr>
            <p:nvPr/>
          </p:nvSpPr>
          <p:spPr bwMode="auto">
            <a:xfrm>
              <a:off x="3704" y="2777"/>
              <a:ext cx="1530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energy</a:t>
              </a:r>
            </a:p>
          </p:txBody>
        </p:sp>
        <p:sp>
          <p:nvSpPr>
            <p:cNvPr id="13323" name="Rectangle 7"/>
            <p:cNvSpPr>
              <a:spLocks noChangeArrowheads="1"/>
            </p:cNvSpPr>
            <p:nvPr/>
          </p:nvSpPr>
          <p:spPr bwMode="auto">
            <a:xfrm>
              <a:off x="532" y="2779"/>
              <a:ext cx="4701" cy="51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Courier New" pitchFamily="49" charset="0"/>
              </a:endParaRPr>
            </a:p>
          </p:txBody>
        </p:sp>
        <p:sp>
          <p:nvSpPr>
            <p:cNvPr id="13324" name="Rectangle 8"/>
            <p:cNvSpPr>
              <a:spLocks noChangeArrowheads="1"/>
            </p:cNvSpPr>
            <p:nvPr/>
          </p:nvSpPr>
          <p:spPr bwMode="auto">
            <a:xfrm>
              <a:off x="936" y="3034"/>
              <a:ext cx="303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sz="2000" i="1">
                  <a:solidFill>
                    <a:schemeClr val="hlink"/>
                  </a:solidFill>
                  <a:sym typeface="Symbol" pitchFamily="18" charset="2"/>
                </a:rPr>
                <a:t>where G</a:t>
              </a:r>
              <a:r>
                <a:rPr lang="en-US" sz="2000">
                  <a:solidFill>
                    <a:schemeClr val="hlink"/>
                  </a:solidFill>
                  <a:sym typeface="Symbol" pitchFamily="18" charset="2"/>
                </a:rPr>
                <a:t> =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6.67×10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−11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N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m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2</a:t>
              </a:r>
              <a:r>
                <a:rPr lang="en-US" sz="2000" baseline="-25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 </a:t>
              </a:r>
              <a:r>
                <a:rPr lang="en-US" sz="2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kg</a:t>
              </a:r>
              <a:r>
                <a:rPr lang="en-US" sz="2000" baseline="30000">
                  <a:solidFill>
                    <a:schemeClr val="hlink"/>
                  </a:solidFill>
                  <a:cs typeface="Courier New" pitchFamily="49" charset="0"/>
                  <a:sym typeface="Symbol" pitchFamily="18" charset="2"/>
                </a:rPr>
                <a:t>−2</a:t>
              </a:r>
            </a:p>
          </p:txBody>
        </p:sp>
      </p:grpSp>
      <p:sp>
        <p:nvSpPr>
          <p:cNvPr id="118809" name="Text Box 25"/>
          <p:cNvSpPr txBox="1">
            <a:spLocks noChangeArrowheads="1"/>
          </p:cNvSpPr>
          <p:nvPr/>
        </p:nvSpPr>
        <p:spPr bwMode="auto">
          <a:xfrm>
            <a:off x="5478463" y="171450"/>
            <a:ext cx="366553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Note that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 baseline="-25000">
                <a:solidFill>
                  <a:schemeClr val="hlink"/>
                </a:solidFill>
              </a:rPr>
              <a:t>P</a:t>
            </a:r>
            <a:r>
              <a:rPr lang="en-US">
                <a:solidFill>
                  <a:schemeClr val="hlink"/>
                </a:solidFill>
              </a:rPr>
              <a:t> is negative. Note also that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 baseline="-25000">
                <a:solidFill>
                  <a:schemeClr val="hlink"/>
                </a:solidFill>
              </a:rPr>
              <a:t>P</a:t>
            </a:r>
            <a:r>
              <a:rPr lang="en-US">
                <a:solidFill>
                  <a:schemeClr val="hlink"/>
                </a:solidFill>
              </a:rPr>
              <a:t> = 0 when 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  =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.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8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8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0" grpId="0" animBg="1"/>
      <p:bldP spid="11880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42" name="Rectangle 10"/>
          <p:cNvSpPr>
            <a:spLocks noChangeArrowheads="1"/>
          </p:cNvSpPr>
          <p:nvPr/>
        </p:nvSpPr>
        <p:spPr bwMode="auto">
          <a:xfrm>
            <a:off x="674688" y="2665413"/>
            <a:ext cx="7772400" cy="41925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Find the change in gravitational potential in moving from Earth’s surface to 5 Earth radii (from Earth’s center).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SOLUTION: 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M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5.98×10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24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kg and 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1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m. 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cs typeface="Courier New" pitchFamily="49" charset="0"/>
                <a:sym typeface="Symbol" pitchFamily="18" charset="2"/>
              </a:rPr>
              <a:t>But then 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2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5(6.37×10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 = 3.19×10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m. Thus</a:t>
            </a:r>
            <a:endParaRPr lang="en-US" dirty="0">
              <a:sym typeface="Symbol" pitchFamily="18" charset="2"/>
            </a:endParaRPr>
          </a:p>
          <a:p>
            <a:pPr eaLnBrk="0" hangingPunct="0">
              <a:lnSpc>
                <a:spcPct val="114000"/>
              </a:lnSpc>
              <a:spcBef>
                <a:spcPct val="20000"/>
              </a:spcBef>
            </a:pPr>
            <a:r>
              <a:rPr lang="en-US" i="1" dirty="0">
                <a:cs typeface="Courier New" pitchFamily="49" charset="0"/>
                <a:sym typeface="Symbol" pitchFamily="18" charset="2"/>
              </a:rPr>
              <a:t>   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	= –</a:t>
            </a:r>
            <a:r>
              <a:rPr lang="en-US" i="1" dirty="0">
                <a:sym typeface="Symbol" pitchFamily="18" charset="2"/>
              </a:rPr>
              <a:t>GM</a:t>
            </a:r>
            <a:r>
              <a:rPr lang="en-US" dirty="0">
                <a:sym typeface="Symbol" pitchFamily="18" charset="2"/>
              </a:rPr>
              <a:t>( 1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– 1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1 </a:t>
            </a:r>
            <a:r>
              <a:rPr lang="en-US" dirty="0">
                <a:sym typeface="Symbol" pitchFamily="18" charset="2"/>
              </a:rPr>
              <a:t>)</a:t>
            </a:r>
            <a:endParaRPr lang="en-US" i="1" dirty="0">
              <a:sym typeface="Symbol" pitchFamily="18" charset="2"/>
            </a:endParaRPr>
          </a:p>
          <a:p>
            <a:pPr eaLnBrk="0" hangingPunct="0">
              <a:spcBef>
                <a:spcPts val="300"/>
              </a:spcBef>
            </a:pPr>
            <a:r>
              <a:rPr lang="en-US" i="1" dirty="0">
                <a:sym typeface="Symbol" pitchFamily="18" charset="2"/>
              </a:rPr>
              <a:t>    	</a:t>
            </a:r>
            <a:r>
              <a:rPr lang="en-US" dirty="0">
                <a:sym typeface="Symbol" pitchFamily="18" charset="2"/>
              </a:rPr>
              <a:t>= –</a:t>
            </a:r>
            <a:r>
              <a:rPr lang="en-US" i="1" dirty="0">
                <a:sym typeface="Symbol" pitchFamily="18" charset="2"/>
              </a:rPr>
              <a:t>GM</a:t>
            </a:r>
            <a:r>
              <a:rPr lang="en-US" dirty="0">
                <a:sym typeface="Symbol" pitchFamily="18" charset="2"/>
              </a:rPr>
              <a:t>( 1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3.19×10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– </a:t>
            </a:r>
            <a:r>
              <a:rPr lang="en-US" dirty="0">
                <a:sym typeface="Symbol" pitchFamily="18" charset="2"/>
              </a:rPr>
              <a:t>1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 </a:t>
            </a:r>
          </a:p>
          <a:p>
            <a:pPr eaLnBrk="0" hangingPunct="0">
              <a:spcBef>
                <a:spcPts val="300"/>
              </a:spcBef>
            </a:pPr>
            <a:r>
              <a:rPr lang="en-US" dirty="0">
                <a:cs typeface="Courier New" pitchFamily="49" charset="0"/>
                <a:sym typeface="Symbol" pitchFamily="18" charset="2"/>
              </a:rPr>
              <a:t>	= </a:t>
            </a:r>
            <a:r>
              <a:rPr lang="en-US" dirty="0">
                <a:sym typeface="Symbol" pitchFamily="18" charset="2"/>
              </a:rPr>
              <a:t>–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GM</a:t>
            </a:r>
            <a:r>
              <a:rPr lang="en-US" dirty="0">
                <a:cs typeface="Courier New" pitchFamily="49" charset="0"/>
                <a:sym typeface="Symbol" pitchFamily="18" charset="2"/>
              </a:rPr>
              <a:t>(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1.26×10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-7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300"/>
              </a:spcBef>
            </a:pPr>
            <a:r>
              <a:rPr lang="en-US" dirty="0">
                <a:cs typeface="Courier New" pitchFamily="49" charset="0"/>
                <a:sym typeface="Symbol" pitchFamily="18" charset="2"/>
              </a:rPr>
              <a:t>    	</a:t>
            </a:r>
            <a:r>
              <a:rPr lang="en-US" dirty="0">
                <a:sym typeface="Symbol" pitchFamily="18" charset="2"/>
              </a:rPr>
              <a:t>= –(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6.67×10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−11</a:t>
            </a:r>
            <a:r>
              <a:rPr lang="en-US" dirty="0">
                <a:sym typeface="Symbol" pitchFamily="18" charset="2"/>
              </a:rPr>
              <a:t>)(</a:t>
            </a:r>
            <a:r>
              <a:rPr lang="en-US" dirty="0">
                <a:cs typeface="Courier New" pitchFamily="49" charset="0"/>
                <a:sym typeface="Symbol" pitchFamily="18" charset="2"/>
              </a:rPr>
              <a:t>5.98×10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24</a:t>
            </a:r>
            <a:r>
              <a:rPr lang="en-US" dirty="0">
                <a:sym typeface="Symbol" pitchFamily="18" charset="2"/>
              </a:rPr>
              <a:t>)</a:t>
            </a:r>
            <a:r>
              <a:rPr lang="en-US" dirty="0">
                <a:cs typeface="Courier New" pitchFamily="49" charset="0"/>
                <a:sym typeface="Symbol" pitchFamily="18" charset="2"/>
              </a:rPr>
              <a:t>(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1.26×10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-7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spcBef>
                <a:spcPts val="300"/>
              </a:spcBef>
            </a:pPr>
            <a:r>
              <a:rPr lang="en-US" dirty="0">
                <a:sym typeface="Symbol" pitchFamily="18" charset="2"/>
              </a:rPr>
              <a:t>    	= </a:t>
            </a:r>
            <a:r>
              <a:rPr lang="en-US" baseline="30000" dirty="0">
                <a:sym typeface="Symbol" pitchFamily="18" charset="2"/>
              </a:rPr>
              <a:t>+</a:t>
            </a:r>
            <a:r>
              <a:rPr lang="en-US" dirty="0">
                <a:cs typeface="Courier New" pitchFamily="49" charset="0"/>
                <a:sym typeface="Symbol" pitchFamily="18" charset="2"/>
              </a:rPr>
              <a:t>5.01×10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ym typeface="Symbol" pitchFamily="18" charset="2"/>
              </a:rPr>
              <a:t> 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.</a:t>
            </a: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13779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Potential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812800" y="1808163"/>
            <a:ext cx="7464425" cy="825500"/>
            <a:chOff x="512" y="2549"/>
            <a:chExt cx="4702" cy="520"/>
          </a:xfrm>
        </p:grpSpPr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594" y="2562"/>
              <a:ext cx="243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sym typeface="Symbol" pitchFamily="18" charset="2"/>
                </a:rPr>
                <a:t>V</a:t>
              </a:r>
              <a:r>
                <a:rPr lang="en-US" baseline="-25000"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>
                  <a:solidFill>
                    <a:srgbClr val="000000"/>
                  </a:solidFill>
                  <a:ea typeface="Times New Roman" pitchFamily="18" charset="0"/>
                  <a:cs typeface="Courier New" pitchFamily="49" charset="0"/>
                  <a:sym typeface="Symbol" pitchFamily="18" charset="2"/>
                </a:rPr>
                <a:t>∆</a:t>
              </a: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 i="1" baseline="-25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m</a:t>
              </a:r>
            </a:p>
          </p:txBody>
        </p:sp>
        <p:sp>
          <p:nvSpPr>
            <p:cNvPr id="14352" name="Text Box 15"/>
            <p:cNvSpPr txBox="1">
              <a:spLocks noChangeArrowheads="1"/>
            </p:cNvSpPr>
            <p:nvPr/>
          </p:nvSpPr>
          <p:spPr bwMode="auto">
            <a:xfrm>
              <a:off x="3984" y="2549"/>
              <a:ext cx="1230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512" y="2551"/>
              <a:ext cx="4701" cy="51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708" y="2791"/>
              <a:ext cx="243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 baseline="-25000"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  <p:pic>
        <p:nvPicPr>
          <p:cNvPr id="120850" name="Picture 1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1575" y="5876925"/>
            <a:ext cx="792163" cy="798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0851" name="Line 19"/>
          <p:cNvSpPr>
            <a:spLocks noChangeShapeType="1"/>
          </p:cNvSpPr>
          <p:nvPr/>
        </p:nvSpPr>
        <p:spPr bwMode="auto">
          <a:xfrm flipV="1">
            <a:off x="7908925" y="4183063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 flipV="1">
            <a:off x="7908925" y="4611688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0853" name="Line 21"/>
          <p:cNvSpPr>
            <a:spLocks noChangeShapeType="1"/>
          </p:cNvSpPr>
          <p:nvPr/>
        </p:nvSpPr>
        <p:spPr bwMode="auto">
          <a:xfrm flipV="1">
            <a:off x="7918450" y="5040313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0854" name="Line 22"/>
          <p:cNvSpPr>
            <a:spLocks noChangeShapeType="1"/>
          </p:cNvSpPr>
          <p:nvPr/>
        </p:nvSpPr>
        <p:spPr bwMode="auto">
          <a:xfrm flipV="1">
            <a:off x="7918450" y="5468938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0855" name="Line 23"/>
          <p:cNvSpPr>
            <a:spLocks noChangeShapeType="1"/>
          </p:cNvSpPr>
          <p:nvPr/>
        </p:nvSpPr>
        <p:spPr bwMode="auto">
          <a:xfrm flipV="1">
            <a:off x="7924800" y="5892800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7915275" y="5781675"/>
            <a:ext cx="39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bg1"/>
                </a:solidFill>
              </a:rPr>
              <a:t>r</a:t>
            </a:r>
            <a:r>
              <a:rPr lang="en-US" baseline="-25000">
                <a:solidFill>
                  <a:schemeClr val="bg1"/>
                </a:solidFill>
              </a:rPr>
              <a:t>1</a:t>
            </a:r>
            <a:endParaRPr lang="en-US" i="1">
              <a:solidFill>
                <a:schemeClr val="bg1"/>
              </a:solidFill>
            </a:endParaRPr>
          </a:p>
        </p:txBody>
      </p:sp>
      <p:sp>
        <p:nvSpPr>
          <p:cNvPr id="120857" name="Text Box 25"/>
          <p:cNvSpPr txBox="1">
            <a:spLocks noChangeArrowheads="1"/>
          </p:cNvSpPr>
          <p:nvPr/>
        </p:nvSpPr>
        <p:spPr bwMode="auto">
          <a:xfrm>
            <a:off x="7915275" y="3997325"/>
            <a:ext cx="39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r</a:t>
            </a:r>
            <a:r>
              <a:rPr lang="en-US" baseline="-25000"/>
              <a:t>2</a:t>
            </a:r>
            <a:endParaRPr lang="en-US" i="1"/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5478463" y="171450"/>
            <a:ext cx="366553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Why was the change in potential positive?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0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0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0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0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0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0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0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0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0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0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0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0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0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1" grpId="0" animBg="1"/>
      <p:bldP spid="120852" grpId="0" animBg="1"/>
      <p:bldP spid="120853" grpId="0" animBg="1"/>
      <p:bldP spid="120854" grpId="0" animBg="1"/>
      <p:bldP spid="120855" grpId="0" animBg="1"/>
      <p:bldP spid="120856" grpId="0"/>
      <p:bldP spid="120857" grpId="0"/>
      <p:bldP spid="1208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682625" y="1712913"/>
            <a:ext cx="7764463" cy="514508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 dirty="0"/>
              <a:t>FYI</a:t>
            </a:r>
          </a:p>
          <a:p>
            <a:pPr eaLnBrk="0" hangingPunct="0"/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A few words clarifying the gravitational potential energy and gravitational potential formulas are in order.</a:t>
            </a:r>
          </a:p>
          <a:p>
            <a:pPr eaLnBrk="0" hangingPunct="0"/>
            <a:r>
              <a:rPr lang="en-US" i="1" dirty="0">
                <a:sym typeface="Symbol" pitchFamily="18" charset="2"/>
              </a:rPr>
              <a:t>  E</a:t>
            </a:r>
            <a:r>
              <a:rPr lang="en-US" baseline="-25000" dirty="0">
                <a:sym typeface="Symbol" pitchFamily="18" charset="2"/>
              </a:rPr>
              <a:t>P</a:t>
            </a:r>
            <a:r>
              <a:rPr lang="en-US" dirty="0">
                <a:sym typeface="Symbol" pitchFamily="18" charset="2"/>
              </a:rPr>
              <a:t> = –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	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gravitational potential energy</a:t>
            </a:r>
          </a:p>
          <a:p>
            <a:pPr eaLnBrk="0" hangingPunct="0">
              <a:lnSpc>
                <a:spcPct val="114000"/>
              </a:lnSpc>
            </a:pPr>
            <a:r>
              <a:rPr lang="en-US" i="1" dirty="0">
                <a:sym typeface="Symbol" pitchFamily="18" charset="2"/>
              </a:rPr>
              <a:t>  </a:t>
            </a:r>
            <a:r>
              <a:rPr lang="en-US" i="1" baseline="-25000" dirty="0">
                <a:sym typeface="Symbol" pitchFamily="18" charset="2"/>
              </a:rPr>
              <a:t> 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= –</a:t>
            </a:r>
            <a:r>
              <a:rPr lang="en-US" i="1" dirty="0">
                <a:sym typeface="Symbol" pitchFamily="18" charset="2"/>
              </a:rPr>
              <a:t>GM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		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gravitational potential</a:t>
            </a:r>
          </a:p>
          <a:p>
            <a:pPr eaLnBrk="0" hangingPunct="0">
              <a:spcBef>
                <a:spcPts val="400"/>
              </a:spcBef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Be aware of the difference in name. Both have “gravitational potential” in them and can be confused during problem solving.</a:t>
            </a:r>
          </a:p>
          <a:p>
            <a:pPr eaLnBrk="0" hangingPunct="0">
              <a:spcBef>
                <a:spcPts val="400"/>
              </a:spcBef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Be aware of the minus sign in both formulas. </a:t>
            </a:r>
          </a:p>
          <a:p>
            <a:pPr eaLnBrk="0" hangingPunct="0">
              <a:spcBef>
                <a:spcPts val="400"/>
              </a:spcBef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The minus sign is there so that as you </a:t>
            </a:r>
            <a:r>
              <a:rPr lang="en-US" b="1" dirty="0">
                <a:sym typeface="Symbol" pitchFamily="18" charset="2"/>
              </a:rPr>
              <a:t>separate</a:t>
            </a:r>
            <a:r>
              <a:rPr lang="en-US" dirty="0">
                <a:sym typeface="Symbol" pitchFamily="18" charset="2"/>
              </a:rPr>
              <a:t> two masses, or move farther out in space, their values increase (as in the last example).</a:t>
            </a:r>
          </a:p>
          <a:p>
            <a:pPr eaLnBrk="0" hangingPunct="0">
              <a:spcBef>
                <a:spcPts val="400"/>
              </a:spcBef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Both values are zero when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 becomes infinitely large.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4397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en-US" i="1" dirty="0">
                <a:solidFill>
                  <a:schemeClr val="accent2"/>
                </a:solidFill>
              </a:rPr>
              <a:t>Potential and potential energy </a:t>
            </a:r>
            <a:r>
              <a:rPr lang="en-US" altLang="en-US" dirty="0">
                <a:solidFill>
                  <a:schemeClr val="accent2"/>
                </a:solidFill>
              </a:rPr>
              <a:t>– gravitational 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685800" y="1766888"/>
            <a:ext cx="7772400" cy="50911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19849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8500" y="1806575"/>
            <a:ext cx="7775575" cy="300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45" name="Oval 5"/>
          <p:cNvSpPr>
            <a:spLocks noChangeArrowheads="1"/>
          </p:cNvSpPr>
          <p:nvPr/>
        </p:nvSpPr>
        <p:spPr bwMode="auto">
          <a:xfrm>
            <a:off x="698500" y="3254375"/>
            <a:ext cx="349250" cy="3492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46" name="Text Box 6"/>
          <p:cNvSpPr txBox="1">
            <a:spLocks noChangeArrowheads="1"/>
          </p:cNvSpPr>
          <p:nvPr/>
        </p:nvSpPr>
        <p:spPr bwMode="auto">
          <a:xfrm>
            <a:off x="714375" y="4946650"/>
            <a:ext cx="566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Be sure to know this definition.</a:t>
            </a:r>
            <a:endParaRPr lang="en-US">
              <a:solidFill>
                <a:schemeClr val="hlink"/>
              </a:solidFill>
              <a:cs typeface="Courier New" pitchFamily="49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685800" y="1338263"/>
            <a:ext cx="7772400" cy="4397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en-US" i="1">
                <a:solidFill>
                  <a:schemeClr val="accent2"/>
                </a:solidFill>
              </a:rPr>
              <a:t>Potential and potential energy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419850" name="Text Box 10"/>
          <p:cNvSpPr txBox="1">
            <a:spLocks noChangeArrowheads="1"/>
          </p:cNvSpPr>
          <p:nvPr/>
        </p:nvSpPr>
        <p:spPr bwMode="auto">
          <a:xfrm>
            <a:off x="714375" y="5327650"/>
            <a:ext cx="7667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By the way, answer C is the official definition of the gravitational potential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energy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at a point P.</a:t>
            </a:r>
            <a:endParaRPr lang="en-US" dirty="0">
              <a:solidFill>
                <a:schemeClr val="hlink"/>
              </a:solidFill>
              <a:cs typeface="Courier New" pitchFamily="49" charset="0"/>
            </a:endParaRPr>
          </a:p>
        </p:txBody>
      </p:sp>
      <p:sp>
        <p:nvSpPr>
          <p:cNvPr id="419851" name="Text Box 11"/>
          <p:cNvSpPr txBox="1">
            <a:spLocks noChangeArrowheads="1"/>
          </p:cNvSpPr>
          <p:nvPr/>
        </p:nvSpPr>
        <p:spPr bwMode="auto">
          <a:xfrm>
            <a:off x="714375" y="6061075"/>
            <a:ext cx="7667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Try not to mix up 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potential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and </a:t>
            </a:r>
            <a:r>
              <a:rPr lang="en-US" b="1">
                <a:solidFill>
                  <a:schemeClr val="hlink"/>
                </a:solidFill>
                <a:sym typeface="Symbol" pitchFamily="18" charset="2"/>
              </a:rPr>
              <a:t>potential energy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>
              <a:solidFill>
                <a:schemeClr val="hlink"/>
              </a:solidFill>
              <a:cs typeface="Courier New" pitchFamily="49" charset="0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9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9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685800" y="1766888"/>
            <a:ext cx="7772400" cy="31988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21892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3100" y="1819275"/>
            <a:ext cx="7747000" cy="19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992188" y="3986213"/>
            <a:ext cx="7146925" cy="577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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From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= ∆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i="1" baseline="-25000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we have ∆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 dirty="0" err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dirty="0" err="1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 dirty="0" err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 dirty="0" err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421894" name="Text Box 6"/>
          <p:cNvSpPr txBox="1">
            <a:spLocks noChangeArrowheads="1"/>
          </p:cNvSpPr>
          <p:nvPr/>
        </p:nvSpPr>
        <p:spPr bwMode="auto">
          <a:xfrm>
            <a:off x="977900" y="4484688"/>
            <a:ext cx="566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Thus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= (4)( 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-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3k – 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-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7k) = 16 kJ.</a:t>
            </a:r>
          </a:p>
        </p:txBody>
      </p:sp>
      <p:sp>
        <p:nvSpPr>
          <p:cNvPr id="421895" name="Oval 7"/>
          <p:cNvSpPr>
            <a:spLocks noChangeArrowheads="1"/>
          </p:cNvSpPr>
          <p:nvPr/>
        </p:nvSpPr>
        <p:spPr bwMode="auto">
          <a:xfrm>
            <a:off x="4906963" y="3436938"/>
            <a:ext cx="349250" cy="3492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685800" y="1338263"/>
            <a:ext cx="7772400" cy="4397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altLang="en-US" i="1">
                <a:solidFill>
                  <a:schemeClr val="accent2"/>
                </a:solidFill>
              </a:rPr>
              <a:t>Potential and potential energy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endParaRPr 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1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1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1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1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9" name="Rectangle 3"/>
          <p:cNvSpPr>
            <a:spLocks noChangeArrowheads="1"/>
          </p:cNvSpPr>
          <p:nvPr/>
        </p:nvSpPr>
        <p:spPr bwMode="auto">
          <a:xfrm>
            <a:off x="674688" y="2925763"/>
            <a:ext cx="7772400" cy="393223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EXAMPLE: Find the gravitational potential                        at the midpoint of the 2750-m radius circle                         of 125-kg masses shown.                  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SOLUTION: Potential is a scalar so it doesn’t                matter how the masses are arranged on the circle. Only the distance matters.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For each mass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2750 m. Each mass contributes       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–</a:t>
            </a:r>
            <a:r>
              <a:rPr lang="en-US" i="1">
                <a:sym typeface="Symbol" pitchFamily="18" charset="2"/>
              </a:rPr>
              <a:t>GM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so that</a:t>
            </a:r>
          </a:p>
          <a:p>
            <a:pPr algn="ctr" eaLnBrk="0" hangingPunct="0">
              <a:spcBef>
                <a:spcPct val="15000"/>
              </a:spcBef>
            </a:pPr>
            <a:r>
              <a:rPr lang="en-US" i="1">
                <a:sym typeface="Symbol" pitchFamily="18" charset="2"/>
              </a:rPr>
              <a:t>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–(6.6710</a:t>
            </a:r>
            <a:r>
              <a:rPr lang="en-US" baseline="30000">
                <a:sym typeface="Symbol" pitchFamily="18" charset="2"/>
              </a:rPr>
              <a:t>-11</a:t>
            </a:r>
            <a:r>
              <a:rPr lang="en-US">
                <a:sym typeface="Symbol" pitchFamily="18" charset="2"/>
              </a:rPr>
              <a:t>)(125)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2750 = -3.0310</a:t>
            </a:r>
            <a:r>
              <a:rPr lang="en-US" baseline="30000">
                <a:sym typeface="Symbol" pitchFamily="18" charset="2"/>
              </a:rPr>
              <a:t>-12</a:t>
            </a:r>
            <a:r>
              <a:rPr lang="en-US">
                <a:sym typeface="Symbol" pitchFamily="18" charset="2"/>
              </a:rPr>
              <a:t> J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kg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Thus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-25000">
                <a:sym typeface="Symbol" pitchFamily="18" charset="2"/>
              </a:rPr>
              <a:t>tot</a:t>
            </a:r>
            <a:r>
              <a:rPr lang="en-US">
                <a:sym typeface="Symbol" pitchFamily="18" charset="2"/>
              </a:rPr>
              <a:t> = 4(-3.0310</a:t>
            </a:r>
            <a:r>
              <a:rPr lang="en-US" baseline="30000">
                <a:sym typeface="Symbol" pitchFamily="18" charset="2"/>
              </a:rPr>
              <a:t>-12</a:t>
            </a:r>
            <a:r>
              <a:rPr lang="en-US">
                <a:sym typeface="Symbol" pitchFamily="18" charset="2"/>
              </a:rPr>
              <a:t>) = -1.2110</a:t>
            </a:r>
            <a:r>
              <a:rPr lang="en-US" baseline="30000">
                <a:sym typeface="Symbol" pitchFamily="18" charset="2"/>
              </a:rPr>
              <a:t>-11</a:t>
            </a:r>
            <a:r>
              <a:rPr lang="en-US">
                <a:sym typeface="Symbol" pitchFamily="18" charset="2"/>
              </a:rPr>
              <a:t> J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kg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.</a:t>
            </a:r>
          </a:p>
        </p:txBody>
      </p:sp>
      <p:sp>
        <p:nvSpPr>
          <p:cNvPr id="413698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1630362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Potential and potential energy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Calibri" pitchFamily="34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Gravitational potential is derived from gravitational potential energy and is thus a scalar. There is no need to worry about vectors.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142163" y="2989263"/>
            <a:ext cx="1408112" cy="1517650"/>
            <a:chOff x="4403" y="1947"/>
            <a:chExt cx="887" cy="956"/>
          </a:xfrm>
        </p:grpSpPr>
        <p:sp>
          <p:nvSpPr>
            <p:cNvPr id="413701" name="Oval 5"/>
            <p:cNvSpPr>
              <a:spLocks noChangeArrowheads="1"/>
            </p:cNvSpPr>
            <p:nvPr/>
          </p:nvSpPr>
          <p:spPr bwMode="auto">
            <a:xfrm>
              <a:off x="4768" y="1947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702" name="Oval 6"/>
            <p:cNvSpPr>
              <a:spLocks noChangeArrowheads="1"/>
            </p:cNvSpPr>
            <p:nvPr/>
          </p:nvSpPr>
          <p:spPr bwMode="auto">
            <a:xfrm>
              <a:off x="4450" y="2085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703" name="Oval 7"/>
            <p:cNvSpPr>
              <a:spLocks noChangeArrowheads="1"/>
            </p:cNvSpPr>
            <p:nvPr/>
          </p:nvSpPr>
          <p:spPr bwMode="auto">
            <a:xfrm>
              <a:off x="4483" y="2717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3704" name="Oval 8"/>
            <p:cNvSpPr>
              <a:spLocks noChangeArrowheads="1"/>
            </p:cNvSpPr>
            <p:nvPr/>
          </p:nvSpPr>
          <p:spPr bwMode="auto">
            <a:xfrm>
              <a:off x="5128" y="2664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448" name="Oval 9"/>
            <p:cNvSpPr>
              <a:spLocks noChangeArrowheads="1"/>
            </p:cNvSpPr>
            <p:nvPr/>
          </p:nvSpPr>
          <p:spPr bwMode="auto">
            <a:xfrm>
              <a:off x="4403" y="2016"/>
              <a:ext cx="887" cy="8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7724775" y="3692525"/>
            <a:ext cx="239713" cy="228600"/>
            <a:chOff x="3699" y="152"/>
            <a:chExt cx="151" cy="144"/>
          </a:xfrm>
        </p:grpSpPr>
        <p:sp>
          <p:nvSpPr>
            <p:cNvPr id="18442" name="Line 11"/>
            <p:cNvSpPr>
              <a:spLocks noChangeShapeType="1"/>
            </p:cNvSpPr>
            <p:nvPr/>
          </p:nvSpPr>
          <p:spPr bwMode="auto">
            <a:xfrm>
              <a:off x="3699" y="152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12"/>
            <p:cNvSpPr>
              <a:spLocks noChangeShapeType="1"/>
            </p:cNvSpPr>
            <p:nvPr/>
          </p:nvSpPr>
          <p:spPr bwMode="auto">
            <a:xfrm flipH="1">
              <a:off x="3706" y="152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753350" y="3100388"/>
            <a:ext cx="285750" cy="709612"/>
            <a:chOff x="4884" y="1993"/>
            <a:chExt cx="180" cy="447"/>
          </a:xfrm>
        </p:grpSpPr>
        <p:sp>
          <p:nvSpPr>
            <p:cNvPr id="18440" name="Line 14"/>
            <p:cNvSpPr>
              <a:spLocks noChangeShapeType="1"/>
            </p:cNvSpPr>
            <p:nvPr/>
          </p:nvSpPr>
          <p:spPr bwMode="auto">
            <a:xfrm flipV="1">
              <a:off x="4934" y="1993"/>
              <a:ext cx="0" cy="44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Text Box 15"/>
            <p:cNvSpPr txBox="1">
              <a:spLocks noChangeArrowheads="1"/>
            </p:cNvSpPr>
            <p:nvPr/>
          </p:nvSpPr>
          <p:spPr bwMode="auto">
            <a:xfrm>
              <a:off x="4884" y="2088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FF0000"/>
                  </a:solidFill>
                </a:rPr>
                <a:t>r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7" name="Rectangle 3"/>
          <p:cNvSpPr>
            <a:spLocks noChangeArrowheads="1"/>
          </p:cNvSpPr>
          <p:nvPr/>
        </p:nvSpPr>
        <p:spPr bwMode="auto">
          <a:xfrm>
            <a:off x="674688" y="2924175"/>
            <a:ext cx="7772400" cy="39338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If a 365-kg mass is brought in from                  to the center of the circle of masses, how                    much potential energy will it have lost?</a:t>
            </a:r>
          </a:p>
          <a:p>
            <a:pPr eaLnBrk="0" hangingPunct="0">
              <a:lnSpc>
                <a:spcPct val="114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SOLUTION: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P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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P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>
                <a:sym typeface="Symbol" pitchFamily="18" charset="2"/>
              </a:rPr>
              <a:t>m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eaLnBrk="0" hangingPunct="0">
              <a:lnSpc>
                <a:spcPct val="114000"/>
              </a:lnSpc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  ∆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P</a:t>
            </a:r>
            <a:r>
              <a:rPr lang="en-US" dirty="0">
                <a:sym typeface="Symbol" pitchFamily="18" charset="2"/>
              </a:rPr>
              <a:t>	= </a:t>
            </a:r>
            <a:r>
              <a:rPr lang="en-US" i="1" dirty="0">
                <a:sym typeface="Symbol" pitchFamily="18" charset="2"/>
              </a:rPr>
              <a:t>m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</a:t>
            </a:r>
          </a:p>
          <a:p>
            <a:pPr eaLnBrk="0" hangingPunct="0">
              <a:lnSpc>
                <a:spcPct val="114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      </a:t>
            </a:r>
            <a:r>
              <a:rPr lang="en-US" baseline="-25000" dirty="0">
                <a:sym typeface="Symbol" pitchFamily="18" charset="2"/>
              </a:rPr>
              <a:t> 	</a:t>
            </a:r>
            <a:r>
              <a:rPr lang="en-US" dirty="0">
                <a:sym typeface="Symbol" pitchFamily="18" charset="2"/>
              </a:rPr>
              <a:t>= </a:t>
            </a:r>
            <a:r>
              <a:rPr lang="en-US" i="1" dirty="0">
                <a:sym typeface="Symbol" pitchFamily="18" charset="2"/>
              </a:rPr>
              <a:t>m 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–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baseline="-25000" dirty="0">
                <a:sym typeface="Symbol" pitchFamily="18" charset="2"/>
              </a:rPr>
              <a:t>0</a:t>
            </a:r>
            <a:r>
              <a:rPr lang="en-US" dirty="0">
                <a:sym typeface="Symbol" pitchFamily="18" charset="2"/>
              </a:rPr>
              <a:t>) </a:t>
            </a:r>
          </a:p>
          <a:p>
            <a:pPr eaLnBrk="0" hangingPunct="0">
              <a:lnSpc>
                <a:spcPct val="114000"/>
              </a:lnSpc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      </a:t>
            </a:r>
            <a:r>
              <a:rPr lang="en-US" baseline="-25000" dirty="0">
                <a:sym typeface="Symbol" pitchFamily="18" charset="2"/>
              </a:rPr>
              <a:t> 	</a:t>
            </a:r>
            <a:r>
              <a:rPr lang="en-US" dirty="0">
                <a:sym typeface="Symbol" pitchFamily="18" charset="2"/>
              </a:rPr>
              <a:t>= </a:t>
            </a:r>
            <a:r>
              <a:rPr lang="en-US" i="1" dirty="0" err="1">
                <a:sym typeface="Symbol" pitchFamily="18" charset="2"/>
              </a:rPr>
              <a:t>mV</a:t>
            </a:r>
            <a:r>
              <a:rPr lang="en-US" baseline="-25000" dirty="0" err="1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      </a:t>
            </a:r>
            <a:r>
              <a:rPr lang="en-US" baseline="-25000" dirty="0">
                <a:sym typeface="Symbol" pitchFamily="18" charset="2"/>
              </a:rPr>
              <a:t> 	</a:t>
            </a:r>
            <a:r>
              <a:rPr lang="en-US" dirty="0">
                <a:sym typeface="Symbol" pitchFamily="18" charset="2"/>
              </a:rPr>
              <a:t>= 365(-1.2110</a:t>
            </a:r>
            <a:r>
              <a:rPr lang="en-US" baseline="30000" dirty="0">
                <a:sym typeface="Symbol" pitchFamily="18" charset="2"/>
              </a:rPr>
              <a:t>-11</a:t>
            </a:r>
            <a:r>
              <a:rPr lang="en-US" dirty="0">
                <a:sym typeface="Symbol" pitchFamily="18" charset="2"/>
              </a:rPr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      </a:t>
            </a:r>
            <a:r>
              <a:rPr lang="en-US" baseline="-25000" dirty="0">
                <a:sym typeface="Symbol" pitchFamily="18" charset="2"/>
              </a:rPr>
              <a:t> 	</a:t>
            </a:r>
            <a:r>
              <a:rPr lang="en-US" dirty="0">
                <a:sym typeface="Symbol" pitchFamily="18" charset="2"/>
              </a:rPr>
              <a:t>= -4.4210</a:t>
            </a:r>
            <a:r>
              <a:rPr lang="en-US" baseline="30000" dirty="0">
                <a:sym typeface="Symbol" pitchFamily="18" charset="2"/>
              </a:rPr>
              <a:t>-9</a:t>
            </a:r>
            <a:r>
              <a:rPr lang="en-US" dirty="0">
                <a:sym typeface="Symbol" pitchFamily="18" charset="2"/>
              </a:rPr>
              <a:t> J.</a:t>
            </a: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1630362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Potential and potential energy </a:t>
            </a:r>
            <a:r>
              <a:rPr lang="en-US" altLang="en-US">
                <a:solidFill>
                  <a:schemeClr val="accent2"/>
                </a:solidFill>
              </a:rPr>
              <a:t>– gravitational </a:t>
            </a: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Calibri" pitchFamily="34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Gravitational potential is derived from gravitational potential energy and is thus a scalar. There is no need to worry about vectors.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7142163" y="2989263"/>
            <a:ext cx="1408112" cy="1517650"/>
            <a:chOff x="4403" y="1947"/>
            <a:chExt cx="887" cy="956"/>
          </a:xfrm>
        </p:grpSpPr>
        <p:sp>
          <p:nvSpPr>
            <p:cNvPr id="415749" name="Oval 5"/>
            <p:cNvSpPr>
              <a:spLocks noChangeArrowheads="1"/>
            </p:cNvSpPr>
            <p:nvPr/>
          </p:nvSpPr>
          <p:spPr bwMode="auto">
            <a:xfrm>
              <a:off x="4768" y="1947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5750" name="Oval 6"/>
            <p:cNvSpPr>
              <a:spLocks noChangeArrowheads="1"/>
            </p:cNvSpPr>
            <p:nvPr/>
          </p:nvSpPr>
          <p:spPr bwMode="auto">
            <a:xfrm>
              <a:off x="4450" y="2085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5751" name="Oval 7"/>
            <p:cNvSpPr>
              <a:spLocks noChangeArrowheads="1"/>
            </p:cNvSpPr>
            <p:nvPr/>
          </p:nvSpPr>
          <p:spPr bwMode="auto">
            <a:xfrm>
              <a:off x="4483" y="2717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5752" name="Oval 8"/>
            <p:cNvSpPr>
              <a:spLocks noChangeArrowheads="1"/>
            </p:cNvSpPr>
            <p:nvPr/>
          </p:nvSpPr>
          <p:spPr bwMode="auto">
            <a:xfrm>
              <a:off x="5128" y="2664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9" name="Oval 9"/>
            <p:cNvSpPr>
              <a:spLocks noChangeArrowheads="1"/>
            </p:cNvSpPr>
            <p:nvPr/>
          </p:nvSpPr>
          <p:spPr bwMode="auto">
            <a:xfrm>
              <a:off x="4403" y="2016"/>
              <a:ext cx="887" cy="8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5754" name="Oval 10"/>
          <p:cNvSpPr>
            <a:spLocks noChangeArrowheads="1"/>
          </p:cNvSpPr>
          <p:nvPr/>
        </p:nvSpPr>
        <p:spPr bwMode="auto">
          <a:xfrm>
            <a:off x="7675563" y="3641725"/>
            <a:ext cx="325437" cy="325438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19463" name="Group 11"/>
          <p:cNvGrpSpPr>
            <a:grpSpLocks/>
          </p:cNvGrpSpPr>
          <p:nvPr/>
        </p:nvGrpSpPr>
        <p:grpSpPr bwMode="auto">
          <a:xfrm>
            <a:off x="7753350" y="3100388"/>
            <a:ext cx="285750" cy="709612"/>
            <a:chOff x="4884" y="1993"/>
            <a:chExt cx="180" cy="447"/>
          </a:xfrm>
        </p:grpSpPr>
        <p:sp>
          <p:nvSpPr>
            <p:cNvPr id="19473" name="Line 12"/>
            <p:cNvSpPr>
              <a:spLocks noChangeShapeType="1"/>
            </p:cNvSpPr>
            <p:nvPr/>
          </p:nvSpPr>
          <p:spPr bwMode="auto">
            <a:xfrm flipV="1">
              <a:off x="4934" y="1993"/>
              <a:ext cx="0" cy="44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Text Box 13"/>
            <p:cNvSpPr txBox="1">
              <a:spLocks noChangeArrowheads="1"/>
            </p:cNvSpPr>
            <p:nvPr/>
          </p:nvSpPr>
          <p:spPr bwMode="auto">
            <a:xfrm>
              <a:off x="4884" y="2088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FF0000"/>
                  </a:solidFill>
                </a:rPr>
                <a:t>r</a:t>
              </a:r>
            </a:p>
          </p:txBody>
        </p:sp>
      </p:grpSp>
      <p:grpSp>
        <p:nvGrpSpPr>
          <p:cNvPr id="19464" name="Group 14"/>
          <p:cNvGrpSpPr>
            <a:grpSpLocks/>
          </p:cNvGrpSpPr>
          <p:nvPr/>
        </p:nvGrpSpPr>
        <p:grpSpPr bwMode="auto">
          <a:xfrm>
            <a:off x="7724775" y="3692525"/>
            <a:ext cx="239713" cy="228600"/>
            <a:chOff x="3699" y="152"/>
            <a:chExt cx="151" cy="144"/>
          </a:xfrm>
        </p:grpSpPr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>
              <a:off x="3699" y="152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Line 16"/>
            <p:cNvSpPr>
              <a:spLocks noChangeShapeType="1"/>
            </p:cNvSpPr>
            <p:nvPr/>
          </p:nvSpPr>
          <p:spPr bwMode="auto">
            <a:xfrm flipH="1">
              <a:off x="3706" y="152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139712" y="4820159"/>
            <a:ext cx="571500" cy="649288"/>
            <a:chOff x="1887" y="3176"/>
            <a:chExt cx="360" cy="409"/>
          </a:xfrm>
        </p:grpSpPr>
        <p:sp>
          <p:nvSpPr>
            <p:cNvPr id="19469" name="Line 19"/>
            <p:cNvSpPr>
              <a:spLocks noChangeShapeType="1"/>
            </p:cNvSpPr>
            <p:nvPr/>
          </p:nvSpPr>
          <p:spPr bwMode="auto">
            <a:xfrm flipV="1">
              <a:off x="1887" y="3365"/>
              <a:ext cx="182" cy="22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Text Box 20"/>
            <p:cNvSpPr txBox="1">
              <a:spLocks noChangeArrowheads="1"/>
            </p:cNvSpPr>
            <p:nvPr/>
          </p:nvSpPr>
          <p:spPr bwMode="auto">
            <a:xfrm>
              <a:off x="2042" y="3176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415766" name="Text Box 22"/>
          <p:cNvSpPr txBox="1">
            <a:spLocks noChangeArrowheads="1"/>
          </p:cNvSpPr>
          <p:nvPr/>
        </p:nvSpPr>
        <p:spPr bwMode="auto">
          <a:xfrm>
            <a:off x="5526088" y="7938"/>
            <a:ext cx="361791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Does it matter what path the mass follows as it is brought in?</a:t>
            </a:r>
          </a:p>
        </p:txBody>
      </p:sp>
      <p:sp>
        <p:nvSpPr>
          <p:cNvPr id="415767" name="Text Box 23"/>
          <p:cNvSpPr txBox="1">
            <a:spLocks noChangeArrowheads="1"/>
          </p:cNvSpPr>
          <p:nvPr/>
        </p:nvSpPr>
        <p:spPr bwMode="auto">
          <a:xfrm>
            <a:off x="7302500" y="741363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NO. Why?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4" grpId="0" animBg="1"/>
      <p:bldP spid="415766" grpId="0"/>
      <p:bldP spid="4157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674688" y="3008671"/>
            <a:ext cx="7772400" cy="3849329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Find the GPG in moving from Earth’s surface to 5 radii from Earth’s center.</a:t>
            </a:r>
          </a:p>
          <a:p>
            <a:pPr eaLnBrk="0" hangingPunct="0">
              <a:spcBef>
                <a:spcPct val="20000"/>
              </a:spcBef>
              <a:spcAft>
                <a:spcPts val="200"/>
              </a:spcAft>
            </a:pPr>
            <a:r>
              <a:rPr lang="en-US" dirty="0">
                <a:sym typeface="Symbol" pitchFamily="18" charset="2"/>
              </a:rPr>
              <a:t>SOLUTION: In a previous slide we showed that               </a:t>
            </a:r>
            <a:r>
              <a:rPr lang="en-US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∆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baseline="30000" dirty="0">
                <a:sym typeface="Symbol" pitchFamily="18" charset="2"/>
              </a:rPr>
              <a:t>+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5.01×10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ym typeface="Symbol" pitchFamily="18" charset="2"/>
              </a:rPr>
              <a:t> 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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m. </a:t>
            </a:r>
            <a:endParaRPr lang="en-US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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baseline="30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= 5(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sym typeface="Symbol" pitchFamily="18" charset="2"/>
              </a:rPr>
              <a:t>) =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3.19×10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m. 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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∆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–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3.19×10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 </a:t>
            </a:r>
            <a:r>
              <a:rPr lang="en-US" dirty="0">
                <a:sym typeface="Symbol" pitchFamily="18" charset="2"/>
              </a:rPr>
              <a:t>–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6.37×10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2.55×10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m.</a:t>
            </a:r>
            <a:endParaRPr lang="en-US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  <a:spcAft>
                <a:spcPts val="200"/>
              </a:spcAft>
            </a:pPr>
            <a:r>
              <a:rPr lang="en-US" dirty="0">
                <a:cs typeface="Courier New" pitchFamily="49" charset="0"/>
                <a:sym typeface="Symbol" pitchFamily="18" charset="2"/>
              </a:rPr>
              <a:t>  GPG</a:t>
            </a:r>
            <a:r>
              <a:rPr lang="en-US" dirty="0">
                <a:sym typeface="Symbol" pitchFamily="18" charset="2"/>
              </a:rPr>
              <a:t>	=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 /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endParaRPr lang="en-US" i="1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i="1" dirty="0">
                <a:sym typeface="Symbol" pitchFamily="18" charset="2"/>
              </a:rPr>
              <a:t>         	</a:t>
            </a:r>
            <a:r>
              <a:rPr lang="en-US" dirty="0">
                <a:sym typeface="Symbol" pitchFamily="18" charset="2"/>
              </a:rPr>
              <a:t>=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5.01×10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 </a:t>
            </a:r>
            <a:r>
              <a:rPr lang="en-US" i="1" dirty="0">
                <a:sym typeface="Symbol" pitchFamily="18" charset="2"/>
              </a:rPr>
              <a:t>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2.55×10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1.96 J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kg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-1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m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-1</a:t>
            </a:r>
            <a:r>
              <a:rPr lang="en-US" dirty="0">
                <a:cs typeface="Courier New" pitchFamily="49" charset="0"/>
                <a:sym typeface="Symbol" pitchFamily="18" charset="2"/>
              </a:rPr>
              <a:t>.</a:t>
            </a:r>
          </a:p>
        </p:txBody>
      </p:sp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685800" y="1338264"/>
            <a:ext cx="7772400" cy="1685156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Potential gradient </a:t>
            </a:r>
            <a:r>
              <a:rPr lang="en-US" altLang="en-US" dirty="0">
                <a:solidFill>
                  <a:schemeClr val="accent2"/>
                </a:solidFill>
              </a:rPr>
              <a:t>– gravitational </a:t>
            </a:r>
            <a:r>
              <a:rPr lang="en-US" sz="2000" dirty="0">
                <a:solidFill>
                  <a:srgbClr val="000000"/>
                </a:solidFill>
                <a:latin typeface="Courier New" pitchFamily="49" charset="0"/>
                <a:ea typeface="Calibri" pitchFamily="34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gravitational potential gradient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 (GPG) is the change in gravitational potential per unit distance. Thus the GPG = </a:t>
            </a:r>
            <a:r>
              <a:rPr lang="en-US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 /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</p:txBody>
      </p:sp>
      <p:pic>
        <p:nvPicPr>
          <p:cNvPr id="12493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1575" y="5876925"/>
            <a:ext cx="792163" cy="798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4936" name="Line 8"/>
          <p:cNvSpPr>
            <a:spLocks noChangeShapeType="1"/>
          </p:cNvSpPr>
          <p:nvPr/>
        </p:nvSpPr>
        <p:spPr bwMode="auto">
          <a:xfrm flipV="1">
            <a:off x="7908925" y="4183063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 flipV="1">
            <a:off x="7908925" y="4611688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938" name="Line 10"/>
          <p:cNvSpPr>
            <a:spLocks noChangeShapeType="1"/>
          </p:cNvSpPr>
          <p:nvPr/>
        </p:nvSpPr>
        <p:spPr bwMode="auto">
          <a:xfrm flipV="1">
            <a:off x="7918450" y="5040313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939" name="Line 11"/>
          <p:cNvSpPr>
            <a:spLocks noChangeShapeType="1"/>
          </p:cNvSpPr>
          <p:nvPr/>
        </p:nvSpPr>
        <p:spPr bwMode="auto">
          <a:xfrm flipV="1">
            <a:off x="7918450" y="5468938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 flipV="1">
            <a:off x="7924800" y="5892800"/>
            <a:ext cx="0" cy="384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7915275" y="5781675"/>
            <a:ext cx="39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bg1"/>
                </a:solidFill>
              </a:rPr>
              <a:t>r</a:t>
            </a:r>
            <a:r>
              <a:rPr lang="en-US" baseline="-25000">
                <a:solidFill>
                  <a:schemeClr val="bg1"/>
                </a:solidFill>
              </a:rPr>
              <a:t>1</a:t>
            </a:r>
            <a:endParaRPr lang="en-US" i="1">
              <a:solidFill>
                <a:schemeClr val="bg1"/>
              </a:solidFill>
            </a:endParaRPr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7915275" y="3997325"/>
            <a:ext cx="39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r</a:t>
            </a:r>
            <a:r>
              <a:rPr lang="en-US" baseline="-25000"/>
              <a:t>2</a:t>
            </a:r>
            <a:endParaRPr lang="en-US" i="1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4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4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4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4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4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4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4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4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4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4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6" grpId="0" animBg="1"/>
      <p:bldP spid="124937" grpId="0" animBg="1"/>
      <p:bldP spid="124938" grpId="0" animBg="1"/>
      <p:bldP spid="124939" grpId="0" animBg="1"/>
      <p:bldP spid="124940" grpId="0" animBg="1"/>
      <p:bldP spid="124941" grpId="0"/>
      <p:bldP spid="1249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685800" y="2993923"/>
            <a:ext cx="7772400" cy="386407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PRACTICE: Show that the units for the gravitational potential gradient are the units for acceleration.</a:t>
            </a:r>
          </a:p>
          <a:p>
            <a:r>
              <a:rPr lang="en-US" dirty="0"/>
              <a:t>SOLUTION:</a:t>
            </a:r>
          </a:p>
          <a:p>
            <a:pPr>
              <a:spcAft>
                <a:spcPts val="250"/>
              </a:spcAft>
            </a:pPr>
            <a:r>
              <a:rPr lang="en-US" dirty="0">
                <a:sym typeface="Symbol" pitchFamily="18" charset="2"/>
              </a:rPr>
              <a:t>The units for </a:t>
            </a:r>
            <a:r>
              <a:rPr lang="en-US" dirty="0">
                <a:solidFill>
                  <a:srgbClr val="000000"/>
                </a:solidFill>
              </a:rPr>
              <a:t>∆</a:t>
            </a:r>
            <a:r>
              <a:rPr lang="en-US" i="1" dirty="0">
                <a:solidFill>
                  <a:srgbClr val="000000"/>
                </a:solidFill>
              </a:rPr>
              <a:t>V</a:t>
            </a:r>
            <a:r>
              <a:rPr lang="en-US" baseline="-25000" dirty="0">
                <a:solidFill>
                  <a:srgbClr val="000000"/>
                </a:solidFill>
              </a:rPr>
              <a:t>g</a:t>
            </a:r>
            <a:r>
              <a:rPr lang="en-US" dirty="0">
                <a:solidFill>
                  <a:srgbClr val="000000"/>
                </a:solidFill>
              </a:rPr>
              <a:t> are J</a:t>
            </a:r>
            <a:r>
              <a:rPr lang="en-US" baseline="-2500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kg</a:t>
            </a:r>
            <a:r>
              <a:rPr lang="en-US" baseline="30000" dirty="0">
                <a:solidFill>
                  <a:srgbClr val="000000"/>
                </a:solidFill>
              </a:rPr>
              <a:t>-1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r>
              <a:rPr lang="en-US" dirty="0">
                <a:sym typeface="Symbol" pitchFamily="18" charset="2"/>
              </a:rPr>
              <a:t>The units for work are J, but since work is force times distance we have 1 J = 1 N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m = 1 kg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m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s</a:t>
            </a:r>
            <a:r>
              <a:rPr lang="en-US" baseline="30000" dirty="0">
                <a:sym typeface="Symbol" pitchFamily="18" charset="2"/>
              </a:rPr>
              <a:t>-2 </a:t>
            </a:r>
            <a:r>
              <a:rPr lang="en-US" dirty="0">
                <a:sym typeface="Symbol" pitchFamily="18" charset="2"/>
              </a:rPr>
              <a:t>m.</a:t>
            </a:r>
          </a:p>
          <a:p>
            <a:pPr>
              <a:spcAft>
                <a:spcPts val="250"/>
              </a:spcAft>
            </a:pPr>
            <a:r>
              <a:rPr lang="en-US" dirty="0">
                <a:sym typeface="Symbol" pitchFamily="18" charset="2"/>
              </a:rPr>
              <a:t>Therefore the units of </a:t>
            </a:r>
            <a:r>
              <a:rPr lang="en-US" dirty="0">
                <a:solidFill>
                  <a:srgbClr val="000000"/>
                </a:solidFill>
              </a:rPr>
              <a:t>∆</a:t>
            </a:r>
            <a:r>
              <a:rPr lang="en-US" i="1" dirty="0">
                <a:solidFill>
                  <a:srgbClr val="000000"/>
                </a:solidFill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dirty="0">
                <a:solidFill>
                  <a:srgbClr val="000000"/>
                </a:solidFill>
              </a:rPr>
              <a:t> are</a:t>
            </a:r>
            <a:r>
              <a:rPr lang="en-US" dirty="0"/>
              <a:t> (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m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s</a:t>
            </a:r>
            <a:r>
              <a:rPr lang="en-US" baseline="30000" dirty="0">
                <a:sym typeface="Symbol" pitchFamily="18" charset="2"/>
              </a:rPr>
              <a:t>-2 </a:t>
            </a:r>
            <a:r>
              <a:rPr lang="en-US" dirty="0">
                <a:sym typeface="Symbol" pitchFamily="18" charset="2"/>
              </a:rPr>
              <a:t>m)kg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 or</a:t>
            </a:r>
          </a:p>
          <a:p>
            <a:pPr algn="ctr">
              <a:spcAft>
                <a:spcPts val="250"/>
              </a:spcAft>
            </a:pPr>
            <a:r>
              <a:rPr lang="en-US" dirty="0">
                <a:sym typeface="Symbol" pitchFamily="18" charset="2"/>
              </a:rPr>
              <a:t>[ </a:t>
            </a:r>
            <a:r>
              <a:rPr lang="en-US" dirty="0">
                <a:solidFill>
                  <a:srgbClr val="000000"/>
                </a:solidFill>
              </a:rPr>
              <a:t>∆</a:t>
            </a:r>
            <a:r>
              <a:rPr lang="en-US" i="1" dirty="0">
                <a:solidFill>
                  <a:srgbClr val="000000"/>
                </a:solidFill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/>
              <a:t>] = m</a:t>
            </a:r>
            <a:r>
              <a:rPr lang="en-US" baseline="30000" dirty="0"/>
              <a:t>2 </a:t>
            </a:r>
            <a:r>
              <a:rPr lang="en-US" dirty="0"/>
              <a:t>s</a:t>
            </a:r>
            <a:r>
              <a:rPr lang="en-US" baseline="30000" dirty="0"/>
              <a:t>-2</a:t>
            </a:r>
            <a:r>
              <a:rPr lang="en-US" dirty="0"/>
              <a:t>.</a:t>
            </a:r>
          </a:p>
          <a:p>
            <a:r>
              <a:rPr lang="en-US" dirty="0">
                <a:sym typeface="Symbol" pitchFamily="18" charset="2"/>
              </a:rPr>
              <a:t>Then the units of the GPG are </a:t>
            </a:r>
          </a:p>
          <a:p>
            <a:pPr algn="ctr">
              <a:spcAft>
                <a:spcPts val="250"/>
              </a:spcAft>
            </a:pPr>
            <a:r>
              <a:rPr lang="en-US" dirty="0">
                <a:sym typeface="Symbol" pitchFamily="18" charset="2"/>
              </a:rPr>
              <a:t>[ GPG ] = [ </a:t>
            </a:r>
            <a:r>
              <a:rPr lang="en-US" dirty="0">
                <a:solidFill>
                  <a:srgbClr val="000000"/>
                </a:solidFill>
              </a:rPr>
              <a:t>∆</a:t>
            </a:r>
            <a:r>
              <a:rPr lang="en-US" i="1" dirty="0">
                <a:solidFill>
                  <a:srgbClr val="000000"/>
                </a:solidFill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</a:rPr>
              <a:t> / </a:t>
            </a:r>
            <a:r>
              <a:rPr lang="en-US" dirty="0">
                <a:solidFill>
                  <a:srgbClr val="000000"/>
                </a:solidFill>
              </a:rPr>
              <a:t>∆</a:t>
            </a:r>
            <a:r>
              <a:rPr lang="en-US" i="1" dirty="0">
                <a:solidFill>
                  <a:srgbClr val="000000"/>
                </a:solidFill>
              </a:rPr>
              <a:t>r </a:t>
            </a:r>
            <a:r>
              <a:rPr lang="en-US" dirty="0">
                <a:solidFill>
                  <a:srgbClr val="000000"/>
                </a:solidFill>
              </a:rPr>
              <a:t>] = </a:t>
            </a:r>
            <a:r>
              <a:rPr lang="en-US" dirty="0"/>
              <a:t>m</a:t>
            </a:r>
            <a:r>
              <a:rPr lang="en-US" baseline="30000" dirty="0"/>
              <a:t>2 </a:t>
            </a:r>
            <a:r>
              <a:rPr lang="en-US" dirty="0"/>
              <a:t>s</a:t>
            </a:r>
            <a:r>
              <a:rPr lang="en-US" baseline="30000" dirty="0"/>
              <a:t>-2 </a:t>
            </a:r>
            <a:r>
              <a:rPr lang="en-US" i="1" dirty="0"/>
              <a:t>/ </a:t>
            </a:r>
            <a:r>
              <a:rPr lang="en-US" dirty="0"/>
              <a:t>m = m s</a:t>
            </a:r>
            <a:r>
              <a:rPr lang="en-US" baseline="30000" dirty="0"/>
              <a:t>-2</a:t>
            </a:r>
            <a:r>
              <a:rPr lang="en-US" dirty="0"/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1338264"/>
            <a:ext cx="7772400" cy="1685156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Potential gradient </a:t>
            </a:r>
            <a:r>
              <a:rPr lang="en-US" altLang="en-US" dirty="0">
                <a:solidFill>
                  <a:schemeClr val="accent2"/>
                </a:solidFill>
              </a:rPr>
              <a:t>– gravitational </a:t>
            </a:r>
            <a:r>
              <a:rPr lang="en-US" sz="2000" dirty="0">
                <a:solidFill>
                  <a:srgbClr val="000000"/>
                </a:solidFill>
                <a:latin typeface="Courier New" pitchFamily="49" charset="0"/>
                <a:ea typeface="Calibri" pitchFamily="34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gravitational potential gradient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</a:rPr>
              <a:t> (GPG) is the change in gravitational potential per unit distance. Thus the GPG = </a:t>
            </a:r>
            <a:r>
              <a:rPr lang="en-US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 /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∆</a:t>
            </a:r>
            <a:r>
              <a:rPr lang="en-US" i="1" dirty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9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9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674688" y="3562350"/>
            <a:ext cx="7772400" cy="32956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The gravitational potential in the vicinity of a planet changes from </a:t>
            </a:r>
            <a:r>
              <a:rPr lang="en-US" baseline="30000" dirty="0"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6.16×10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ym typeface="Symbol" pitchFamily="18" charset="2"/>
              </a:rPr>
              <a:t> 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 to </a:t>
            </a:r>
            <a:r>
              <a:rPr lang="en-US" baseline="30000" dirty="0"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6.12×10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ym typeface="Symbol" pitchFamily="18" charset="2"/>
              </a:rPr>
              <a:t> J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kg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in moving from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1.80×10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8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m to 2.85×10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8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m. What is the gravitational field strength in that region?</a:t>
            </a:r>
            <a:endParaRPr lang="en-US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SOLUTION: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spcAft>
                <a:spcPts val="250"/>
              </a:spcAft>
            </a:pPr>
            <a:r>
              <a:rPr lang="en-US" i="1" dirty="0">
                <a:cs typeface="Courier New" pitchFamily="49" charset="0"/>
                <a:sym typeface="Symbol" pitchFamily="18" charset="2"/>
              </a:rPr>
              <a:t>   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–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 /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r</a:t>
            </a:r>
            <a:endParaRPr lang="en-US" dirty="0">
              <a:cs typeface="Courier New" pitchFamily="49" charset="0"/>
              <a:sym typeface="Symbol" pitchFamily="18" charset="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i="1" dirty="0">
                <a:cs typeface="Courier New" pitchFamily="49" charset="0"/>
                <a:sym typeface="Symbol" pitchFamily="18" charset="2"/>
              </a:rPr>
              <a:t>   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–</a:t>
            </a:r>
            <a:r>
              <a:rPr lang="en-US" dirty="0">
                <a:cs typeface="Courier New" pitchFamily="49" charset="0"/>
                <a:sym typeface="Symbol" pitchFamily="18" charset="2"/>
              </a:rPr>
              <a:t>(</a:t>
            </a:r>
            <a:r>
              <a:rPr lang="en-US" baseline="30000" dirty="0"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6.12×10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–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aseline="30000" dirty="0">
                <a:sym typeface="Symbol" pitchFamily="18" charset="2"/>
              </a:rPr>
              <a:t>-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6.16×10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 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/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(2.85×10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8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–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1.80×10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8</a:t>
            </a:r>
            <a:r>
              <a:rPr lang="en-US" dirty="0">
                <a:cs typeface="Courier New" pitchFamily="49" charset="0"/>
                <a:sym typeface="Symbol" pitchFamily="18" charset="2"/>
              </a:rPr>
              <a:t>)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i="1" dirty="0">
                <a:cs typeface="Courier New" pitchFamily="49" charset="0"/>
                <a:sym typeface="Symbol" pitchFamily="18" charset="2"/>
              </a:rPr>
              <a:t>   g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=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–</a:t>
            </a:r>
            <a:r>
              <a:rPr lang="en-US" dirty="0">
                <a:cs typeface="Courier New" pitchFamily="49" charset="0"/>
                <a:sym typeface="Symbol" pitchFamily="18" charset="2"/>
              </a:rPr>
              <a:t>4000000 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/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105000000 = -0.0381 m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s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-2</a:t>
            </a:r>
            <a:r>
              <a:rPr lang="en-US" dirty="0">
                <a:cs typeface="Courier New" pitchFamily="49" charset="0"/>
                <a:sym typeface="Symbol" pitchFamily="18" charset="2"/>
              </a:rPr>
              <a:t>.</a:t>
            </a:r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22479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Potential gradient </a:t>
            </a:r>
            <a:r>
              <a:rPr lang="en-US" altLang="en-US" dirty="0">
                <a:solidFill>
                  <a:schemeClr val="accent2"/>
                </a:solidFill>
              </a:rPr>
              <a:t>– gravitational</a:t>
            </a:r>
            <a:endParaRPr lang="en-US" sz="2000" dirty="0">
              <a:solidFill>
                <a:srgbClr val="000000"/>
              </a:solidFill>
              <a:latin typeface="Courier New" pitchFamily="49" charset="0"/>
              <a:ea typeface="Calibri" pitchFamily="34" charset="0"/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  <a:spcAft>
                <a:spcPts val="250"/>
              </a:spcAft>
            </a:pP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In Topic 10.1 we found that near Earth, </a:t>
            </a:r>
            <a:r>
              <a:rPr lang="en-US" i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g</a:t>
            </a:r>
            <a:r>
              <a:rPr lang="en-US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 = –</a:t>
            </a:r>
            <a:r>
              <a:rPr lang="en-US" i="1" dirty="0">
                <a:solidFill>
                  <a:srgbClr val="000000"/>
                </a:solidFill>
                <a:ea typeface="Calibri" pitchFamily="34" charset="0"/>
                <a:cs typeface="Times New Roman" pitchFamily="18" charset="0"/>
                <a:sym typeface="Symbol" pitchFamily="18" charset="2"/>
              </a:rPr>
              <a:t>V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/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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y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The following potential gradient (which we will not prove) works at the planetary scale:</a:t>
            </a:r>
            <a:r>
              <a:rPr lang="en-US" dirty="0">
                <a:solidFill>
                  <a:srgbClr val="000000"/>
                </a:solidFill>
              </a:rPr>
              <a:t> 	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47725" y="3006725"/>
            <a:ext cx="7464425" cy="487363"/>
            <a:chOff x="510" y="1966"/>
            <a:chExt cx="4702" cy="307"/>
          </a:xfrm>
        </p:grpSpPr>
        <p:sp>
          <p:nvSpPr>
            <p:cNvPr id="22535" name="Rectangle 5"/>
            <p:cNvSpPr>
              <a:spLocks noChangeArrowheads="1"/>
            </p:cNvSpPr>
            <p:nvPr/>
          </p:nvSpPr>
          <p:spPr bwMode="auto">
            <a:xfrm>
              <a:off x="592" y="1966"/>
              <a:ext cx="3007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cs typeface="Courier New" pitchFamily="49" charset="0"/>
                  <a:sym typeface="Symbol" pitchFamily="18" charset="2"/>
                </a:rPr>
                <a:t>g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>
                  <a:solidFill>
                    <a:srgbClr val="000000"/>
                  </a:solidFill>
                  <a:cs typeface="Times New Roman" pitchFamily="18" charset="0"/>
                  <a:sym typeface="Symbol" pitchFamily="18" charset="2"/>
                </a:rPr>
                <a:t>–</a:t>
              </a: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V</a:t>
              </a:r>
              <a:r>
                <a:rPr lang="en-US" baseline="-25000">
                  <a:cs typeface="Courier New" pitchFamily="49" charset="0"/>
                  <a:sym typeface="Symbol" pitchFamily="18" charset="2"/>
                </a:rPr>
                <a:t>g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 / </a:t>
              </a:r>
              <a:r>
                <a:rPr lang="en-US">
                  <a:solidFill>
                    <a:srgbClr val="000000"/>
                  </a:solidFill>
                  <a:sym typeface="Symbol" pitchFamily="18" charset="2"/>
                </a:rPr>
                <a:t>∆</a:t>
              </a:r>
              <a:r>
                <a:rPr lang="en-US" i="1">
                  <a:cs typeface="Courier New" pitchFamily="49" charset="0"/>
                  <a:sym typeface="Symbol" pitchFamily="18" charset="2"/>
                </a:rPr>
                <a:t>r</a:t>
              </a:r>
            </a:p>
          </p:txBody>
        </p:sp>
        <p:sp>
          <p:nvSpPr>
            <p:cNvPr id="22536" name="Text Box 6"/>
            <p:cNvSpPr txBox="1">
              <a:spLocks noChangeArrowheads="1"/>
            </p:cNvSpPr>
            <p:nvPr/>
          </p:nvSpPr>
          <p:spPr bwMode="auto">
            <a:xfrm>
              <a:off x="2504" y="1985"/>
              <a:ext cx="270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gravitational potential gradient</a:t>
              </a:r>
            </a:p>
          </p:txBody>
        </p:sp>
        <p:sp>
          <p:nvSpPr>
            <p:cNvPr id="22537" name="Rectangle 7"/>
            <p:cNvSpPr>
              <a:spLocks noChangeArrowheads="1"/>
            </p:cNvSpPr>
            <p:nvPr/>
          </p:nvSpPr>
          <p:spPr bwMode="auto">
            <a:xfrm>
              <a:off x="510" y="1987"/>
              <a:ext cx="4701" cy="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31085" name="Picture 1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99313" y="12700"/>
            <a:ext cx="1865312" cy="1865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3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1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1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1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1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1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1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10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7" name="Rectangle 11"/>
          <p:cNvSpPr>
            <a:spLocks noChangeArrowheads="1"/>
          </p:cNvSpPr>
          <p:nvPr/>
        </p:nvSpPr>
        <p:spPr bwMode="auto">
          <a:xfrm>
            <a:off x="682625" y="4505325"/>
            <a:ext cx="7764463" cy="2233613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 dirty="0"/>
              <a:t>FYI</a:t>
            </a:r>
          </a:p>
          <a:p>
            <a:pPr eaLnBrk="0" hangingPunct="0">
              <a:spcAft>
                <a:spcPts val="250"/>
              </a:spcAft>
            </a:pPr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Generally </a:t>
            </a:r>
            <a:r>
              <a:rPr lang="en-US" dirty="0" err="1">
                <a:sym typeface="Symbol" pitchFamily="18" charset="2"/>
              </a:rPr>
              <a:t>equipotential</a:t>
            </a:r>
            <a:r>
              <a:rPr lang="en-US" dirty="0">
                <a:sym typeface="Symbol" pitchFamily="18" charset="2"/>
              </a:rPr>
              <a:t> surfaces are drawn so that the </a:t>
            </a:r>
            <a:r>
              <a:rPr lang="en-US" dirty="0">
                <a:solidFill>
                  <a:srgbClr val="000000"/>
                </a:solidFill>
                <a:ea typeface="Times New Roman" pitchFamily="18" charset="0"/>
                <a:cs typeface="Courier New" pitchFamily="49" charset="0"/>
              </a:rPr>
              <a:t>∆</a:t>
            </a:r>
            <a:r>
              <a:rPr lang="en-US" i="1" dirty="0" err="1"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 dirty="0" err="1">
                <a:cs typeface="Courier New" pitchFamily="49" charset="0"/>
                <a:sym typeface="Symbol" pitchFamily="18" charset="2"/>
              </a:rPr>
              <a:t>g</a:t>
            </a:r>
            <a:r>
              <a:rPr lang="en-US" i="1" dirty="0" err="1">
                <a:cs typeface="Courier New" pitchFamily="49" charset="0"/>
                <a:sym typeface="Symbol" pitchFamily="18" charset="2"/>
              </a:rPr>
              <a:t>s</a:t>
            </a:r>
            <a:r>
              <a:rPr lang="en-US" i="1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for consecutive surfaces are equal.</a:t>
            </a:r>
          </a:p>
          <a:p>
            <a:pPr eaLnBrk="0" hangingPunct="0"/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Because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-25000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is inversely proportional to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,  the consecutive rings get farther apart as we get farther from the mass.</a:t>
            </a:r>
          </a:p>
        </p:txBody>
      </p:sp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170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  <a:cs typeface="Times New Roman" pitchFamily="18" charset="0"/>
              </a:rPr>
              <a:t>Equipotential surfaces revisited </a:t>
            </a:r>
            <a:r>
              <a:rPr lang="en-US" altLang="en-US">
                <a:solidFill>
                  <a:schemeClr val="accent2"/>
                </a:solidFill>
              </a:rPr>
              <a:t>– gravitational</a:t>
            </a:r>
            <a:endParaRPr lang="en-US" i="1">
              <a:solidFill>
                <a:schemeClr val="accent2"/>
              </a:solidFill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Recall that </a:t>
            </a:r>
            <a:r>
              <a:rPr lang="en-US" b="1">
                <a:solidFill>
                  <a:srgbClr val="000000"/>
                </a:solidFill>
                <a:cs typeface="Times New Roman" pitchFamily="18" charset="0"/>
              </a:rPr>
              <a:t>equipotential surfaces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are imaginary surfaces at which the potential is the same.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Since the gravitational potential for a                               point mass is given by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-25000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 –</a:t>
            </a:r>
            <a:r>
              <a:rPr lang="en-US" i="1">
                <a:sym typeface="Symbol" pitchFamily="18" charset="2"/>
              </a:rPr>
              <a:t>GM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 it                                is clear that the equipotential surfaces                              are at fixed radii and hence are                         concentric spheres: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305675" y="3086100"/>
            <a:ext cx="395288" cy="396875"/>
            <a:chOff x="4422" y="2660"/>
            <a:chExt cx="249" cy="250"/>
          </a:xfrm>
        </p:grpSpPr>
        <p:sp>
          <p:nvSpPr>
            <p:cNvPr id="137221" name="Oval 5"/>
            <p:cNvSpPr>
              <a:spLocks noChangeArrowheads="1"/>
            </p:cNvSpPr>
            <p:nvPr/>
          </p:nvSpPr>
          <p:spPr bwMode="auto">
            <a:xfrm>
              <a:off x="4426" y="2697"/>
              <a:ext cx="205" cy="205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64" name="Text Box 6"/>
            <p:cNvSpPr txBox="1">
              <a:spLocks noChangeArrowheads="1"/>
            </p:cNvSpPr>
            <p:nvPr/>
          </p:nvSpPr>
          <p:spPr bwMode="auto">
            <a:xfrm>
              <a:off x="4422" y="2660"/>
              <a:ext cx="2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chemeClr val="bg1"/>
                  </a:solidFill>
                </a:rPr>
                <a:t>m</a:t>
              </a:r>
            </a:p>
          </p:txBody>
        </p:sp>
      </p:grpSp>
      <p:sp>
        <p:nvSpPr>
          <p:cNvPr id="137223" name="Oval 7"/>
          <p:cNvSpPr>
            <a:spLocks noChangeArrowheads="1"/>
          </p:cNvSpPr>
          <p:nvPr/>
        </p:nvSpPr>
        <p:spPr bwMode="auto">
          <a:xfrm>
            <a:off x="7202488" y="3040063"/>
            <a:ext cx="528637" cy="528637"/>
          </a:xfrm>
          <a:prstGeom prst="ellips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224" name="Oval 8"/>
          <p:cNvSpPr>
            <a:spLocks noChangeArrowheads="1"/>
          </p:cNvSpPr>
          <p:nvPr/>
        </p:nvSpPr>
        <p:spPr bwMode="auto">
          <a:xfrm>
            <a:off x="7024688" y="2882900"/>
            <a:ext cx="876300" cy="876300"/>
          </a:xfrm>
          <a:prstGeom prst="ellips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225" name="Oval 9"/>
          <p:cNvSpPr>
            <a:spLocks noChangeArrowheads="1"/>
          </p:cNvSpPr>
          <p:nvPr/>
        </p:nvSpPr>
        <p:spPr bwMode="auto">
          <a:xfrm>
            <a:off x="6800850" y="2633663"/>
            <a:ext cx="1333500" cy="1333500"/>
          </a:xfrm>
          <a:prstGeom prst="ellips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226" name="Oval 10"/>
          <p:cNvSpPr>
            <a:spLocks noChangeArrowheads="1"/>
          </p:cNvSpPr>
          <p:nvPr/>
        </p:nvSpPr>
        <p:spPr bwMode="auto">
          <a:xfrm>
            <a:off x="6451600" y="2297113"/>
            <a:ext cx="2043113" cy="2043112"/>
          </a:xfrm>
          <a:prstGeom prst="ellips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6334125" y="3883025"/>
            <a:ext cx="23336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chemeClr val="hlink"/>
                </a:solidFill>
              </a:rPr>
              <a:t>equipotential surfaces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7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7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7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7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7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7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3" grpId="0" animBg="1"/>
      <p:bldP spid="137224" grpId="0" animBg="1"/>
      <p:bldP spid="137225" grpId="0" animBg="1"/>
      <p:bldP spid="1372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1400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  <a:cs typeface="Times New Roman" pitchFamily="18" charset="0"/>
              </a:rPr>
              <a:t>Equipotential surfaces revisited </a:t>
            </a:r>
            <a:r>
              <a:rPr lang="en-US" altLang="en-US">
                <a:solidFill>
                  <a:schemeClr val="accent2"/>
                </a:solidFill>
              </a:rPr>
              <a:t>– gravitational</a:t>
            </a:r>
            <a:endParaRPr 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We know that for a point mass the gravitational field lines point inward.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Thus the gravitational field lines are                    perpendicular to the equipotential                            surfaces.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A 3D image of the same picture looks                              like this:</a:t>
            </a:r>
            <a:endParaRPr 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155755" name="Picture 10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36750" y="3881438"/>
            <a:ext cx="7258050" cy="3017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450013" y="2289175"/>
            <a:ext cx="2043112" cy="2043113"/>
            <a:chOff x="6316663" y="2657475"/>
            <a:chExt cx="2043112" cy="204311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7170738" y="3446474"/>
              <a:ext cx="395287" cy="396876"/>
              <a:chOff x="4422" y="2660"/>
              <a:chExt cx="249" cy="250"/>
            </a:xfrm>
          </p:grpSpPr>
          <p:sp>
            <p:nvSpPr>
              <p:cNvPr id="31" name="Oval 5"/>
              <p:cNvSpPr>
                <a:spLocks noChangeArrowheads="1"/>
              </p:cNvSpPr>
              <p:nvPr/>
            </p:nvSpPr>
            <p:spPr bwMode="auto">
              <a:xfrm>
                <a:off x="4426" y="2697"/>
                <a:ext cx="205" cy="205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4600" name="Text Box 6"/>
              <p:cNvSpPr txBox="1">
                <a:spLocks noChangeArrowheads="1"/>
              </p:cNvSpPr>
              <p:nvPr/>
            </p:nvSpPr>
            <p:spPr bwMode="auto">
              <a:xfrm>
                <a:off x="4422" y="2660"/>
                <a:ext cx="24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i="1">
                    <a:solidFill>
                      <a:schemeClr val="bg1"/>
                    </a:solidFill>
                  </a:rPr>
                  <a:t>m</a:t>
                </a:r>
              </a:p>
            </p:txBody>
          </p:sp>
        </p:grpSp>
        <p:sp>
          <p:nvSpPr>
            <p:cNvPr id="24595" name="Oval 7"/>
            <p:cNvSpPr>
              <a:spLocks noChangeArrowheads="1"/>
            </p:cNvSpPr>
            <p:nvPr/>
          </p:nvSpPr>
          <p:spPr bwMode="auto">
            <a:xfrm>
              <a:off x="7067550" y="3400425"/>
              <a:ext cx="528638" cy="528638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6" name="Oval 8"/>
            <p:cNvSpPr>
              <a:spLocks noChangeArrowheads="1"/>
            </p:cNvSpPr>
            <p:nvPr/>
          </p:nvSpPr>
          <p:spPr bwMode="auto">
            <a:xfrm>
              <a:off x="6889750" y="3243263"/>
              <a:ext cx="876300" cy="876300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7" name="Oval 9"/>
            <p:cNvSpPr>
              <a:spLocks noChangeArrowheads="1"/>
            </p:cNvSpPr>
            <p:nvPr/>
          </p:nvSpPr>
          <p:spPr bwMode="auto">
            <a:xfrm>
              <a:off x="6665913" y="2994025"/>
              <a:ext cx="1333500" cy="1333500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8" name="Oval 10"/>
            <p:cNvSpPr>
              <a:spLocks noChangeArrowheads="1"/>
            </p:cNvSpPr>
            <p:nvPr/>
          </p:nvSpPr>
          <p:spPr bwMode="auto">
            <a:xfrm>
              <a:off x="6316663" y="2657475"/>
              <a:ext cx="2043112" cy="2043113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280150" y="2144713"/>
            <a:ext cx="2370138" cy="2351087"/>
            <a:chOff x="3872" y="1614"/>
            <a:chExt cx="1493" cy="1481"/>
          </a:xfrm>
        </p:grpSpPr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3872" y="1614"/>
              <a:ext cx="1486" cy="1480"/>
              <a:chOff x="3872" y="1614"/>
              <a:chExt cx="1486" cy="1480"/>
            </a:xfrm>
          </p:grpSpPr>
          <p:sp>
            <p:nvSpPr>
              <p:cNvPr id="24590" name="Line 13"/>
              <p:cNvSpPr>
                <a:spLocks noChangeShapeType="1"/>
              </p:cNvSpPr>
              <p:nvPr/>
            </p:nvSpPr>
            <p:spPr bwMode="auto">
              <a:xfrm>
                <a:off x="4622" y="1614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1" name="Line 14"/>
              <p:cNvSpPr>
                <a:spLocks noChangeShapeType="1"/>
              </p:cNvSpPr>
              <p:nvPr/>
            </p:nvSpPr>
            <p:spPr bwMode="auto">
              <a:xfrm rot="5400000">
                <a:off x="5055" y="2039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2" name="Line 15"/>
              <p:cNvSpPr>
                <a:spLocks noChangeShapeType="1"/>
              </p:cNvSpPr>
              <p:nvPr/>
            </p:nvSpPr>
            <p:spPr bwMode="auto">
              <a:xfrm rot="16200000" flipH="1">
                <a:off x="4176" y="2040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3" name="Line 16"/>
              <p:cNvSpPr>
                <a:spLocks noChangeShapeType="1"/>
              </p:cNvSpPr>
              <p:nvPr/>
            </p:nvSpPr>
            <p:spPr bwMode="auto">
              <a:xfrm flipV="1">
                <a:off x="4616" y="2487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 rot="-2584935">
              <a:off x="3879" y="1615"/>
              <a:ext cx="1486" cy="1480"/>
              <a:chOff x="3872" y="1614"/>
              <a:chExt cx="1486" cy="1480"/>
            </a:xfrm>
          </p:grpSpPr>
          <p:sp>
            <p:nvSpPr>
              <p:cNvPr id="24586" name="Line 18"/>
              <p:cNvSpPr>
                <a:spLocks noChangeShapeType="1"/>
              </p:cNvSpPr>
              <p:nvPr/>
            </p:nvSpPr>
            <p:spPr bwMode="auto">
              <a:xfrm>
                <a:off x="4622" y="1614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7" name="Line 19"/>
              <p:cNvSpPr>
                <a:spLocks noChangeShapeType="1"/>
              </p:cNvSpPr>
              <p:nvPr/>
            </p:nvSpPr>
            <p:spPr bwMode="auto">
              <a:xfrm rot="5400000">
                <a:off x="5055" y="2039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8" name="Line 20"/>
              <p:cNvSpPr>
                <a:spLocks noChangeShapeType="1"/>
              </p:cNvSpPr>
              <p:nvPr/>
            </p:nvSpPr>
            <p:spPr bwMode="auto">
              <a:xfrm rot="16200000" flipH="1">
                <a:off x="4176" y="2040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9" name="Line 21"/>
              <p:cNvSpPr>
                <a:spLocks noChangeShapeType="1"/>
              </p:cNvSpPr>
              <p:nvPr/>
            </p:nvSpPr>
            <p:spPr bwMode="auto">
              <a:xfrm flipV="1">
                <a:off x="4616" y="2487"/>
                <a:ext cx="0" cy="6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674688" y="1760538"/>
            <a:ext cx="7772400" cy="44545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15000"/>
              </a:spcBef>
              <a:spcAft>
                <a:spcPts val="250"/>
              </a:spcAft>
            </a:pPr>
            <a:r>
              <a:rPr lang="en-US">
                <a:sym typeface="Symbol" pitchFamily="18" charset="2"/>
              </a:rPr>
              <a:t>EXAMPLE: Use the 3D view of the equipotential surface to interpret the gravitational potential gradient                   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–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g</a:t>
            </a:r>
            <a:r>
              <a:rPr lang="en-US"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r</a:t>
            </a:r>
            <a:r>
              <a:rPr lang="en-US">
                <a:cs typeface="Courier New" pitchFamily="49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SOLUTION: We can                                                     choose any direction                                                         for our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value,  say                                                           the red line:</a:t>
            </a:r>
          </a:p>
          <a:p>
            <a:pPr eaLnBrk="0" hangingPunct="0">
              <a:spcBef>
                <a:spcPct val="15000"/>
              </a:spcBef>
              <a:spcAft>
                <a:spcPts val="250"/>
              </a:spcAft>
            </a:pPr>
            <a:r>
              <a:rPr lang="en-US">
                <a:sym typeface="Symbol" pitchFamily="18" charset="2"/>
              </a:rPr>
              <a:t>Then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–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g</a:t>
            </a:r>
            <a:r>
              <a:rPr lang="en-US"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cs typeface="Courier New" pitchFamily="49" charset="0"/>
                <a:sym typeface="Symbol" pitchFamily="18" charset="2"/>
              </a:rPr>
              <a:t>/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y</a:t>
            </a:r>
            <a:r>
              <a:rPr lang="en-US">
                <a:cs typeface="Courier New" pitchFamily="49" charset="0"/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This is just the gradient                                                (slope) of the surface.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Thus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is the (–) gradient of the equipotential surface.</a:t>
            </a:r>
          </a:p>
        </p:txBody>
      </p:sp>
      <p:pic>
        <p:nvPicPr>
          <p:cNvPr id="25618" name="Picture 1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27475" y="2784475"/>
            <a:ext cx="5092700" cy="2722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4381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  <a:cs typeface="Times New Roman" pitchFamily="18" charset="0"/>
              </a:rPr>
              <a:t>Equipotential surfaces and the potential gradient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947217" y="2795588"/>
            <a:ext cx="642385" cy="457200"/>
            <a:chOff x="4669" y="2779"/>
            <a:chExt cx="280" cy="288"/>
          </a:xfrm>
        </p:grpSpPr>
        <p:sp>
          <p:nvSpPr>
            <p:cNvPr id="25613" name="Line 8"/>
            <p:cNvSpPr>
              <a:spLocks noChangeShapeType="1"/>
            </p:cNvSpPr>
            <p:nvPr/>
          </p:nvSpPr>
          <p:spPr bwMode="auto">
            <a:xfrm>
              <a:off x="4669" y="3024"/>
              <a:ext cx="280" cy="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Text Box 9"/>
            <p:cNvSpPr txBox="1">
              <a:spLocks noChangeArrowheads="1"/>
            </p:cNvSpPr>
            <p:nvPr/>
          </p:nvSpPr>
          <p:spPr bwMode="auto">
            <a:xfrm>
              <a:off x="4732" y="2779"/>
              <a:ext cx="20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ym typeface="Symbol" pitchFamily="18" charset="2"/>
                </a:rPr>
                <a:t>∆</a:t>
              </a:r>
              <a:r>
                <a:rPr lang="en-US" i="1" dirty="0">
                  <a:cs typeface="Courier New" pitchFamily="49" charset="0"/>
                </a:rPr>
                <a:t>r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556254" y="3240088"/>
            <a:ext cx="711201" cy="495300"/>
            <a:chOff x="4930" y="3047"/>
            <a:chExt cx="448" cy="432"/>
          </a:xfrm>
        </p:grpSpPr>
        <p:sp>
          <p:nvSpPr>
            <p:cNvPr id="25611" name="Line 11"/>
            <p:cNvSpPr>
              <a:spLocks noChangeShapeType="1"/>
            </p:cNvSpPr>
            <p:nvPr/>
          </p:nvSpPr>
          <p:spPr bwMode="auto">
            <a:xfrm>
              <a:off x="4950" y="3047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2" name="Text Box 12"/>
            <p:cNvSpPr txBox="1">
              <a:spLocks noChangeArrowheads="1"/>
            </p:cNvSpPr>
            <p:nvPr/>
          </p:nvSpPr>
          <p:spPr bwMode="auto">
            <a:xfrm>
              <a:off x="4930" y="3062"/>
              <a:ext cx="448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ym typeface="Symbol" pitchFamily="18" charset="2"/>
                </a:rPr>
                <a:t>∆</a:t>
              </a:r>
              <a:r>
                <a:rPr lang="en-US" i="1" dirty="0">
                  <a:cs typeface="Courier New" pitchFamily="49" charset="0"/>
                </a:rPr>
                <a:t>V</a:t>
              </a:r>
              <a:r>
                <a:rPr lang="en-US" baseline="-25000" dirty="0">
                  <a:cs typeface="Courier New" pitchFamily="49" charset="0"/>
                </a:rPr>
                <a:t>g</a:t>
              </a:r>
              <a:endParaRPr lang="en-US" i="1" dirty="0">
                <a:cs typeface="Courier New" pitchFamily="49" charset="0"/>
              </a:endParaRPr>
            </a:p>
          </p:txBody>
        </p:sp>
      </p:grpSp>
      <p:sp>
        <p:nvSpPr>
          <p:cNvPr id="25617" name="Freeform 17"/>
          <p:cNvSpPr>
            <a:spLocks/>
          </p:cNvSpPr>
          <p:nvPr/>
        </p:nvSpPr>
        <p:spPr bwMode="auto">
          <a:xfrm>
            <a:off x="4505325" y="2981325"/>
            <a:ext cx="1276350" cy="1085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6" y="138"/>
              </a:cxn>
              <a:cxn ang="0">
                <a:pos x="486" y="276"/>
              </a:cxn>
              <a:cxn ang="0">
                <a:pos x="630" y="414"/>
              </a:cxn>
              <a:cxn ang="0">
                <a:pos x="726" y="546"/>
              </a:cxn>
              <a:cxn ang="0">
                <a:pos x="804" y="684"/>
              </a:cxn>
            </a:cxnLst>
            <a:rect l="0" t="0" r="r" b="b"/>
            <a:pathLst>
              <a:path w="804" h="684">
                <a:moveTo>
                  <a:pt x="0" y="0"/>
                </a:moveTo>
                <a:cubicBezTo>
                  <a:pt x="97" y="46"/>
                  <a:pt x="195" y="92"/>
                  <a:pt x="276" y="138"/>
                </a:cubicBezTo>
                <a:cubicBezTo>
                  <a:pt x="357" y="184"/>
                  <a:pt x="427" y="230"/>
                  <a:pt x="486" y="276"/>
                </a:cubicBezTo>
                <a:cubicBezTo>
                  <a:pt x="545" y="322"/>
                  <a:pt x="590" y="369"/>
                  <a:pt x="630" y="414"/>
                </a:cubicBezTo>
                <a:cubicBezTo>
                  <a:pt x="670" y="459"/>
                  <a:pt x="697" y="501"/>
                  <a:pt x="726" y="546"/>
                </a:cubicBezTo>
                <a:cubicBezTo>
                  <a:pt x="755" y="591"/>
                  <a:pt x="779" y="637"/>
                  <a:pt x="804" y="684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373" name="Line 13"/>
          <p:cNvSpPr>
            <a:spLocks noChangeShapeType="1"/>
          </p:cNvSpPr>
          <p:nvPr/>
        </p:nvSpPr>
        <p:spPr bwMode="auto">
          <a:xfrm>
            <a:off x="4576763" y="2887663"/>
            <a:ext cx="1362075" cy="11033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3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7" grpId="0" animBg="1"/>
      <p:bldP spid="1433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674688" y="1771650"/>
            <a:ext cx="7772400" cy="34099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Sketch the                                            gravitational field lines                                                  around two point masses.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Remember                                                      that the gravitational field                                                 lines point inward, and                                                      that they are                                                         perpendicular to the                                              equipotential surfaces.</a:t>
            </a:r>
            <a:endParaRPr lang="en-US" i="1"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14541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60850" y="2084388"/>
            <a:ext cx="4295775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218238" y="3389313"/>
            <a:ext cx="395287" cy="396875"/>
            <a:chOff x="4422" y="2660"/>
            <a:chExt cx="249" cy="250"/>
          </a:xfrm>
        </p:grpSpPr>
        <p:sp>
          <p:nvSpPr>
            <p:cNvPr id="145415" name="Oval 7"/>
            <p:cNvSpPr>
              <a:spLocks noChangeArrowheads="1"/>
            </p:cNvSpPr>
            <p:nvPr/>
          </p:nvSpPr>
          <p:spPr bwMode="auto">
            <a:xfrm>
              <a:off x="4426" y="2697"/>
              <a:ext cx="205" cy="205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35" name="Text Box 8"/>
            <p:cNvSpPr txBox="1">
              <a:spLocks noChangeArrowheads="1"/>
            </p:cNvSpPr>
            <p:nvPr/>
          </p:nvSpPr>
          <p:spPr bwMode="auto">
            <a:xfrm>
              <a:off x="4422" y="2660"/>
              <a:ext cx="2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chemeClr val="bg1"/>
                  </a:solidFill>
                </a:rPr>
                <a:t>m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208713" y="5461000"/>
            <a:ext cx="395287" cy="396875"/>
            <a:chOff x="4422" y="2660"/>
            <a:chExt cx="249" cy="250"/>
          </a:xfrm>
        </p:grpSpPr>
        <p:sp>
          <p:nvSpPr>
            <p:cNvPr id="145418" name="Oval 10"/>
            <p:cNvSpPr>
              <a:spLocks noChangeArrowheads="1"/>
            </p:cNvSpPr>
            <p:nvPr/>
          </p:nvSpPr>
          <p:spPr bwMode="auto">
            <a:xfrm>
              <a:off x="4426" y="2697"/>
              <a:ext cx="205" cy="205"/>
            </a:xfrm>
            <a:prstGeom prst="ellipse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33" name="Text Box 11"/>
            <p:cNvSpPr txBox="1">
              <a:spLocks noChangeArrowheads="1"/>
            </p:cNvSpPr>
            <p:nvPr/>
          </p:nvSpPr>
          <p:spPr bwMode="auto">
            <a:xfrm>
              <a:off x="4422" y="2660"/>
              <a:ext cx="2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>
                  <a:solidFill>
                    <a:schemeClr val="bg1"/>
                  </a:solidFill>
                </a:rPr>
                <a:t>m</a:t>
              </a:r>
            </a:p>
          </p:txBody>
        </p:sp>
      </p:grpSp>
      <p:sp>
        <p:nvSpPr>
          <p:cNvPr id="26631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381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  <a:cs typeface="Times New Roman" pitchFamily="18" charset="0"/>
              </a:rPr>
              <a:t>Equipotential surfaces and the potential gradient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674688" y="1758950"/>
            <a:ext cx="7772400" cy="47371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Use a 3D view                                                 of the equipotential surface                                                 of two point masses to                                                illustrate that the gravitational                                    potential gradient is zero                                         somewhere in between the                                              two masses.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Remember that the                                              gravitational potential gradient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–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g</a:t>
            </a:r>
            <a:r>
              <a:rPr lang="en-US"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cs typeface="Courier New" pitchFamily="49" charset="0"/>
                <a:sym typeface="Symbol" pitchFamily="18" charset="2"/>
              </a:rPr>
              <a:t>r</a:t>
            </a:r>
            <a:r>
              <a:rPr lang="en-US">
                <a:cs typeface="Courier New" pitchFamily="49" charset="0"/>
                <a:sym typeface="Symbol" pitchFamily="18" charset="2"/>
              </a:rPr>
              <a:t>  is just the slope of the surface.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The saddle point’s slope is zero. Thus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0 there.</a:t>
            </a:r>
          </a:p>
        </p:txBody>
      </p:sp>
      <p:pic>
        <p:nvPicPr>
          <p:cNvPr id="27663" name="Picture 1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48238" y="2025650"/>
            <a:ext cx="2660650" cy="1519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64" name="Picture 1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08588" y="2747963"/>
            <a:ext cx="3744912" cy="2001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659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381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chemeClr val="accent2"/>
                </a:solidFill>
                <a:cs typeface="Times New Roman" pitchFamily="18" charset="0"/>
              </a:rPr>
              <a:t>Equipotential surfaces and the potential gradient</a:t>
            </a:r>
          </a:p>
        </p:txBody>
      </p:sp>
      <p:sp>
        <p:nvSpPr>
          <p:cNvPr id="147462" name="Freeform 6"/>
          <p:cNvSpPr>
            <a:spLocks/>
          </p:cNvSpPr>
          <p:nvPr/>
        </p:nvSpPr>
        <p:spPr bwMode="auto">
          <a:xfrm>
            <a:off x="6450013" y="2768600"/>
            <a:ext cx="150812" cy="649288"/>
          </a:xfrm>
          <a:custGeom>
            <a:avLst/>
            <a:gdLst>
              <a:gd name="T0" fmla="*/ 447477 w 224"/>
              <a:gd name="T1" fmla="*/ 1182688 h 637"/>
              <a:gd name="T2" fmla="*/ 447477 w 224"/>
              <a:gd name="T3" fmla="*/ 915330 h 637"/>
              <a:gd name="T4" fmla="*/ 400695 w 224"/>
              <a:gd name="T5" fmla="*/ 660968 h 637"/>
              <a:gd name="T6" fmla="*/ 278656 w 224"/>
              <a:gd name="T7" fmla="*/ 350907 h 637"/>
              <a:gd name="T8" fmla="*/ 124073 w 224"/>
              <a:gd name="T9" fmla="*/ 113256 h 637"/>
              <a:gd name="T10" fmla="*/ 0 w 224"/>
              <a:gd name="T11" fmla="*/ 0 h 63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4"/>
              <a:gd name="T19" fmla="*/ 0 h 637"/>
              <a:gd name="T20" fmla="*/ 224 w 224"/>
              <a:gd name="T21" fmla="*/ 637 h 63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4" h="637">
                <a:moveTo>
                  <a:pt x="220" y="637"/>
                </a:moveTo>
                <a:cubicBezTo>
                  <a:pt x="222" y="588"/>
                  <a:pt x="224" y="540"/>
                  <a:pt x="220" y="493"/>
                </a:cubicBezTo>
                <a:cubicBezTo>
                  <a:pt x="216" y="446"/>
                  <a:pt x="211" y="407"/>
                  <a:pt x="197" y="356"/>
                </a:cubicBezTo>
                <a:cubicBezTo>
                  <a:pt x="183" y="305"/>
                  <a:pt x="160" y="238"/>
                  <a:pt x="137" y="189"/>
                </a:cubicBezTo>
                <a:cubicBezTo>
                  <a:pt x="114" y="140"/>
                  <a:pt x="84" y="92"/>
                  <a:pt x="61" y="61"/>
                </a:cubicBezTo>
                <a:cubicBezTo>
                  <a:pt x="38" y="30"/>
                  <a:pt x="15" y="11"/>
                  <a:pt x="0" y="0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 flipV="1">
            <a:off x="5745163" y="2762250"/>
            <a:ext cx="1354137" cy="111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64" name="Line 8"/>
          <p:cNvSpPr>
            <a:spLocks noChangeShapeType="1"/>
          </p:cNvSpPr>
          <p:nvPr/>
        </p:nvSpPr>
        <p:spPr bwMode="auto">
          <a:xfrm>
            <a:off x="6159500" y="2425700"/>
            <a:ext cx="679450" cy="78581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7313613" y="1985963"/>
            <a:ext cx="1830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saddle point</a:t>
            </a: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 flipH="1">
            <a:off x="6507163" y="2270125"/>
            <a:ext cx="8001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7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7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2" grpId="0" animBg="1"/>
      <p:bldP spid="147465" grpId="0" animBg="1"/>
      <p:bldP spid="147464" grpId="0" animBg="1"/>
      <p:bldP spid="1474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8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" y="4668633"/>
            <a:ext cx="9159011" cy="2189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1136650" y="4643438"/>
            <a:ext cx="409575" cy="4206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i="1">
                <a:solidFill>
                  <a:schemeClr val="tx2"/>
                </a:solidFill>
              </a:rPr>
              <a:t>M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397125" y="5302250"/>
            <a:ext cx="409575" cy="500063"/>
            <a:chOff x="1510" y="3186"/>
            <a:chExt cx="258" cy="315"/>
          </a:xfrm>
        </p:grpSpPr>
        <p:sp>
          <p:nvSpPr>
            <p:cNvPr id="28686" name="Oval 9"/>
            <p:cNvSpPr>
              <a:spLocks noChangeArrowheads="1"/>
            </p:cNvSpPr>
            <p:nvPr/>
          </p:nvSpPr>
          <p:spPr bwMode="auto">
            <a:xfrm>
              <a:off x="1563" y="3401"/>
              <a:ext cx="100" cy="100"/>
            </a:xfrm>
            <a:prstGeom prst="ellipse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Text Box 10"/>
            <p:cNvSpPr txBox="1">
              <a:spLocks noChangeArrowheads="1"/>
            </p:cNvSpPr>
            <p:nvPr/>
          </p:nvSpPr>
          <p:spPr bwMode="auto">
            <a:xfrm>
              <a:off x="1510" y="3186"/>
              <a:ext cx="258" cy="2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olidFill>
                    <a:schemeClr val="bg1"/>
                  </a:solidFill>
                </a:rPr>
                <a:t>m</a:t>
              </a:r>
            </a:p>
          </p:txBody>
        </p:sp>
      </p:grpSp>
      <p:sp>
        <p:nvSpPr>
          <p:cNvPr id="151563" name="Line 11"/>
          <p:cNvSpPr>
            <a:spLocks noChangeShapeType="1"/>
          </p:cNvSpPr>
          <p:nvPr/>
        </p:nvSpPr>
        <p:spPr bwMode="auto">
          <a:xfrm>
            <a:off x="1379538" y="5730875"/>
            <a:ext cx="11176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1564" name="Text Box 12"/>
          <p:cNvSpPr txBox="1">
            <a:spLocks noChangeArrowheads="1"/>
          </p:cNvSpPr>
          <p:nvPr/>
        </p:nvSpPr>
        <p:spPr bwMode="auto">
          <a:xfrm>
            <a:off x="1714500" y="5705475"/>
            <a:ext cx="409575" cy="420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i="1"/>
              <a:t>R</a:t>
            </a:r>
          </a:p>
        </p:txBody>
      </p:sp>
      <p:sp>
        <p:nvSpPr>
          <p:cNvPr id="151565" name="Text Box 13"/>
          <p:cNvSpPr txBox="1">
            <a:spLocks noChangeArrowheads="1"/>
          </p:cNvSpPr>
          <p:nvPr/>
        </p:nvSpPr>
        <p:spPr bwMode="auto">
          <a:xfrm>
            <a:off x="2470150" y="5705475"/>
            <a:ext cx="852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i="1">
                <a:solidFill>
                  <a:schemeClr val="hlink"/>
                </a:solidFill>
              </a:rPr>
              <a:t>R</a:t>
            </a:r>
          </a:p>
        </p:txBody>
      </p:sp>
      <p:sp>
        <p:nvSpPr>
          <p:cNvPr id="151566" name="Text Box 14"/>
          <p:cNvSpPr txBox="1">
            <a:spLocks noChangeArrowheads="1"/>
          </p:cNvSpPr>
          <p:nvPr/>
        </p:nvSpPr>
        <p:spPr bwMode="auto">
          <a:xfrm>
            <a:off x="8169275" y="5707063"/>
            <a:ext cx="849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</a:t>
            </a:r>
          </a:p>
        </p:txBody>
      </p:sp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336976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Escape speed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We define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0000"/>
                </a:solidFill>
                <a:cs typeface="Times New Roman" pitchFamily="18" charset="0"/>
              </a:rPr>
              <a:t>escape speed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 to be the minimum speed an object needs to escape a planet’s gravitational pull.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We can further define escape speed </a:t>
            </a:r>
            <a:r>
              <a:rPr lang="en-US" i="1" dirty="0" err="1">
                <a:solidFill>
                  <a:srgbClr val="000000"/>
                </a:solidFill>
                <a:cs typeface="Courier New" pitchFamily="49" charset="0"/>
              </a:rPr>
              <a:t>v</a:t>
            </a:r>
            <a:r>
              <a:rPr lang="en-US" baseline="-25000" dirty="0" err="1">
                <a:solidFill>
                  <a:srgbClr val="000000"/>
                </a:solidFill>
                <a:cs typeface="Courier New" pitchFamily="49" charset="0"/>
              </a:rPr>
              <a:t>esc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to be that minimum speed which will carry an object to infinity and bring it to rest there.</a:t>
            </a: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Thus we see as </a:t>
            </a:r>
            <a:r>
              <a:rPr lang="en-US" i="1" dirty="0">
                <a:solidFill>
                  <a:srgbClr val="000000"/>
                </a:solidFill>
                <a:cs typeface="Courier New" pitchFamily="49" charset="0"/>
              </a:rPr>
              <a:t>r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 then </a:t>
            </a:r>
            <a:r>
              <a:rPr lang="en-US" i="1" dirty="0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v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  <a:sym typeface="Symbol" pitchFamily="18" charset="2"/>
              </a:rPr>
              <a:t>0. </a:t>
            </a:r>
          </a:p>
        </p:txBody>
      </p:sp>
      <p:sp>
        <p:nvSpPr>
          <p:cNvPr id="151567" name="Rectangle 15"/>
          <p:cNvSpPr>
            <a:spLocks noChangeArrowheads="1"/>
          </p:cNvSpPr>
          <p:nvPr/>
        </p:nvSpPr>
        <p:spPr bwMode="auto">
          <a:xfrm>
            <a:off x="722313" y="3714750"/>
            <a:ext cx="2682875" cy="361950"/>
          </a:xfrm>
          <a:prstGeom prst="rect">
            <a:avLst/>
          </a:prstGeom>
          <a:solidFill>
            <a:srgbClr val="FF6600">
              <a:alpha val="4117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1571" name="Text Box 19"/>
          <p:cNvSpPr txBox="1">
            <a:spLocks noChangeArrowheads="1"/>
          </p:cNvSpPr>
          <p:nvPr/>
        </p:nvSpPr>
        <p:spPr bwMode="auto">
          <a:xfrm>
            <a:off x="2424113" y="6027738"/>
            <a:ext cx="1431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u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baseline="-25000">
                <a:solidFill>
                  <a:schemeClr val="hlink"/>
                </a:solidFill>
              </a:rPr>
              <a:t>esc</a:t>
            </a:r>
            <a:endParaRPr lang="en-US" i="1">
              <a:solidFill>
                <a:schemeClr val="hlink"/>
              </a:solidFill>
            </a:endParaRPr>
          </a:p>
        </p:txBody>
      </p:sp>
      <p:sp>
        <p:nvSpPr>
          <p:cNvPr id="151572" name="Text Box 20"/>
          <p:cNvSpPr txBox="1">
            <a:spLocks noChangeArrowheads="1"/>
          </p:cNvSpPr>
          <p:nvPr/>
        </p:nvSpPr>
        <p:spPr bwMode="auto">
          <a:xfrm>
            <a:off x="8120063" y="6029325"/>
            <a:ext cx="955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>
                <a:solidFill>
                  <a:schemeClr val="hlink"/>
                </a:solidFill>
              </a:rPr>
              <a:t> = 0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0.00232 L 0.68021 0.004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9" grpId="0"/>
      <p:bldP spid="151563" grpId="0" animBg="1"/>
      <p:bldP spid="151564" grpId="0"/>
      <p:bldP spid="151565" grpId="0"/>
      <p:bldP spid="151566" grpId="0"/>
      <p:bldP spid="151567" grpId="0" animBg="1"/>
      <p:bldP spid="151571" grpId="0"/>
      <p:bldP spid="1515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5" name="Rectangle 15"/>
          <p:cNvSpPr>
            <a:spLocks noChangeArrowheads="1"/>
          </p:cNvSpPr>
          <p:nvPr/>
        </p:nvSpPr>
        <p:spPr bwMode="auto">
          <a:xfrm>
            <a:off x="685800" y="4521200"/>
            <a:ext cx="7772400" cy="23368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/>
              <a:t>PRACTICE: Find the escape speed from Earth.</a:t>
            </a:r>
          </a:p>
          <a:p>
            <a:r>
              <a:rPr lang="en-US"/>
              <a:t>SOLUTION: </a:t>
            </a:r>
          </a:p>
          <a:p>
            <a:r>
              <a:rPr lang="en-US">
                <a:sym typeface="Symbol" pitchFamily="18" charset="2"/>
              </a:rPr>
              <a:t></a:t>
            </a:r>
            <a:r>
              <a:rPr lang="en-US" i="1"/>
              <a:t>M</a:t>
            </a:r>
            <a:r>
              <a:rPr lang="en-US"/>
              <a:t> = 5.98</a:t>
            </a:r>
            <a:r>
              <a:rPr lang="en-US">
                <a:sym typeface="Symbol" pitchFamily="18" charset="2"/>
              </a:rPr>
              <a:t>10</a:t>
            </a:r>
            <a:r>
              <a:rPr lang="en-US" baseline="30000">
                <a:sym typeface="Symbol" pitchFamily="18" charset="2"/>
              </a:rPr>
              <a:t>24</a:t>
            </a:r>
            <a:r>
              <a:rPr lang="en-US">
                <a:sym typeface="Symbol" pitchFamily="18" charset="2"/>
              </a:rPr>
              <a:t> kg and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6.3710</a:t>
            </a:r>
            <a:r>
              <a:rPr lang="en-US" baseline="30000">
                <a:sym typeface="Symbol" pitchFamily="18" charset="2"/>
              </a:rPr>
              <a:t>6</a:t>
            </a:r>
            <a:r>
              <a:rPr lang="en-US">
                <a:sym typeface="Symbol" pitchFamily="18" charset="2"/>
              </a:rPr>
              <a:t> m. </a:t>
            </a:r>
          </a:p>
          <a:p>
            <a:r>
              <a:rPr lang="en-US" i="1">
                <a:cs typeface="Courier New" pitchFamily="49" charset="0"/>
                <a:sym typeface="Symbol" pitchFamily="18" charset="2"/>
              </a:rPr>
              <a:t>  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esc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	= 2</a:t>
            </a:r>
            <a:r>
              <a:rPr lang="en-US" i="1">
                <a:sym typeface="Symbol" pitchFamily="18" charset="2"/>
              </a:rPr>
              <a:t>GM / R </a:t>
            </a:r>
          </a:p>
          <a:p>
            <a:r>
              <a:rPr lang="en-US" i="1">
                <a:sym typeface="Symbol" pitchFamily="18" charset="2"/>
              </a:rPr>
              <a:t>        </a:t>
            </a:r>
            <a:r>
              <a:rPr lang="en-US" i="1" baseline="-25000">
                <a:sym typeface="Symbol" pitchFamily="18" charset="2"/>
              </a:rPr>
              <a:t> 	</a:t>
            </a:r>
            <a:r>
              <a:rPr lang="en-US">
                <a:sym typeface="Symbol" pitchFamily="18" charset="2"/>
              </a:rPr>
              <a:t>= 2(6.6710</a:t>
            </a:r>
            <a:r>
              <a:rPr lang="en-US" baseline="30000">
                <a:sym typeface="Symbol" pitchFamily="18" charset="2"/>
              </a:rPr>
              <a:t>-11</a:t>
            </a:r>
            <a:r>
              <a:rPr lang="en-US">
                <a:sym typeface="Symbol" pitchFamily="18" charset="2"/>
              </a:rPr>
              <a:t>)(</a:t>
            </a:r>
            <a:r>
              <a:rPr lang="en-US"/>
              <a:t>5.98</a:t>
            </a:r>
            <a:r>
              <a:rPr lang="en-US">
                <a:sym typeface="Symbol" pitchFamily="18" charset="2"/>
              </a:rPr>
              <a:t>10</a:t>
            </a:r>
            <a:r>
              <a:rPr lang="en-US" baseline="30000">
                <a:sym typeface="Symbol" pitchFamily="18" charset="2"/>
              </a:rPr>
              <a:t>24</a:t>
            </a:r>
            <a:r>
              <a:rPr lang="en-US">
                <a:sym typeface="Symbol" pitchFamily="18" charset="2"/>
              </a:rPr>
              <a:t>)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6.3710</a:t>
            </a:r>
            <a:r>
              <a:rPr lang="en-US" baseline="30000">
                <a:sym typeface="Symbol" pitchFamily="18" charset="2"/>
              </a:rPr>
              <a:t>6</a:t>
            </a:r>
            <a:r>
              <a:rPr lang="en-US">
                <a:sym typeface="Symbol" pitchFamily="18" charset="2"/>
              </a:rPr>
              <a:t> </a:t>
            </a:r>
          </a:p>
          <a:p>
            <a:r>
              <a:rPr lang="en-US" i="1">
                <a:cs typeface="Courier New" pitchFamily="49" charset="0"/>
                <a:sym typeface="Symbol" pitchFamily="18" charset="2"/>
              </a:rPr>
              <a:t>    v</a:t>
            </a:r>
            <a:r>
              <a:rPr lang="en-US" baseline="-25000">
                <a:cs typeface="Courier New" pitchFamily="49" charset="0"/>
                <a:sym typeface="Symbol" pitchFamily="18" charset="2"/>
              </a:rPr>
              <a:t>esc</a:t>
            </a:r>
            <a:r>
              <a:rPr lang="en-US">
                <a:cs typeface="Courier New" pitchFamily="49" charset="0"/>
                <a:sym typeface="Symbol" pitchFamily="18" charset="2"/>
              </a:rPr>
              <a:t> 	= 11200 ms</a:t>
            </a:r>
            <a:r>
              <a:rPr lang="en-US" baseline="30000">
                <a:cs typeface="Courier New" pitchFamily="49" charset="0"/>
                <a:sym typeface="Symbol" pitchFamily="18" charset="2"/>
              </a:rPr>
              <a:t>-1</a:t>
            </a:r>
            <a:r>
              <a:rPr lang="en-US">
                <a:cs typeface="Courier New" pitchFamily="49" charset="0"/>
                <a:sym typeface="Symbol" pitchFamily="18" charset="2"/>
              </a:rPr>
              <a:t> (= 24900 mph!)</a:t>
            </a:r>
            <a:endParaRPr lang="en-US" i="1" baseline="-25000"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1940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Escape speed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From the conservation of mechanical energy we have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K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+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P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= 0. Then</a:t>
            </a:r>
            <a:endParaRPr lang="en-US">
              <a:solidFill>
                <a:srgbClr val="000000"/>
              </a:solidFill>
              <a:cs typeface="Courier New" pitchFamily="49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				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K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– 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K0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+ 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P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– 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P0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	= 0</a:t>
            </a:r>
          </a:p>
          <a:p>
            <a:pPr eaLnBrk="0" hangingPunct="0">
              <a:spcBef>
                <a:spcPct val="35000"/>
              </a:spcBef>
            </a:pP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     (1/2)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mv</a:t>
            </a:r>
            <a:r>
              <a:rPr lang="en-US" baseline="30000">
                <a:solidFill>
                  <a:srgbClr val="000000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– (1/2)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mu</a:t>
            </a:r>
            <a:r>
              <a:rPr lang="en-US" baseline="30000">
                <a:solidFill>
                  <a:srgbClr val="000000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+ </a:t>
            </a:r>
            <a:r>
              <a:rPr lang="en-US" baseline="30000">
                <a:solidFill>
                  <a:srgbClr val="000000"/>
                </a:solidFill>
                <a:cs typeface="Courier New" pitchFamily="49" charset="0"/>
              </a:rPr>
              <a:t>-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GMm / r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– </a:t>
            </a:r>
            <a:r>
              <a:rPr lang="en-US" baseline="30000">
                <a:solidFill>
                  <a:srgbClr val="000000"/>
                </a:solidFill>
                <a:cs typeface="Courier New" pitchFamily="49" charset="0"/>
              </a:rPr>
              <a:t>-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GMm / r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	= 0</a:t>
            </a:r>
          </a:p>
          <a:p>
            <a:pPr eaLnBrk="0" hangingPunct="0">
              <a:spcBef>
                <a:spcPct val="35000"/>
              </a:spcBef>
            </a:pP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                            		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   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(1/2)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mv</a:t>
            </a:r>
            <a:r>
              <a:rPr lang="en-US" baseline="-25000">
                <a:solidFill>
                  <a:srgbClr val="000000"/>
                </a:solidFill>
                <a:cs typeface="Courier New" pitchFamily="49" charset="0"/>
              </a:rPr>
              <a:t>esc</a:t>
            </a:r>
            <a:r>
              <a:rPr lang="en-US" baseline="30000">
                <a:solidFill>
                  <a:srgbClr val="000000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	= </a:t>
            </a:r>
            <a:r>
              <a:rPr lang="en-US" i="1">
                <a:solidFill>
                  <a:srgbClr val="000000"/>
                </a:solidFill>
                <a:cs typeface="Courier New" pitchFamily="49" charset="0"/>
              </a:rPr>
              <a:t>GMm / 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38313" y="2889250"/>
            <a:ext cx="700087" cy="555625"/>
            <a:chOff x="1359" y="3173"/>
            <a:chExt cx="441" cy="444"/>
          </a:xfrm>
        </p:grpSpPr>
        <p:sp>
          <p:nvSpPr>
            <p:cNvPr id="29715" name="Line 5"/>
            <p:cNvSpPr>
              <a:spLocks noChangeShapeType="1"/>
            </p:cNvSpPr>
            <p:nvPr/>
          </p:nvSpPr>
          <p:spPr bwMode="auto">
            <a:xfrm flipV="1">
              <a:off x="1359" y="3370"/>
              <a:ext cx="271" cy="24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Text Box 6"/>
            <p:cNvSpPr txBox="1">
              <a:spLocks noChangeArrowheads="1"/>
            </p:cNvSpPr>
            <p:nvPr/>
          </p:nvSpPr>
          <p:spPr bwMode="auto">
            <a:xfrm>
              <a:off x="1595" y="3173"/>
              <a:ext cx="205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722813" y="2868613"/>
            <a:ext cx="700087" cy="592137"/>
            <a:chOff x="1359" y="3174"/>
            <a:chExt cx="441" cy="443"/>
          </a:xfrm>
        </p:grpSpPr>
        <p:sp>
          <p:nvSpPr>
            <p:cNvPr id="29713" name="Line 8"/>
            <p:cNvSpPr>
              <a:spLocks noChangeShapeType="1"/>
            </p:cNvSpPr>
            <p:nvPr/>
          </p:nvSpPr>
          <p:spPr bwMode="auto">
            <a:xfrm flipV="1">
              <a:off x="1359" y="3370"/>
              <a:ext cx="271" cy="24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Text Box 9"/>
            <p:cNvSpPr txBox="1">
              <a:spLocks noChangeArrowheads="1"/>
            </p:cNvSpPr>
            <p:nvPr/>
          </p:nvSpPr>
          <p:spPr bwMode="auto">
            <a:xfrm>
              <a:off x="1595" y="3174"/>
              <a:ext cx="205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835025" y="4022725"/>
            <a:ext cx="7464425" cy="457200"/>
            <a:chOff x="510" y="2654"/>
            <a:chExt cx="4702" cy="288"/>
          </a:xfrm>
        </p:grpSpPr>
        <p:sp>
          <p:nvSpPr>
            <p:cNvPr id="29709" name="Rectangle 11"/>
            <p:cNvSpPr>
              <a:spLocks noChangeArrowheads="1"/>
            </p:cNvSpPr>
            <p:nvPr/>
          </p:nvSpPr>
          <p:spPr bwMode="auto">
            <a:xfrm>
              <a:off x="592" y="2667"/>
              <a:ext cx="15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cs typeface="Courier New" pitchFamily="49" charset="0"/>
                  <a:sym typeface="Symbol" pitchFamily="18" charset="2"/>
                </a:rPr>
                <a:t>v</a:t>
              </a:r>
              <a:r>
                <a:rPr lang="en-US" baseline="-25000">
                  <a:cs typeface="Courier New" pitchFamily="49" charset="0"/>
                  <a:sym typeface="Symbol" pitchFamily="18" charset="2"/>
                </a:rPr>
                <a:t>esc</a:t>
              </a:r>
              <a:r>
                <a:rPr lang="en-US">
                  <a:sym typeface="Symbol" pitchFamily="18" charset="2"/>
                </a:rPr>
                <a:t> =  2</a:t>
              </a:r>
              <a:r>
                <a:rPr lang="en-US" i="1">
                  <a:sym typeface="Symbol" pitchFamily="18" charset="2"/>
                </a:rPr>
                <a:t>GM / R</a:t>
              </a:r>
              <a:endParaRPr lang="en-US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9710" name="Text Box 12"/>
            <p:cNvSpPr txBox="1">
              <a:spLocks noChangeArrowheads="1"/>
            </p:cNvSpPr>
            <p:nvPr/>
          </p:nvSpPr>
          <p:spPr bwMode="auto">
            <a:xfrm>
              <a:off x="3844" y="2654"/>
              <a:ext cx="136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escape speed</a:t>
              </a:r>
            </a:p>
          </p:txBody>
        </p:sp>
        <p:sp>
          <p:nvSpPr>
            <p:cNvPr id="29711" name="Rectangle 13"/>
            <p:cNvSpPr>
              <a:spLocks noChangeArrowheads="1"/>
            </p:cNvSpPr>
            <p:nvPr/>
          </p:nvSpPr>
          <p:spPr bwMode="auto">
            <a:xfrm>
              <a:off x="510" y="2656"/>
              <a:ext cx="4701" cy="27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Freeform 14"/>
            <p:cNvSpPr>
              <a:spLocks/>
            </p:cNvSpPr>
            <p:nvPr/>
          </p:nvSpPr>
          <p:spPr bwMode="auto">
            <a:xfrm>
              <a:off x="1116" y="2676"/>
              <a:ext cx="800" cy="211"/>
            </a:xfrm>
            <a:custGeom>
              <a:avLst/>
              <a:gdLst>
                <a:gd name="T0" fmla="*/ 0 w 800"/>
                <a:gd name="T1" fmla="*/ 145 h 175"/>
                <a:gd name="T2" fmla="*/ 31 w 800"/>
                <a:gd name="T3" fmla="*/ 175 h 175"/>
                <a:gd name="T4" fmla="*/ 76 w 800"/>
                <a:gd name="T5" fmla="*/ 1 h 175"/>
                <a:gd name="T6" fmla="*/ 800 w 800"/>
                <a:gd name="T7" fmla="*/ 0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0"/>
                <a:gd name="T13" fmla="*/ 0 h 175"/>
                <a:gd name="T14" fmla="*/ 800 w 800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0" h="175">
                  <a:moveTo>
                    <a:pt x="0" y="145"/>
                  </a:moveTo>
                  <a:lnTo>
                    <a:pt x="31" y="175"/>
                  </a:lnTo>
                  <a:lnTo>
                    <a:pt x="76" y="1"/>
                  </a:lnTo>
                  <a:lnTo>
                    <a:pt x="80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16" name="Line 16"/>
          <p:cNvSpPr>
            <a:spLocks noChangeShapeType="1"/>
          </p:cNvSpPr>
          <p:nvPr/>
        </p:nvSpPr>
        <p:spPr bwMode="auto">
          <a:xfrm flipV="1">
            <a:off x="5294313" y="3641725"/>
            <a:ext cx="217487" cy="2889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17" name="Line 17"/>
          <p:cNvSpPr>
            <a:spLocks noChangeShapeType="1"/>
          </p:cNvSpPr>
          <p:nvPr/>
        </p:nvSpPr>
        <p:spPr bwMode="auto">
          <a:xfrm flipV="1">
            <a:off x="7056438" y="3644900"/>
            <a:ext cx="217487" cy="2889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53621" name="Picture 2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0000"/>
              </a:clrFrom>
              <a:clrTo>
                <a:srgbClr val="FF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73950" y="5302250"/>
            <a:ext cx="1370013" cy="1381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3622" name="Text Box 22"/>
          <p:cNvSpPr txBox="1">
            <a:spLocks noChangeArrowheads="1"/>
          </p:cNvSpPr>
          <p:nvPr/>
        </p:nvSpPr>
        <p:spPr bwMode="auto">
          <a:xfrm>
            <a:off x="5094288" y="49213"/>
            <a:ext cx="404971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Note that escape speed is independent of the mass that is actually escaping!</a:t>
            </a:r>
          </a:p>
        </p:txBody>
      </p:sp>
      <p:sp>
        <p:nvSpPr>
          <p:cNvPr id="153623" name="Oval 23"/>
          <p:cNvSpPr>
            <a:spLocks noChangeArrowheads="1"/>
          </p:cNvSpPr>
          <p:nvPr/>
        </p:nvSpPr>
        <p:spPr bwMode="auto">
          <a:xfrm>
            <a:off x="8205788" y="5726113"/>
            <a:ext cx="157162" cy="157162"/>
          </a:xfrm>
          <a:prstGeom prst="ellipse">
            <a:avLst/>
          </a:prstGeom>
          <a:gradFill rotWithShape="1">
            <a:gsLst>
              <a:gs pos="0">
                <a:srgbClr val="EAEAEA"/>
              </a:gs>
              <a:gs pos="100000">
                <a:srgbClr val="6C6C6C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3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3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5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5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3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3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1" presetClass="path" presetSubtype="0" repeatCount="indefinite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0.03993 -0.23611 C -0.04896 -0.28565 -0.05399 -0.35973 -0.05399 -0.43681 C -0.05399 -0.52477 -0.04896 -0.59514 -0.03993 -0.64468 L -2.77778E-6 -0.88056 " pathEditMode="relative" rAng="0" ptsTypes="FffFF">
                                      <p:cBhvr>
                                        <p:cTn id="76" dur="2000" fill="hold"/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0" y="-4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3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3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3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3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3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3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36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36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6" grpId="0" animBg="1"/>
      <p:bldP spid="153617" grpId="0" animBg="1"/>
      <p:bldP spid="153622" grpId="0"/>
      <p:bldP spid="153623" grpId="0" animBg="1"/>
      <p:bldP spid="15362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674688" y="4357688"/>
            <a:ext cx="7772400" cy="25003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A centripetal force causes a centripetal acceleration 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. What are the two forms for 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?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sym typeface="Symbol" pitchFamily="18" charset="2"/>
              </a:rPr>
              <a:t>SOLUTION: Recall from Topic 6 that 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sym typeface="Symbol" pitchFamily="18" charset="2"/>
              </a:rPr>
              <a:t>Then from the relationship </a:t>
            </a:r>
            <a:r>
              <a:rPr lang="en-US" i="1">
                <a:sym typeface="Symbol" pitchFamily="18" charset="2"/>
              </a:rPr>
              <a:t>v</a:t>
            </a:r>
            <a:r>
              <a:rPr lang="en-US">
                <a:sym typeface="Symbol" pitchFamily="18" charset="2"/>
              </a:rPr>
              <a:t> = 2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>
                <a:sym typeface="Symbol" pitchFamily="18" charset="2"/>
              </a:rPr>
              <a:t> we see that</a:t>
            </a:r>
          </a:p>
          <a:p>
            <a:pPr eaLnBrk="0" hangingPunct="0">
              <a:spcBef>
                <a:spcPct val="10000"/>
              </a:spcBef>
            </a:pPr>
            <a:r>
              <a:rPr lang="en-US" i="1">
                <a:sym typeface="Symbol" pitchFamily="18" charset="2"/>
              </a:rPr>
              <a:t>   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(2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>
                <a:sym typeface="Symbol" pitchFamily="18" charset="2"/>
              </a:rPr>
              <a:t>)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4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(</a:t>
            </a:r>
            <a:r>
              <a:rPr lang="en-US" i="1">
                <a:sym typeface="Symbol" pitchFamily="18" charset="2"/>
              </a:rPr>
              <a:t>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 = 4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.</a:t>
            </a:r>
            <a:endParaRPr lang="en-US" i="1">
              <a:sym typeface="Symbol" pitchFamily="18" charset="2"/>
            </a:endParaRPr>
          </a:p>
        </p:txBody>
      </p:sp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302418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Consider a baseball in circular orbit about Earth.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Clearly the only force that is causing the                        ball to move in a circle is the gravitational                         force.</a:t>
            </a:r>
          </a:p>
          <a:p>
            <a:pPr eaLnBrk="0" hangingPunct="0">
              <a:spcBef>
                <a:spcPct val="1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Thus the gravitational force is the                          centripetal force for circular orbital                             motion.</a:t>
            </a:r>
          </a:p>
        </p:txBody>
      </p:sp>
      <p:pic>
        <p:nvPicPr>
          <p:cNvPr id="186373" name="Picture 5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11065" y="2385298"/>
            <a:ext cx="2117725" cy="2049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6374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90540" y="1959848"/>
            <a:ext cx="354013" cy="35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28675" y="6362700"/>
            <a:ext cx="7464425" cy="460375"/>
            <a:chOff x="522" y="3688"/>
            <a:chExt cx="4702" cy="290"/>
          </a:xfrm>
        </p:grpSpPr>
        <p:sp>
          <p:nvSpPr>
            <p:cNvPr id="30728" name="Rectangle 10"/>
            <p:cNvSpPr>
              <a:spLocks noChangeArrowheads="1"/>
            </p:cNvSpPr>
            <p:nvPr/>
          </p:nvSpPr>
          <p:spPr bwMode="auto">
            <a:xfrm>
              <a:off x="608" y="3688"/>
              <a:ext cx="234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/>
                <a:t>a</a:t>
              </a:r>
              <a:r>
                <a:rPr lang="en-US" baseline="-25000"/>
                <a:t>c </a:t>
              </a:r>
              <a:r>
                <a:rPr lang="en-US"/>
                <a:t>=</a:t>
              </a:r>
              <a:r>
                <a:rPr lang="en-US" baseline="-25000"/>
                <a:t> </a:t>
              </a:r>
              <a:r>
                <a:rPr lang="en-US" i="1"/>
                <a:t>v</a:t>
              </a:r>
              <a:r>
                <a:rPr lang="en-US" baseline="30000"/>
                <a:t>2 </a:t>
              </a:r>
              <a:r>
                <a:rPr lang="en-US" i="1"/>
                <a:t>/</a:t>
              </a:r>
              <a:r>
                <a:rPr lang="en-US"/>
                <a:t> </a:t>
              </a:r>
              <a:r>
                <a:rPr lang="en-US" i="1"/>
                <a:t>r</a:t>
              </a:r>
              <a:r>
                <a:rPr lang="en-US"/>
                <a:t> =</a:t>
              </a:r>
              <a:r>
                <a:rPr lang="en-US" baseline="-25000"/>
                <a:t> </a:t>
              </a:r>
              <a:r>
                <a:rPr lang="en-US"/>
                <a:t>4</a:t>
              </a:r>
              <a:r>
                <a:rPr lang="en-US">
                  <a:sym typeface="Symbol" pitchFamily="18" charset="2"/>
                </a:rPr>
                <a:t></a:t>
              </a:r>
              <a:r>
                <a:rPr lang="en-US" baseline="30000">
                  <a:sym typeface="Symbol" pitchFamily="18" charset="2"/>
                </a:rPr>
                <a:t>2</a:t>
              </a:r>
              <a:r>
                <a:rPr lang="en-US" i="1">
                  <a:sym typeface="Symbol" pitchFamily="18" charset="2"/>
                </a:rPr>
                <a:t>r / T</a:t>
              </a:r>
              <a:r>
                <a:rPr lang="en-US" baseline="30000">
                  <a:sym typeface="Symbol" pitchFamily="18" charset="2"/>
                </a:rPr>
                <a:t> 2</a:t>
              </a:r>
            </a:p>
          </p:txBody>
        </p:sp>
        <p:sp>
          <p:nvSpPr>
            <p:cNvPr id="30729" name="Text Box 11"/>
            <p:cNvSpPr txBox="1">
              <a:spLocks noChangeArrowheads="1"/>
            </p:cNvSpPr>
            <p:nvPr/>
          </p:nvSpPr>
          <p:spPr bwMode="auto">
            <a:xfrm>
              <a:off x="3107" y="3690"/>
              <a:ext cx="2117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centripetal acceleration</a:t>
              </a:r>
            </a:p>
          </p:txBody>
        </p:sp>
        <p:sp>
          <p:nvSpPr>
            <p:cNvPr id="30730" name="Rectangle 12"/>
            <p:cNvSpPr>
              <a:spLocks noChangeArrowheads="1"/>
            </p:cNvSpPr>
            <p:nvPr/>
          </p:nvSpPr>
          <p:spPr bwMode="auto">
            <a:xfrm>
              <a:off x="522" y="3692"/>
              <a:ext cx="4701" cy="2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18" dur="30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687388" y="1795463"/>
            <a:ext cx="7772400" cy="506253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Suppose a 0.500-kg baseball is                placed in a circular orbit around the earth                         at slightly higher than the tallest point,                          Mount Everest (8850 m). Given that the                         earth has a radius of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-25000">
                <a:sym typeface="Symbol" pitchFamily="18" charset="2"/>
              </a:rPr>
              <a:t>E</a:t>
            </a:r>
            <a:r>
              <a:rPr lang="en-US">
                <a:sym typeface="Symbol" pitchFamily="18" charset="2"/>
              </a:rPr>
              <a:t> = 6400000 m,                            find the speed of the ball.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6408850 m.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is caused by the weight of the ball so that 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mg</a:t>
            </a:r>
            <a:r>
              <a:rPr lang="en-US">
                <a:sym typeface="Symbol" pitchFamily="18" charset="2"/>
              </a:rPr>
              <a:t> = (0.5)(9.8) = 4.9 N.</a:t>
            </a:r>
            <a:endParaRPr lang="en-US" i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But 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i="1"/>
              <a:t> </a:t>
            </a:r>
            <a:r>
              <a:rPr lang="en-US"/>
              <a:t>so that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    4.9 	= (0.5)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 </a:t>
            </a:r>
            <a:r>
              <a:rPr lang="en-US">
                <a:sym typeface="Symbol" pitchFamily="18" charset="2"/>
              </a:rPr>
              <a:t>6408850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v</a:t>
            </a:r>
            <a:r>
              <a:rPr lang="en-US">
                <a:sym typeface="Symbol" pitchFamily="18" charset="2"/>
              </a:rPr>
              <a:t> 	= 7925 m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!</a:t>
            </a: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188422" name="Picture 6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11065" y="2385298"/>
            <a:ext cx="2117725" cy="2049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8423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90540" y="1959848"/>
            <a:ext cx="354013" cy="35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4533900" y="5675313"/>
            <a:ext cx="3916363" cy="118268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We assumed that </a:t>
            </a:r>
            <a:r>
              <a:rPr lang="en-US" i="1">
                <a:sym typeface="Symbol" pitchFamily="18" charset="2"/>
              </a:rPr>
              <a:t>g</a:t>
            </a:r>
            <a:r>
              <a:rPr lang="en-US">
                <a:sym typeface="Symbol" pitchFamily="18" charset="2"/>
              </a:rPr>
              <a:t> = 9.8 ms</a:t>
            </a:r>
            <a:r>
              <a:rPr lang="en-US" baseline="30000">
                <a:sym typeface="Symbol" pitchFamily="18" charset="2"/>
              </a:rPr>
              <a:t>-2</a:t>
            </a:r>
            <a:r>
              <a:rPr lang="en-US">
                <a:sym typeface="Symbol" pitchFamily="18" charset="2"/>
              </a:rPr>
              <a:t> at the top of Everest.</a:t>
            </a:r>
          </a:p>
        </p:txBody>
      </p:sp>
      <p:sp>
        <p:nvSpPr>
          <p:cNvPr id="31751" name="Rectangle 10"/>
          <p:cNvSpPr>
            <a:spLocks noChangeArrowheads="1"/>
          </p:cNvSpPr>
          <p:nvPr/>
        </p:nvSpPr>
        <p:spPr bwMode="auto">
          <a:xfrm>
            <a:off x="0" y="0"/>
            <a:ext cx="6280150" cy="528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88418" name="Picture 2" descr="Die Nordseite vom Weg zum Basislager aus gesehen">
            <a:hlinkClick r:id="rId6" tooltip="Die Nordseite vom Weg zum Basislager aus gesehen"/>
          </p:cNvPr>
          <p:cNvPicPr>
            <a:picLocks noChangeAspect="1" noChangeArrowheads="1"/>
          </p:cNvPicPr>
          <p:nvPr/>
        </p:nvPicPr>
        <p:blipFill>
          <a:blip r:embed="rId7" cstate="print"/>
          <a:srcRect b="29548"/>
          <a:stretch>
            <a:fillRect/>
          </a:stretch>
        </p:blipFill>
        <p:spPr bwMode="auto">
          <a:xfrm>
            <a:off x="6286500" y="0"/>
            <a:ext cx="2857500" cy="1341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8425" name="Picture 9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3950" y="152400"/>
            <a:ext cx="149225" cy="15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6" dur="30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81481E-6 L 0.31337 -4.81481E-6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8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ChangeArrowheads="1"/>
          </p:cNvSpPr>
          <p:nvPr/>
        </p:nvSpPr>
        <p:spPr bwMode="auto">
          <a:xfrm>
            <a:off x="685800" y="1766888"/>
            <a:ext cx="7772400" cy="37036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/>
              <a:t>PRACTICE: Find the period </a:t>
            </a:r>
            <a:r>
              <a:rPr lang="en-US" i="1"/>
              <a:t>T </a:t>
            </a:r>
            <a:r>
              <a:rPr lang="en-US"/>
              <a:t>of one                       complete orbit of the ball.</a:t>
            </a:r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SOLUTION: </a:t>
            </a:r>
          </a:p>
          <a:p>
            <a:r>
              <a:rPr lang="en-US">
                <a:sym typeface="Symbol" pitchFamily="18" charset="2"/>
              </a:rPr>
              <a:t>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 = 6408850 m.</a:t>
            </a:r>
          </a:p>
          <a:p>
            <a:r>
              <a:rPr lang="en-US">
                <a:sym typeface="Symbol" pitchFamily="18" charset="2"/>
              </a:rPr>
              <a:t>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4.9 N.</a:t>
            </a:r>
          </a:p>
          <a:p>
            <a:r>
              <a:rPr lang="en-US">
                <a:sym typeface="Symbol" pitchFamily="18" charset="2"/>
              </a:rPr>
              <a:t>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0.5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so that </a:t>
            </a:r>
            <a:r>
              <a:rPr lang="en-US" i="1">
                <a:sym typeface="Symbol" pitchFamily="18" charset="2"/>
              </a:rPr>
              <a:t>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9.8.</a:t>
            </a:r>
          </a:p>
          <a:p>
            <a:r>
              <a:rPr lang="en-US">
                <a:sym typeface="Symbol" pitchFamily="18" charset="2"/>
              </a:rPr>
              <a:t>But 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so that</a:t>
            </a:r>
          </a:p>
          <a:p>
            <a:r>
              <a:rPr lang="en-US" i="1">
                <a:sym typeface="Symbol" pitchFamily="18" charset="2"/>
              </a:rPr>
              <a:t>           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 baseline="-25000"/>
              <a:t>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 / </a:t>
            </a:r>
            <a:r>
              <a:rPr lang="en-US" i="1"/>
              <a:t>a</a:t>
            </a:r>
            <a:r>
              <a:rPr lang="en-US" baseline="-25000"/>
              <a:t>c</a:t>
            </a:r>
            <a:endParaRPr lang="en-US"/>
          </a:p>
          <a:p>
            <a:r>
              <a:rPr lang="en-US" i="1">
                <a:sym typeface="Symbol" pitchFamily="18" charset="2"/>
              </a:rPr>
              <a:t>           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 baseline="-25000"/>
              <a:t>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(6408850) </a:t>
            </a:r>
            <a:r>
              <a:rPr lang="en-US" i="1">
                <a:sym typeface="Symbol" pitchFamily="18" charset="2"/>
              </a:rPr>
              <a:t>/ </a:t>
            </a:r>
            <a:r>
              <a:rPr lang="en-US"/>
              <a:t>9.8</a:t>
            </a:r>
          </a:p>
          <a:p>
            <a:r>
              <a:rPr lang="en-US" i="1"/>
              <a:t>           </a:t>
            </a:r>
            <a:r>
              <a:rPr lang="en-US" i="1" baseline="-25000"/>
              <a:t>  </a:t>
            </a:r>
            <a:r>
              <a:rPr lang="en-US" i="1"/>
              <a:t>T</a:t>
            </a:r>
            <a:r>
              <a:rPr lang="en-US"/>
              <a:t> = 5081 s = 84.7 min = 1.4 h.</a:t>
            </a:r>
            <a:endParaRPr lang="en-US" baseline="-25000"/>
          </a:p>
        </p:txBody>
      </p:sp>
      <p:pic>
        <p:nvPicPr>
          <p:cNvPr id="190470" name="Picture 6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37325" y="2459038"/>
            <a:ext cx="2117725" cy="2049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0471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16800" y="2033588"/>
            <a:ext cx="354013" cy="35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773" name="Rectangle 14"/>
          <p:cNvSpPr>
            <a:spLocks noChangeArrowheads="1"/>
          </p:cNvSpPr>
          <p:nvPr/>
        </p:nvSpPr>
        <p:spPr bwMode="auto">
          <a:xfrm>
            <a:off x="0" y="0"/>
            <a:ext cx="6280150" cy="528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Rectangle 17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10" name="Picture 2" descr="Die Nordseite vom Weg zum Basislager aus gesehen">
            <a:hlinkClick r:id="rId6" tooltip="Die Nordseite vom Weg zum Basislager aus gesehen"/>
          </p:cNvPr>
          <p:cNvPicPr>
            <a:picLocks noChangeAspect="1" noChangeArrowheads="1"/>
          </p:cNvPicPr>
          <p:nvPr/>
        </p:nvPicPr>
        <p:blipFill>
          <a:blip r:embed="rId7" cstate="print"/>
          <a:srcRect b="29548"/>
          <a:stretch>
            <a:fillRect/>
          </a:stretch>
        </p:blipFill>
        <p:spPr bwMode="auto">
          <a:xfrm>
            <a:off x="6286500" y="0"/>
            <a:ext cx="2857500" cy="1341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0477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3950" y="152400"/>
            <a:ext cx="149225" cy="15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6" dur="30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81481E-6 L 0.31337 -4.81481E-6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0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0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0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0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0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0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0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0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0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0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0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0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660400" y="5672138"/>
            <a:ext cx="7786688" cy="118586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The IBO expects you to be able to derive this relationship. It is known as Kepler’s 3</a:t>
            </a:r>
            <a:r>
              <a:rPr lang="en-US" baseline="30000">
                <a:sym typeface="Symbol" pitchFamily="18" charset="2"/>
              </a:rPr>
              <a:t>rd</a:t>
            </a:r>
            <a:r>
              <a:rPr lang="en-US">
                <a:sym typeface="Symbol" pitchFamily="18" charset="2"/>
              </a:rPr>
              <a:t> law.</a:t>
            </a:r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674688" y="1782763"/>
            <a:ext cx="7772400" cy="39290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Show that for an object in a circular orbit about a body of mass 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that </a:t>
            </a:r>
            <a:r>
              <a:rPr lang="en-US" i="1">
                <a:sym typeface="Symbol" pitchFamily="18" charset="2"/>
              </a:rPr>
              <a:t>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 = (4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/ GM</a:t>
            </a:r>
            <a:r>
              <a:rPr lang="en-US">
                <a:sym typeface="Symbol" pitchFamily="18" charset="2"/>
              </a:rPr>
              <a:t>)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3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 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In circular orbit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and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But 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. Then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</a:t>
            </a:r>
            <a:r>
              <a:rPr lang="en-US" i="1" baseline="-25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</a:p>
          <a:p>
            <a:pPr eaLnBrk="0" hangingPunct="0">
              <a:spcBef>
                <a:spcPct val="20000"/>
              </a:spcBef>
            </a:pPr>
            <a:r>
              <a:rPr lang="en-US"/>
              <a:t>      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 /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/>
              <a:t>            4</a:t>
            </a:r>
            <a:r>
              <a:rPr lang="en-US">
                <a:sym typeface="Symbol" pitchFamily="18" charset="2"/>
              </a:rPr>
              <a:t>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3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GMT</a:t>
            </a:r>
            <a:r>
              <a:rPr lang="en-US" baseline="30000">
                <a:sym typeface="Symbol" pitchFamily="18" charset="2"/>
              </a:rPr>
              <a:t> 2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   T</a:t>
            </a:r>
            <a:r>
              <a:rPr lang="en-US" baseline="30000">
                <a:sym typeface="Symbol" pitchFamily="18" charset="2"/>
              </a:rPr>
              <a:t> 2</a:t>
            </a:r>
            <a:r>
              <a:rPr lang="en-US">
                <a:sym typeface="Symbol" pitchFamily="18" charset="2"/>
              </a:rPr>
              <a:t> 	= [4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 i="1">
                <a:sym typeface="Symbol" pitchFamily="18" charset="2"/>
              </a:rPr>
              <a:t>/</a:t>
            </a:r>
            <a:r>
              <a:rPr lang="en-US">
                <a:sym typeface="Symbol" pitchFamily="18" charset="2"/>
              </a:rPr>
              <a:t>(</a:t>
            </a:r>
            <a:r>
              <a:rPr lang="en-US" i="1">
                <a:sym typeface="Symbol" pitchFamily="18" charset="2"/>
              </a:rPr>
              <a:t>GM</a:t>
            </a:r>
            <a:r>
              <a:rPr lang="en-US">
                <a:sym typeface="Symbol" pitchFamily="18" charset="2"/>
              </a:rPr>
              <a:t>)]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3</a:t>
            </a:r>
          </a:p>
        </p:txBody>
      </p:sp>
      <p:sp>
        <p:nvSpPr>
          <p:cNvPr id="192517" name="Line 5"/>
          <p:cNvSpPr>
            <a:spLocks noChangeShapeType="1"/>
          </p:cNvSpPr>
          <p:nvPr/>
        </p:nvSpPr>
        <p:spPr bwMode="auto">
          <a:xfrm flipH="1" flipV="1">
            <a:off x="1978025" y="4000500"/>
            <a:ext cx="138113" cy="3349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 flipV="1">
            <a:off x="3348038" y="4067175"/>
            <a:ext cx="309562" cy="2492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799" name="Rectangle 10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192523" name="Picture 1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41863" y="3517900"/>
            <a:ext cx="3663950" cy="2584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2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2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2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2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2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2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2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2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2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2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2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2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2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 animBg="1"/>
      <p:bldP spid="1925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2" name="Rectangle 12"/>
          <p:cNvSpPr>
            <a:spLocks noChangeArrowheads="1"/>
          </p:cNvSpPr>
          <p:nvPr/>
        </p:nvSpPr>
        <p:spPr bwMode="auto">
          <a:xfrm>
            <a:off x="685800" y="5478463"/>
            <a:ext cx="7773988" cy="117157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</a:t>
            </a:r>
            <a:r>
              <a:rPr lang="en-US">
                <a:sym typeface="Symbol" pitchFamily="18" charset="2"/>
              </a:rPr>
              <a:t>Note the slight discrepancy in the period (it was </a:t>
            </a:r>
            <a:r>
              <a:rPr lang="en-US"/>
              <a:t>5081 s before</a:t>
            </a:r>
            <a:r>
              <a:rPr lang="en-US">
                <a:sym typeface="Symbol" pitchFamily="18" charset="2"/>
              </a:rPr>
              <a:t>). How do you account for it?</a:t>
            </a:r>
          </a:p>
        </p:txBody>
      </p:sp>
      <p:sp>
        <p:nvSpPr>
          <p:cNvPr id="194562" name="Rectangle 2"/>
          <p:cNvSpPr>
            <a:spLocks noChangeArrowheads="1"/>
          </p:cNvSpPr>
          <p:nvPr/>
        </p:nvSpPr>
        <p:spPr bwMode="auto">
          <a:xfrm>
            <a:off x="685800" y="1766888"/>
            <a:ext cx="7772400" cy="37290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PRACTICE: Using </a:t>
            </a:r>
            <a:r>
              <a:rPr lang="en-US" dirty="0" err="1"/>
              <a:t>Kepler’s</a:t>
            </a:r>
            <a:r>
              <a:rPr lang="en-US" dirty="0"/>
              <a:t> third law find                             the period </a:t>
            </a:r>
            <a:r>
              <a:rPr lang="en-US" i="1" dirty="0"/>
              <a:t>T </a:t>
            </a:r>
            <a:r>
              <a:rPr lang="en-US" dirty="0"/>
              <a:t>of one complete orbit of the                         baseball from the previous example.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SOLUTION: Use </a:t>
            </a:r>
            <a:r>
              <a:rPr lang="en-US" i="1" dirty="0">
                <a:sym typeface="Symbol" pitchFamily="18" charset="2"/>
              </a:rPr>
              <a:t>T</a:t>
            </a:r>
            <a:r>
              <a:rPr lang="en-US" baseline="30000" dirty="0">
                <a:sym typeface="Symbol" pitchFamily="18" charset="2"/>
              </a:rPr>
              <a:t> 2</a:t>
            </a:r>
            <a:r>
              <a:rPr lang="en-US" dirty="0">
                <a:sym typeface="Symbol" pitchFamily="18" charset="2"/>
              </a:rPr>
              <a:t> = (4</a:t>
            </a:r>
            <a:r>
              <a:rPr lang="en-US" baseline="30000" dirty="0">
                <a:sym typeface="Symbol" pitchFamily="18" charset="2"/>
              </a:rPr>
              <a:t>2 </a:t>
            </a:r>
            <a:r>
              <a:rPr lang="en-US" i="1" dirty="0">
                <a:sym typeface="Symbol" pitchFamily="18" charset="2"/>
              </a:rPr>
              <a:t>/ GM</a:t>
            </a:r>
            <a:r>
              <a:rPr lang="en-US" dirty="0">
                <a:sym typeface="Symbol" pitchFamily="18" charset="2"/>
              </a:rPr>
              <a:t>)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30000" dirty="0">
                <a:sym typeface="Symbol" pitchFamily="18" charset="2"/>
              </a:rPr>
              <a:t>3</a:t>
            </a:r>
            <a:r>
              <a:rPr lang="en-US" i="1" dirty="0">
                <a:sym typeface="Symbol" pitchFamily="18" charset="2"/>
              </a:rPr>
              <a:t>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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 = 6408850 m.</a:t>
            </a:r>
          </a:p>
          <a:p>
            <a:r>
              <a:rPr lang="en-US" dirty="0">
                <a:sym typeface="Symbol" pitchFamily="18" charset="2"/>
              </a:rPr>
              <a:t>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6.67×10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−11</a:t>
            </a:r>
            <a:r>
              <a:rPr lang="en-US" dirty="0">
                <a:cs typeface="Courier New" pitchFamily="49" charset="0"/>
                <a:sym typeface="Symbol" pitchFamily="18" charset="2"/>
              </a:rPr>
              <a:t> N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m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2</a:t>
            </a:r>
            <a:r>
              <a:rPr lang="en-US" baseline="-25000" dirty="0">
                <a:cs typeface="Courier New" pitchFamily="49" charset="0"/>
                <a:sym typeface="Symbol" pitchFamily="18" charset="2"/>
              </a:rPr>
              <a:t> </a:t>
            </a:r>
            <a:r>
              <a:rPr lang="en-US" dirty="0">
                <a:cs typeface="Courier New" pitchFamily="49" charset="0"/>
                <a:sym typeface="Symbol" pitchFamily="18" charset="2"/>
              </a:rPr>
              <a:t>kg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−2</a:t>
            </a:r>
            <a:r>
              <a:rPr lang="en-US" dirty="0">
                <a:sym typeface="Symbol" pitchFamily="18" charset="2"/>
              </a:rPr>
              <a:t>.</a:t>
            </a:r>
          </a:p>
          <a:p>
            <a:r>
              <a:rPr lang="en-US" dirty="0">
                <a:sym typeface="Symbol" pitchFamily="18" charset="2"/>
              </a:rPr>
              <a:t>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= 5.98×10</a:t>
            </a:r>
            <a:r>
              <a:rPr lang="en-US" baseline="30000" dirty="0">
                <a:sym typeface="Symbol" pitchFamily="18" charset="2"/>
              </a:rPr>
              <a:t>24</a:t>
            </a:r>
            <a:r>
              <a:rPr lang="en-US" dirty="0">
                <a:sym typeface="Symbol" pitchFamily="18" charset="2"/>
              </a:rPr>
              <a:t> kg.</a:t>
            </a:r>
          </a:p>
          <a:p>
            <a:r>
              <a:rPr lang="en-US" i="1" dirty="0">
                <a:sym typeface="Symbol" pitchFamily="18" charset="2"/>
              </a:rPr>
              <a:t>     T</a:t>
            </a:r>
            <a:r>
              <a:rPr lang="en-US" baseline="30000" dirty="0">
                <a:sym typeface="Symbol" pitchFamily="18" charset="2"/>
              </a:rPr>
              <a:t> 2</a:t>
            </a:r>
            <a:r>
              <a:rPr lang="en-US" dirty="0">
                <a:sym typeface="Symbol" pitchFamily="18" charset="2"/>
              </a:rPr>
              <a:t> 	= [ 4</a:t>
            </a:r>
            <a:r>
              <a:rPr lang="en-US" baseline="30000" dirty="0">
                <a:sym typeface="Symbol" pitchFamily="18" charset="2"/>
              </a:rPr>
              <a:t>2 </a:t>
            </a:r>
            <a:r>
              <a:rPr lang="en-US" i="1" dirty="0">
                <a:sym typeface="Symbol" pitchFamily="18" charset="2"/>
              </a:rPr>
              <a:t>/ GM </a:t>
            </a:r>
            <a:r>
              <a:rPr lang="en-US" dirty="0">
                <a:sym typeface="Symbol" pitchFamily="18" charset="2"/>
              </a:rPr>
              <a:t>]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30000" dirty="0">
                <a:sym typeface="Symbol" pitchFamily="18" charset="2"/>
              </a:rPr>
              <a:t>3</a:t>
            </a:r>
            <a:endParaRPr lang="en-US" dirty="0">
              <a:sym typeface="Symbol" pitchFamily="18" charset="2"/>
            </a:endParaRPr>
          </a:p>
          <a:p>
            <a:r>
              <a:rPr lang="en-US" i="1" dirty="0">
                <a:sym typeface="Symbol" pitchFamily="18" charset="2"/>
              </a:rPr>
              <a:t>     	</a:t>
            </a:r>
            <a:r>
              <a:rPr lang="en-US" dirty="0"/>
              <a:t>= [4</a:t>
            </a:r>
            <a:r>
              <a:rPr lang="en-US" dirty="0">
                <a:sym typeface="Symbol" pitchFamily="18" charset="2"/>
              </a:rPr>
              <a:t>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i="1" dirty="0">
                <a:sym typeface="Symbol" pitchFamily="18" charset="2"/>
              </a:rPr>
              <a:t>/ 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>
                <a:cs typeface="Courier New" pitchFamily="49" charset="0"/>
                <a:sym typeface="Symbol" pitchFamily="18" charset="2"/>
              </a:rPr>
              <a:t>6.67×10</a:t>
            </a:r>
            <a:r>
              <a:rPr lang="en-US" baseline="30000" dirty="0">
                <a:cs typeface="Courier New" pitchFamily="49" charset="0"/>
                <a:sym typeface="Symbol" pitchFamily="18" charset="2"/>
              </a:rPr>
              <a:t>−11</a:t>
            </a:r>
            <a:r>
              <a:rPr lang="en-US" dirty="0">
                <a:sym typeface="Symbol" pitchFamily="18" charset="2"/>
              </a:rPr>
              <a:t>×5.98×10</a:t>
            </a:r>
            <a:r>
              <a:rPr lang="en-US" baseline="30000" dirty="0">
                <a:sym typeface="Symbol" pitchFamily="18" charset="2"/>
              </a:rPr>
              <a:t>24</a:t>
            </a:r>
            <a:r>
              <a:rPr lang="en-US" dirty="0">
                <a:sym typeface="Symbol" pitchFamily="18" charset="2"/>
              </a:rPr>
              <a:t>)]</a:t>
            </a:r>
            <a:r>
              <a:rPr lang="en-US" dirty="0"/>
              <a:t>(</a:t>
            </a:r>
            <a:r>
              <a:rPr lang="en-US" dirty="0">
                <a:sym typeface="Symbol" pitchFamily="18" charset="2"/>
              </a:rPr>
              <a:t>6408850</a:t>
            </a:r>
            <a:r>
              <a:rPr lang="en-US" dirty="0"/>
              <a:t>)</a:t>
            </a:r>
            <a:r>
              <a:rPr lang="en-US" baseline="30000" dirty="0"/>
              <a:t>3</a:t>
            </a:r>
            <a:endParaRPr lang="en-US" dirty="0"/>
          </a:p>
          <a:p>
            <a:r>
              <a:rPr lang="en-US" i="1" dirty="0"/>
              <a:t>       T</a:t>
            </a:r>
            <a:r>
              <a:rPr lang="en-US" dirty="0"/>
              <a:t> 	= 5104 s = 85.0 min = 1.4 h.</a:t>
            </a:r>
            <a:endParaRPr lang="en-US" i="1" dirty="0"/>
          </a:p>
        </p:txBody>
      </p:sp>
      <p:pic>
        <p:nvPicPr>
          <p:cNvPr id="194566" name="Picture 6" descr="Earth view-white background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37325" y="2459038"/>
            <a:ext cx="2117725" cy="2049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4567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16800" y="2033588"/>
            <a:ext cx="354013" cy="35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822" name="Rectangle 14"/>
          <p:cNvSpPr>
            <a:spLocks noChangeArrowheads="1"/>
          </p:cNvSpPr>
          <p:nvPr/>
        </p:nvSpPr>
        <p:spPr bwMode="auto">
          <a:xfrm>
            <a:off x="0" y="0"/>
            <a:ext cx="6280150" cy="528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17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11" name="Picture 2" descr="Die Nordseite vom Weg zum Basislager aus gesehen">
            <a:hlinkClick r:id="rId6" tooltip="Die Nordseite vom Weg zum Basislager aus gesehen"/>
          </p:cNvPr>
          <p:cNvPicPr>
            <a:picLocks noChangeAspect="1" noChangeArrowheads="1"/>
          </p:cNvPicPr>
          <p:nvPr/>
        </p:nvPicPr>
        <p:blipFill>
          <a:blip r:embed="rId7" cstate="print"/>
          <a:srcRect b="29548"/>
          <a:stretch>
            <a:fillRect/>
          </a:stretch>
        </p:blipFill>
        <p:spPr bwMode="auto">
          <a:xfrm>
            <a:off x="6286500" y="0"/>
            <a:ext cx="2857500" cy="1341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4573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3950" y="152400"/>
            <a:ext cx="149225" cy="15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7778 -4.44444E-6 0.14149 0.08334 0.14149 0.18588 C 0.14149 0.2882 0.07778 0.37176 1.38889E-6 0.37176 C -0.07795 0.37176 -0.14115 0.2882 -0.14115 0.18588 C -0.14115 0.08334 -0.07795 -4.44444E-6 1.38889E-6 -4.44444E-6 Z " pathEditMode="relative" rAng="0" ptsTypes="fffff">
                                      <p:cBhvr>
                                        <p:cTn id="22" dur="3000" fill="hold"/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81481E-6 L 0.31337 -4.81481E-6 " pathEditMode="relative" rAng="0" ptsTypes="AA">
                                      <p:cBhvr>
                                        <p:cTn id="24" dur="3000" fill="hold"/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4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4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4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4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685800" y="1338263"/>
            <a:ext cx="7772400" cy="484187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r>
              <a:rPr lang="en-US" sz="200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An orbiting satellite has both kinetic energy and potential energy.	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The gravitational potential energy of an object of mass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in the gravitational field of Earth is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= –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, where 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 is the mass of the earth.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As we learned in Topic 2, the kinetic energy of an object of mass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moving at speed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v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is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E</a:t>
            </a:r>
            <a:r>
              <a:rPr lang="en-US" baseline="-2500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= (1/2)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mv</a:t>
            </a:r>
            <a:r>
              <a:rPr lang="en-US" baseline="3000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Thus the total mechanical energy of an orbiting satellite of mass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is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28675" y="5283200"/>
            <a:ext cx="7464425" cy="825500"/>
            <a:chOff x="522" y="3088"/>
            <a:chExt cx="4702" cy="520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608" y="3088"/>
              <a:ext cx="1177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>
                  <a:sym typeface="Symbol" pitchFamily="18" charset="2"/>
                </a:rPr>
                <a:t>+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endParaRPr lang="en-US">
                <a:sym typeface="Symbol" pitchFamily="18" charset="2"/>
              </a:endParaRPr>
            </a:p>
          </p:txBody>
        </p:sp>
        <p:sp>
          <p:nvSpPr>
            <p:cNvPr id="35846" name="Text Box 6"/>
            <p:cNvSpPr txBox="1">
              <a:spLocks noChangeArrowheads="1"/>
            </p:cNvSpPr>
            <p:nvPr/>
          </p:nvSpPr>
          <p:spPr bwMode="auto">
            <a:xfrm>
              <a:off x="3516" y="3090"/>
              <a:ext cx="1708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522" y="3092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607" y="3328"/>
              <a:ext cx="242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>
                  <a:solidFill>
                    <a:srgbClr val="000000"/>
                  </a:solidFill>
                  <a:cs typeface="Times New Roman" pitchFamily="18" charset="0"/>
                </a:rPr>
                <a:t>(1/2)</a:t>
              </a:r>
              <a:r>
                <a:rPr lang="en-US" i="1">
                  <a:solidFill>
                    <a:srgbClr val="000000"/>
                  </a:solidFill>
                  <a:cs typeface="Times New Roman" pitchFamily="18" charset="0"/>
                </a:rPr>
                <a:t>mv</a:t>
              </a:r>
              <a:r>
                <a:rPr lang="en-US" baseline="30000">
                  <a:solidFill>
                    <a:srgbClr val="000000"/>
                  </a:solidFill>
                  <a:cs typeface="Times New Roman" pitchFamily="18" charset="0"/>
                </a:rPr>
                <a:t>2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>
                  <a:sym typeface="Symbol" pitchFamily="18" charset="2"/>
                </a:rPr>
                <a:t>–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8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8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8" name="Rectangle 4"/>
          <p:cNvSpPr>
            <a:spLocks noChangeArrowheads="1"/>
          </p:cNvSpPr>
          <p:nvPr/>
        </p:nvSpPr>
        <p:spPr bwMode="auto">
          <a:xfrm>
            <a:off x="674688" y="1781175"/>
            <a:ext cx="7772400" cy="50768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Show that the speed of an orbiting satellite having mass </a:t>
            </a:r>
            <a:r>
              <a:rPr lang="en-US" i="1" dirty="0">
                <a:sym typeface="Symbol" pitchFamily="18" charset="2"/>
              </a:rPr>
              <a:t>m </a:t>
            </a:r>
            <a:r>
              <a:rPr lang="en-US" dirty="0">
                <a:sym typeface="Symbol" pitchFamily="18" charset="2"/>
              </a:rPr>
              <a:t>at a distance </a:t>
            </a:r>
            <a:r>
              <a:rPr lang="en-US" i="1" dirty="0">
                <a:sym typeface="Symbol" pitchFamily="18" charset="2"/>
              </a:rPr>
              <a:t>r </a:t>
            </a:r>
            <a:r>
              <a:rPr lang="en-US" dirty="0">
                <a:sym typeface="Symbol" pitchFamily="18" charset="2"/>
              </a:rPr>
              <a:t>from the center of Earth (mass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)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is </a:t>
            </a:r>
            <a:r>
              <a:rPr lang="en-US" i="1" dirty="0" err="1">
                <a:sym typeface="Symbol" pitchFamily="18" charset="2"/>
              </a:rPr>
              <a:t>v</a:t>
            </a:r>
            <a:r>
              <a:rPr lang="en-US" baseline="-25000" dirty="0" err="1">
                <a:sym typeface="Symbol" pitchFamily="18" charset="2"/>
              </a:rPr>
              <a:t>orbit</a:t>
            </a:r>
            <a:r>
              <a:rPr lang="en-US" dirty="0">
                <a:sym typeface="Symbol" pitchFamily="18" charset="2"/>
              </a:rPr>
              <a:t> =  </a:t>
            </a:r>
            <a:r>
              <a:rPr lang="en-US" i="1" dirty="0">
                <a:sym typeface="Symbol" pitchFamily="18" charset="2"/>
              </a:rPr>
              <a:t>GM / r.</a:t>
            </a:r>
            <a:endParaRPr lang="en-US" dirty="0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 dirty="0">
                <a:sym typeface="Symbol" pitchFamily="18" charset="2"/>
              </a:rPr>
              <a:t>SOLUTION: </a:t>
            </a:r>
          </a:p>
          <a:p>
            <a:pPr eaLnBrk="0" hangingPunct="0">
              <a:spcBef>
                <a:spcPct val="15000"/>
              </a:spcBef>
            </a:pPr>
            <a:r>
              <a:rPr lang="en-US" dirty="0">
                <a:sym typeface="Symbol" pitchFamily="18" charset="2"/>
              </a:rPr>
              <a:t>In circular orbit </a:t>
            </a:r>
            <a:r>
              <a:rPr lang="en-US" i="1" dirty="0" err="1">
                <a:sym typeface="Symbol" pitchFamily="18" charset="2"/>
              </a:rPr>
              <a:t>F</a:t>
            </a:r>
            <a:r>
              <a:rPr lang="en-US" baseline="-25000" dirty="0" err="1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 err="1">
                <a:sym typeface="Symbol" pitchFamily="18" charset="2"/>
              </a:rPr>
              <a:t>ma</a:t>
            </a:r>
            <a:r>
              <a:rPr lang="en-US" baseline="-25000" dirty="0" err="1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i="1" dirty="0" err="1">
                <a:sym typeface="Symbol" pitchFamily="18" charset="2"/>
              </a:rPr>
              <a:t>F</a:t>
            </a:r>
            <a:r>
              <a:rPr lang="en-US" baseline="-25000" dirty="0" err="1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baseline="-25000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5000"/>
              </a:spcBef>
            </a:pPr>
            <a:r>
              <a:rPr lang="en-US" dirty="0">
                <a:sym typeface="Symbol" pitchFamily="18" charset="2"/>
              </a:rPr>
              <a:t>But </a:t>
            </a:r>
            <a:r>
              <a:rPr lang="en-US" i="1" dirty="0"/>
              <a:t>a</a:t>
            </a:r>
            <a:r>
              <a:rPr lang="en-US" baseline="-25000" dirty="0"/>
              <a:t>c </a:t>
            </a:r>
            <a:r>
              <a:rPr lang="en-US" dirty="0"/>
              <a:t>=</a:t>
            </a:r>
            <a:r>
              <a:rPr lang="en-US" baseline="-25000" dirty="0"/>
              <a:t>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baseline="30000" dirty="0">
                <a:sym typeface="Symbol" pitchFamily="18" charset="2"/>
              </a:rPr>
              <a:t>2 </a:t>
            </a:r>
            <a:r>
              <a:rPr lang="en-US" i="1" dirty="0">
                <a:sym typeface="Symbol" pitchFamily="18" charset="2"/>
              </a:rPr>
              <a:t>/ r</a:t>
            </a:r>
            <a:r>
              <a:rPr lang="en-US" dirty="0">
                <a:sym typeface="Symbol" pitchFamily="18" charset="2"/>
              </a:rPr>
              <a:t>. Then</a:t>
            </a:r>
          </a:p>
          <a:p>
            <a:pPr eaLnBrk="0" hangingPunct="0">
              <a:spcBef>
                <a:spcPct val="15000"/>
              </a:spcBef>
            </a:pPr>
            <a:r>
              <a:rPr lang="en-US" i="1" dirty="0">
                <a:sym typeface="Symbol" pitchFamily="18" charset="2"/>
              </a:rPr>
              <a:t>                        </a:t>
            </a:r>
            <a:r>
              <a:rPr lang="en-US" i="1" dirty="0" err="1">
                <a:sym typeface="Symbol" pitchFamily="18" charset="2"/>
              </a:rPr>
              <a:t>ma</a:t>
            </a:r>
            <a:r>
              <a:rPr lang="en-US" baseline="-25000" dirty="0" err="1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	= 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30000" dirty="0">
                <a:sym typeface="Symbol" pitchFamily="18" charset="2"/>
              </a:rPr>
              <a:t>2</a:t>
            </a:r>
          </a:p>
          <a:p>
            <a:pPr eaLnBrk="0" hangingPunct="0">
              <a:spcBef>
                <a:spcPct val="15000"/>
              </a:spcBef>
            </a:pPr>
            <a:r>
              <a:rPr lang="en-US" i="1" dirty="0">
                <a:sym typeface="Symbol" pitchFamily="18" charset="2"/>
              </a:rPr>
              <a:t>                    mv</a:t>
            </a:r>
            <a:r>
              <a:rPr lang="en-US" baseline="30000" dirty="0">
                <a:sym typeface="Symbol" pitchFamily="18" charset="2"/>
              </a:rPr>
              <a:t>2 </a:t>
            </a:r>
            <a:r>
              <a:rPr lang="en-US" i="1" dirty="0">
                <a:sym typeface="Symbol" pitchFamily="18" charset="2"/>
              </a:rPr>
              <a:t>/ r</a:t>
            </a:r>
            <a:r>
              <a:rPr lang="en-US" dirty="0">
                <a:sym typeface="Symbol" pitchFamily="18" charset="2"/>
              </a:rPr>
              <a:t> 	= 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baseline="30000" dirty="0">
                <a:sym typeface="Symbol" pitchFamily="18" charset="2"/>
              </a:rPr>
              <a:t>2</a:t>
            </a:r>
            <a:endParaRPr lang="en-US" dirty="0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 i="1" dirty="0">
                <a:sym typeface="Symbol" pitchFamily="18" charset="2"/>
              </a:rPr>
              <a:t>                           v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	= </a:t>
            </a:r>
            <a:r>
              <a:rPr lang="en-US" i="1" dirty="0">
                <a:sym typeface="Symbol" pitchFamily="18" charset="2"/>
              </a:rPr>
              <a:t>GM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endParaRPr lang="en-US" baseline="30000" dirty="0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 dirty="0">
                <a:sym typeface="Symbol" pitchFamily="18" charset="2"/>
              </a:rPr>
              <a:t>                 	      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 	=  </a:t>
            </a:r>
            <a:r>
              <a:rPr lang="en-US" i="1" dirty="0">
                <a:sym typeface="Symbol" pitchFamily="18" charset="2"/>
              </a:rPr>
              <a:t>GM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</a:p>
        </p:txBody>
      </p:sp>
      <p:sp>
        <p:nvSpPr>
          <p:cNvPr id="36868" name="Rectangle 11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00717" name="Freeform 13"/>
          <p:cNvSpPr>
            <a:spLocks/>
          </p:cNvSpPr>
          <p:nvPr/>
        </p:nvSpPr>
        <p:spPr bwMode="auto">
          <a:xfrm>
            <a:off x="3280442" y="2562892"/>
            <a:ext cx="1022350" cy="307975"/>
          </a:xfrm>
          <a:custGeom>
            <a:avLst/>
            <a:gdLst>
              <a:gd name="T0" fmla="*/ 0 w 644"/>
              <a:gd name="T1" fmla="*/ 103 h 141"/>
              <a:gd name="T2" fmla="*/ 38 w 644"/>
              <a:gd name="T3" fmla="*/ 141 h 141"/>
              <a:gd name="T4" fmla="*/ 76 w 644"/>
              <a:gd name="T5" fmla="*/ 0 h 141"/>
              <a:gd name="T6" fmla="*/ 644 w 644"/>
              <a:gd name="T7" fmla="*/ 0 h 141"/>
              <a:gd name="T8" fmla="*/ 0 60000 65536"/>
              <a:gd name="T9" fmla="*/ 0 60000 65536"/>
              <a:gd name="T10" fmla="*/ 0 60000 65536"/>
              <a:gd name="T11" fmla="*/ 0 60000 65536"/>
              <a:gd name="T12" fmla="*/ 0 w 644"/>
              <a:gd name="T13" fmla="*/ 0 h 141"/>
              <a:gd name="T14" fmla="*/ 644 w 644"/>
              <a:gd name="T15" fmla="*/ 141 h 1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4" h="141">
                <a:moveTo>
                  <a:pt x="0" y="103"/>
                </a:moveTo>
                <a:lnTo>
                  <a:pt x="38" y="141"/>
                </a:lnTo>
                <a:lnTo>
                  <a:pt x="76" y="0"/>
                </a:lnTo>
                <a:lnTo>
                  <a:pt x="64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0718" name="Freeform 14"/>
          <p:cNvSpPr>
            <a:spLocks/>
          </p:cNvSpPr>
          <p:nvPr/>
        </p:nvSpPr>
        <p:spPr bwMode="auto">
          <a:xfrm>
            <a:off x="3738563" y="5509752"/>
            <a:ext cx="1022350" cy="307975"/>
          </a:xfrm>
          <a:custGeom>
            <a:avLst/>
            <a:gdLst>
              <a:gd name="T0" fmla="*/ 0 w 644"/>
              <a:gd name="T1" fmla="*/ 103 h 141"/>
              <a:gd name="T2" fmla="*/ 38 w 644"/>
              <a:gd name="T3" fmla="*/ 141 h 141"/>
              <a:gd name="T4" fmla="*/ 76 w 644"/>
              <a:gd name="T5" fmla="*/ 0 h 141"/>
              <a:gd name="T6" fmla="*/ 644 w 644"/>
              <a:gd name="T7" fmla="*/ 0 h 141"/>
              <a:gd name="T8" fmla="*/ 0 60000 65536"/>
              <a:gd name="T9" fmla="*/ 0 60000 65536"/>
              <a:gd name="T10" fmla="*/ 0 60000 65536"/>
              <a:gd name="T11" fmla="*/ 0 60000 65536"/>
              <a:gd name="T12" fmla="*/ 0 w 644"/>
              <a:gd name="T13" fmla="*/ 0 h 141"/>
              <a:gd name="T14" fmla="*/ 644 w 644"/>
              <a:gd name="T15" fmla="*/ 141 h 1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4" h="141">
                <a:moveTo>
                  <a:pt x="0" y="103"/>
                </a:moveTo>
                <a:lnTo>
                  <a:pt x="38" y="141"/>
                </a:lnTo>
                <a:lnTo>
                  <a:pt x="76" y="0"/>
                </a:lnTo>
                <a:lnTo>
                  <a:pt x="644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828675" y="5908675"/>
            <a:ext cx="7464425" cy="501650"/>
            <a:chOff x="522" y="3722"/>
            <a:chExt cx="4702" cy="316"/>
          </a:xfrm>
        </p:grpSpPr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2654" y="3730"/>
              <a:ext cx="2570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speed of an orbiting satellite</a:t>
              </a:r>
            </a:p>
          </p:txBody>
        </p:sp>
        <p:sp>
          <p:nvSpPr>
            <p:cNvPr id="36873" name="Rectangle 7"/>
            <p:cNvSpPr>
              <a:spLocks noChangeArrowheads="1"/>
            </p:cNvSpPr>
            <p:nvPr/>
          </p:nvSpPr>
          <p:spPr bwMode="auto">
            <a:xfrm>
              <a:off x="522" y="3732"/>
              <a:ext cx="4701" cy="2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4" name="Rectangle 8"/>
            <p:cNvSpPr>
              <a:spLocks noChangeArrowheads="1"/>
            </p:cNvSpPr>
            <p:nvPr/>
          </p:nvSpPr>
          <p:spPr bwMode="auto">
            <a:xfrm>
              <a:off x="607" y="3722"/>
              <a:ext cx="1334" cy="3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15000"/>
                </a:spcBef>
              </a:pPr>
              <a:r>
                <a:rPr lang="en-US" i="1">
                  <a:sym typeface="Symbol" pitchFamily="18" charset="2"/>
                </a:rPr>
                <a:t>v</a:t>
              </a:r>
              <a:r>
                <a:rPr lang="en-US" baseline="-25000">
                  <a:sym typeface="Symbol" pitchFamily="18" charset="2"/>
                </a:rPr>
                <a:t>orbit</a:t>
              </a:r>
              <a:r>
                <a:rPr lang="en-US">
                  <a:sym typeface="Symbol" pitchFamily="18" charset="2"/>
                </a:rPr>
                <a:t>=  </a:t>
              </a:r>
              <a:r>
                <a:rPr lang="en-US" i="1">
                  <a:sym typeface="Symbol" pitchFamily="18" charset="2"/>
                </a:rPr>
                <a:t>GM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  <p:sp>
          <p:nvSpPr>
            <p:cNvPr id="36875" name="Freeform 15"/>
            <p:cNvSpPr>
              <a:spLocks/>
            </p:cNvSpPr>
            <p:nvPr/>
          </p:nvSpPr>
          <p:spPr bwMode="auto">
            <a:xfrm>
              <a:off x="1155" y="3759"/>
              <a:ext cx="644" cy="224"/>
            </a:xfrm>
            <a:custGeom>
              <a:avLst/>
              <a:gdLst>
                <a:gd name="T0" fmla="*/ 0 w 644"/>
                <a:gd name="T1" fmla="*/ 103 h 141"/>
                <a:gd name="T2" fmla="*/ 38 w 644"/>
                <a:gd name="T3" fmla="*/ 141 h 141"/>
                <a:gd name="T4" fmla="*/ 76 w 644"/>
                <a:gd name="T5" fmla="*/ 0 h 141"/>
                <a:gd name="T6" fmla="*/ 644 w 644"/>
                <a:gd name="T7" fmla="*/ 0 h 1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4"/>
                <a:gd name="T13" fmla="*/ 0 h 141"/>
                <a:gd name="T14" fmla="*/ 644 w 644"/>
                <a:gd name="T15" fmla="*/ 141 h 1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4" h="141">
                  <a:moveTo>
                    <a:pt x="0" y="103"/>
                  </a:moveTo>
                  <a:lnTo>
                    <a:pt x="38" y="141"/>
                  </a:lnTo>
                  <a:lnTo>
                    <a:pt x="76" y="0"/>
                  </a:lnTo>
                  <a:lnTo>
                    <a:pt x="64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0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0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0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0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0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0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0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0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0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0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0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0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0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0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7" grpId="0" animBg="1"/>
      <p:bldP spid="2007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ChangeArrowheads="1"/>
          </p:cNvSpPr>
          <p:nvPr/>
        </p:nvSpPr>
        <p:spPr bwMode="auto">
          <a:xfrm>
            <a:off x="674688" y="1781175"/>
            <a:ext cx="7772400" cy="50768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Show that the kinetic energy of an orbiting satellite having mass </a:t>
            </a:r>
            <a:r>
              <a:rPr lang="en-US" i="1">
                <a:sym typeface="Symbol" pitchFamily="18" charset="2"/>
              </a:rPr>
              <a:t>m </a:t>
            </a:r>
            <a:r>
              <a:rPr lang="en-US">
                <a:sym typeface="Symbol" pitchFamily="18" charset="2"/>
              </a:rPr>
              <a:t>at a distance </a:t>
            </a:r>
            <a:r>
              <a:rPr lang="en-US" i="1">
                <a:sym typeface="Symbol" pitchFamily="18" charset="2"/>
              </a:rPr>
              <a:t>r </a:t>
            </a:r>
            <a:r>
              <a:rPr lang="en-US">
                <a:sym typeface="Symbol" pitchFamily="18" charset="2"/>
              </a:rPr>
              <a:t>from the center of Earth (mass 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)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is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GMm / </a:t>
            </a:r>
            <a:r>
              <a:rPr lang="en-US">
                <a:sym typeface="Symbol" pitchFamily="18" charset="2"/>
              </a:rPr>
              <a:t>(2</a:t>
            </a:r>
            <a:r>
              <a:rPr lang="en-US" i="1">
                <a:sym typeface="Symbol" pitchFamily="18" charset="2"/>
              </a:rPr>
              <a:t>r).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SOLUTION: 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In circular orbit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ma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and </a:t>
            </a:r>
            <a:r>
              <a:rPr lang="en-US" i="1">
                <a:sym typeface="Symbol" pitchFamily="18" charset="2"/>
              </a:rPr>
              <a:t>F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.</a:t>
            </a: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But </a:t>
            </a:r>
            <a:r>
              <a:rPr lang="en-US" i="1"/>
              <a:t>a</a:t>
            </a:r>
            <a:r>
              <a:rPr lang="en-US" baseline="-25000"/>
              <a:t>c 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 i="1">
                <a:sym typeface="Symbol" pitchFamily="18" charset="2"/>
              </a:rPr>
              <a:t>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 r</a:t>
            </a:r>
            <a:r>
              <a:rPr lang="en-US">
                <a:sym typeface="Symbol" pitchFamily="18" charset="2"/>
              </a:rPr>
              <a:t>. Then</a:t>
            </a:r>
          </a:p>
          <a:p>
            <a:pPr eaLnBrk="0" hangingPunct="0">
              <a:spcBef>
                <a:spcPct val="15000"/>
              </a:spcBef>
            </a:pPr>
            <a:r>
              <a:rPr lang="en-US" i="1">
                <a:sym typeface="Symbol" pitchFamily="18" charset="2"/>
              </a:rPr>
              <a:t>                        ma</a:t>
            </a:r>
            <a:r>
              <a:rPr lang="en-US" baseline="-25000">
                <a:sym typeface="Symbol" pitchFamily="18" charset="2"/>
              </a:rPr>
              <a:t>c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</a:p>
          <a:p>
            <a:pPr eaLnBrk="0" hangingPunct="0">
              <a:spcBef>
                <a:spcPct val="15000"/>
              </a:spcBef>
            </a:pPr>
            <a:r>
              <a:rPr lang="en-US" i="1">
                <a:sym typeface="Symbol" pitchFamily="18" charset="2"/>
              </a:rPr>
              <a:t>                    mv</a:t>
            </a:r>
            <a:r>
              <a:rPr lang="en-US" baseline="30000">
                <a:sym typeface="Symbol" pitchFamily="18" charset="2"/>
              </a:rPr>
              <a:t>2 </a:t>
            </a:r>
            <a:r>
              <a:rPr lang="en-US" i="1">
                <a:sym typeface="Symbol" pitchFamily="18" charset="2"/>
              </a:rPr>
              <a:t>/ r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r>
              <a:rPr lang="en-US" baseline="30000">
                <a:sym typeface="Symbol" pitchFamily="18" charset="2"/>
              </a:rPr>
              <a:t>2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 i="1">
                <a:sym typeface="Symbol" pitchFamily="18" charset="2"/>
              </a:rPr>
              <a:t>                        mv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endParaRPr lang="en-US" baseline="30000">
              <a:sym typeface="Symbol" pitchFamily="18" charset="2"/>
            </a:endParaRPr>
          </a:p>
          <a:p>
            <a:pPr eaLnBrk="0" hangingPunct="0">
              <a:spcBef>
                <a:spcPct val="15000"/>
              </a:spcBef>
            </a:pPr>
            <a:r>
              <a:rPr lang="en-US">
                <a:sym typeface="Symbol" pitchFamily="18" charset="2"/>
              </a:rPr>
              <a:t>                 (1/2)</a:t>
            </a:r>
            <a:r>
              <a:rPr lang="en-US" i="1">
                <a:sym typeface="Symbol" pitchFamily="18" charset="2"/>
              </a:rPr>
              <a:t>mv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(2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</a:t>
            </a:r>
            <a:endParaRPr lang="en-US" i="1">
              <a:sym typeface="Symbol" pitchFamily="18" charset="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28675" y="5921375"/>
            <a:ext cx="7464425" cy="825500"/>
            <a:chOff x="522" y="3666"/>
            <a:chExt cx="4702" cy="520"/>
          </a:xfrm>
        </p:grpSpPr>
        <p:sp>
          <p:nvSpPr>
            <p:cNvPr id="37894" name="Text Box 4"/>
            <p:cNvSpPr txBox="1">
              <a:spLocks noChangeArrowheads="1"/>
            </p:cNvSpPr>
            <p:nvPr/>
          </p:nvSpPr>
          <p:spPr bwMode="auto">
            <a:xfrm>
              <a:off x="3380" y="3666"/>
              <a:ext cx="1844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kinetic energy of an orbiting satellite</a:t>
              </a:r>
            </a:p>
          </p:txBody>
        </p:sp>
        <p:sp>
          <p:nvSpPr>
            <p:cNvPr id="37895" name="Rectangle 5"/>
            <p:cNvSpPr>
              <a:spLocks noChangeArrowheads="1"/>
            </p:cNvSpPr>
            <p:nvPr/>
          </p:nvSpPr>
          <p:spPr bwMode="auto">
            <a:xfrm>
              <a:off x="522" y="3668"/>
              <a:ext cx="4701" cy="51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6" name="Rectangle 6"/>
            <p:cNvSpPr>
              <a:spLocks noChangeArrowheads="1"/>
            </p:cNvSpPr>
            <p:nvPr/>
          </p:nvSpPr>
          <p:spPr bwMode="auto">
            <a:xfrm>
              <a:off x="607" y="3688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>
                  <a:solidFill>
                    <a:srgbClr val="000000"/>
                  </a:solidFill>
                  <a:cs typeface="Times New Roman" pitchFamily="18" charset="0"/>
                </a:rPr>
                <a:t>(1/2)</a:t>
              </a:r>
              <a:r>
                <a:rPr lang="en-US" i="1">
                  <a:solidFill>
                    <a:srgbClr val="000000"/>
                  </a:solidFill>
                  <a:cs typeface="Times New Roman" pitchFamily="18" charset="0"/>
                </a:rPr>
                <a:t>mv</a:t>
              </a:r>
              <a:r>
                <a:rPr lang="en-US" baseline="30000">
                  <a:solidFill>
                    <a:srgbClr val="000000"/>
                  </a:solidFill>
                  <a:cs typeface="Times New Roman" pitchFamily="18" charset="0"/>
                </a:rPr>
                <a:t>2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>
                  <a:sym typeface="Symbol" pitchFamily="18" charset="2"/>
                </a:rPr>
                <a:t>=</a:t>
              </a:r>
              <a:r>
                <a:rPr lang="en-US" baseline="30000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  <a:endParaRPr lang="en-US" i="1">
                <a:sym typeface="Symbol" pitchFamily="18" charset="2"/>
              </a:endParaRPr>
            </a:p>
          </p:txBody>
        </p:sp>
      </p:grpSp>
      <p:sp>
        <p:nvSpPr>
          <p:cNvPr id="37893" name="Rectangle 8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4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4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4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4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4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4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4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7" name="Rectangle 5"/>
          <p:cNvSpPr>
            <a:spLocks noChangeArrowheads="1"/>
          </p:cNvSpPr>
          <p:nvPr/>
        </p:nvSpPr>
        <p:spPr bwMode="auto">
          <a:xfrm>
            <a:off x="673100" y="6092825"/>
            <a:ext cx="7773988" cy="76517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/>
              <a:t>FYI</a:t>
            </a:r>
          </a:p>
          <a:p>
            <a:pPr eaLnBrk="0" hangingPunct="0"/>
            <a:r>
              <a:rPr lang="en-US" b="1">
                <a:sym typeface="Symbol" pitchFamily="18" charset="2"/>
              </a:rPr>
              <a:t>The </a:t>
            </a:r>
            <a:r>
              <a:rPr lang="en-US">
                <a:sym typeface="Symbol" pitchFamily="18" charset="2"/>
              </a:rPr>
              <a:t>IBO expects you to derive these relationships.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674688" y="1779588"/>
            <a:ext cx="7772400" cy="437673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10000"/>
              </a:spcBef>
            </a:pPr>
            <a:r>
              <a:rPr lang="en-US">
                <a:sym typeface="Symbol" pitchFamily="18" charset="2"/>
              </a:rPr>
              <a:t>EXAMPLE: Show that the total energy of an orbiting satellite at a distance </a:t>
            </a:r>
            <a:r>
              <a:rPr lang="en-US" i="1">
                <a:sym typeface="Symbol" pitchFamily="18" charset="2"/>
              </a:rPr>
              <a:t>r </a:t>
            </a:r>
            <a:r>
              <a:rPr lang="en-US">
                <a:sym typeface="Symbol" pitchFamily="18" charset="2"/>
              </a:rPr>
              <a:t>from the center of Earth is            </a:t>
            </a:r>
            <a:r>
              <a:rPr lang="en-US" i="1">
                <a:sym typeface="Symbol" pitchFamily="18" charset="2"/>
              </a:rPr>
              <a:t>E</a:t>
            </a:r>
            <a:r>
              <a:rPr lang="en-US">
                <a:sym typeface="Symbol" pitchFamily="18" charset="2"/>
              </a:rPr>
              <a:t> = –</a:t>
            </a:r>
            <a:r>
              <a:rPr lang="en-US" i="1">
                <a:sym typeface="Symbol" pitchFamily="18" charset="2"/>
              </a:rPr>
              <a:t>GMm / </a:t>
            </a:r>
            <a:r>
              <a:rPr lang="en-US">
                <a:sym typeface="Symbol" pitchFamily="18" charset="2"/>
              </a:rPr>
              <a:t>(2</a:t>
            </a:r>
            <a:r>
              <a:rPr lang="en-US" i="1">
                <a:sym typeface="Symbol" pitchFamily="18" charset="2"/>
              </a:rPr>
              <a:t>r).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10000"/>
              </a:spcBef>
            </a:pPr>
            <a:r>
              <a:rPr lang="en-US">
                <a:sym typeface="Symbol" pitchFamily="18" charset="2"/>
              </a:rPr>
              <a:t>SOLUTION: From </a:t>
            </a:r>
            <a:r>
              <a:rPr lang="en-US" i="1">
                <a:sym typeface="Symbol" pitchFamily="18" charset="2"/>
              </a:rPr>
              <a:t>E</a:t>
            </a:r>
            <a:r>
              <a:rPr lang="en-US">
                <a:sym typeface="Symbol" pitchFamily="18" charset="2"/>
              </a:rPr>
              <a:t> =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 baseline="30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+</a:t>
            </a:r>
            <a:r>
              <a:rPr lang="en-US" baseline="30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 and the expressions for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K </a:t>
            </a:r>
            <a:r>
              <a:rPr lang="en-US">
                <a:sym typeface="Symbol" pitchFamily="18" charset="2"/>
              </a:rPr>
              <a:t>and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we have</a:t>
            </a:r>
            <a:endParaRPr lang="en-US" baseline="-25000">
              <a:sym typeface="Symbol" pitchFamily="18" charset="2"/>
            </a:endParaRPr>
          </a:p>
          <a:p>
            <a:pPr eaLnBrk="0" hangingPunct="0"/>
            <a:r>
              <a:rPr lang="en-US" i="1">
                <a:sym typeface="Symbol" pitchFamily="18" charset="2"/>
              </a:rPr>
              <a:t>                  E</a:t>
            </a:r>
            <a:r>
              <a:rPr lang="en-US">
                <a:sym typeface="Symbol" pitchFamily="18" charset="2"/>
              </a:rPr>
              <a:t> 	=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 baseline="30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+</a:t>
            </a:r>
            <a:r>
              <a:rPr lang="en-US" baseline="30000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E</a:t>
            </a:r>
            <a:r>
              <a:rPr lang="en-US" baseline="-25000">
                <a:sym typeface="Symbol" pitchFamily="18" charset="2"/>
              </a:rPr>
              <a:t>P</a:t>
            </a:r>
          </a:p>
          <a:p>
            <a:pPr eaLnBrk="0" hangingPunct="0"/>
            <a:r>
              <a:rPr lang="en-US" i="1">
                <a:sym typeface="Symbol" pitchFamily="18" charset="2"/>
              </a:rPr>
              <a:t>                  E 	</a:t>
            </a:r>
            <a:r>
              <a:rPr lang="en-US">
                <a:sym typeface="Symbol" pitchFamily="18" charset="2"/>
              </a:rPr>
              <a:t>=</a:t>
            </a:r>
            <a:r>
              <a:rPr lang="en-US" i="1">
                <a:sym typeface="Symbol" pitchFamily="18" charset="2"/>
              </a:rPr>
              <a:t> GMm /</a:t>
            </a:r>
            <a:r>
              <a:rPr lang="en-US">
                <a:sym typeface="Symbol" pitchFamily="18" charset="2"/>
              </a:rPr>
              <a:t> (2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 – 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ym typeface="Symbol" pitchFamily="18" charset="2"/>
              </a:rPr>
              <a:t>r</a:t>
            </a:r>
            <a:endParaRPr lang="en-US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     E 	</a:t>
            </a:r>
            <a:r>
              <a:rPr lang="en-US">
                <a:sym typeface="Symbol" pitchFamily="18" charset="2"/>
              </a:rPr>
              <a:t>=</a:t>
            </a:r>
            <a:r>
              <a:rPr lang="en-US" i="1">
                <a:sym typeface="Symbol" pitchFamily="18" charset="2"/>
              </a:rPr>
              <a:t> GMm /</a:t>
            </a:r>
            <a:r>
              <a:rPr lang="en-US">
                <a:sym typeface="Symbol" pitchFamily="18" charset="2"/>
              </a:rPr>
              <a:t> (2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 – 2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(2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en-US" i="1">
                <a:sym typeface="Symbol" pitchFamily="18" charset="2"/>
              </a:rPr>
              <a:t>                  E 	</a:t>
            </a:r>
            <a:r>
              <a:rPr lang="en-US">
                <a:sym typeface="Symbol" pitchFamily="18" charset="2"/>
              </a:rPr>
              <a:t>=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–</a:t>
            </a:r>
            <a:r>
              <a:rPr lang="en-US" i="1">
                <a:sym typeface="Symbol" pitchFamily="18" charset="2"/>
              </a:rPr>
              <a:t>GMm /</a:t>
            </a:r>
            <a:r>
              <a:rPr lang="en-US">
                <a:sym typeface="Symbol" pitchFamily="18" charset="2"/>
              </a:rPr>
              <a:t> (2</a:t>
            </a:r>
            <a:r>
              <a:rPr lang="en-US" i="1">
                <a:sym typeface="Symbol" pitchFamily="18" charset="2"/>
              </a:rPr>
              <a:t>r</a:t>
            </a:r>
            <a:r>
              <a:rPr lang="en-US">
                <a:sym typeface="Symbol" pitchFamily="18" charset="2"/>
              </a:rPr>
              <a:t>)</a:t>
            </a:r>
            <a:endParaRPr lang="en-US" i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endParaRPr lang="en-US" i="1">
              <a:sym typeface="Symbol" pitchFamily="18" charset="2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828675" y="5307013"/>
            <a:ext cx="7464425" cy="825500"/>
            <a:chOff x="522" y="3349"/>
            <a:chExt cx="4702" cy="520"/>
          </a:xfrm>
        </p:grpSpPr>
        <p:sp>
          <p:nvSpPr>
            <p:cNvPr id="38919" name="Text Box 7"/>
            <p:cNvSpPr txBox="1">
              <a:spLocks noChangeArrowheads="1"/>
            </p:cNvSpPr>
            <p:nvPr/>
          </p:nvSpPr>
          <p:spPr bwMode="auto">
            <a:xfrm>
              <a:off x="3577" y="3351"/>
              <a:ext cx="164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38920" name="Rectangle 8"/>
            <p:cNvSpPr>
              <a:spLocks noChangeArrowheads="1"/>
            </p:cNvSpPr>
            <p:nvPr/>
          </p:nvSpPr>
          <p:spPr bwMode="auto">
            <a:xfrm>
              <a:off x="522" y="3353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1" name="Rectangle 9"/>
            <p:cNvSpPr>
              <a:spLocks noChangeArrowheads="1"/>
            </p:cNvSpPr>
            <p:nvPr/>
          </p:nvSpPr>
          <p:spPr bwMode="auto">
            <a:xfrm>
              <a:off x="623" y="3349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38922" name="Rectangle 10"/>
            <p:cNvSpPr>
              <a:spLocks noChangeArrowheads="1"/>
            </p:cNvSpPr>
            <p:nvPr/>
          </p:nvSpPr>
          <p:spPr bwMode="auto">
            <a:xfrm>
              <a:off x="540" y="3579"/>
              <a:ext cx="16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38923" name="Rectangle 11"/>
            <p:cNvSpPr>
              <a:spLocks noChangeArrowheads="1"/>
            </p:cNvSpPr>
            <p:nvPr/>
          </p:nvSpPr>
          <p:spPr bwMode="auto">
            <a:xfrm>
              <a:off x="2144" y="3578"/>
              <a:ext cx="157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  <p:sp>
        <p:nvSpPr>
          <p:cNvPr id="38918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2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27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2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27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2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2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2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27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2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2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0" name="Rectangle 10"/>
          <p:cNvSpPr>
            <a:spLocks noChangeArrowheads="1"/>
          </p:cNvSpPr>
          <p:nvPr/>
        </p:nvSpPr>
        <p:spPr bwMode="auto">
          <a:xfrm>
            <a:off x="674688" y="2635250"/>
            <a:ext cx="7772400" cy="42227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Graph the kinetic energy vs. the radius of orbit for a satellite of mass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about a planet of mass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and radius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.</a:t>
            </a:r>
            <a:endParaRPr lang="en-US" i="1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SOLUTION: Use </a:t>
            </a:r>
            <a:r>
              <a:rPr lang="en-US" i="1" dirty="0">
                <a:solidFill>
                  <a:srgbClr val="008000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rgbClr val="008000"/>
                </a:solidFill>
                <a:sym typeface="Symbol" pitchFamily="18" charset="2"/>
              </a:rPr>
              <a:t>K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 </a:t>
            </a:r>
            <a:r>
              <a:rPr lang="en-US" dirty="0">
                <a:sym typeface="Symbol" pitchFamily="18" charset="2"/>
              </a:rPr>
              <a:t>(2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). Note that 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K </a:t>
            </a:r>
            <a:r>
              <a:rPr lang="en-US" dirty="0">
                <a:sym typeface="Symbol" pitchFamily="18" charset="2"/>
              </a:rPr>
              <a:t>decreases with radius. It has a maximum value of            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K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 </a:t>
            </a:r>
            <a:r>
              <a:rPr lang="en-US" dirty="0">
                <a:sym typeface="Symbol" pitchFamily="18" charset="2"/>
              </a:rPr>
              <a:t>(2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).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135063" y="4930775"/>
            <a:ext cx="6935787" cy="1960563"/>
            <a:chOff x="715" y="3146"/>
            <a:chExt cx="4369" cy="1235"/>
          </a:xfrm>
        </p:grpSpPr>
        <p:sp>
          <p:nvSpPr>
            <p:cNvPr id="39967" name="Line 12"/>
            <p:cNvSpPr>
              <a:spLocks noChangeShapeType="1"/>
            </p:cNvSpPr>
            <p:nvPr/>
          </p:nvSpPr>
          <p:spPr bwMode="auto">
            <a:xfrm flipV="1">
              <a:off x="1008" y="3279"/>
              <a:ext cx="0" cy="8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8" name="Line 13"/>
            <p:cNvSpPr>
              <a:spLocks noChangeShapeType="1"/>
            </p:cNvSpPr>
            <p:nvPr/>
          </p:nvSpPr>
          <p:spPr bwMode="auto">
            <a:xfrm>
              <a:off x="1008" y="4128"/>
              <a:ext cx="38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9" name="Text Box 14"/>
            <p:cNvSpPr txBox="1">
              <a:spLocks noChangeArrowheads="1"/>
            </p:cNvSpPr>
            <p:nvPr/>
          </p:nvSpPr>
          <p:spPr bwMode="auto">
            <a:xfrm>
              <a:off x="715" y="3146"/>
              <a:ext cx="2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/>
                <a:t>E</a:t>
              </a:r>
              <a:r>
                <a:rPr lang="en-US" sz="2000" baseline="-25000"/>
                <a:t>K</a:t>
              </a:r>
              <a:endParaRPr lang="en-US" sz="2000"/>
            </a:p>
          </p:txBody>
        </p:sp>
        <p:sp>
          <p:nvSpPr>
            <p:cNvPr id="39970" name="Text Box 15"/>
            <p:cNvSpPr txBox="1">
              <a:spLocks noChangeArrowheads="1"/>
            </p:cNvSpPr>
            <p:nvPr/>
          </p:nvSpPr>
          <p:spPr bwMode="auto">
            <a:xfrm>
              <a:off x="4915" y="4014"/>
              <a:ext cx="1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/>
                <a:t>r</a:t>
              </a:r>
            </a:p>
          </p:txBody>
        </p:sp>
        <p:sp>
          <p:nvSpPr>
            <p:cNvPr id="39971" name="Line 16"/>
            <p:cNvSpPr>
              <a:spLocks noChangeShapeType="1"/>
            </p:cNvSpPr>
            <p:nvPr/>
          </p:nvSpPr>
          <p:spPr bwMode="auto">
            <a:xfrm>
              <a:off x="1758" y="406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2" name="Text Box 17"/>
            <p:cNvSpPr txBox="1">
              <a:spLocks noChangeArrowheads="1"/>
            </p:cNvSpPr>
            <p:nvPr/>
          </p:nvSpPr>
          <p:spPr bwMode="auto">
            <a:xfrm>
              <a:off x="1642" y="4114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/>
                <a:t>R</a:t>
              </a:r>
            </a:p>
          </p:txBody>
        </p:sp>
        <p:sp>
          <p:nvSpPr>
            <p:cNvPr id="39973" name="Line 18"/>
            <p:cNvSpPr>
              <a:spLocks noChangeShapeType="1"/>
            </p:cNvSpPr>
            <p:nvPr/>
          </p:nvSpPr>
          <p:spPr bwMode="auto">
            <a:xfrm>
              <a:off x="2490" y="406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4" name="Text Box 19"/>
            <p:cNvSpPr txBox="1">
              <a:spLocks noChangeArrowheads="1"/>
            </p:cNvSpPr>
            <p:nvPr/>
          </p:nvSpPr>
          <p:spPr bwMode="auto">
            <a:xfrm>
              <a:off x="2326" y="4126"/>
              <a:ext cx="3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2</a:t>
              </a:r>
              <a:r>
                <a:rPr lang="en-US" sz="2000" i="1"/>
                <a:t>R</a:t>
              </a:r>
            </a:p>
          </p:txBody>
        </p:sp>
        <p:sp>
          <p:nvSpPr>
            <p:cNvPr id="39975" name="Line 20"/>
            <p:cNvSpPr>
              <a:spLocks noChangeShapeType="1"/>
            </p:cNvSpPr>
            <p:nvPr/>
          </p:nvSpPr>
          <p:spPr bwMode="auto">
            <a:xfrm>
              <a:off x="3224" y="4067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6" name="Text Box 21"/>
            <p:cNvSpPr txBox="1">
              <a:spLocks noChangeArrowheads="1"/>
            </p:cNvSpPr>
            <p:nvPr/>
          </p:nvSpPr>
          <p:spPr bwMode="auto">
            <a:xfrm>
              <a:off x="3060" y="4131"/>
              <a:ext cx="3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3</a:t>
              </a:r>
              <a:r>
                <a:rPr lang="en-US" sz="2000" i="1"/>
                <a:t>R</a:t>
              </a:r>
            </a:p>
          </p:txBody>
        </p:sp>
        <p:sp>
          <p:nvSpPr>
            <p:cNvPr id="39977" name="Line 22"/>
            <p:cNvSpPr>
              <a:spLocks noChangeShapeType="1"/>
            </p:cNvSpPr>
            <p:nvPr/>
          </p:nvSpPr>
          <p:spPr bwMode="auto">
            <a:xfrm>
              <a:off x="3964" y="406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78" name="Text Box 23"/>
            <p:cNvSpPr txBox="1">
              <a:spLocks noChangeArrowheads="1"/>
            </p:cNvSpPr>
            <p:nvPr/>
          </p:nvSpPr>
          <p:spPr bwMode="auto">
            <a:xfrm>
              <a:off x="3800" y="4126"/>
              <a:ext cx="3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4</a:t>
              </a:r>
              <a:r>
                <a:rPr lang="en-US" sz="2000" i="1"/>
                <a:t>R</a:t>
              </a:r>
            </a:p>
          </p:txBody>
        </p:sp>
        <p:sp>
          <p:nvSpPr>
            <p:cNvPr id="39979" name="Line 24"/>
            <p:cNvSpPr>
              <a:spLocks noChangeShapeType="1"/>
            </p:cNvSpPr>
            <p:nvPr/>
          </p:nvSpPr>
          <p:spPr bwMode="auto">
            <a:xfrm>
              <a:off x="4708" y="406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80" name="Text Box 25"/>
            <p:cNvSpPr txBox="1">
              <a:spLocks noChangeArrowheads="1"/>
            </p:cNvSpPr>
            <p:nvPr/>
          </p:nvSpPr>
          <p:spPr bwMode="auto">
            <a:xfrm>
              <a:off x="4544" y="4126"/>
              <a:ext cx="3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5</a:t>
              </a:r>
              <a:r>
                <a:rPr lang="en-US" sz="2000" i="1"/>
                <a:t>R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742950" y="5187950"/>
            <a:ext cx="6753225" cy="701675"/>
            <a:chOff x="468" y="3268"/>
            <a:chExt cx="4254" cy="442"/>
          </a:xfrm>
        </p:grpSpPr>
        <p:sp>
          <p:nvSpPr>
            <p:cNvPr id="39965" name="Line 27"/>
            <p:cNvSpPr>
              <a:spLocks noChangeShapeType="1"/>
            </p:cNvSpPr>
            <p:nvPr/>
          </p:nvSpPr>
          <p:spPr bwMode="auto">
            <a:xfrm>
              <a:off x="984" y="3463"/>
              <a:ext cx="3738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6" name="Text Box 28"/>
            <p:cNvSpPr txBox="1">
              <a:spLocks noChangeArrowheads="1"/>
            </p:cNvSpPr>
            <p:nvPr/>
          </p:nvSpPr>
          <p:spPr bwMode="auto">
            <a:xfrm>
              <a:off x="468" y="3268"/>
              <a:ext cx="50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i="1" u="sng" dirty="0" err="1">
                  <a:solidFill>
                    <a:srgbClr val="008000"/>
                  </a:solidFill>
                </a:rPr>
                <a:t>GMm</a:t>
              </a:r>
              <a:endParaRPr lang="en-US" sz="2000" i="1" u="sng" dirty="0">
                <a:solidFill>
                  <a:srgbClr val="008000"/>
                </a:solidFill>
              </a:endParaRPr>
            </a:p>
            <a:p>
              <a:pPr algn="ctr"/>
              <a:r>
                <a:rPr lang="en-US" sz="2000" dirty="0">
                  <a:solidFill>
                    <a:srgbClr val="008000"/>
                  </a:solidFill>
                </a:rPr>
                <a:t>2</a:t>
              </a:r>
              <a:r>
                <a:rPr lang="en-US" sz="2000" i="1" dirty="0">
                  <a:solidFill>
                    <a:srgbClr val="008000"/>
                  </a:solidFill>
                </a:rPr>
                <a:t>R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706688" y="5422900"/>
            <a:ext cx="146050" cy="153988"/>
            <a:chOff x="129" y="2979"/>
            <a:chExt cx="129" cy="136"/>
          </a:xfrm>
        </p:grpSpPr>
        <p:sp>
          <p:nvSpPr>
            <p:cNvPr id="39963" name="Line 30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Line 31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3875088" y="5916613"/>
            <a:ext cx="146050" cy="153987"/>
            <a:chOff x="129" y="2979"/>
            <a:chExt cx="129" cy="136"/>
          </a:xfrm>
        </p:grpSpPr>
        <p:sp>
          <p:nvSpPr>
            <p:cNvPr id="39961" name="Line 33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Line 34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5043488" y="6097588"/>
            <a:ext cx="146050" cy="153987"/>
            <a:chOff x="129" y="2979"/>
            <a:chExt cx="129" cy="136"/>
          </a:xfrm>
        </p:grpSpPr>
        <p:sp>
          <p:nvSpPr>
            <p:cNvPr id="39959" name="Line 36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0" name="Line 37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6213475" y="6181725"/>
            <a:ext cx="146050" cy="153988"/>
            <a:chOff x="129" y="2979"/>
            <a:chExt cx="129" cy="136"/>
          </a:xfrm>
        </p:grpSpPr>
        <p:sp>
          <p:nvSpPr>
            <p:cNvPr id="39957" name="Line 39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8" name="Line 40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7394575" y="6208713"/>
            <a:ext cx="146050" cy="153987"/>
            <a:chOff x="129" y="2979"/>
            <a:chExt cx="129" cy="136"/>
          </a:xfrm>
        </p:grpSpPr>
        <p:sp>
          <p:nvSpPr>
            <p:cNvPr id="39955" name="Line 42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Line 43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44" name="Freeform 44"/>
          <p:cNvSpPr>
            <a:spLocks/>
          </p:cNvSpPr>
          <p:nvPr/>
        </p:nvSpPr>
        <p:spPr bwMode="auto">
          <a:xfrm>
            <a:off x="2779713" y="5483225"/>
            <a:ext cx="5305425" cy="806450"/>
          </a:xfrm>
          <a:custGeom>
            <a:avLst/>
            <a:gdLst>
              <a:gd name="T0" fmla="*/ 0 w 3342"/>
              <a:gd name="T1" fmla="*/ 0 h 508"/>
              <a:gd name="T2" fmla="*/ 735 w 3342"/>
              <a:gd name="T3" fmla="*/ 318 h 508"/>
              <a:gd name="T4" fmla="*/ 1470 w 3342"/>
              <a:gd name="T5" fmla="*/ 432 h 508"/>
              <a:gd name="T6" fmla="*/ 2205 w 3342"/>
              <a:gd name="T7" fmla="*/ 485 h 508"/>
              <a:gd name="T8" fmla="*/ 2963 w 3342"/>
              <a:gd name="T9" fmla="*/ 500 h 508"/>
              <a:gd name="T10" fmla="*/ 3342 w 3342"/>
              <a:gd name="T11" fmla="*/ 508 h 5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42"/>
              <a:gd name="T19" fmla="*/ 0 h 508"/>
              <a:gd name="T20" fmla="*/ 3342 w 3342"/>
              <a:gd name="T21" fmla="*/ 508 h 5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42" h="508">
                <a:moveTo>
                  <a:pt x="0" y="0"/>
                </a:moveTo>
                <a:cubicBezTo>
                  <a:pt x="245" y="123"/>
                  <a:pt x="490" y="246"/>
                  <a:pt x="735" y="318"/>
                </a:cubicBezTo>
                <a:cubicBezTo>
                  <a:pt x="980" y="390"/>
                  <a:pt x="1225" y="404"/>
                  <a:pt x="1470" y="432"/>
                </a:cubicBezTo>
                <a:cubicBezTo>
                  <a:pt x="1715" y="460"/>
                  <a:pt x="1956" y="474"/>
                  <a:pt x="2205" y="485"/>
                </a:cubicBezTo>
                <a:cubicBezTo>
                  <a:pt x="2454" y="496"/>
                  <a:pt x="2774" y="496"/>
                  <a:pt x="2963" y="500"/>
                </a:cubicBezTo>
                <a:cubicBezTo>
                  <a:pt x="3152" y="504"/>
                  <a:pt x="3247" y="506"/>
                  <a:pt x="3342" y="508"/>
                </a:cubicBezTo>
              </a:path>
            </a:pathLst>
          </a:custGeom>
          <a:noFill/>
          <a:ln w="28575" cmpd="sng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8" name="Rectangle 47"/>
          <p:cNvSpPr>
            <a:spLocks noChangeArrowheads="1"/>
          </p:cNvSpPr>
          <p:nvPr/>
        </p:nvSpPr>
        <p:spPr bwMode="auto">
          <a:xfrm>
            <a:off x="685800" y="1338263"/>
            <a:ext cx="7772400" cy="13176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9" name="Group 48"/>
          <p:cNvGrpSpPr>
            <a:grpSpLocks/>
          </p:cNvGrpSpPr>
          <p:nvPr/>
        </p:nvGrpSpPr>
        <p:grpSpPr bwMode="auto">
          <a:xfrm>
            <a:off x="828675" y="1792288"/>
            <a:ext cx="7464425" cy="825500"/>
            <a:chOff x="522" y="3349"/>
            <a:chExt cx="4702" cy="520"/>
          </a:xfrm>
        </p:grpSpPr>
        <p:sp>
          <p:nvSpPr>
            <p:cNvPr id="39950" name="Text Box 49"/>
            <p:cNvSpPr txBox="1">
              <a:spLocks noChangeArrowheads="1"/>
            </p:cNvSpPr>
            <p:nvPr/>
          </p:nvSpPr>
          <p:spPr bwMode="auto">
            <a:xfrm>
              <a:off x="3577" y="3351"/>
              <a:ext cx="164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39951" name="Rectangle 50"/>
            <p:cNvSpPr>
              <a:spLocks noChangeArrowheads="1"/>
            </p:cNvSpPr>
            <p:nvPr/>
          </p:nvSpPr>
          <p:spPr bwMode="auto">
            <a:xfrm>
              <a:off x="522" y="3353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2" name="Rectangle 51"/>
            <p:cNvSpPr>
              <a:spLocks noChangeArrowheads="1"/>
            </p:cNvSpPr>
            <p:nvPr/>
          </p:nvSpPr>
          <p:spPr bwMode="auto">
            <a:xfrm>
              <a:off x="623" y="3349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39953" name="Rectangle 52"/>
            <p:cNvSpPr>
              <a:spLocks noChangeArrowheads="1"/>
            </p:cNvSpPr>
            <p:nvPr/>
          </p:nvSpPr>
          <p:spPr bwMode="auto">
            <a:xfrm>
              <a:off x="540" y="3579"/>
              <a:ext cx="16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39954" name="Rectangle 53"/>
            <p:cNvSpPr>
              <a:spLocks noChangeArrowheads="1"/>
            </p:cNvSpPr>
            <p:nvPr/>
          </p:nvSpPr>
          <p:spPr bwMode="auto">
            <a:xfrm>
              <a:off x="2144" y="3578"/>
              <a:ext cx="157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2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8" name="Rectangle 10"/>
          <p:cNvSpPr>
            <a:spLocks noChangeArrowheads="1"/>
          </p:cNvSpPr>
          <p:nvPr/>
        </p:nvSpPr>
        <p:spPr bwMode="auto">
          <a:xfrm>
            <a:off x="674688" y="2635250"/>
            <a:ext cx="7772400" cy="42227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EXAMPLE: Graph the potential energy vs. the radius of orbit for a satellite of mass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about a planet of mass 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 and radius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.</a:t>
            </a:r>
            <a:endParaRPr lang="en-US" i="1" dirty="0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dirty="0">
                <a:sym typeface="Symbol" pitchFamily="18" charset="2"/>
              </a:rPr>
              <a:t>SOLUTION: Use </a:t>
            </a:r>
            <a:r>
              <a:rPr lang="en-US" i="1" dirty="0">
                <a:solidFill>
                  <a:schemeClr val="accent2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accent2"/>
                </a:solidFill>
                <a:sym typeface="Symbol" pitchFamily="18" charset="2"/>
              </a:rPr>
              <a:t>P</a:t>
            </a:r>
            <a:r>
              <a:rPr lang="en-US" dirty="0">
                <a:sym typeface="Symbol" pitchFamily="18" charset="2"/>
              </a:rPr>
              <a:t> = –</a:t>
            </a:r>
            <a:r>
              <a:rPr lang="en-US" i="1" dirty="0" err="1">
                <a:sym typeface="Symbol" pitchFamily="18" charset="2"/>
              </a:rPr>
              <a:t>GMm</a:t>
            </a:r>
            <a:r>
              <a:rPr lang="en-US" i="1" dirty="0">
                <a:sym typeface="Symbol" pitchFamily="18" charset="2"/>
              </a:rPr>
              <a:t> /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i="1" dirty="0">
                <a:sym typeface="Symbol" pitchFamily="18" charset="2"/>
              </a:rPr>
              <a:t>r</a:t>
            </a:r>
            <a:r>
              <a:rPr lang="en-US" dirty="0">
                <a:sym typeface="Symbol" pitchFamily="18" charset="2"/>
              </a:rPr>
              <a:t>. Note that </a:t>
            </a:r>
            <a:r>
              <a:rPr lang="en-US" i="1" dirty="0">
                <a:sym typeface="Symbol" pitchFamily="18" charset="2"/>
              </a:rPr>
              <a:t>E</a:t>
            </a:r>
            <a:r>
              <a:rPr lang="en-US" baseline="-25000" dirty="0">
                <a:sym typeface="Symbol" pitchFamily="18" charset="2"/>
              </a:rPr>
              <a:t>P </a:t>
            </a:r>
            <a:r>
              <a:rPr lang="en-US" dirty="0">
                <a:sym typeface="Symbol" pitchFamily="18" charset="2"/>
              </a:rPr>
              <a:t>increases with radius. It becomes </a:t>
            </a:r>
            <a:r>
              <a:rPr lang="en-US" u="sng" dirty="0">
                <a:sym typeface="Symbol" pitchFamily="18" charset="2"/>
              </a:rPr>
              <a:t>less negative</a:t>
            </a:r>
            <a:r>
              <a:rPr lang="en-US" dirty="0">
                <a:sym typeface="Symbol" pitchFamily="18" charset="2"/>
              </a:rPr>
              <a:t>.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135063" y="4676775"/>
            <a:ext cx="6935787" cy="2070100"/>
            <a:chOff x="715" y="2834"/>
            <a:chExt cx="4369" cy="1304"/>
          </a:xfrm>
        </p:grpSpPr>
        <p:sp>
          <p:nvSpPr>
            <p:cNvPr id="40992" name="Line 12"/>
            <p:cNvSpPr>
              <a:spLocks noChangeShapeType="1"/>
            </p:cNvSpPr>
            <p:nvPr/>
          </p:nvSpPr>
          <p:spPr bwMode="auto">
            <a:xfrm flipV="1">
              <a:off x="1008" y="3112"/>
              <a:ext cx="0" cy="8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93" name="Text Box 13"/>
            <p:cNvSpPr txBox="1">
              <a:spLocks noChangeArrowheads="1"/>
            </p:cNvSpPr>
            <p:nvPr/>
          </p:nvSpPr>
          <p:spPr bwMode="auto">
            <a:xfrm>
              <a:off x="715" y="3888"/>
              <a:ext cx="2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/>
                <a:t>E</a:t>
              </a:r>
              <a:r>
                <a:rPr lang="en-US" sz="2000" baseline="-25000"/>
                <a:t>P</a:t>
              </a:r>
              <a:endParaRPr lang="en-US" sz="2000"/>
            </a:p>
          </p:txBody>
        </p:sp>
        <p:grpSp>
          <p:nvGrpSpPr>
            <p:cNvPr id="40994" name="Group 14"/>
            <p:cNvGrpSpPr>
              <a:grpSpLocks/>
            </p:cNvGrpSpPr>
            <p:nvPr/>
          </p:nvGrpSpPr>
          <p:grpSpPr bwMode="auto">
            <a:xfrm>
              <a:off x="1008" y="2834"/>
              <a:ext cx="4076" cy="414"/>
              <a:chOff x="1008" y="2834"/>
              <a:chExt cx="4076" cy="414"/>
            </a:xfrm>
          </p:grpSpPr>
          <p:sp>
            <p:nvSpPr>
              <p:cNvPr id="40995" name="Line 15"/>
              <p:cNvSpPr>
                <a:spLocks noChangeShapeType="1"/>
              </p:cNvSpPr>
              <p:nvPr/>
            </p:nvSpPr>
            <p:spPr bwMode="auto">
              <a:xfrm>
                <a:off x="1008" y="3112"/>
                <a:ext cx="389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6" name="Text Box 16"/>
              <p:cNvSpPr txBox="1">
                <a:spLocks noChangeArrowheads="1"/>
              </p:cNvSpPr>
              <p:nvPr/>
            </p:nvSpPr>
            <p:spPr bwMode="auto">
              <a:xfrm>
                <a:off x="4915" y="2998"/>
                <a:ext cx="16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i="1"/>
                  <a:t>r</a:t>
                </a:r>
              </a:p>
            </p:txBody>
          </p:sp>
          <p:sp>
            <p:nvSpPr>
              <p:cNvPr id="40997" name="Line 17"/>
              <p:cNvSpPr>
                <a:spLocks noChangeShapeType="1"/>
              </p:cNvSpPr>
              <p:nvPr/>
            </p:nvSpPr>
            <p:spPr bwMode="auto">
              <a:xfrm>
                <a:off x="1758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8" name="Text Box 18"/>
              <p:cNvSpPr txBox="1">
                <a:spLocks noChangeArrowheads="1"/>
              </p:cNvSpPr>
              <p:nvPr/>
            </p:nvSpPr>
            <p:spPr bwMode="auto">
              <a:xfrm>
                <a:off x="1642" y="2834"/>
                <a:ext cx="23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i="1"/>
                  <a:t>R</a:t>
                </a:r>
              </a:p>
            </p:txBody>
          </p:sp>
          <p:sp>
            <p:nvSpPr>
              <p:cNvPr id="40999" name="Line 19"/>
              <p:cNvSpPr>
                <a:spLocks noChangeShapeType="1"/>
              </p:cNvSpPr>
              <p:nvPr/>
            </p:nvSpPr>
            <p:spPr bwMode="auto">
              <a:xfrm>
                <a:off x="2490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0" name="Text Box 20"/>
              <p:cNvSpPr txBox="1">
                <a:spLocks noChangeArrowheads="1"/>
              </p:cNvSpPr>
              <p:nvPr/>
            </p:nvSpPr>
            <p:spPr bwMode="auto">
              <a:xfrm>
                <a:off x="2326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2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1001" name="Line 21"/>
              <p:cNvSpPr>
                <a:spLocks noChangeShapeType="1"/>
              </p:cNvSpPr>
              <p:nvPr/>
            </p:nvSpPr>
            <p:spPr bwMode="auto">
              <a:xfrm>
                <a:off x="3224" y="3051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2" name="Text Box 22"/>
              <p:cNvSpPr txBox="1">
                <a:spLocks noChangeArrowheads="1"/>
              </p:cNvSpPr>
              <p:nvPr/>
            </p:nvSpPr>
            <p:spPr bwMode="auto">
              <a:xfrm>
                <a:off x="3060" y="2851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3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1003" name="Line 23"/>
              <p:cNvSpPr>
                <a:spLocks noChangeShapeType="1"/>
              </p:cNvSpPr>
              <p:nvPr/>
            </p:nvSpPr>
            <p:spPr bwMode="auto">
              <a:xfrm>
                <a:off x="3964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4" name="Text Box 24"/>
              <p:cNvSpPr txBox="1">
                <a:spLocks noChangeArrowheads="1"/>
              </p:cNvSpPr>
              <p:nvPr/>
            </p:nvSpPr>
            <p:spPr bwMode="auto">
              <a:xfrm>
                <a:off x="3800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4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1005" name="Line 25"/>
              <p:cNvSpPr>
                <a:spLocks noChangeShapeType="1"/>
              </p:cNvSpPr>
              <p:nvPr/>
            </p:nvSpPr>
            <p:spPr bwMode="auto">
              <a:xfrm>
                <a:off x="4708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6" name="Text Box 26"/>
              <p:cNvSpPr txBox="1">
                <a:spLocks noChangeArrowheads="1"/>
              </p:cNvSpPr>
              <p:nvPr/>
            </p:nvSpPr>
            <p:spPr bwMode="auto">
              <a:xfrm>
                <a:off x="4544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5</a:t>
                </a:r>
                <a:r>
                  <a:rPr lang="en-US" sz="2000" i="1"/>
                  <a:t>R</a:t>
                </a:r>
              </a:p>
            </p:txBody>
          </p:sp>
        </p:grp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717800" y="6065838"/>
            <a:ext cx="146050" cy="153987"/>
            <a:chOff x="129" y="2979"/>
            <a:chExt cx="129" cy="136"/>
          </a:xfrm>
        </p:grpSpPr>
        <p:sp>
          <p:nvSpPr>
            <p:cNvPr id="40990" name="Line 28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Line 29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3887788" y="5568950"/>
            <a:ext cx="146050" cy="153988"/>
            <a:chOff x="129" y="2979"/>
            <a:chExt cx="129" cy="136"/>
          </a:xfrm>
        </p:grpSpPr>
        <p:sp>
          <p:nvSpPr>
            <p:cNvPr id="40988" name="Line 31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Line 32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5046663" y="5380038"/>
            <a:ext cx="146050" cy="153987"/>
            <a:chOff x="129" y="2979"/>
            <a:chExt cx="129" cy="136"/>
          </a:xfrm>
        </p:grpSpPr>
        <p:sp>
          <p:nvSpPr>
            <p:cNvPr id="40986" name="Line 34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Line 35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6213475" y="5303838"/>
            <a:ext cx="146050" cy="153987"/>
            <a:chOff x="129" y="2979"/>
            <a:chExt cx="129" cy="136"/>
          </a:xfrm>
        </p:grpSpPr>
        <p:sp>
          <p:nvSpPr>
            <p:cNvPr id="40984" name="Line 37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Line 38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7407275" y="5284788"/>
            <a:ext cx="146050" cy="153987"/>
            <a:chOff x="129" y="2979"/>
            <a:chExt cx="129" cy="136"/>
          </a:xfrm>
        </p:grpSpPr>
        <p:sp>
          <p:nvSpPr>
            <p:cNvPr id="40982" name="Line 40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41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50"/>
          <p:cNvGrpSpPr>
            <a:grpSpLocks/>
          </p:cNvGrpSpPr>
          <p:nvPr/>
        </p:nvGrpSpPr>
        <p:grpSpPr bwMode="auto">
          <a:xfrm>
            <a:off x="539750" y="5834063"/>
            <a:ext cx="6905625" cy="701675"/>
            <a:chOff x="340" y="3675"/>
            <a:chExt cx="4350" cy="442"/>
          </a:xfrm>
        </p:grpSpPr>
        <p:sp>
          <p:nvSpPr>
            <p:cNvPr id="40979" name="Line 44"/>
            <p:cNvSpPr>
              <a:spLocks noChangeShapeType="1"/>
            </p:cNvSpPr>
            <p:nvPr/>
          </p:nvSpPr>
          <p:spPr bwMode="auto">
            <a:xfrm>
              <a:off x="939" y="3878"/>
              <a:ext cx="375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Text Box 45"/>
            <p:cNvSpPr txBox="1">
              <a:spLocks noChangeArrowheads="1"/>
            </p:cNvSpPr>
            <p:nvPr/>
          </p:nvSpPr>
          <p:spPr bwMode="auto">
            <a:xfrm>
              <a:off x="435" y="3675"/>
              <a:ext cx="56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i="1" u="sng" dirty="0" err="1">
                  <a:solidFill>
                    <a:schemeClr val="accent2"/>
                  </a:solidFill>
                </a:rPr>
                <a:t>GMm</a:t>
              </a:r>
              <a:endParaRPr lang="en-US" sz="2000" i="1" u="sng" dirty="0">
                <a:solidFill>
                  <a:schemeClr val="accent2"/>
                </a:solidFill>
              </a:endParaRPr>
            </a:p>
            <a:p>
              <a:pPr algn="ctr"/>
              <a:r>
                <a:rPr lang="en-US" sz="2000" i="1" dirty="0">
                  <a:solidFill>
                    <a:schemeClr val="accent2"/>
                  </a:solidFill>
                </a:rPr>
                <a:t>R</a:t>
              </a:r>
            </a:p>
          </p:txBody>
        </p:sp>
        <p:sp>
          <p:nvSpPr>
            <p:cNvPr id="40981" name="Text Box 46"/>
            <p:cNvSpPr txBox="1">
              <a:spLocks noChangeArrowheads="1"/>
            </p:cNvSpPr>
            <p:nvPr/>
          </p:nvSpPr>
          <p:spPr bwMode="auto">
            <a:xfrm>
              <a:off x="340" y="3744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ourier New" pitchFamily="49" charset="0"/>
                </a:rPr>
                <a:t>-</a:t>
              </a:r>
            </a:p>
          </p:txBody>
        </p:sp>
      </p:grpSp>
      <p:sp>
        <p:nvSpPr>
          <p:cNvPr id="206895" name="Freeform 47"/>
          <p:cNvSpPr>
            <a:spLocks/>
          </p:cNvSpPr>
          <p:nvPr/>
        </p:nvSpPr>
        <p:spPr bwMode="auto">
          <a:xfrm flipV="1">
            <a:off x="2779713" y="5343525"/>
            <a:ext cx="5305425" cy="806450"/>
          </a:xfrm>
          <a:custGeom>
            <a:avLst/>
            <a:gdLst>
              <a:gd name="T0" fmla="*/ 0 w 3342"/>
              <a:gd name="T1" fmla="*/ 0 h 508"/>
              <a:gd name="T2" fmla="*/ 735 w 3342"/>
              <a:gd name="T3" fmla="*/ 318 h 508"/>
              <a:gd name="T4" fmla="*/ 1470 w 3342"/>
              <a:gd name="T5" fmla="*/ 432 h 508"/>
              <a:gd name="T6" fmla="*/ 2205 w 3342"/>
              <a:gd name="T7" fmla="*/ 485 h 508"/>
              <a:gd name="T8" fmla="*/ 2963 w 3342"/>
              <a:gd name="T9" fmla="*/ 500 h 508"/>
              <a:gd name="T10" fmla="*/ 3342 w 3342"/>
              <a:gd name="T11" fmla="*/ 508 h 5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42"/>
              <a:gd name="T19" fmla="*/ 0 h 508"/>
              <a:gd name="T20" fmla="*/ 3342 w 3342"/>
              <a:gd name="T21" fmla="*/ 508 h 5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42" h="508">
                <a:moveTo>
                  <a:pt x="0" y="0"/>
                </a:moveTo>
                <a:cubicBezTo>
                  <a:pt x="245" y="123"/>
                  <a:pt x="490" y="246"/>
                  <a:pt x="735" y="318"/>
                </a:cubicBezTo>
                <a:cubicBezTo>
                  <a:pt x="980" y="390"/>
                  <a:pt x="1225" y="404"/>
                  <a:pt x="1470" y="432"/>
                </a:cubicBezTo>
                <a:cubicBezTo>
                  <a:pt x="1715" y="460"/>
                  <a:pt x="1956" y="474"/>
                  <a:pt x="2205" y="485"/>
                </a:cubicBezTo>
                <a:cubicBezTo>
                  <a:pt x="2454" y="496"/>
                  <a:pt x="2774" y="496"/>
                  <a:pt x="2963" y="500"/>
                </a:cubicBezTo>
                <a:cubicBezTo>
                  <a:pt x="3152" y="504"/>
                  <a:pt x="3247" y="506"/>
                  <a:pt x="3342" y="508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2" name="Rectangle 51"/>
          <p:cNvSpPr>
            <a:spLocks noChangeArrowheads="1"/>
          </p:cNvSpPr>
          <p:nvPr/>
        </p:nvSpPr>
        <p:spPr bwMode="auto">
          <a:xfrm>
            <a:off x="685800" y="1338263"/>
            <a:ext cx="7772400" cy="13176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40973" name="Group 52"/>
          <p:cNvGrpSpPr>
            <a:grpSpLocks/>
          </p:cNvGrpSpPr>
          <p:nvPr/>
        </p:nvGrpSpPr>
        <p:grpSpPr bwMode="auto">
          <a:xfrm>
            <a:off x="828675" y="1792288"/>
            <a:ext cx="7464425" cy="825500"/>
            <a:chOff x="522" y="3349"/>
            <a:chExt cx="4702" cy="520"/>
          </a:xfrm>
        </p:grpSpPr>
        <p:sp>
          <p:nvSpPr>
            <p:cNvPr id="40974" name="Text Box 53"/>
            <p:cNvSpPr txBox="1">
              <a:spLocks noChangeArrowheads="1"/>
            </p:cNvSpPr>
            <p:nvPr/>
          </p:nvSpPr>
          <p:spPr bwMode="auto">
            <a:xfrm>
              <a:off x="3577" y="3351"/>
              <a:ext cx="164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40975" name="Rectangle 54"/>
            <p:cNvSpPr>
              <a:spLocks noChangeArrowheads="1"/>
            </p:cNvSpPr>
            <p:nvPr/>
          </p:nvSpPr>
          <p:spPr bwMode="auto">
            <a:xfrm>
              <a:off x="522" y="3353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6" name="Rectangle 55"/>
            <p:cNvSpPr>
              <a:spLocks noChangeArrowheads="1"/>
            </p:cNvSpPr>
            <p:nvPr/>
          </p:nvSpPr>
          <p:spPr bwMode="auto">
            <a:xfrm>
              <a:off x="623" y="3349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40977" name="Rectangle 56"/>
            <p:cNvSpPr>
              <a:spLocks noChangeArrowheads="1"/>
            </p:cNvSpPr>
            <p:nvPr/>
          </p:nvSpPr>
          <p:spPr bwMode="auto">
            <a:xfrm>
              <a:off x="540" y="3579"/>
              <a:ext cx="16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40978" name="Rectangle 57"/>
            <p:cNvSpPr>
              <a:spLocks noChangeArrowheads="1"/>
            </p:cNvSpPr>
            <p:nvPr/>
          </p:nvSpPr>
          <p:spPr bwMode="auto">
            <a:xfrm>
              <a:off x="2144" y="3578"/>
              <a:ext cx="157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20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9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04" name="Rectangle 108"/>
          <p:cNvSpPr>
            <a:spLocks noChangeArrowheads="1"/>
          </p:cNvSpPr>
          <p:nvPr/>
        </p:nvSpPr>
        <p:spPr bwMode="auto">
          <a:xfrm>
            <a:off x="673100" y="6021388"/>
            <a:ext cx="7773988" cy="83661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b="1" i="1" dirty="0"/>
              <a:t>FYI</a:t>
            </a:r>
          </a:p>
          <a:p>
            <a:pPr eaLnBrk="0" hangingPunct="0"/>
            <a:r>
              <a:rPr lang="en-US" b="1" dirty="0">
                <a:sym typeface="Symbol" pitchFamily="18" charset="2"/>
              </a:rPr>
              <a:t></a:t>
            </a:r>
            <a:r>
              <a:rPr lang="en-US" dirty="0">
                <a:sym typeface="Symbol" pitchFamily="18" charset="2"/>
              </a:rPr>
              <a:t>Kinetic energy (thus </a:t>
            </a:r>
            <a:r>
              <a:rPr lang="en-US" i="1" dirty="0">
                <a:sym typeface="Symbol" pitchFamily="18" charset="2"/>
              </a:rPr>
              <a:t>v)</a:t>
            </a:r>
            <a:r>
              <a:rPr lang="en-US" dirty="0">
                <a:sym typeface="Symbol" pitchFamily="18" charset="2"/>
              </a:rPr>
              <a:t> DECREASES with radius.</a:t>
            </a:r>
          </a:p>
        </p:txBody>
      </p:sp>
      <p:sp>
        <p:nvSpPr>
          <p:cNvPr id="208906" name="Rectangle 10"/>
          <p:cNvSpPr>
            <a:spLocks noChangeArrowheads="1"/>
          </p:cNvSpPr>
          <p:nvPr/>
        </p:nvSpPr>
        <p:spPr bwMode="auto">
          <a:xfrm>
            <a:off x="674688" y="2635250"/>
            <a:ext cx="7772400" cy="339248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EXAMPLE: Graph the total energy </a:t>
            </a:r>
            <a:r>
              <a:rPr lang="en-US" i="1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vs. the radius of orbit and include both </a:t>
            </a:r>
            <a:r>
              <a:rPr lang="en-US" i="1">
                <a:solidFill>
                  <a:srgbClr val="008000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rgbClr val="008000"/>
                </a:solidFill>
                <a:sym typeface="Symbol" pitchFamily="18" charset="2"/>
              </a:rPr>
              <a:t>K</a:t>
            </a:r>
            <a:r>
              <a:rPr lang="en-US" i="1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and </a:t>
            </a:r>
            <a:r>
              <a:rPr lang="en-US" i="1">
                <a:solidFill>
                  <a:schemeClr val="accent2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accent2"/>
                </a:solidFill>
                <a:sym typeface="Symbol" pitchFamily="18" charset="2"/>
              </a:rPr>
              <a:t>P</a:t>
            </a:r>
            <a:r>
              <a:rPr lang="en-US">
                <a:sym typeface="Symbol" pitchFamily="18" charset="2"/>
              </a:rPr>
              <a:t>.</a:t>
            </a:r>
            <a:endParaRPr lang="en-US" i="1"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>
                <a:sym typeface="Symbol" pitchFamily="18" charset="2"/>
              </a:rPr>
              <a:t>SOLUTION: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719388" y="5207000"/>
            <a:ext cx="146050" cy="153988"/>
            <a:chOff x="129" y="2979"/>
            <a:chExt cx="129" cy="136"/>
          </a:xfrm>
        </p:grpSpPr>
        <p:sp>
          <p:nvSpPr>
            <p:cNvPr id="42077" name="Line 12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8" name="Line 13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876675" y="4965700"/>
            <a:ext cx="146050" cy="153988"/>
            <a:chOff x="129" y="2979"/>
            <a:chExt cx="129" cy="136"/>
          </a:xfrm>
        </p:grpSpPr>
        <p:sp>
          <p:nvSpPr>
            <p:cNvPr id="42075" name="Line 15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6" name="Line 16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035550" y="4872038"/>
            <a:ext cx="146050" cy="153987"/>
            <a:chOff x="129" y="2979"/>
            <a:chExt cx="129" cy="136"/>
          </a:xfrm>
        </p:grpSpPr>
        <p:sp>
          <p:nvSpPr>
            <p:cNvPr id="42073" name="Line 18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4" name="Line 19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215063" y="4830763"/>
            <a:ext cx="146050" cy="153987"/>
            <a:chOff x="129" y="2979"/>
            <a:chExt cx="129" cy="136"/>
          </a:xfrm>
        </p:grpSpPr>
        <p:sp>
          <p:nvSpPr>
            <p:cNvPr id="42071" name="Line 21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2" name="Line 22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394575" y="4811713"/>
            <a:ext cx="146050" cy="153987"/>
            <a:chOff x="129" y="2979"/>
            <a:chExt cx="129" cy="136"/>
          </a:xfrm>
        </p:grpSpPr>
        <p:sp>
          <p:nvSpPr>
            <p:cNvPr id="42069" name="Line 24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70" name="Line 25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07"/>
          <p:cNvGrpSpPr>
            <a:grpSpLocks/>
          </p:cNvGrpSpPr>
          <p:nvPr/>
        </p:nvGrpSpPr>
        <p:grpSpPr bwMode="auto">
          <a:xfrm>
            <a:off x="585788" y="5503863"/>
            <a:ext cx="6931025" cy="701675"/>
            <a:chOff x="369" y="3681"/>
            <a:chExt cx="4366" cy="442"/>
          </a:xfrm>
        </p:grpSpPr>
        <p:sp>
          <p:nvSpPr>
            <p:cNvPr id="42066" name="Line 28"/>
            <p:cNvSpPr>
              <a:spLocks noChangeShapeType="1"/>
            </p:cNvSpPr>
            <p:nvPr/>
          </p:nvSpPr>
          <p:spPr bwMode="auto">
            <a:xfrm>
              <a:off x="984" y="3884"/>
              <a:ext cx="375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67" name="Text Box 29"/>
            <p:cNvSpPr txBox="1">
              <a:spLocks noChangeArrowheads="1"/>
            </p:cNvSpPr>
            <p:nvPr/>
          </p:nvSpPr>
          <p:spPr bwMode="auto">
            <a:xfrm>
              <a:off x="490" y="3681"/>
              <a:ext cx="5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i="1" u="sng">
                  <a:solidFill>
                    <a:schemeClr val="accent2"/>
                  </a:solidFill>
                </a:rPr>
                <a:t>GMm</a:t>
              </a:r>
            </a:p>
            <a:p>
              <a:pPr algn="ctr"/>
              <a:r>
                <a:rPr lang="en-US" sz="2000" i="1">
                  <a:solidFill>
                    <a:schemeClr val="accent2"/>
                  </a:solidFill>
                </a:rPr>
                <a:t>R</a:t>
              </a:r>
            </a:p>
          </p:txBody>
        </p:sp>
        <p:sp>
          <p:nvSpPr>
            <p:cNvPr id="42068" name="Text Box 30"/>
            <p:cNvSpPr txBox="1">
              <a:spLocks noChangeArrowheads="1"/>
            </p:cNvSpPr>
            <p:nvPr/>
          </p:nvSpPr>
          <p:spPr bwMode="auto">
            <a:xfrm>
              <a:off x="369" y="375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chemeClr val="accent2"/>
                  </a:solidFill>
                  <a:latin typeface="Courier New" pitchFamily="49" charset="0"/>
                </a:rPr>
                <a:t>-</a:t>
              </a: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2779713" y="4645030"/>
            <a:ext cx="5656263" cy="646113"/>
            <a:chOff x="1751" y="3180"/>
            <a:chExt cx="3563" cy="407"/>
          </a:xfrm>
        </p:grpSpPr>
        <p:sp>
          <p:nvSpPr>
            <p:cNvPr id="42064" name="Text Box 32"/>
            <p:cNvSpPr txBox="1">
              <a:spLocks noChangeArrowheads="1"/>
            </p:cNvSpPr>
            <p:nvPr/>
          </p:nvSpPr>
          <p:spPr bwMode="auto">
            <a:xfrm>
              <a:off x="5091" y="3180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2065" name="Freeform 33"/>
            <p:cNvSpPr>
              <a:spLocks/>
            </p:cNvSpPr>
            <p:nvPr/>
          </p:nvSpPr>
          <p:spPr bwMode="auto">
            <a:xfrm flipV="1">
              <a:off x="1751" y="3329"/>
              <a:ext cx="3342" cy="258"/>
            </a:xfrm>
            <a:custGeom>
              <a:avLst/>
              <a:gdLst>
                <a:gd name="T0" fmla="*/ 0 w 3342"/>
                <a:gd name="T1" fmla="*/ 0 h 508"/>
                <a:gd name="T2" fmla="*/ 735 w 3342"/>
                <a:gd name="T3" fmla="*/ 318 h 508"/>
                <a:gd name="T4" fmla="*/ 1470 w 3342"/>
                <a:gd name="T5" fmla="*/ 432 h 508"/>
                <a:gd name="T6" fmla="*/ 2205 w 3342"/>
                <a:gd name="T7" fmla="*/ 485 h 508"/>
                <a:gd name="T8" fmla="*/ 2963 w 3342"/>
                <a:gd name="T9" fmla="*/ 500 h 508"/>
                <a:gd name="T10" fmla="*/ 3342 w 3342"/>
                <a:gd name="T11" fmla="*/ 508 h 5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42"/>
                <a:gd name="T19" fmla="*/ 0 h 508"/>
                <a:gd name="T20" fmla="*/ 3342 w 3342"/>
                <a:gd name="T21" fmla="*/ 508 h 5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42" h="508">
                  <a:moveTo>
                    <a:pt x="0" y="0"/>
                  </a:moveTo>
                  <a:cubicBezTo>
                    <a:pt x="245" y="123"/>
                    <a:pt x="490" y="246"/>
                    <a:pt x="735" y="318"/>
                  </a:cubicBezTo>
                  <a:cubicBezTo>
                    <a:pt x="980" y="390"/>
                    <a:pt x="1225" y="404"/>
                    <a:pt x="1470" y="432"/>
                  </a:cubicBezTo>
                  <a:cubicBezTo>
                    <a:pt x="1715" y="460"/>
                    <a:pt x="1956" y="474"/>
                    <a:pt x="2205" y="485"/>
                  </a:cubicBezTo>
                  <a:cubicBezTo>
                    <a:pt x="2454" y="496"/>
                    <a:pt x="2774" y="496"/>
                    <a:pt x="2963" y="500"/>
                  </a:cubicBezTo>
                  <a:cubicBezTo>
                    <a:pt x="3152" y="504"/>
                    <a:pt x="3247" y="506"/>
                    <a:pt x="3342" y="508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1600200" y="3794125"/>
            <a:ext cx="6470650" cy="2332038"/>
            <a:chOff x="1008" y="2644"/>
            <a:chExt cx="4076" cy="1469"/>
          </a:xfrm>
        </p:grpSpPr>
        <p:sp>
          <p:nvSpPr>
            <p:cNvPr id="42049" name="Line 35"/>
            <p:cNvSpPr>
              <a:spLocks noChangeShapeType="1"/>
            </p:cNvSpPr>
            <p:nvPr/>
          </p:nvSpPr>
          <p:spPr bwMode="auto">
            <a:xfrm flipV="1">
              <a:off x="1008" y="3264"/>
              <a:ext cx="0" cy="8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050" name="Group 36"/>
            <p:cNvGrpSpPr>
              <a:grpSpLocks/>
            </p:cNvGrpSpPr>
            <p:nvPr/>
          </p:nvGrpSpPr>
          <p:grpSpPr bwMode="auto">
            <a:xfrm>
              <a:off x="1008" y="2986"/>
              <a:ext cx="4076" cy="414"/>
              <a:chOff x="1008" y="2834"/>
              <a:chExt cx="4076" cy="414"/>
            </a:xfrm>
          </p:grpSpPr>
          <p:sp>
            <p:nvSpPr>
              <p:cNvPr id="42052" name="Line 37"/>
              <p:cNvSpPr>
                <a:spLocks noChangeShapeType="1"/>
              </p:cNvSpPr>
              <p:nvPr/>
            </p:nvSpPr>
            <p:spPr bwMode="auto">
              <a:xfrm>
                <a:off x="1008" y="3112"/>
                <a:ext cx="389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53" name="Text Box 38"/>
              <p:cNvSpPr txBox="1">
                <a:spLocks noChangeArrowheads="1"/>
              </p:cNvSpPr>
              <p:nvPr/>
            </p:nvSpPr>
            <p:spPr bwMode="auto">
              <a:xfrm>
                <a:off x="4915" y="2998"/>
                <a:ext cx="16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i="1"/>
                  <a:t>r</a:t>
                </a:r>
              </a:p>
            </p:txBody>
          </p:sp>
          <p:sp>
            <p:nvSpPr>
              <p:cNvPr id="42054" name="Line 39"/>
              <p:cNvSpPr>
                <a:spLocks noChangeShapeType="1"/>
              </p:cNvSpPr>
              <p:nvPr/>
            </p:nvSpPr>
            <p:spPr bwMode="auto">
              <a:xfrm>
                <a:off x="1758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55" name="Text Box 40"/>
              <p:cNvSpPr txBox="1">
                <a:spLocks noChangeArrowheads="1"/>
              </p:cNvSpPr>
              <p:nvPr/>
            </p:nvSpPr>
            <p:spPr bwMode="auto">
              <a:xfrm>
                <a:off x="1642" y="2834"/>
                <a:ext cx="23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i="1"/>
                  <a:t>R</a:t>
                </a:r>
              </a:p>
            </p:txBody>
          </p:sp>
          <p:sp>
            <p:nvSpPr>
              <p:cNvPr id="42056" name="Line 41"/>
              <p:cNvSpPr>
                <a:spLocks noChangeShapeType="1"/>
              </p:cNvSpPr>
              <p:nvPr/>
            </p:nvSpPr>
            <p:spPr bwMode="auto">
              <a:xfrm>
                <a:off x="2490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57" name="Text Box 42"/>
              <p:cNvSpPr txBox="1">
                <a:spLocks noChangeArrowheads="1"/>
              </p:cNvSpPr>
              <p:nvPr/>
            </p:nvSpPr>
            <p:spPr bwMode="auto">
              <a:xfrm>
                <a:off x="2326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2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2058" name="Line 43"/>
              <p:cNvSpPr>
                <a:spLocks noChangeShapeType="1"/>
              </p:cNvSpPr>
              <p:nvPr/>
            </p:nvSpPr>
            <p:spPr bwMode="auto">
              <a:xfrm>
                <a:off x="3224" y="3051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59" name="Text Box 44"/>
              <p:cNvSpPr txBox="1">
                <a:spLocks noChangeArrowheads="1"/>
              </p:cNvSpPr>
              <p:nvPr/>
            </p:nvSpPr>
            <p:spPr bwMode="auto">
              <a:xfrm>
                <a:off x="3060" y="2851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3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2060" name="Line 45"/>
              <p:cNvSpPr>
                <a:spLocks noChangeShapeType="1"/>
              </p:cNvSpPr>
              <p:nvPr/>
            </p:nvSpPr>
            <p:spPr bwMode="auto">
              <a:xfrm>
                <a:off x="3964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1" name="Text Box 46"/>
              <p:cNvSpPr txBox="1">
                <a:spLocks noChangeArrowheads="1"/>
              </p:cNvSpPr>
              <p:nvPr/>
            </p:nvSpPr>
            <p:spPr bwMode="auto">
              <a:xfrm>
                <a:off x="3800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4</a:t>
                </a:r>
                <a:r>
                  <a:rPr lang="en-US" sz="2000" i="1"/>
                  <a:t>R</a:t>
                </a:r>
              </a:p>
            </p:txBody>
          </p:sp>
          <p:sp>
            <p:nvSpPr>
              <p:cNvPr id="42062" name="Line 47"/>
              <p:cNvSpPr>
                <a:spLocks noChangeShapeType="1"/>
              </p:cNvSpPr>
              <p:nvPr/>
            </p:nvSpPr>
            <p:spPr bwMode="auto">
              <a:xfrm>
                <a:off x="4708" y="3046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3" name="Text Box 48"/>
              <p:cNvSpPr txBox="1">
                <a:spLocks noChangeArrowheads="1"/>
              </p:cNvSpPr>
              <p:nvPr/>
            </p:nvSpPr>
            <p:spPr bwMode="auto">
              <a:xfrm>
                <a:off x="4544" y="2846"/>
                <a:ext cx="34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5</a:t>
                </a:r>
                <a:r>
                  <a:rPr lang="en-US" sz="2000" i="1"/>
                  <a:t>R</a:t>
                </a:r>
              </a:p>
            </p:txBody>
          </p:sp>
        </p:grpSp>
        <p:sp>
          <p:nvSpPr>
            <p:cNvPr id="42051" name="Line 49"/>
            <p:cNvSpPr>
              <a:spLocks noChangeShapeType="1"/>
            </p:cNvSpPr>
            <p:nvPr/>
          </p:nvSpPr>
          <p:spPr bwMode="auto">
            <a:xfrm flipV="1">
              <a:off x="1009" y="2644"/>
              <a:ext cx="0" cy="6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06"/>
          <p:cNvGrpSpPr>
            <a:grpSpLocks/>
          </p:cNvGrpSpPr>
          <p:nvPr/>
        </p:nvGrpSpPr>
        <p:grpSpPr bwMode="auto">
          <a:xfrm>
            <a:off x="571500" y="4967288"/>
            <a:ext cx="6943725" cy="701675"/>
            <a:chOff x="360" y="3343"/>
            <a:chExt cx="4374" cy="442"/>
          </a:xfrm>
        </p:grpSpPr>
        <p:sp>
          <p:nvSpPr>
            <p:cNvPr id="42046" name="Line 52"/>
            <p:cNvSpPr>
              <a:spLocks noChangeShapeType="1"/>
            </p:cNvSpPr>
            <p:nvPr/>
          </p:nvSpPr>
          <p:spPr bwMode="auto">
            <a:xfrm>
              <a:off x="983" y="3546"/>
              <a:ext cx="375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47" name="Text Box 53"/>
            <p:cNvSpPr txBox="1">
              <a:spLocks noChangeArrowheads="1"/>
            </p:cNvSpPr>
            <p:nvPr/>
          </p:nvSpPr>
          <p:spPr bwMode="auto">
            <a:xfrm>
              <a:off x="466" y="3343"/>
              <a:ext cx="56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i="1" u="sng">
                  <a:solidFill>
                    <a:srgbClr val="FF0000"/>
                  </a:solidFill>
                </a:rPr>
                <a:t>GMm</a:t>
              </a:r>
            </a:p>
            <a:p>
              <a:pPr algn="ctr"/>
              <a:r>
                <a:rPr lang="en-US" sz="2000">
                  <a:solidFill>
                    <a:srgbClr val="FF0000"/>
                  </a:solidFill>
                </a:rPr>
                <a:t>2</a:t>
              </a:r>
              <a:r>
                <a:rPr lang="en-US" sz="20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42048" name="Text Box 54"/>
            <p:cNvSpPr txBox="1">
              <a:spLocks noChangeArrowheads="1"/>
            </p:cNvSpPr>
            <p:nvPr/>
          </p:nvSpPr>
          <p:spPr bwMode="auto">
            <a:xfrm>
              <a:off x="360" y="342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FF0000"/>
                  </a:solidFill>
                  <a:latin typeface="Courier New" pitchFamily="49" charset="0"/>
                </a:rPr>
                <a:t>-</a:t>
              </a:r>
            </a:p>
          </p:txBody>
        </p:sp>
      </p:grpSp>
      <p:grpSp>
        <p:nvGrpSpPr>
          <p:cNvPr id="12" name="Group 105"/>
          <p:cNvGrpSpPr>
            <a:grpSpLocks/>
          </p:cNvGrpSpPr>
          <p:nvPr/>
        </p:nvGrpSpPr>
        <p:grpSpPr bwMode="auto">
          <a:xfrm>
            <a:off x="573088" y="3957638"/>
            <a:ext cx="6943725" cy="701675"/>
            <a:chOff x="361" y="2707"/>
            <a:chExt cx="4374" cy="442"/>
          </a:xfrm>
        </p:grpSpPr>
        <p:sp>
          <p:nvSpPr>
            <p:cNvPr id="42043" name="Line 57"/>
            <p:cNvSpPr>
              <a:spLocks noChangeShapeType="1"/>
            </p:cNvSpPr>
            <p:nvPr/>
          </p:nvSpPr>
          <p:spPr bwMode="auto">
            <a:xfrm>
              <a:off x="984" y="2910"/>
              <a:ext cx="3751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44" name="Text Box 58"/>
            <p:cNvSpPr txBox="1">
              <a:spLocks noChangeArrowheads="1"/>
            </p:cNvSpPr>
            <p:nvPr/>
          </p:nvSpPr>
          <p:spPr bwMode="auto">
            <a:xfrm>
              <a:off x="481" y="2707"/>
              <a:ext cx="53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i="1" u="sng">
                  <a:solidFill>
                    <a:srgbClr val="008000"/>
                  </a:solidFill>
                </a:rPr>
                <a:t>GMm</a:t>
              </a:r>
            </a:p>
            <a:p>
              <a:pPr algn="ctr"/>
              <a:r>
                <a:rPr lang="en-US" sz="2000">
                  <a:solidFill>
                    <a:srgbClr val="008000"/>
                  </a:solidFill>
                </a:rPr>
                <a:t>2</a:t>
              </a:r>
              <a:r>
                <a:rPr lang="en-US" sz="2000" i="1">
                  <a:solidFill>
                    <a:srgbClr val="008000"/>
                  </a:solidFill>
                </a:rPr>
                <a:t>R</a:t>
              </a:r>
            </a:p>
          </p:txBody>
        </p:sp>
        <p:sp>
          <p:nvSpPr>
            <p:cNvPr id="42045" name="Text Box 59"/>
            <p:cNvSpPr txBox="1">
              <a:spLocks noChangeArrowheads="1"/>
            </p:cNvSpPr>
            <p:nvPr/>
          </p:nvSpPr>
          <p:spPr bwMode="auto">
            <a:xfrm>
              <a:off x="361" y="2784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008000"/>
                  </a:solidFill>
                  <a:latin typeface="Courier New" pitchFamily="49" charset="0"/>
                </a:rPr>
                <a:t>+</a:t>
              </a:r>
            </a:p>
          </p:txBody>
        </p:sp>
      </p:grpSp>
      <p:grpSp>
        <p:nvGrpSpPr>
          <p:cNvPr id="13" name="Group 60"/>
          <p:cNvGrpSpPr>
            <a:grpSpLocks/>
          </p:cNvGrpSpPr>
          <p:nvPr/>
        </p:nvGrpSpPr>
        <p:grpSpPr bwMode="auto">
          <a:xfrm>
            <a:off x="2720975" y="4198938"/>
            <a:ext cx="146050" cy="153987"/>
            <a:chOff x="129" y="2979"/>
            <a:chExt cx="129" cy="136"/>
          </a:xfrm>
        </p:grpSpPr>
        <p:sp>
          <p:nvSpPr>
            <p:cNvPr id="42041" name="Line 61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42" name="Line 62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3878263" y="4452938"/>
            <a:ext cx="146050" cy="153987"/>
            <a:chOff x="129" y="2979"/>
            <a:chExt cx="129" cy="136"/>
          </a:xfrm>
        </p:grpSpPr>
        <p:sp>
          <p:nvSpPr>
            <p:cNvPr id="42039" name="Line 64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40" name="Line 65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66"/>
          <p:cNvGrpSpPr>
            <a:grpSpLocks/>
          </p:cNvGrpSpPr>
          <p:nvPr/>
        </p:nvGrpSpPr>
        <p:grpSpPr bwMode="auto">
          <a:xfrm>
            <a:off x="5037138" y="4524375"/>
            <a:ext cx="146050" cy="153988"/>
            <a:chOff x="129" y="2979"/>
            <a:chExt cx="129" cy="136"/>
          </a:xfrm>
        </p:grpSpPr>
        <p:sp>
          <p:nvSpPr>
            <p:cNvPr id="42037" name="Line 67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8" name="Line 68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69"/>
          <p:cNvGrpSpPr>
            <a:grpSpLocks/>
          </p:cNvGrpSpPr>
          <p:nvPr/>
        </p:nvGrpSpPr>
        <p:grpSpPr bwMode="auto">
          <a:xfrm>
            <a:off x="6216650" y="4572000"/>
            <a:ext cx="146050" cy="153988"/>
            <a:chOff x="129" y="2979"/>
            <a:chExt cx="129" cy="136"/>
          </a:xfrm>
        </p:grpSpPr>
        <p:sp>
          <p:nvSpPr>
            <p:cNvPr id="42035" name="Line 70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6" name="Line 71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72"/>
          <p:cNvGrpSpPr>
            <a:grpSpLocks/>
          </p:cNvGrpSpPr>
          <p:nvPr/>
        </p:nvGrpSpPr>
        <p:grpSpPr bwMode="auto">
          <a:xfrm>
            <a:off x="7396163" y="4591050"/>
            <a:ext cx="146050" cy="153988"/>
            <a:chOff x="129" y="2979"/>
            <a:chExt cx="129" cy="136"/>
          </a:xfrm>
        </p:grpSpPr>
        <p:sp>
          <p:nvSpPr>
            <p:cNvPr id="42033" name="Line 73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4" name="Line 74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75"/>
          <p:cNvGrpSpPr>
            <a:grpSpLocks/>
          </p:cNvGrpSpPr>
          <p:nvPr/>
        </p:nvGrpSpPr>
        <p:grpSpPr bwMode="auto">
          <a:xfrm>
            <a:off x="2776538" y="4262437"/>
            <a:ext cx="5768975" cy="482600"/>
            <a:chOff x="1653" y="2416"/>
            <a:chExt cx="3634" cy="304"/>
          </a:xfrm>
        </p:grpSpPr>
        <p:sp>
          <p:nvSpPr>
            <p:cNvPr id="42031" name="Text Box 76"/>
            <p:cNvSpPr txBox="1">
              <a:spLocks noChangeArrowheads="1"/>
            </p:cNvSpPr>
            <p:nvPr/>
          </p:nvSpPr>
          <p:spPr bwMode="auto">
            <a:xfrm>
              <a:off x="4995" y="2470"/>
              <a:ext cx="2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8000"/>
                  </a:solidFill>
                </a:rPr>
                <a:t>E</a:t>
              </a:r>
              <a:r>
                <a:rPr lang="en-US" sz="2000" baseline="-25000" dirty="0">
                  <a:solidFill>
                    <a:srgbClr val="008000"/>
                  </a:solidFill>
                </a:rPr>
                <a:t>K</a:t>
              </a:r>
              <a:endParaRPr lang="en-US" sz="2000" dirty="0">
                <a:solidFill>
                  <a:srgbClr val="008000"/>
                </a:solidFill>
              </a:endParaRPr>
            </a:p>
          </p:txBody>
        </p:sp>
        <p:sp>
          <p:nvSpPr>
            <p:cNvPr id="42032" name="Freeform 77"/>
            <p:cNvSpPr>
              <a:spLocks/>
            </p:cNvSpPr>
            <p:nvPr/>
          </p:nvSpPr>
          <p:spPr bwMode="auto">
            <a:xfrm>
              <a:off x="1653" y="2416"/>
              <a:ext cx="3342" cy="258"/>
            </a:xfrm>
            <a:custGeom>
              <a:avLst/>
              <a:gdLst>
                <a:gd name="T0" fmla="*/ 0 w 3342"/>
                <a:gd name="T1" fmla="*/ 0 h 508"/>
                <a:gd name="T2" fmla="*/ 735 w 3342"/>
                <a:gd name="T3" fmla="*/ 318 h 508"/>
                <a:gd name="T4" fmla="*/ 1470 w 3342"/>
                <a:gd name="T5" fmla="*/ 432 h 508"/>
                <a:gd name="T6" fmla="*/ 2205 w 3342"/>
                <a:gd name="T7" fmla="*/ 485 h 508"/>
                <a:gd name="T8" fmla="*/ 2963 w 3342"/>
                <a:gd name="T9" fmla="*/ 500 h 508"/>
                <a:gd name="T10" fmla="*/ 3342 w 3342"/>
                <a:gd name="T11" fmla="*/ 508 h 5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42"/>
                <a:gd name="T19" fmla="*/ 0 h 508"/>
                <a:gd name="T20" fmla="*/ 3342 w 3342"/>
                <a:gd name="T21" fmla="*/ 508 h 5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42" h="508">
                  <a:moveTo>
                    <a:pt x="0" y="0"/>
                  </a:moveTo>
                  <a:cubicBezTo>
                    <a:pt x="245" y="123"/>
                    <a:pt x="490" y="246"/>
                    <a:pt x="735" y="318"/>
                  </a:cubicBezTo>
                  <a:cubicBezTo>
                    <a:pt x="980" y="390"/>
                    <a:pt x="1225" y="404"/>
                    <a:pt x="1470" y="432"/>
                  </a:cubicBezTo>
                  <a:cubicBezTo>
                    <a:pt x="1715" y="460"/>
                    <a:pt x="1956" y="474"/>
                    <a:pt x="2205" y="485"/>
                  </a:cubicBezTo>
                  <a:cubicBezTo>
                    <a:pt x="2454" y="496"/>
                    <a:pt x="2774" y="496"/>
                    <a:pt x="2963" y="500"/>
                  </a:cubicBezTo>
                  <a:cubicBezTo>
                    <a:pt x="3152" y="504"/>
                    <a:pt x="3247" y="506"/>
                    <a:pt x="3342" y="508"/>
                  </a:cubicBezTo>
                </a:path>
              </a:pathLst>
            </a:custGeom>
            <a:noFill/>
            <a:ln w="28575" cmpd="sng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78"/>
          <p:cNvGrpSpPr>
            <a:grpSpLocks/>
          </p:cNvGrpSpPr>
          <p:nvPr/>
        </p:nvGrpSpPr>
        <p:grpSpPr bwMode="auto">
          <a:xfrm>
            <a:off x="2724150" y="5745163"/>
            <a:ext cx="146050" cy="153987"/>
            <a:chOff x="129" y="2979"/>
            <a:chExt cx="129" cy="136"/>
          </a:xfrm>
        </p:grpSpPr>
        <p:sp>
          <p:nvSpPr>
            <p:cNvPr id="42029" name="Line 79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0" name="Line 80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81"/>
          <p:cNvGrpSpPr>
            <a:grpSpLocks/>
          </p:cNvGrpSpPr>
          <p:nvPr/>
        </p:nvGrpSpPr>
        <p:grpSpPr bwMode="auto">
          <a:xfrm>
            <a:off x="3881438" y="5211763"/>
            <a:ext cx="146050" cy="153987"/>
            <a:chOff x="129" y="2979"/>
            <a:chExt cx="129" cy="136"/>
          </a:xfrm>
        </p:grpSpPr>
        <p:sp>
          <p:nvSpPr>
            <p:cNvPr id="42027" name="Line 82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8" name="Line 83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84"/>
          <p:cNvGrpSpPr>
            <a:grpSpLocks/>
          </p:cNvGrpSpPr>
          <p:nvPr/>
        </p:nvGrpSpPr>
        <p:grpSpPr bwMode="auto">
          <a:xfrm>
            <a:off x="5040313" y="5029200"/>
            <a:ext cx="146050" cy="153988"/>
            <a:chOff x="129" y="2979"/>
            <a:chExt cx="129" cy="136"/>
          </a:xfrm>
        </p:grpSpPr>
        <p:sp>
          <p:nvSpPr>
            <p:cNvPr id="42025" name="Line 85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6" name="Line 86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87"/>
          <p:cNvGrpSpPr>
            <a:grpSpLocks/>
          </p:cNvGrpSpPr>
          <p:nvPr/>
        </p:nvGrpSpPr>
        <p:grpSpPr bwMode="auto">
          <a:xfrm>
            <a:off x="6219825" y="4949825"/>
            <a:ext cx="146050" cy="153988"/>
            <a:chOff x="129" y="2979"/>
            <a:chExt cx="129" cy="136"/>
          </a:xfrm>
        </p:grpSpPr>
        <p:sp>
          <p:nvSpPr>
            <p:cNvPr id="42023" name="Line 88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4" name="Line 89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90"/>
          <p:cNvGrpSpPr>
            <a:grpSpLocks/>
          </p:cNvGrpSpPr>
          <p:nvPr/>
        </p:nvGrpSpPr>
        <p:grpSpPr bwMode="auto">
          <a:xfrm>
            <a:off x="7399338" y="4905375"/>
            <a:ext cx="146050" cy="153988"/>
            <a:chOff x="129" y="2979"/>
            <a:chExt cx="129" cy="136"/>
          </a:xfrm>
        </p:grpSpPr>
        <p:sp>
          <p:nvSpPr>
            <p:cNvPr id="42021" name="Line 91"/>
            <p:cNvSpPr>
              <a:spLocks noChangeShapeType="1"/>
            </p:cNvSpPr>
            <p:nvPr/>
          </p:nvSpPr>
          <p:spPr bwMode="auto">
            <a:xfrm>
              <a:off x="136" y="2979"/>
              <a:ext cx="12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Line 92"/>
            <p:cNvSpPr>
              <a:spLocks noChangeShapeType="1"/>
            </p:cNvSpPr>
            <p:nvPr/>
          </p:nvSpPr>
          <p:spPr bwMode="auto">
            <a:xfrm flipH="1">
              <a:off x="129" y="2979"/>
              <a:ext cx="129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93"/>
          <p:cNvGrpSpPr>
            <a:grpSpLocks/>
          </p:cNvGrpSpPr>
          <p:nvPr/>
        </p:nvGrpSpPr>
        <p:grpSpPr bwMode="auto">
          <a:xfrm>
            <a:off x="2782888" y="4905838"/>
            <a:ext cx="5764213" cy="919163"/>
            <a:chOff x="1753" y="3343"/>
            <a:chExt cx="3631" cy="579"/>
          </a:xfrm>
        </p:grpSpPr>
        <p:sp>
          <p:nvSpPr>
            <p:cNvPr id="42019" name="Text Box 94"/>
            <p:cNvSpPr txBox="1">
              <a:spLocks noChangeArrowheads="1"/>
            </p:cNvSpPr>
            <p:nvPr/>
          </p:nvSpPr>
          <p:spPr bwMode="auto">
            <a:xfrm>
              <a:off x="5092" y="3343"/>
              <a:ext cx="2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chemeClr val="accent2"/>
                  </a:solidFill>
                </a:rPr>
                <a:t>E</a:t>
              </a:r>
              <a:r>
                <a:rPr lang="en-US" sz="2000" baseline="-25000" dirty="0">
                  <a:solidFill>
                    <a:schemeClr val="accent2"/>
                  </a:solidFill>
                </a:rPr>
                <a:t>P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  <p:sp>
          <p:nvSpPr>
            <p:cNvPr id="42020" name="Freeform 95"/>
            <p:cNvSpPr>
              <a:spLocks/>
            </p:cNvSpPr>
            <p:nvPr/>
          </p:nvSpPr>
          <p:spPr bwMode="auto">
            <a:xfrm>
              <a:off x="1753" y="3399"/>
              <a:ext cx="3340" cy="523"/>
            </a:xfrm>
            <a:custGeom>
              <a:avLst/>
              <a:gdLst>
                <a:gd name="T0" fmla="*/ 0 w 3340"/>
                <a:gd name="T1" fmla="*/ 523 h 523"/>
                <a:gd name="T2" fmla="*/ 733 w 3340"/>
                <a:gd name="T3" fmla="*/ 193 h 523"/>
                <a:gd name="T4" fmla="*/ 1468 w 3340"/>
                <a:gd name="T5" fmla="*/ 72 h 523"/>
                <a:gd name="T6" fmla="*/ 2211 w 3340"/>
                <a:gd name="T7" fmla="*/ 27 h 523"/>
                <a:gd name="T8" fmla="*/ 2954 w 3340"/>
                <a:gd name="T9" fmla="*/ 4 h 523"/>
                <a:gd name="T10" fmla="*/ 3340 w 3340"/>
                <a:gd name="T11" fmla="*/ 4 h 5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40"/>
                <a:gd name="T19" fmla="*/ 0 h 523"/>
                <a:gd name="T20" fmla="*/ 3340 w 3340"/>
                <a:gd name="T21" fmla="*/ 523 h 5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40" h="523">
                  <a:moveTo>
                    <a:pt x="0" y="523"/>
                  </a:moveTo>
                  <a:cubicBezTo>
                    <a:pt x="122" y="468"/>
                    <a:pt x="488" y="268"/>
                    <a:pt x="733" y="193"/>
                  </a:cubicBezTo>
                  <a:cubicBezTo>
                    <a:pt x="978" y="118"/>
                    <a:pt x="1222" y="100"/>
                    <a:pt x="1468" y="72"/>
                  </a:cubicBezTo>
                  <a:cubicBezTo>
                    <a:pt x="1714" y="44"/>
                    <a:pt x="1963" y="38"/>
                    <a:pt x="2211" y="27"/>
                  </a:cubicBezTo>
                  <a:cubicBezTo>
                    <a:pt x="2459" y="16"/>
                    <a:pt x="2766" y="8"/>
                    <a:pt x="2954" y="4"/>
                  </a:cubicBezTo>
                  <a:cubicBezTo>
                    <a:pt x="3142" y="0"/>
                    <a:pt x="3260" y="4"/>
                    <a:pt x="3340" y="4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11" name="Rectangle 98"/>
          <p:cNvSpPr>
            <a:spLocks noChangeArrowheads="1"/>
          </p:cNvSpPr>
          <p:nvPr/>
        </p:nvSpPr>
        <p:spPr bwMode="auto">
          <a:xfrm>
            <a:off x="685800" y="1338263"/>
            <a:ext cx="7772400" cy="13176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42012" name="Group 99"/>
          <p:cNvGrpSpPr>
            <a:grpSpLocks/>
          </p:cNvGrpSpPr>
          <p:nvPr/>
        </p:nvGrpSpPr>
        <p:grpSpPr bwMode="auto">
          <a:xfrm>
            <a:off x="828675" y="1792288"/>
            <a:ext cx="7464425" cy="825500"/>
            <a:chOff x="522" y="3349"/>
            <a:chExt cx="4702" cy="520"/>
          </a:xfrm>
        </p:grpSpPr>
        <p:sp>
          <p:nvSpPr>
            <p:cNvPr id="42014" name="Text Box 100"/>
            <p:cNvSpPr txBox="1">
              <a:spLocks noChangeArrowheads="1"/>
            </p:cNvSpPr>
            <p:nvPr/>
          </p:nvSpPr>
          <p:spPr bwMode="auto">
            <a:xfrm>
              <a:off x="3577" y="3351"/>
              <a:ext cx="164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42015" name="Rectangle 101"/>
            <p:cNvSpPr>
              <a:spLocks noChangeArrowheads="1"/>
            </p:cNvSpPr>
            <p:nvPr/>
          </p:nvSpPr>
          <p:spPr bwMode="auto">
            <a:xfrm>
              <a:off x="522" y="3353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6" name="Rectangle 102"/>
            <p:cNvSpPr>
              <a:spLocks noChangeArrowheads="1"/>
            </p:cNvSpPr>
            <p:nvPr/>
          </p:nvSpPr>
          <p:spPr bwMode="auto">
            <a:xfrm>
              <a:off x="623" y="3349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42017" name="Rectangle 103"/>
            <p:cNvSpPr>
              <a:spLocks noChangeArrowheads="1"/>
            </p:cNvSpPr>
            <p:nvPr/>
          </p:nvSpPr>
          <p:spPr bwMode="auto">
            <a:xfrm>
              <a:off x="540" y="3579"/>
              <a:ext cx="16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42018" name="Rectangle 104"/>
            <p:cNvSpPr>
              <a:spLocks noChangeArrowheads="1"/>
            </p:cNvSpPr>
            <p:nvPr/>
          </p:nvSpPr>
          <p:spPr bwMode="auto">
            <a:xfrm>
              <a:off x="2144" y="3578"/>
              <a:ext cx="157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  <p:sp>
        <p:nvSpPr>
          <p:cNvPr id="209005" name="Text Box 109"/>
          <p:cNvSpPr txBox="1">
            <a:spLocks noChangeArrowheads="1"/>
          </p:cNvSpPr>
          <p:nvPr/>
        </p:nvSpPr>
        <p:spPr bwMode="auto">
          <a:xfrm>
            <a:off x="5446713" y="49213"/>
            <a:ext cx="369728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Thus a spacecraft must SLOW DOWN in order to reach a higher orbit!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209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209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209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00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>
            <a:spLocks noChangeArrowheads="1"/>
          </p:cNvSpPr>
          <p:nvPr/>
        </p:nvSpPr>
        <p:spPr bwMode="auto">
          <a:xfrm>
            <a:off x="685800" y="1763713"/>
            <a:ext cx="7772400" cy="50942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21199" name="Picture 1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388" y="1847850"/>
            <a:ext cx="7764462" cy="315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1190" name="Text Box 6"/>
          <p:cNvSpPr txBox="1">
            <a:spLocks noChangeArrowheads="1"/>
          </p:cNvSpPr>
          <p:nvPr/>
        </p:nvSpPr>
        <p:spPr bwMode="auto">
          <a:xfrm>
            <a:off x="700088" y="5037138"/>
            <a:ext cx="780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KE is POSITIVE and decreasing.</a:t>
            </a:r>
            <a:endParaRPr lang="en-US" i="1">
              <a:solidFill>
                <a:schemeClr val="hlink"/>
              </a:solidFill>
            </a:endParaRPr>
          </a:p>
        </p:txBody>
      </p:sp>
      <p:sp>
        <p:nvSpPr>
          <p:cNvPr id="221191" name="Line 7"/>
          <p:cNvSpPr>
            <a:spLocks noChangeShapeType="1"/>
          </p:cNvSpPr>
          <p:nvPr/>
        </p:nvSpPr>
        <p:spPr bwMode="auto">
          <a:xfrm>
            <a:off x="2898775" y="2927350"/>
            <a:ext cx="1408113" cy="10810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1192" name="Line 8"/>
          <p:cNvSpPr>
            <a:spLocks noChangeShapeType="1"/>
          </p:cNvSpPr>
          <p:nvPr/>
        </p:nvSpPr>
        <p:spPr bwMode="auto">
          <a:xfrm>
            <a:off x="6811963" y="4037013"/>
            <a:ext cx="1550987" cy="9731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1193" name="Text Box 9"/>
          <p:cNvSpPr txBox="1">
            <a:spLocks noChangeArrowheads="1"/>
          </p:cNvSpPr>
          <p:nvPr/>
        </p:nvSpPr>
        <p:spPr bwMode="auto">
          <a:xfrm>
            <a:off x="698500" y="5537200"/>
            <a:ext cx="78009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GPE is NEGATIVE and increasing (becoming less negative).</a:t>
            </a:r>
            <a:endParaRPr lang="en-US" i="1">
              <a:solidFill>
                <a:schemeClr val="hlink"/>
              </a:solidFill>
            </a:endParaRPr>
          </a:p>
        </p:txBody>
      </p:sp>
      <p:sp>
        <p:nvSpPr>
          <p:cNvPr id="221194" name="Line 10"/>
          <p:cNvSpPr>
            <a:spLocks noChangeShapeType="1"/>
          </p:cNvSpPr>
          <p:nvPr/>
        </p:nvSpPr>
        <p:spPr bwMode="auto">
          <a:xfrm flipH="1">
            <a:off x="4933950" y="4121150"/>
            <a:ext cx="1325563" cy="889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1195" name="Oval 11"/>
          <p:cNvSpPr>
            <a:spLocks noChangeArrowheads="1"/>
          </p:cNvSpPr>
          <p:nvPr/>
        </p:nvSpPr>
        <p:spPr bwMode="auto">
          <a:xfrm>
            <a:off x="1381125" y="2798763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 dirty="0">
                <a:solidFill>
                  <a:schemeClr val="accent2"/>
                </a:solidFill>
              </a:rPr>
              <a:t>Orbital motion, orbital speed and orbital energy</a:t>
            </a:r>
            <a:endParaRPr lang="en-US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1" grpId="0" animBg="1"/>
      <p:bldP spid="221192" grpId="0" animBg="1"/>
      <p:bldP spid="221194" grpId="0" animBg="1"/>
      <p:bldP spid="22119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ChangeArrowheads="1"/>
          </p:cNvSpPr>
          <p:nvPr/>
        </p:nvSpPr>
        <p:spPr bwMode="auto">
          <a:xfrm>
            <a:off x="685800" y="1785938"/>
            <a:ext cx="7772400" cy="30638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23247" name="Picture 1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3738" y="1830388"/>
            <a:ext cx="77565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723900" y="3222625"/>
            <a:ext cx="780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Kepler’s 3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rd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law,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 ]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</a:t>
            </a:r>
          </a:p>
        </p:txBody>
      </p:sp>
      <p:sp>
        <p:nvSpPr>
          <p:cNvPr id="223243" name="Oval 11"/>
          <p:cNvSpPr>
            <a:spLocks noChangeArrowheads="1"/>
          </p:cNvSpPr>
          <p:nvPr/>
        </p:nvSpPr>
        <p:spPr bwMode="auto">
          <a:xfrm>
            <a:off x="746125" y="2684463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9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23248" name="Text Box 16"/>
          <p:cNvSpPr txBox="1">
            <a:spLocks noChangeArrowheads="1"/>
          </p:cNvSpPr>
          <p:nvPr/>
        </p:nvSpPr>
        <p:spPr bwMode="auto">
          <a:xfrm>
            <a:off x="719138" y="3760788"/>
            <a:ext cx="780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Thus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 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</a:t>
            </a:r>
          </a:p>
        </p:txBody>
      </p:sp>
      <p:sp>
        <p:nvSpPr>
          <p:cNvPr id="223249" name="Text Box 17"/>
          <p:cNvSpPr txBox="1">
            <a:spLocks noChangeArrowheads="1"/>
          </p:cNvSpPr>
          <p:nvPr/>
        </p:nvSpPr>
        <p:spPr bwMode="auto">
          <a:xfrm>
            <a:off x="725488" y="4310063"/>
            <a:ext cx="780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That is to say,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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3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3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3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3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ChangeArrowheads="1"/>
          </p:cNvSpPr>
          <p:nvPr/>
        </p:nvSpPr>
        <p:spPr bwMode="auto">
          <a:xfrm>
            <a:off x="685800" y="1760538"/>
            <a:ext cx="7772400" cy="41703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428048" name="Picture 1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3738" y="1833563"/>
            <a:ext cx="7727950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8041" name="Text Box 9"/>
          <p:cNvSpPr txBox="1">
            <a:spLocks noChangeArrowheads="1"/>
          </p:cNvSpPr>
          <p:nvPr/>
        </p:nvSpPr>
        <p:spPr bwMode="auto">
          <a:xfrm>
            <a:off x="1457325" y="3970338"/>
            <a:ext cx="6683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Kepler’s 3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rd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law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GM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Then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28042" name="Text Box 10"/>
          <p:cNvSpPr txBox="1">
            <a:spLocks noChangeArrowheads="1"/>
          </p:cNvSpPr>
          <p:nvPr/>
        </p:nvSpPr>
        <p:spPr bwMode="auto">
          <a:xfrm>
            <a:off x="1466850" y="4454525"/>
            <a:ext cx="6551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{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/GM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}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1/2</a:t>
            </a:r>
          </a:p>
        </p:txBody>
      </p:sp>
      <p:sp>
        <p:nvSpPr>
          <p:cNvPr id="428043" name="Text Box 11"/>
          <p:cNvSpPr txBox="1">
            <a:spLocks noChangeArrowheads="1"/>
          </p:cNvSpPr>
          <p:nvPr/>
        </p:nvSpPr>
        <p:spPr bwMode="auto">
          <a:xfrm>
            <a:off x="1482725" y="4943475"/>
            <a:ext cx="6551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1/2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3/2</a:t>
            </a:r>
          </a:p>
        </p:txBody>
      </p:sp>
      <p:sp>
        <p:nvSpPr>
          <p:cNvPr id="428044" name="Text Box 12"/>
          <p:cNvSpPr txBox="1">
            <a:spLocks noChangeArrowheads="1"/>
          </p:cNvSpPr>
          <p:nvPr/>
        </p:nvSpPr>
        <p:spPr bwMode="auto">
          <a:xfrm>
            <a:off x="1489075" y="5451475"/>
            <a:ext cx="6551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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3/2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28045" name="Oval 13"/>
          <p:cNvSpPr>
            <a:spLocks noChangeArrowheads="1"/>
          </p:cNvSpPr>
          <p:nvPr/>
        </p:nvSpPr>
        <p:spPr bwMode="auto">
          <a:xfrm>
            <a:off x="2668588" y="3497263"/>
            <a:ext cx="398462" cy="3984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Rectangle 15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8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8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8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8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8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8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8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8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8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4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ChangeArrowheads="1"/>
          </p:cNvSpPr>
          <p:nvPr/>
        </p:nvSpPr>
        <p:spPr bwMode="auto">
          <a:xfrm>
            <a:off x="685800" y="1760538"/>
            <a:ext cx="7772400" cy="50974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430104" name="Picture 2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5163" y="1846263"/>
            <a:ext cx="7704137" cy="201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089" name="Text Box 9"/>
          <p:cNvSpPr txBox="1">
            <a:spLocks noChangeArrowheads="1"/>
          </p:cNvSpPr>
          <p:nvPr/>
        </p:nvSpPr>
        <p:spPr bwMode="auto">
          <a:xfrm>
            <a:off x="1463675" y="3868738"/>
            <a:ext cx="6588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Kepler’s 3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rd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law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30090" name="Text Box 10"/>
          <p:cNvSpPr txBox="1">
            <a:spLocks noChangeArrowheads="1"/>
          </p:cNvSpPr>
          <p:nvPr/>
        </p:nvSpPr>
        <p:spPr bwMode="auto">
          <a:xfrm>
            <a:off x="1454150" y="4316413"/>
            <a:ext cx="611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Kepler’s 3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rd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law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430091" name="Text Box 11"/>
          <p:cNvSpPr txBox="1">
            <a:spLocks noChangeArrowheads="1"/>
          </p:cNvSpPr>
          <p:nvPr/>
        </p:nvSpPr>
        <p:spPr bwMode="auto">
          <a:xfrm>
            <a:off x="1454150" y="4749800"/>
            <a:ext cx="3940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8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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64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30092" name="Text Box 12"/>
          <p:cNvSpPr txBox="1">
            <a:spLocks noChangeArrowheads="1"/>
          </p:cNvSpPr>
          <p:nvPr/>
        </p:nvSpPr>
        <p:spPr bwMode="auto">
          <a:xfrm>
            <a:off x="1993900" y="5183188"/>
            <a:ext cx="6394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[(4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GM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]</a:t>
            </a:r>
          </a:p>
        </p:txBody>
      </p:sp>
      <p:sp>
        <p:nvSpPr>
          <p:cNvPr id="430093" name="Text Box 13"/>
          <p:cNvSpPr txBox="1">
            <a:spLocks noChangeArrowheads="1"/>
          </p:cNvSpPr>
          <p:nvPr/>
        </p:nvSpPr>
        <p:spPr bwMode="auto">
          <a:xfrm>
            <a:off x="1652588" y="5621338"/>
            <a:ext cx="397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64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30094" name="Line 14"/>
          <p:cNvSpPr>
            <a:spLocks noChangeShapeType="1"/>
          </p:cNvSpPr>
          <p:nvPr/>
        </p:nvSpPr>
        <p:spPr bwMode="auto">
          <a:xfrm flipV="1">
            <a:off x="3600449" y="5324168"/>
            <a:ext cx="1104285" cy="23367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095" name="Line 15"/>
          <p:cNvSpPr>
            <a:spLocks noChangeShapeType="1"/>
          </p:cNvSpPr>
          <p:nvPr/>
        </p:nvSpPr>
        <p:spPr bwMode="auto">
          <a:xfrm flipV="1">
            <a:off x="5616574" y="5309418"/>
            <a:ext cx="1167683" cy="21031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096" name="Line 16"/>
          <p:cNvSpPr>
            <a:spLocks noChangeShapeType="1"/>
          </p:cNvSpPr>
          <p:nvPr/>
        </p:nvSpPr>
        <p:spPr bwMode="auto">
          <a:xfrm flipV="1">
            <a:off x="2135188" y="5743575"/>
            <a:ext cx="312737" cy="2476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097" name="Line 17"/>
          <p:cNvSpPr>
            <a:spLocks noChangeShapeType="1"/>
          </p:cNvSpPr>
          <p:nvPr/>
        </p:nvSpPr>
        <p:spPr bwMode="auto">
          <a:xfrm flipV="1">
            <a:off x="2674938" y="5721350"/>
            <a:ext cx="407987" cy="2381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098" name="Text Box 18"/>
          <p:cNvSpPr txBox="1">
            <a:spLocks noChangeArrowheads="1"/>
          </p:cNvSpPr>
          <p:nvPr/>
        </p:nvSpPr>
        <p:spPr bwMode="auto">
          <a:xfrm>
            <a:off x="2741613" y="6015038"/>
            <a:ext cx="397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64 = (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i="1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</a:p>
        </p:txBody>
      </p:sp>
      <p:sp>
        <p:nvSpPr>
          <p:cNvPr id="430099" name="Text Box 19"/>
          <p:cNvSpPr txBox="1">
            <a:spLocks noChangeArrowheads="1"/>
          </p:cNvSpPr>
          <p:nvPr/>
        </p:nvSpPr>
        <p:spPr bwMode="auto">
          <a:xfrm>
            <a:off x="2381250" y="6413500"/>
            <a:ext cx="3975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i="1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Y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64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1/3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4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30100" name="Oval 20"/>
          <p:cNvSpPr>
            <a:spLocks noChangeArrowheads="1"/>
          </p:cNvSpPr>
          <p:nvPr/>
        </p:nvSpPr>
        <p:spPr bwMode="auto">
          <a:xfrm>
            <a:off x="2794000" y="3484563"/>
            <a:ext cx="398463" cy="3984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Rectangle 22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0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0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0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0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3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0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0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94" grpId="0" animBg="1"/>
      <p:bldP spid="430095" grpId="0" animBg="1"/>
      <p:bldP spid="430096" grpId="0" animBg="1"/>
      <p:bldP spid="430097" grpId="0" animBg="1"/>
      <p:bldP spid="43010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ChangeArrowheads="1"/>
          </p:cNvSpPr>
          <p:nvPr/>
        </p:nvSpPr>
        <p:spPr bwMode="auto">
          <a:xfrm>
            <a:off x="685800" y="1773238"/>
            <a:ext cx="7772400" cy="40655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25300" name="Picture 2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625" y="1824038"/>
            <a:ext cx="7764463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700088" y="3735388"/>
            <a:ext cx="78009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Since the satellite is in uniform circular motion at a radius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and a speed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, it must be undergoing a centripetal acceleration.</a:t>
            </a:r>
          </a:p>
        </p:txBody>
      </p:sp>
      <p:sp>
        <p:nvSpPr>
          <p:cNvPr id="225293" name="Oval 13"/>
          <p:cNvSpPr>
            <a:spLocks noChangeArrowheads="1"/>
          </p:cNvSpPr>
          <p:nvPr/>
        </p:nvSpPr>
        <p:spPr bwMode="auto">
          <a:xfrm>
            <a:off x="2813050" y="3163888"/>
            <a:ext cx="398463" cy="3984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Rectangle 19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25301" name="Text Box 21"/>
          <p:cNvSpPr txBox="1">
            <a:spLocks noChangeArrowheads="1"/>
          </p:cNvSpPr>
          <p:nvPr/>
        </p:nvSpPr>
        <p:spPr bwMode="auto">
          <a:xfrm>
            <a:off x="731838" y="4946650"/>
            <a:ext cx="75834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Since gravitational field strength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is the acceleration,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r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ChangeArrowheads="1"/>
          </p:cNvSpPr>
          <p:nvPr/>
        </p:nvSpPr>
        <p:spPr bwMode="auto">
          <a:xfrm>
            <a:off x="685800" y="1785938"/>
            <a:ext cx="7772400" cy="50720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27355" name="Picture 2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9925" y="3786188"/>
            <a:ext cx="7083425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354" name="Picture 2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7213"/>
            <a:ext cx="62833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3" name="Rectangle 25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27333" name="Oval 5"/>
          <p:cNvSpPr>
            <a:spLocks noChangeArrowheads="1"/>
          </p:cNvSpPr>
          <p:nvPr/>
        </p:nvSpPr>
        <p:spPr bwMode="auto">
          <a:xfrm>
            <a:off x="7740650" y="1417638"/>
            <a:ext cx="215900" cy="2159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11963" y="1522413"/>
            <a:ext cx="2070100" cy="2070100"/>
            <a:chOff x="4416" y="1749"/>
            <a:chExt cx="1304" cy="1304"/>
          </a:xfrm>
        </p:grpSpPr>
        <p:sp>
          <p:nvSpPr>
            <p:cNvPr id="227335" name="Oval 7"/>
            <p:cNvSpPr>
              <a:spLocks noChangeArrowheads="1"/>
            </p:cNvSpPr>
            <p:nvPr/>
          </p:nvSpPr>
          <p:spPr bwMode="auto">
            <a:xfrm>
              <a:off x="4638" y="1963"/>
              <a:ext cx="871" cy="871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266" name="Oval 8"/>
            <p:cNvSpPr>
              <a:spLocks noChangeArrowheads="1"/>
            </p:cNvSpPr>
            <p:nvPr/>
          </p:nvSpPr>
          <p:spPr bwMode="auto">
            <a:xfrm>
              <a:off x="4416" y="1749"/>
              <a:ext cx="1304" cy="130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7" name="Line 9"/>
            <p:cNvSpPr>
              <a:spLocks noChangeShapeType="1"/>
            </p:cNvSpPr>
            <p:nvPr/>
          </p:nvSpPr>
          <p:spPr bwMode="auto">
            <a:xfrm flipH="1">
              <a:off x="4729" y="2380"/>
              <a:ext cx="341" cy="2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268" name="Text Box 10"/>
            <p:cNvSpPr txBox="1">
              <a:spLocks noChangeArrowheads="1"/>
            </p:cNvSpPr>
            <p:nvPr/>
          </p:nvSpPr>
          <p:spPr bwMode="auto">
            <a:xfrm>
              <a:off x="4739" y="231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chemeClr val="bg1"/>
                  </a:solidFill>
                  <a:latin typeface="Courier New" pitchFamily="49" charset="0"/>
                </a:rPr>
                <a:t>R</a:t>
              </a:r>
            </a:p>
          </p:txBody>
        </p:sp>
        <p:sp>
          <p:nvSpPr>
            <p:cNvPr id="53269" name="Line 11"/>
            <p:cNvSpPr>
              <a:spLocks noChangeShapeType="1"/>
            </p:cNvSpPr>
            <p:nvPr/>
          </p:nvSpPr>
          <p:spPr bwMode="auto">
            <a:xfrm flipV="1">
              <a:off x="5070" y="2160"/>
              <a:ext cx="599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270" name="Text Box 12"/>
            <p:cNvSpPr txBox="1">
              <a:spLocks noChangeArrowheads="1"/>
            </p:cNvSpPr>
            <p:nvPr/>
          </p:nvSpPr>
          <p:spPr bwMode="auto">
            <a:xfrm>
              <a:off x="5150" y="208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</a:p>
          </p:txBody>
        </p:sp>
      </p:grpSp>
      <p:sp>
        <p:nvSpPr>
          <p:cNvPr id="227343" name="Text Box 15"/>
          <p:cNvSpPr txBox="1">
            <a:spLocks noChangeArrowheads="1"/>
          </p:cNvSpPr>
          <p:nvPr/>
        </p:nvSpPr>
        <p:spPr bwMode="auto">
          <a:xfrm>
            <a:off x="1400175" y="4727575"/>
            <a:ext cx="6108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F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mg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 x</a:t>
            </a:r>
            <a:r>
              <a:rPr lang="en-US" i="1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227345" name="Text Box 17"/>
          <p:cNvSpPr txBox="1">
            <a:spLocks noChangeArrowheads="1"/>
          </p:cNvSpPr>
          <p:nvPr/>
        </p:nvSpPr>
        <p:spPr bwMode="auto">
          <a:xfrm>
            <a:off x="1392238" y="5334000"/>
            <a:ext cx="6145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Thus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 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227346" name="Text Box 18"/>
          <p:cNvSpPr txBox="1">
            <a:spLocks noChangeArrowheads="1"/>
          </p:cNvSpPr>
          <p:nvPr/>
        </p:nvSpPr>
        <p:spPr bwMode="auto">
          <a:xfrm>
            <a:off x="1390650" y="5965825"/>
            <a:ext cx="6392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Finally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 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227347" name="Freeform 19"/>
          <p:cNvSpPr>
            <a:spLocks/>
          </p:cNvSpPr>
          <p:nvPr/>
        </p:nvSpPr>
        <p:spPr bwMode="auto">
          <a:xfrm>
            <a:off x="3024188" y="6027738"/>
            <a:ext cx="1109662" cy="277812"/>
          </a:xfrm>
          <a:custGeom>
            <a:avLst/>
            <a:gdLst>
              <a:gd name="T0" fmla="*/ 0 w 699"/>
              <a:gd name="T1" fmla="*/ 129 h 175"/>
              <a:gd name="T2" fmla="*/ 38 w 699"/>
              <a:gd name="T3" fmla="*/ 175 h 175"/>
              <a:gd name="T4" fmla="*/ 114 w 699"/>
              <a:gd name="T5" fmla="*/ 0 h 175"/>
              <a:gd name="T6" fmla="*/ 699 w 699"/>
              <a:gd name="T7" fmla="*/ 1 h 175"/>
              <a:gd name="T8" fmla="*/ 0 60000 65536"/>
              <a:gd name="T9" fmla="*/ 0 60000 65536"/>
              <a:gd name="T10" fmla="*/ 0 60000 65536"/>
              <a:gd name="T11" fmla="*/ 0 60000 65536"/>
              <a:gd name="T12" fmla="*/ 0 w 699"/>
              <a:gd name="T13" fmla="*/ 0 h 175"/>
              <a:gd name="T14" fmla="*/ 699 w 699"/>
              <a:gd name="T15" fmla="*/ 175 h 1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9" h="175">
                <a:moveTo>
                  <a:pt x="0" y="129"/>
                </a:moveTo>
                <a:lnTo>
                  <a:pt x="38" y="175"/>
                </a:lnTo>
                <a:lnTo>
                  <a:pt x="114" y="0"/>
                </a:lnTo>
                <a:lnTo>
                  <a:pt x="699" y="1"/>
                </a:lnTo>
              </a:path>
            </a:pathLst>
          </a:custGeom>
          <a:noFill/>
          <a:ln w="12700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7348" name="Line 20"/>
          <p:cNvSpPr>
            <a:spLocks noChangeShapeType="1"/>
          </p:cNvSpPr>
          <p:nvPr/>
        </p:nvSpPr>
        <p:spPr bwMode="auto">
          <a:xfrm flipH="1" flipV="1">
            <a:off x="4077367" y="4821238"/>
            <a:ext cx="114300" cy="131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7349" name="Line 21"/>
          <p:cNvSpPr>
            <a:spLocks noChangeShapeType="1"/>
          </p:cNvSpPr>
          <p:nvPr/>
        </p:nvSpPr>
        <p:spPr bwMode="auto">
          <a:xfrm flipV="1">
            <a:off x="5204698" y="4865688"/>
            <a:ext cx="55562" cy="2095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7356" name="Line 28"/>
          <p:cNvSpPr>
            <a:spLocks noChangeShapeType="1"/>
          </p:cNvSpPr>
          <p:nvPr/>
        </p:nvSpPr>
        <p:spPr bwMode="auto">
          <a:xfrm flipV="1">
            <a:off x="3384550" y="4873625"/>
            <a:ext cx="296863" cy="2460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7357" name="Line 29"/>
          <p:cNvSpPr>
            <a:spLocks noChangeShapeType="1"/>
          </p:cNvSpPr>
          <p:nvPr/>
        </p:nvSpPr>
        <p:spPr bwMode="auto">
          <a:xfrm flipV="1">
            <a:off x="4548188" y="4857750"/>
            <a:ext cx="188912" cy="2460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pat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C 0.06267 -4.44444E-6 0.11388 0.06783 0.11388 0.15162 C 0.11388 0.23519 0.06267 0.30348 4.44444E-6 0.30348 C -0.06285 0.30348 -0.11372 0.23519 -0.11372 0.15162 C -0.11372 0.06783 -0.06285 -4.44444E-6 4.44444E-6 -4.44444E-6 Z " pathEditMode="relative" rAng="0" ptsTypes="fffff">
                                      <p:cBhvr>
                                        <p:cTn id="22" dur="2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7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7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7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7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 animBg="1"/>
      <p:bldP spid="227333" grpId="1" animBg="1"/>
      <p:bldP spid="227347" grpId="0" animBg="1"/>
      <p:bldP spid="227348" grpId="0" animBg="1"/>
      <p:bldP spid="227349" grpId="0" animBg="1"/>
      <p:bldP spid="227356" grpId="0" animBg="1"/>
      <p:bldP spid="22735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2"/>
          <p:cNvSpPr>
            <a:spLocks noChangeArrowheads="1"/>
          </p:cNvSpPr>
          <p:nvPr/>
        </p:nvSpPr>
        <p:spPr bwMode="auto">
          <a:xfrm>
            <a:off x="685800" y="1785938"/>
            <a:ext cx="7772400" cy="50720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29403" name="Picture 2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4850" y="3714750"/>
            <a:ext cx="7535863" cy="291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6" name="Picture 2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7213"/>
            <a:ext cx="62833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7" name="Rectangle 2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29381" name="Oval 5"/>
          <p:cNvSpPr>
            <a:spLocks noChangeArrowheads="1"/>
          </p:cNvSpPr>
          <p:nvPr/>
        </p:nvSpPr>
        <p:spPr bwMode="auto">
          <a:xfrm>
            <a:off x="7740650" y="1417638"/>
            <a:ext cx="215900" cy="2159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4279" name="Group 6"/>
          <p:cNvGrpSpPr>
            <a:grpSpLocks/>
          </p:cNvGrpSpPr>
          <p:nvPr/>
        </p:nvGrpSpPr>
        <p:grpSpPr bwMode="auto">
          <a:xfrm>
            <a:off x="6811963" y="1522413"/>
            <a:ext cx="2070100" cy="2070100"/>
            <a:chOff x="4416" y="1749"/>
            <a:chExt cx="1304" cy="1304"/>
          </a:xfrm>
        </p:grpSpPr>
        <p:sp>
          <p:nvSpPr>
            <p:cNvPr id="229383" name="Oval 7"/>
            <p:cNvSpPr>
              <a:spLocks noChangeArrowheads="1"/>
            </p:cNvSpPr>
            <p:nvPr/>
          </p:nvSpPr>
          <p:spPr bwMode="auto">
            <a:xfrm>
              <a:off x="4638" y="1963"/>
              <a:ext cx="871" cy="871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287" name="Oval 8"/>
            <p:cNvSpPr>
              <a:spLocks noChangeArrowheads="1"/>
            </p:cNvSpPr>
            <p:nvPr/>
          </p:nvSpPr>
          <p:spPr bwMode="auto">
            <a:xfrm>
              <a:off x="4416" y="1749"/>
              <a:ext cx="1304" cy="130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Line 9"/>
            <p:cNvSpPr>
              <a:spLocks noChangeShapeType="1"/>
            </p:cNvSpPr>
            <p:nvPr/>
          </p:nvSpPr>
          <p:spPr bwMode="auto">
            <a:xfrm flipH="1">
              <a:off x="4729" y="2380"/>
              <a:ext cx="341" cy="2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289" name="Text Box 10"/>
            <p:cNvSpPr txBox="1">
              <a:spLocks noChangeArrowheads="1"/>
            </p:cNvSpPr>
            <p:nvPr/>
          </p:nvSpPr>
          <p:spPr bwMode="auto">
            <a:xfrm>
              <a:off x="4739" y="231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chemeClr val="bg1"/>
                  </a:solidFill>
                  <a:latin typeface="Courier New" pitchFamily="49" charset="0"/>
                </a:rPr>
                <a:t>R</a:t>
              </a:r>
            </a:p>
          </p:txBody>
        </p:sp>
        <p:sp>
          <p:nvSpPr>
            <p:cNvPr id="54290" name="Line 11"/>
            <p:cNvSpPr>
              <a:spLocks noChangeShapeType="1"/>
            </p:cNvSpPr>
            <p:nvPr/>
          </p:nvSpPr>
          <p:spPr bwMode="auto">
            <a:xfrm flipV="1">
              <a:off x="5070" y="2160"/>
              <a:ext cx="599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291" name="Text Box 12"/>
            <p:cNvSpPr txBox="1">
              <a:spLocks noChangeArrowheads="1"/>
            </p:cNvSpPr>
            <p:nvPr/>
          </p:nvSpPr>
          <p:spPr bwMode="auto">
            <a:xfrm>
              <a:off x="5150" y="208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</a:p>
          </p:txBody>
        </p:sp>
      </p:grpSp>
      <p:sp>
        <p:nvSpPr>
          <p:cNvPr id="229391" name="Text Box 15"/>
          <p:cNvSpPr txBox="1">
            <a:spLocks noChangeArrowheads="1"/>
          </p:cNvSpPr>
          <p:nvPr/>
        </p:nvSpPr>
        <p:spPr bwMode="auto">
          <a:xfrm>
            <a:off x="1758950" y="5095875"/>
            <a:ext cx="3998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But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(1/2)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29392" name="Text Box 16"/>
          <p:cNvSpPr txBox="1">
            <a:spLocks noChangeArrowheads="1"/>
          </p:cNvSpPr>
          <p:nvPr/>
        </p:nvSpPr>
        <p:spPr bwMode="auto">
          <a:xfrm>
            <a:off x="1765300" y="5475288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Thus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(1/2)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</a:t>
            </a:r>
            <a:r>
              <a:rPr lang="en-US"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(1/2)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 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). </a:t>
            </a:r>
          </a:p>
        </p:txBody>
      </p:sp>
      <p:sp>
        <p:nvSpPr>
          <p:cNvPr id="229393" name="Text Box 17"/>
          <p:cNvSpPr txBox="1">
            <a:spLocks noChangeArrowheads="1"/>
          </p:cNvSpPr>
          <p:nvPr/>
        </p:nvSpPr>
        <p:spPr bwMode="auto">
          <a:xfrm>
            <a:off x="1790700" y="6108700"/>
            <a:ext cx="4721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mV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and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–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</a:t>
            </a:r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1789113" y="6435725"/>
            <a:ext cx="6850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Then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(–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 = –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</a:t>
            </a: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4141788" y="4792663"/>
            <a:ext cx="3675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(a),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 / 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C 0.06267 -4.44444E-6 0.11388 0.06783 0.11388 0.15162 C 0.11388 0.23519 0.06267 0.30348 4.44444E-6 0.30348 C -0.06285 0.30348 -0.11372 0.23519 -0.11372 0.15162 C -0.11372 0.06783 -0.06285 -4.44444E-6 4.44444E-6 -4.44444E-6 Z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9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9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9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9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9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9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4"/>
          <p:cNvSpPr>
            <a:spLocks noChangeArrowheads="1"/>
          </p:cNvSpPr>
          <p:nvPr/>
        </p:nvSpPr>
        <p:spPr bwMode="auto">
          <a:xfrm>
            <a:off x="685800" y="1785938"/>
            <a:ext cx="7772400" cy="50720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31452" name="Picture 2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8663" y="3738563"/>
            <a:ext cx="7481887" cy="254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0" name="Picture 2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7213"/>
            <a:ext cx="62833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Rectangle 26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31429" name="Oval 5"/>
          <p:cNvSpPr>
            <a:spLocks noChangeArrowheads="1"/>
          </p:cNvSpPr>
          <p:nvPr/>
        </p:nvSpPr>
        <p:spPr bwMode="auto">
          <a:xfrm>
            <a:off x="7740650" y="1417638"/>
            <a:ext cx="215900" cy="2159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5303" name="Group 6"/>
          <p:cNvGrpSpPr>
            <a:grpSpLocks/>
          </p:cNvGrpSpPr>
          <p:nvPr/>
        </p:nvGrpSpPr>
        <p:grpSpPr bwMode="auto">
          <a:xfrm>
            <a:off x="6811963" y="1522413"/>
            <a:ext cx="2070100" cy="2070100"/>
            <a:chOff x="4416" y="1749"/>
            <a:chExt cx="1304" cy="1304"/>
          </a:xfrm>
        </p:grpSpPr>
        <p:sp>
          <p:nvSpPr>
            <p:cNvPr id="231431" name="Oval 7"/>
            <p:cNvSpPr>
              <a:spLocks noChangeArrowheads="1"/>
            </p:cNvSpPr>
            <p:nvPr/>
          </p:nvSpPr>
          <p:spPr bwMode="auto">
            <a:xfrm>
              <a:off x="4638" y="1963"/>
              <a:ext cx="871" cy="871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310" name="Oval 8"/>
            <p:cNvSpPr>
              <a:spLocks noChangeArrowheads="1"/>
            </p:cNvSpPr>
            <p:nvPr/>
          </p:nvSpPr>
          <p:spPr bwMode="auto">
            <a:xfrm>
              <a:off x="4416" y="1749"/>
              <a:ext cx="1304" cy="130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1" name="Line 9"/>
            <p:cNvSpPr>
              <a:spLocks noChangeShapeType="1"/>
            </p:cNvSpPr>
            <p:nvPr/>
          </p:nvSpPr>
          <p:spPr bwMode="auto">
            <a:xfrm flipH="1">
              <a:off x="4729" y="2380"/>
              <a:ext cx="341" cy="2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2" name="Text Box 10"/>
            <p:cNvSpPr txBox="1">
              <a:spLocks noChangeArrowheads="1"/>
            </p:cNvSpPr>
            <p:nvPr/>
          </p:nvSpPr>
          <p:spPr bwMode="auto">
            <a:xfrm>
              <a:off x="4739" y="231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chemeClr val="bg1"/>
                  </a:solidFill>
                  <a:latin typeface="Courier New" pitchFamily="49" charset="0"/>
                </a:rPr>
                <a:t>R</a:t>
              </a:r>
            </a:p>
          </p:txBody>
        </p:sp>
        <p:sp>
          <p:nvSpPr>
            <p:cNvPr id="55313" name="Line 11"/>
            <p:cNvSpPr>
              <a:spLocks noChangeShapeType="1"/>
            </p:cNvSpPr>
            <p:nvPr/>
          </p:nvSpPr>
          <p:spPr bwMode="auto">
            <a:xfrm flipV="1">
              <a:off x="5070" y="2160"/>
              <a:ext cx="599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Text Box 12"/>
            <p:cNvSpPr txBox="1">
              <a:spLocks noChangeArrowheads="1"/>
            </p:cNvSpPr>
            <p:nvPr/>
          </p:nvSpPr>
          <p:spPr bwMode="auto">
            <a:xfrm>
              <a:off x="5150" y="208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</a:p>
          </p:txBody>
        </p:sp>
      </p:grpSp>
      <p:sp>
        <p:nvSpPr>
          <p:cNvPr id="231439" name="Text Box 15"/>
          <p:cNvSpPr txBox="1">
            <a:spLocks noChangeArrowheads="1"/>
          </p:cNvSpPr>
          <p:nvPr/>
        </p:nvSpPr>
        <p:spPr bwMode="auto">
          <a:xfrm>
            <a:off x="1978025" y="4427538"/>
            <a:ext cx="4721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231440" name="Text Box 16"/>
          <p:cNvSpPr txBox="1">
            <a:spLocks noChangeArrowheads="1"/>
          </p:cNvSpPr>
          <p:nvPr/>
        </p:nvSpPr>
        <p:spPr bwMode="auto">
          <a:xfrm>
            <a:off x="1979613" y="5076825"/>
            <a:ext cx="6345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 dirty="0" err="1">
                <a:solidFill>
                  <a:schemeClr val="hlink"/>
                </a:solidFill>
                <a:sym typeface="Symbol" pitchFamily="18" charset="2"/>
              </a:rPr>
              <a:t>GMm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 /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(2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+ –</a:t>
            </a:r>
            <a:r>
              <a:rPr lang="en-US" i="1" dirty="0" err="1">
                <a:solidFill>
                  <a:schemeClr val="hlink"/>
                </a:solidFill>
                <a:sym typeface="Symbol" pitchFamily="18" charset="2"/>
              </a:rPr>
              <a:t>GMm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 /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[ from (b)(</a:t>
            </a:r>
            <a:r>
              <a:rPr lang="en-US" dirty="0" err="1">
                <a:solidFill>
                  <a:schemeClr val="hlink"/>
                </a:solidFill>
                <a:sym typeface="Symbol" pitchFamily="18" charset="2"/>
              </a:rPr>
              <a:t>i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) ]</a:t>
            </a:r>
          </a:p>
        </p:txBody>
      </p:sp>
      <p:sp>
        <p:nvSpPr>
          <p:cNvPr id="231441" name="Text Box 17"/>
          <p:cNvSpPr txBox="1">
            <a:spLocks noChangeArrowheads="1"/>
          </p:cNvSpPr>
          <p:nvPr/>
        </p:nvSpPr>
        <p:spPr bwMode="auto">
          <a:xfrm>
            <a:off x="1982788" y="5741988"/>
            <a:ext cx="4721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(2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 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-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(2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 </a:t>
            </a:r>
          </a:p>
        </p:txBody>
      </p:sp>
      <p:sp>
        <p:nvSpPr>
          <p:cNvPr id="231442" name="Text Box 18"/>
          <p:cNvSpPr txBox="1">
            <a:spLocks noChangeArrowheads="1"/>
          </p:cNvSpPr>
          <p:nvPr/>
        </p:nvSpPr>
        <p:spPr bwMode="auto">
          <a:xfrm>
            <a:off x="1985963" y="6351588"/>
            <a:ext cx="4721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–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GMm 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(2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x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C 0.06267 -4.44444E-6 0.11388 0.06783 0.11388 0.15162 C 0.11388 0.23519 0.06267 0.30348 4.44444E-6 0.30348 C -0.06285 0.30348 -0.11372 0.23519 -0.11372 0.15162 C -0.11372 0.06783 -0.06285 -4.44444E-6 4.44444E-6 -4.44444E-6 Z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9"/>
          <p:cNvSpPr>
            <a:spLocks noChangeArrowheads="1"/>
          </p:cNvSpPr>
          <p:nvPr/>
        </p:nvSpPr>
        <p:spPr bwMode="auto">
          <a:xfrm>
            <a:off x="685800" y="1785938"/>
            <a:ext cx="7772400" cy="50720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33495" name="Picture 2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7550" y="4492625"/>
            <a:ext cx="7531100" cy="141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94" name="Picture 2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263" y="3830638"/>
            <a:ext cx="751681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5" name="Picture 20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7213"/>
            <a:ext cx="62833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6" name="Rectangle 21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33477" name="Oval 5"/>
          <p:cNvSpPr>
            <a:spLocks noChangeArrowheads="1"/>
          </p:cNvSpPr>
          <p:nvPr/>
        </p:nvSpPr>
        <p:spPr bwMode="auto">
          <a:xfrm>
            <a:off x="7740650" y="1417638"/>
            <a:ext cx="215900" cy="2159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6328" name="Group 6"/>
          <p:cNvGrpSpPr>
            <a:grpSpLocks/>
          </p:cNvGrpSpPr>
          <p:nvPr/>
        </p:nvGrpSpPr>
        <p:grpSpPr bwMode="auto">
          <a:xfrm>
            <a:off x="6811963" y="1522413"/>
            <a:ext cx="2070100" cy="2070100"/>
            <a:chOff x="4416" y="1749"/>
            <a:chExt cx="1304" cy="1304"/>
          </a:xfrm>
        </p:grpSpPr>
        <p:sp>
          <p:nvSpPr>
            <p:cNvPr id="233479" name="Oval 7"/>
            <p:cNvSpPr>
              <a:spLocks noChangeArrowheads="1"/>
            </p:cNvSpPr>
            <p:nvPr/>
          </p:nvSpPr>
          <p:spPr bwMode="auto">
            <a:xfrm>
              <a:off x="4638" y="1963"/>
              <a:ext cx="871" cy="871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332" name="Oval 8"/>
            <p:cNvSpPr>
              <a:spLocks noChangeArrowheads="1"/>
            </p:cNvSpPr>
            <p:nvPr/>
          </p:nvSpPr>
          <p:spPr bwMode="auto">
            <a:xfrm>
              <a:off x="4416" y="1749"/>
              <a:ext cx="1304" cy="130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3" name="Line 9"/>
            <p:cNvSpPr>
              <a:spLocks noChangeShapeType="1"/>
            </p:cNvSpPr>
            <p:nvPr/>
          </p:nvSpPr>
          <p:spPr bwMode="auto">
            <a:xfrm flipH="1">
              <a:off x="4729" y="2380"/>
              <a:ext cx="341" cy="2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334" name="Text Box 10"/>
            <p:cNvSpPr txBox="1">
              <a:spLocks noChangeArrowheads="1"/>
            </p:cNvSpPr>
            <p:nvPr/>
          </p:nvSpPr>
          <p:spPr bwMode="auto">
            <a:xfrm>
              <a:off x="4739" y="231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chemeClr val="bg1"/>
                  </a:solidFill>
                  <a:latin typeface="Courier New" pitchFamily="49" charset="0"/>
                </a:rPr>
                <a:t>R</a:t>
              </a:r>
            </a:p>
          </p:txBody>
        </p:sp>
        <p:sp>
          <p:nvSpPr>
            <p:cNvPr id="56335" name="Line 11"/>
            <p:cNvSpPr>
              <a:spLocks noChangeShapeType="1"/>
            </p:cNvSpPr>
            <p:nvPr/>
          </p:nvSpPr>
          <p:spPr bwMode="auto">
            <a:xfrm flipV="1">
              <a:off x="5070" y="2160"/>
              <a:ext cx="599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336" name="Text Box 12"/>
            <p:cNvSpPr txBox="1">
              <a:spLocks noChangeArrowheads="1"/>
            </p:cNvSpPr>
            <p:nvPr/>
          </p:nvSpPr>
          <p:spPr bwMode="auto">
            <a:xfrm>
              <a:off x="5150" y="208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</a:p>
          </p:txBody>
        </p:sp>
      </p:grp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268538" y="5441950"/>
            <a:ext cx="6019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The satellite will begin to lose some of its mechanical energy in the form of heat.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C 0.06267 -4.44444E-6 0.11388 0.06783 0.11388 0.15162 C 0.11388 0.23519 0.06267 0.30348 4.44444E-6 0.30348 C -0.06285 0.30348 -0.11372 0.23519 -0.11372 0.15162 C -0.11372 0.06783 -0.06285 -4.44444E-6 4.44444E-6 -4.44444E-6 Z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2"/>
          <p:cNvSpPr>
            <a:spLocks noChangeArrowheads="1"/>
          </p:cNvSpPr>
          <p:nvPr/>
        </p:nvSpPr>
        <p:spPr bwMode="auto">
          <a:xfrm>
            <a:off x="685800" y="1785938"/>
            <a:ext cx="7772400" cy="50720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35546" name="Picture 2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998"/>
          <a:stretch>
            <a:fillRect/>
          </a:stretch>
        </p:blipFill>
        <p:spPr bwMode="auto">
          <a:xfrm>
            <a:off x="706438" y="4533900"/>
            <a:ext cx="7364412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2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263" y="3830638"/>
            <a:ext cx="751681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2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7213"/>
            <a:ext cx="62833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50" name="Rectangle 25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235525" name="Oval 5"/>
          <p:cNvSpPr>
            <a:spLocks noChangeArrowheads="1"/>
          </p:cNvSpPr>
          <p:nvPr/>
        </p:nvSpPr>
        <p:spPr bwMode="auto">
          <a:xfrm>
            <a:off x="7740650" y="1417638"/>
            <a:ext cx="215900" cy="2159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7352" name="Group 6"/>
          <p:cNvGrpSpPr>
            <a:grpSpLocks/>
          </p:cNvGrpSpPr>
          <p:nvPr/>
        </p:nvGrpSpPr>
        <p:grpSpPr bwMode="auto">
          <a:xfrm>
            <a:off x="6811963" y="1522413"/>
            <a:ext cx="2070100" cy="2070100"/>
            <a:chOff x="4416" y="1749"/>
            <a:chExt cx="1304" cy="1304"/>
          </a:xfrm>
        </p:grpSpPr>
        <p:sp>
          <p:nvSpPr>
            <p:cNvPr id="235527" name="Oval 7"/>
            <p:cNvSpPr>
              <a:spLocks noChangeArrowheads="1"/>
            </p:cNvSpPr>
            <p:nvPr/>
          </p:nvSpPr>
          <p:spPr bwMode="auto">
            <a:xfrm>
              <a:off x="4638" y="1963"/>
              <a:ext cx="871" cy="871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7359" name="Oval 8"/>
            <p:cNvSpPr>
              <a:spLocks noChangeArrowheads="1"/>
            </p:cNvSpPr>
            <p:nvPr/>
          </p:nvSpPr>
          <p:spPr bwMode="auto">
            <a:xfrm>
              <a:off x="4416" y="1749"/>
              <a:ext cx="1304" cy="130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0" name="Line 9"/>
            <p:cNvSpPr>
              <a:spLocks noChangeShapeType="1"/>
            </p:cNvSpPr>
            <p:nvPr/>
          </p:nvSpPr>
          <p:spPr bwMode="auto">
            <a:xfrm flipH="1">
              <a:off x="4729" y="2380"/>
              <a:ext cx="341" cy="2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361" name="Text Box 10"/>
            <p:cNvSpPr txBox="1">
              <a:spLocks noChangeArrowheads="1"/>
            </p:cNvSpPr>
            <p:nvPr/>
          </p:nvSpPr>
          <p:spPr bwMode="auto">
            <a:xfrm>
              <a:off x="4739" y="2316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chemeClr val="bg1"/>
                  </a:solidFill>
                  <a:latin typeface="Courier New" pitchFamily="49" charset="0"/>
                </a:rPr>
                <a:t>R</a:t>
              </a:r>
            </a:p>
          </p:txBody>
        </p:sp>
        <p:sp>
          <p:nvSpPr>
            <p:cNvPr id="57362" name="Line 11"/>
            <p:cNvSpPr>
              <a:spLocks noChangeShapeType="1"/>
            </p:cNvSpPr>
            <p:nvPr/>
          </p:nvSpPr>
          <p:spPr bwMode="auto">
            <a:xfrm flipV="1">
              <a:off x="5070" y="2160"/>
              <a:ext cx="599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363" name="Text Box 12"/>
            <p:cNvSpPr txBox="1">
              <a:spLocks noChangeArrowheads="1"/>
            </p:cNvSpPr>
            <p:nvPr/>
          </p:nvSpPr>
          <p:spPr bwMode="auto">
            <a:xfrm>
              <a:off x="5150" y="2080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FF0000"/>
                  </a:solidFill>
                  <a:latin typeface="Courier New" pitchFamily="49" charset="0"/>
                </a:rPr>
                <a:t>x</a:t>
              </a:r>
            </a:p>
          </p:txBody>
        </p:sp>
      </p:grpSp>
      <p:sp>
        <p:nvSpPr>
          <p:cNvPr id="235536" name="Text Box 16"/>
          <p:cNvSpPr txBox="1">
            <a:spLocks noChangeArrowheads="1"/>
          </p:cNvSpPr>
          <p:nvPr/>
        </p:nvSpPr>
        <p:spPr bwMode="auto">
          <a:xfrm>
            <a:off x="5059363" y="0"/>
            <a:ext cx="40846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Refer to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 E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= –</a:t>
            </a:r>
            <a:r>
              <a:rPr lang="en-US" i="1" dirty="0" err="1">
                <a:solidFill>
                  <a:srgbClr val="009999"/>
                </a:solidFill>
                <a:sym typeface="Symbol" pitchFamily="18" charset="2"/>
              </a:rPr>
              <a:t>GMm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 /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(2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x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)      [ from (b)(ii) ].</a:t>
            </a:r>
          </a:p>
        </p:txBody>
      </p:sp>
      <p:sp>
        <p:nvSpPr>
          <p:cNvPr id="235537" name="Text Box 17"/>
          <p:cNvSpPr txBox="1">
            <a:spLocks noChangeArrowheads="1"/>
          </p:cNvSpPr>
          <p:nvPr/>
        </p:nvSpPr>
        <p:spPr bwMode="auto">
          <a:xfrm>
            <a:off x="1068388" y="5561013"/>
            <a:ext cx="729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If 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, then 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x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 (to make 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</a:t>
            </a:r>
            <a:r>
              <a:rPr lang="en-US" i="1" dirty="0">
                <a:solidFill>
                  <a:srgbClr val="009999"/>
                </a:solidFill>
                <a:sym typeface="Symbol" pitchFamily="18" charset="2"/>
              </a:rPr>
              <a:t>more</a:t>
            </a:r>
            <a:r>
              <a:rPr lang="en-US" dirty="0">
                <a:solidFill>
                  <a:srgbClr val="009999"/>
                </a:solidFill>
                <a:sym typeface="Symbol" pitchFamily="18" charset="2"/>
              </a:rPr>
              <a:t> negative).</a:t>
            </a:r>
          </a:p>
        </p:txBody>
      </p:sp>
      <p:sp>
        <p:nvSpPr>
          <p:cNvPr id="235538" name="Text Box 18"/>
          <p:cNvSpPr txBox="1">
            <a:spLocks noChangeArrowheads="1"/>
          </p:cNvSpPr>
          <p:nvPr/>
        </p:nvSpPr>
        <p:spPr bwMode="auto">
          <a:xfrm>
            <a:off x="1057275" y="5983288"/>
            <a:ext cx="7729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If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 the atmosphere gets thicker and more resistive.</a:t>
            </a:r>
          </a:p>
        </p:txBody>
      </p:sp>
      <p:sp>
        <p:nvSpPr>
          <p:cNvPr id="235539" name="Text Box 19"/>
          <p:cNvSpPr txBox="1">
            <a:spLocks noChangeArrowheads="1"/>
          </p:cNvSpPr>
          <p:nvPr/>
        </p:nvSpPr>
        <p:spPr bwMode="auto">
          <a:xfrm>
            <a:off x="1058863" y="6410325"/>
            <a:ext cx="6648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Clearly the orbit will continue to decay (shrink).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44444E-6 C 0.06267 -4.44444E-6 0.11388 0.06783 0.11388 0.15162 C 0.11388 0.23519 0.06267 0.30348 4.44444E-6 0.30348 C -0.06285 0.30348 -0.11372 0.23519 -0.11372 0.15162 C -0.11372 0.06783 -0.06285 -4.44444E-6 4.44444E-6 -4.44444E-6 Z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39644" name="Picture 2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2450"/>
            <a:ext cx="6478587" cy="180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2" name="Rectangle 27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32600" y="2289175"/>
            <a:ext cx="2081213" cy="481013"/>
            <a:chOff x="1599" y="2774"/>
            <a:chExt cx="1311" cy="303"/>
          </a:xfrm>
        </p:grpSpPr>
        <p:sp>
          <p:nvSpPr>
            <p:cNvPr id="58388" name="Rectangle 7"/>
            <p:cNvSpPr>
              <a:spLocks noChangeArrowheads="1"/>
            </p:cNvSpPr>
            <p:nvPr/>
          </p:nvSpPr>
          <p:spPr bwMode="auto">
            <a:xfrm>
              <a:off x="1599" y="2774"/>
              <a:ext cx="1311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9" name="Oval 8"/>
            <p:cNvSpPr>
              <a:spLocks noChangeArrowheads="1"/>
            </p:cNvSpPr>
            <p:nvPr/>
          </p:nvSpPr>
          <p:spPr bwMode="auto">
            <a:xfrm>
              <a:off x="2624" y="2813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0" name="Text Box 9"/>
            <p:cNvSpPr txBox="1">
              <a:spLocks noChangeArrowheads="1"/>
            </p:cNvSpPr>
            <p:nvPr/>
          </p:nvSpPr>
          <p:spPr bwMode="auto">
            <a:xfrm>
              <a:off x="2604" y="2790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2</a:t>
              </a:r>
              <a:endParaRPr lang="en-US" sz="1800"/>
            </a:p>
          </p:txBody>
        </p:sp>
        <p:sp>
          <p:nvSpPr>
            <p:cNvPr id="58391" name="Oval 10"/>
            <p:cNvSpPr>
              <a:spLocks noChangeArrowheads="1"/>
            </p:cNvSpPr>
            <p:nvPr/>
          </p:nvSpPr>
          <p:spPr bwMode="auto">
            <a:xfrm>
              <a:off x="1875" y="2812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92" name="Text Box 11"/>
            <p:cNvSpPr txBox="1">
              <a:spLocks noChangeArrowheads="1"/>
            </p:cNvSpPr>
            <p:nvPr/>
          </p:nvSpPr>
          <p:spPr bwMode="auto">
            <a:xfrm>
              <a:off x="1855" y="2789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1</a:t>
              </a:r>
              <a:endParaRPr lang="en-US" sz="1800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832600" y="1639888"/>
            <a:ext cx="2081213" cy="1743075"/>
            <a:chOff x="1599" y="2365"/>
            <a:chExt cx="1311" cy="1098"/>
          </a:xfrm>
        </p:grpSpPr>
        <p:sp>
          <p:nvSpPr>
            <p:cNvPr id="58379" name="Line 13"/>
            <p:cNvSpPr>
              <a:spLocks noChangeShapeType="1"/>
            </p:cNvSpPr>
            <p:nvPr/>
          </p:nvSpPr>
          <p:spPr bwMode="auto">
            <a:xfrm>
              <a:off x="2259" y="2365"/>
              <a:ext cx="0" cy="109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0" name="Line 14"/>
            <p:cNvSpPr>
              <a:spLocks noChangeShapeType="1"/>
            </p:cNvSpPr>
            <p:nvPr/>
          </p:nvSpPr>
          <p:spPr bwMode="auto">
            <a:xfrm>
              <a:off x="1599" y="2925"/>
              <a:ext cx="131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1" name="Oval 15"/>
            <p:cNvSpPr>
              <a:spLocks noChangeArrowheads="1"/>
            </p:cNvSpPr>
            <p:nvPr/>
          </p:nvSpPr>
          <p:spPr bwMode="auto">
            <a:xfrm>
              <a:off x="1992" y="2646"/>
              <a:ext cx="537" cy="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2" name="Oval 16"/>
            <p:cNvSpPr>
              <a:spLocks noChangeArrowheads="1"/>
            </p:cNvSpPr>
            <p:nvPr/>
          </p:nvSpPr>
          <p:spPr bwMode="auto">
            <a:xfrm>
              <a:off x="1771" y="2431"/>
              <a:ext cx="969" cy="9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3" name="Oval 17"/>
            <p:cNvSpPr>
              <a:spLocks noChangeArrowheads="1"/>
            </p:cNvSpPr>
            <p:nvPr/>
          </p:nvSpPr>
          <p:spPr bwMode="auto">
            <a:xfrm>
              <a:off x="2236" y="289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4" name="Line 18"/>
            <p:cNvSpPr>
              <a:spLocks noChangeShapeType="1"/>
            </p:cNvSpPr>
            <p:nvPr/>
          </p:nvSpPr>
          <p:spPr bwMode="auto">
            <a:xfrm flipH="1" flipV="1">
              <a:off x="2123" y="2683"/>
              <a:ext cx="136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5" name="Line 19"/>
            <p:cNvSpPr>
              <a:spLocks noChangeShapeType="1"/>
            </p:cNvSpPr>
            <p:nvPr/>
          </p:nvSpPr>
          <p:spPr bwMode="auto">
            <a:xfrm flipV="1">
              <a:off x="2259" y="2683"/>
              <a:ext cx="407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386" name="Text Box 20"/>
            <p:cNvSpPr txBox="1">
              <a:spLocks noChangeArrowheads="1"/>
            </p:cNvSpPr>
            <p:nvPr/>
          </p:nvSpPr>
          <p:spPr bwMode="auto">
            <a:xfrm>
              <a:off x="1981" y="2684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1</a:t>
              </a:r>
              <a:endParaRPr lang="en-US" sz="1800" i="1"/>
            </a:p>
          </p:txBody>
        </p:sp>
        <p:sp>
          <p:nvSpPr>
            <p:cNvPr id="58387" name="Text Box 21"/>
            <p:cNvSpPr txBox="1">
              <a:spLocks noChangeArrowheads="1"/>
            </p:cNvSpPr>
            <p:nvPr/>
          </p:nvSpPr>
          <p:spPr bwMode="auto">
            <a:xfrm>
              <a:off x="2383" y="2508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2</a:t>
              </a:r>
              <a:endParaRPr lang="en-US" sz="1800" i="1"/>
            </a:p>
          </p:txBody>
        </p:sp>
      </p:grpSp>
      <p:sp>
        <p:nvSpPr>
          <p:cNvPr id="239638" name="Text Box 22"/>
          <p:cNvSpPr txBox="1">
            <a:spLocks noChangeArrowheads="1"/>
          </p:cNvSpPr>
          <p:nvPr/>
        </p:nvSpPr>
        <p:spPr bwMode="auto">
          <a:xfrm>
            <a:off x="7786688" y="244633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i="1"/>
              <a:t>P</a:t>
            </a:r>
          </a:p>
        </p:txBody>
      </p:sp>
      <p:pic>
        <p:nvPicPr>
          <p:cNvPr id="239645" name="Picture 2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9138" y="3605213"/>
            <a:ext cx="6911975" cy="124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9640" name="Text Box 24"/>
          <p:cNvSpPr txBox="1">
            <a:spLocks noChangeArrowheads="1"/>
          </p:cNvSpPr>
          <p:nvPr/>
        </p:nvSpPr>
        <p:spPr bwMode="auto">
          <a:xfrm>
            <a:off x="1385888" y="4310063"/>
            <a:ext cx="65516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It is the gravitational force between the two stars.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8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41705" name="Picture 4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053"/>
          <a:stretch>
            <a:fillRect/>
          </a:stretch>
        </p:blipFill>
        <p:spPr bwMode="auto">
          <a:xfrm>
            <a:off x="703263" y="3592513"/>
            <a:ext cx="7262812" cy="231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6" name="Picture 3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2450"/>
            <a:ext cx="6478587" cy="180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Rectangle 40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32600" y="2289175"/>
            <a:ext cx="2081213" cy="481013"/>
            <a:chOff x="1599" y="2774"/>
            <a:chExt cx="1311" cy="303"/>
          </a:xfrm>
        </p:grpSpPr>
        <p:sp>
          <p:nvSpPr>
            <p:cNvPr id="59424" name="Rectangle 7"/>
            <p:cNvSpPr>
              <a:spLocks noChangeArrowheads="1"/>
            </p:cNvSpPr>
            <p:nvPr/>
          </p:nvSpPr>
          <p:spPr bwMode="auto">
            <a:xfrm>
              <a:off x="1599" y="2774"/>
              <a:ext cx="1311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5" name="Oval 8"/>
            <p:cNvSpPr>
              <a:spLocks noChangeArrowheads="1"/>
            </p:cNvSpPr>
            <p:nvPr/>
          </p:nvSpPr>
          <p:spPr bwMode="auto">
            <a:xfrm>
              <a:off x="2624" y="2813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6" name="Text Box 9"/>
            <p:cNvSpPr txBox="1">
              <a:spLocks noChangeArrowheads="1"/>
            </p:cNvSpPr>
            <p:nvPr/>
          </p:nvSpPr>
          <p:spPr bwMode="auto">
            <a:xfrm>
              <a:off x="2604" y="2790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2</a:t>
              </a:r>
              <a:endParaRPr lang="en-US" sz="1800"/>
            </a:p>
          </p:txBody>
        </p:sp>
        <p:sp>
          <p:nvSpPr>
            <p:cNvPr id="59427" name="Oval 10"/>
            <p:cNvSpPr>
              <a:spLocks noChangeArrowheads="1"/>
            </p:cNvSpPr>
            <p:nvPr/>
          </p:nvSpPr>
          <p:spPr bwMode="auto">
            <a:xfrm>
              <a:off x="1875" y="2812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8" name="Text Box 11"/>
            <p:cNvSpPr txBox="1">
              <a:spLocks noChangeArrowheads="1"/>
            </p:cNvSpPr>
            <p:nvPr/>
          </p:nvSpPr>
          <p:spPr bwMode="auto">
            <a:xfrm>
              <a:off x="1855" y="2789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1</a:t>
              </a:r>
              <a:endParaRPr lang="en-US" sz="1800"/>
            </a:p>
          </p:txBody>
        </p:sp>
      </p:grpSp>
      <p:grpSp>
        <p:nvGrpSpPr>
          <p:cNvPr id="59399" name="Group 12"/>
          <p:cNvGrpSpPr>
            <a:grpSpLocks/>
          </p:cNvGrpSpPr>
          <p:nvPr/>
        </p:nvGrpSpPr>
        <p:grpSpPr bwMode="auto">
          <a:xfrm>
            <a:off x="6832600" y="1639888"/>
            <a:ext cx="2081213" cy="1743075"/>
            <a:chOff x="1599" y="2365"/>
            <a:chExt cx="1311" cy="1098"/>
          </a:xfrm>
        </p:grpSpPr>
        <p:sp>
          <p:nvSpPr>
            <p:cNvPr id="59415" name="Line 13"/>
            <p:cNvSpPr>
              <a:spLocks noChangeShapeType="1"/>
            </p:cNvSpPr>
            <p:nvPr/>
          </p:nvSpPr>
          <p:spPr bwMode="auto">
            <a:xfrm>
              <a:off x="2259" y="2365"/>
              <a:ext cx="0" cy="109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14"/>
            <p:cNvSpPr>
              <a:spLocks noChangeShapeType="1"/>
            </p:cNvSpPr>
            <p:nvPr/>
          </p:nvSpPr>
          <p:spPr bwMode="auto">
            <a:xfrm>
              <a:off x="1599" y="2925"/>
              <a:ext cx="131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Oval 15"/>
            <p:cNvSpPr>
              <a:spLocks noChangeArrowheads="1"/>
            </p:cNvSpPr>
            <p:nvPr/>
          </p:nvSpPr>
          <p:spPr bwMode="auto">
            <a:xfrm>
              <a:off x="1992" y="2646"/>
              <a:ext cx="537" cy="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8" name="Oval 16"/>
            <p:cNvSpPr>
              <a:spLocks noChangeArrowheads="1"/>
            </p:cNvSpPr>
            <p:nvPr/>
          </p:nvSpPr>
          <p:spPr bwMode="auto">
            <a:xfrm>
              <a:off x="1771" y="2431"/>
              <a:ext cx="969" cy="9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9" name="Oval 17"/>
            <p:cNvSpPr>
              <a:spLocks noChangeArrowheads="1"/>
            </p:cNvSpPr>
            <p:nvPr/>
          </p:nvSpPr>
          <p:spPr bwMode="auto">
            <a:xfrm>
              <a:off x="2236" y="289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0" name="Line 18"/>
            <p:cNvSpPr>
              <a:spLocks noChangeShapeType="1"/>
            </p:cNvSpPr>
            <p:nvPr/>
          </p:nvSpPr>
          <p:spPr bwMode="auto">
            <a:xfrm flipH="1" flipV="1">
              <a:off x="2123" y="2683"/>
              <a:ext cx="136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19"/>
            <p:cNvSpPr>
              <a:spLocks noChangeShapeType="1"/>
            </p:cNvSpPr>
            <p:nvPr/>
          </p:nvSpPr>
          <p:spPr bwMode="auto">
            <a:xfrm flipV="1">
              <a:off x="2259" y="2683"/>
              <a:ext cx="407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Text Box 20"/>
            <p:cNvSpPr txBox="1">
              <a:spLocks noChangeArrowheads="1"/>
            </p:cNvSpPr>
            <p:nvPr/>
          </p:nvSpPr>
          <p:spPr bwMode="auto">
            <a:xfrm>
              <a:off x="1981" y="2684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1</a:t>
              </a:r>
              <a:endParaRPr lang="en-US" sz="1800" i="1"/>
            </a:p>
          </p:txBody>
        </p:sp>
        <p:sp>
          <p:nvSpPr>
            <p:cNvPr id="59423" name="Text Box 21"/>
            <p:cNvSpPr txBox="1">
              <a:spLocks noChangeArrowheads="1"/>
            </p:cNvSpPr>
            <p:nvPr/>
          </p:nvSpPr>
          <p:spPr bwMode="auto">
            <a:xfrm>
              <a:off x="2383" y="2508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2</a:t>
              </a:r>
              <a:endParaRPr lang="en-US" sz="1800" i="1"/>
            </a:p>
          </p:txBody>
        </p:sp>
      </p:grpSp>
      <p:sp>
        <p:nvSpPr>
          <p:cNvPr id="59400" name="Text Box 22"/>
          <p:cNvSpPr txBox="1">
            <a:spLocks noChangeArrowheads="1"/>
          </p:cNvSpPr>
          <p:nvPr/>
        </p:nvSpPr>
        <p:spPr bwMode="auto">
          <a:xfrm>
            <a:off x="7786688" y="244633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i="1"/>
              <a:t>P</a:t>
            </a:r>
          </a:p>
        </p:txBody>
      </p:sp>
      <p:sp>
        <p:nvSpPr>
          <p:cNvPr id="241688" name="Text Box 24"/>
          <p:cNvSpPr txBox="1">
            <a:spLocks noChangeArrowheads="1"/>
          </p:cNvSpPr>
          <p:nvPr/>
        </p:nvSpPr>
        <p:spPr bwMode="auto">
          <a:xfrm>
            <a:off x="4652963" y="0"/>
            <a:ext cx="4867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/ 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89" name="Text Box 25"/>
          <p:cNvSpPr txBox="1">
            <a:spLocks noChangeArrowheads="1"/>
          </p:cNvSpPr>
          <p:nvPr/>
        </p:nvSpPr>
        <p:spPr bwMode="auto">
          <a:xfrm>
            <a:off x="4649788" y="431800"/>
            <a:ext cx="5018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experiences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c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90" name="Text Box 26"/>
          <p:cNvSpPr txBox="1">
            <a:spLocks noChangeArrowheads="1"/>
          </p:cNvSpPr>
          <p:nvPr/>
        </p:nvSpPr>
        <p:spPr bwMode="auto">
          <a:xfrm>
            <a:off x="4652963" y="874713"/>
            <a:ext cx="5681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2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T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91" name="Text Box 27"/>
          <p:cNvSpPr txBox="1">
            <a:spLocks noChangeArrowheads="1"/>
          </p:cNvSpPr>
          <p:nvPr/>
        </p:nvSpPr>
        <p:spPr bwMode="auto">
          <a:xfrm>
            <a:off x="2773363" y="4930775"/>
            <a:ext cx="5548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92" name="Text Box 28"/>
          <p:cNvSpPr txBox="1">
            <a:spLocks noChangeArrowheads="1"/>
          </p:cNvSpPr>
          <p:nvPr/>
        </p:nvSpPr>
        <p:spPr bwMode="auto">
          <a:xfrm>
            <a:off x="1360488" y="5340350"/>
            <a:ext cx="6243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T 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93" name="Line 29"/>
          <p:cNvSpPr>
            <a:spLocks noChangeShapeType="1"/>
          </p:cNvSpPr>
          <p:nvPr/>
        </p:nvSpPr>
        <p:spPr bwMode="auto">
          <a:xfrm flipV="1">
            <a:off x="1474788" y="5470525"/>
            <a:ext cx="255587" cy="2365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1694" name="Line 30"/>
          <p:cNvSpPr>
            <a:spLocks noChangeShapeType="1"/>
          </p:cNvSpPr>
          <p:nvPr/>
        </p:nvSpPr>
        <p:spPr bwMode="auto">
          <a:xfrm flipV="1">
            <a:off x="4814888" y="5453063"/>
            <a:ext cx="255587" cy="2365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1695" name="Line 31"/>
          <p:cNvSpPr>
            <a:spLocks noChangeShapeType="1"/>
          </p:cNvSpPr>
          <p:nvPr/>
        </p:nvSpPr>
        <p:spPr bwMode="auto">
          <a:xfrm flipH="1" flipV="1">
            <a:off x="3927475" y="5411788"/>
            <a:ext cx="98425" cy="352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1696" name="Line 32"/>
          <p:cNvSpPr>
            <a:spLocks noChangeShapeType="1"/>
          </p:cNvSpPr>
          <p:nvPr/>
        </p:nvSpPr>
        <p:spPr bwMode="auto">
          <a:xfrm flipH="1" flipV="1">
            <a:off x="2746375" y="5449888"/>
            <a:ext cx="106363" cy="920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1697" name="Text Box 33"/>
          <p:cNvSpPr txBox="1">
            <a:spLocks noChangeArrowheads="1"/>
          </p:cNvSpPr>
          <p:nvPr/>
        </p:nvSpPr>
        <p:spPr bwMode="auto">
          <a:xfrm>
            <a:off x="1866900" y="5732463"/>
            <a:ext cx="465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</a:p>
        </p:txBody>
      </p:sp>
      <p:sp>
        <p:nvSpPr>
          <p:cNvPr id="241698" name="Text Box 34"/>
          <p:cNvSpPr txBox="1">
            <a:spLocks noChangeArrowheads="1"/>
          </p:cNvSpPr>
          <p:nvPr/>
        </p:nvSpPr>
        <p:spPr bwMode="auto">
          <a:xfrm>
            <a:off x="3754438" y="6238875"/>
            <a:ext cx="3516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       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699" name="Text Box 35"/>
          <p:cNvSpPr txBox="1">
            <a:spLocks noChangeArrowheads="1"/>
          </p:cNvSpPr>
          <p:nvPr/>
        </p:nvSpPr>
        <p:spPr bwMode="auto">
          <a:xfrm>
            <a:off x="4508500" y="6127750"/>
            <a:ext cx="8239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u="sng" dirty="0">
                <a:solidFill>
                  <a:schemeClr val="hlink"/>
                </a:solidFill>
                <a:sym typeface="Symbol" pitchFamily="18" charset="2"/>
              </a:rPr>
              <a:t>4</a:t>
            </a:r>
            <a:r>
              <a:rPr lang="en-US" sz="2000" u="sng" baseline="30000" dirty="0">
                <a:solidFill>
                  <a:schemeClr val="hlink"/>
                </a:solidFill>
                <a:sym typeface="Symbol" pitchFamily="18" charset="2"/>
              </a:rPr>
              <a:t>2</a:t>
            </a:r>
            <a:endParaRPr lang="en-US" sz="2000" u="sng" dirty="0">
              <a:solidFill>
                <a:schemeClr val="hlink"/>
              </a:solidFill>
              <a:sym typeface="Symbol" pitchFamily="18" charset="2"/>
            </a:endParaRPr>
          </a:p>
          <a:p>
            <a:pPr algn="ctr"/>
            <a:r>
              <a:rPr lang="en-US" sz="2000" i="1" dirty="0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sz="2000" baseline="-25000" dirty="0">
                <a:solidFill>
                  <a:schemeClr val="hlink"/>
                </a:solidFill>
                <a:sym typeface="Symbol" pitchFamily="18" charset="2"/>
              </a:rPr>
              <a:t>2</a:t>
            </a:r>
            <a:endParaRPr lang="en-US" sz="2000" baseline="30000" dirty="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1706" name="Text Box 42"/>
          <p:cNvSpPr txBox="1">
            <a:spLocks noChangeArrowheads="1"/>
          </p:cNvSpPr>
          <p:nvPr/>
        </p:nvSpPr>
        <p:spPr bwMode="auto">
          <a:xfrm>
            <a:off x="1260475" y="4546600"/>
            <a:ext cx="189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c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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1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1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1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1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1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4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4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4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1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1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1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93" grpId="0" animBg="1"/>
      <p:bldP spid="241694" grpId="0" animBg="1"/>
      <p:bldP spid="241695" grpId="0" animBg="1"/>
      <p:bldP spid="24169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8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pic>
        <p:nvPicPr>
          <p:cNvPr id="243754" name="Picture 4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388" y="3621088"/>
            <a:ext cx="7102475" cy="137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0" name="Picture 3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1822450"/>
            <a:ext cx="6478587" cy="180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1" name="Rectangle 40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32600" y="2289175"/>
            <a:ext cx="2081213" cy="481013"/>
            <a:chOff x="1599" y="2774"/>
            <a:chExt cx="1311" cy="303"/>
          </a:xfrm>
        </p:grpSpPr>
        <p:sp>
          <p:nvSpPr>
            <p:cNvPr id="60447" name="Rectangle 7"/>
            <p:cNvSpPr>
              <a:spLocks noChangeArrowheads="1"/>
            </p:cNvSpPr>
            <p:nvPr/>
          </p:nvSpPr>
          <p:spPr bwMode="auto">
            <a:xfrm>
              <a:off x="1599" y="2774"/>
              <a:ext cx="1311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8" name="Oval 8"/>
            <p:cNvSpPr>
              <a:spLocks noChangeArrowheads="1"/>
            </p:cNvSpPr>
            <p:nvPr/>
          </p:nvSpPr>
          <p:spPr bwMode="auto">
            <a:xfrm>
              <a:off x="2624" y="2813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9" name="Text Box 9"/>
            <p:cNvSpPr txBox="1">
              <a:spLocks noChangeArrowheads="1"/>
            </p:cNvSpPr>
            <p:nvPr/>
          </p:nvSpPr>
          <p:spPr bwMode="auto">
            <a:xfrm>
              <a:off x="2604" y="2790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2</a:t>
              </a:r>
              <a:endParaRPr lang="en-US" sz="1800"/>
            </a:p>
          </p:txBody>
        </p:sp>
        <p:sp>
          <p:nvSpPr>
            <p:cNvPr id="60450" name="Oval 10"/>
            <p:cNvSpPr>
              <a:spLocks noChangeArrowheads="1"/>
            </p:cNvSpPr>
            <p:nvPr/>
          </p:nvSpPr>
          <p:spPr bwMode="auto">
            <a:xfrm>
              <a:off x="1875" y="2812"/>
              <a:ext cx="220" cy="2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1" name="Text Box 11"/>
            <p:cNvSpPr txBox="1">
              <a:spLocks noChangeArrowheads="1"/>
            </p:cNvSpPr>
            <p:nvPr/>
          </p:nvSpPr>
          <p:spPr bwMode="auto">
            <a:xfrm>
              <a:off x="1855" y="2789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</a:t>
              </a:r>
              <a:r>
                <a:rPr lang="en-US" sz="1800" baseline="-25000"/>
                <a:t>1</a:t>
              </a:r>
              <a:endParaRPr lang="en-US" sz="1800"/>
            </a:p>
          </p:txBody>
        </p:sp>
      </p:grpSp>
      <p:grpSp>
        <p:nvGrpSpPr>
          <p:cNvPr id="60423" name="Group 12"/>
          <p:cNvGrpSpPr>
            <a:grpSpLocks/>
          </p:cNvGrpSpPr>
          <p:nvPr/>
        </p:nvGrpSpPr>
        <p:grpSpPr bwMode="auto">
          <a:xfrm>
            <a:off x="6832600" y="1639888"/>
            <a:ext cx="2081213" cy="1743075"/>
            <a:chOff x="1599" y="2365"/>
            <a:chExt cx="1311" cy="1098"/>
          </a:xfrm>
        </p:grpSpPr>
        <p:sp>
          <p:nvSpPr>
            <p:cNvPr id="60438" name="Line 13"/>
            <p:cNvSpPr>
              <a:spLocks noChangeShapeType="1"/>
            </p:cNvSpPr>
            <p:nvPr/>
          </p:nvSpPr>
          <p:spPr bwMode="auto">
            <a:xfrm>
              <a:off x="2259" y="2365"/>
              <a:ext cx="0" cy="109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14"/>
            <p:cNvSpPr>
              <a:spLocks noChangeShapeType="1"/>
            </p:cNvSpPr>
            <p:nvPr/>
          </p:nvSpPr>
          <p:spPr bwMode="auto">
            <a:xfrm>
              <a:off x="1599" y="2925"/>
              <a:ext cx="1311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Oval 15"/>
            <p:cNvSpPr>
              <a:spLocks noChangeArrowheads="1"/>
            </p:cNvSpPr>
            <p:nvPr/>
          </p:nvSpPr>
          <p:spPr bwMode="auto">
            <a:xfrm>
              <a:off x="1992" y="2646"/>
              <a:ext cx="537" cy="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1" name="Oval 16"/>
            <p:cNvSpPr>
              <a:spLocks noChangeArrowheads="1"/>
            </p:cNvSpPr>
            <p:nvPr/>
          </p:nvSpPr>
          <p:spPr bwMode="auto">
            <a:xfrm>
              <a:off x="1771" y="2431"/>
              <a:ext cx="969" cy="9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2" name="Oval 17"/>
            <p:cNvSpPr>
              <a:spLocks noChangeArrowheads="1"/>
            </p:cNvSpPr>
            <p:nvPr/>
          </p:nvSpPr>
          <p:spPr bwMode="auto">
            <a:xfrm>
              <a:off x="2236" y="2895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3" name="Line 18"/>
            <p:cNvSpPr>
              <a:spLocks noChangeShapeType="1"/>
            </p:cNvSpPr>
            <p:nvPr/>
          </p:nvSpPr>
          <p:spPr bwMode="auto">
            <a:xfrm flipH="1" flipV="1">
              <a:off x="2123" y="2683"/>
              <a:ext cx="136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19"/>
            <p:cNvSpPr>
              <a:spLocks noChangeShapeType="1"/>
            </p:cNvSpPr>
            <p:nvPr/>
          </p:nvSpPr>
          <p:spPr bwMode="auto">
            <a:xfrm flipV="1">
              <a:off x="2259" y="2683"/>
              <a:ext cx="407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diamond" w="med" len="med"/>
              <a:tailEnd type="diamond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Text Box 20"/>
            <p:cNvSpPr txBox="1">
              <a:spLocks noChangeArrowheads="1"/>
            </p:cNvSpPr>
            <p:nvPr/>
          </p:nvSpPr>
          <p:spPr bwMode="auto">
            <a:xfrm>
              <a:off x="1981" y="2684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1</a:t>
              </a:r>
              <a:endParaRPr lang="en-US" sz="1800" i="1"/>
            </a:p>
          </p:txBody>
        </p:sp>
        <p:sp>
          <p:nvSpPr>
            <p:cNvPr id="60446" name="Text Box 21"/>
            <p:cNvSpPr txBox="1">
              <a:spLocks noChangeArrowheads="1"/>
            </p:cNvSpPr>
            <p:nvPr/>
          </p:nvSpPr>
          <p:spPr bwMode="auto">
            <a:xfrm>
              <a:off x="2383" y="2508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i="1"/>
                <a:t>R</a:t>
              </a:r>
              <a:r>
                <a:rPr lang="en-US" sz="1800" baseline="-25000"/>
                <a:t>2</a:t>
              </a:r>
              <a:endParaRPr lang="en-US" sz="1800" i="1"/>
            </a:p>
          </p:txBody>
        </p:sp>
      </p:grpSp>
      <p:sp>
        <p:nvSpPr>
          <p:cNvPr id="60424" name="Text Box 22"/>
          <p:cNvSpPr txBox="1">
            <a:spLocks noChangeArrowheads="1"/>
          </p:cNvSpPr>
          <p:nvPr/>
        </p:nvSpPr>
        <p:spPr bwMode="auto">
          <a:xfrm>
            <a:off x="7786688" y="244633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i="1"/>
              <a:t>P</a:t>
            </a:r>
          </a:p>
        </p:txBody>
      </p:sp>
      <p:sp>
        <p:nvSpPr>
          <p:cNvPr id="243736" name="Text Box 24"/>
          <p:cNvSpPr txBox="1">
            <a:spLocks noChangeArrowheads="1"/>
          </p:cNvSpPr>
          <p:nvPr/>
        </p:nvSpPr>
        <p:spPr bwMode="auto">
          <a:xfrm>
            <a:off x="1306513" y="4497388"/>
            <a:ext cx="588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(b)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3737" name="Text Box 25"/>
          <p:cNvSpPr txBox="1">
            <a:spLocks noChangeArrowheads="1"/>
          </p:cNvSpPr>
          <p:nvPr/>
        </p:nvSpPr>
        <p:spPr bwMode="auto">
          <a:xfrm>
            <a:off x="1295400" y="4883150"/>
            <a:ext cx="7537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From symmetry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 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 Thus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3738" name="Text Box 26"/>
          <p:cNvSpPr txBox="1">
            <a:spLocks noChangeArrowheads="1"/>
          </p:cNvSpPr>
          <p:nvPr/>
        </p:nvSpPr>
        <p:spPr bwMode="auto">
          <a:xfrm>
            <a:off x="747713" y="5268913"/>
            <a:ext cx="7604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[ 4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GM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]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(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+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2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3739" name="Line 27"/>
          <p:cNvSpPr>
            <a:spLocks noChangeShapeType="1"/>
          </p:cNvSpPr>
          <p:nvPr/>
        </p:nvSpPr>
        <p:spPr bwMode="auto">
          <a:xfrm flipV="1">
            <a:off x="1032387" y="5375274"/>
            <a:ext cx="403586" cy="25860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0" name="Line 28"/>
          <p:cNvSpPr>
            <a:spLocks noChangeShapeType="1"/>
          </p:cNvSpPr>
          <p:nvPr/>
        </p:nvSpPr>
        <p:spPr bwMode="auto">
          <a:xfrm flipV="1">
            <a:off x="4729163" y="5376863"/>
            <a:ext cx="255587" cy="2365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1" name="Line 29"/>
          <p:cNvSpPr>
            <a:spLocks noChangeShapeType="1"/>
          </p:cNvSpPr>
          <p:nvPr/>
        </p:nvSpPr>
        <p:spPr bwMode="auto">
          <a:xfrm flipH="1" flipV="1">
            <a:off x="1737343" y="5370513"/>
            <a:ext cx="166688" cy="225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2" name="Line 30"/>
          <p:cNvSpPr>
            <a:spLocks noChangeShapeType="1"/>
          </p:cNvSpPr>
          <p:nvPr/>
        </p:nvSpPr>
        <p:spPr bwMode="auto">
          <a:xfrm flipH="1" flipV="1">
            <a:off x="5289756" y="5384800"/>
            <a:ext cx="166688" cy="225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3" name="Line 31"/>
          <p:cNvSpPr>
            <a:spLocks noChangeShapeType="1"/>
          </p:cNvSpPr>
          <p:nvPr/>
        </p:nvSpPr>
        <p:spPr bwMode="auto">
          <a:xfrm flipV="1">
            <a:off x="3028235" y="5418138"/>
            <a:ext cx="773113" cy="165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4" name="Line 32"/>
          <p:cNvSpPr>
            <a:spLocks noChangeShapeType="1"/>
          </p:cNvSpPr>
          <p:nvPr/>
        </p:nvSpPr>
        <p:spPr bwMode="auto">
          <a:xfrm flipV="1">
            <a:off x="6577473" y="5407692"/>
            <a:ext cx="773113" cy="165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3745" name="Text Box 33"/>
          <p:cNvSpPr txBox="1">
            <a:spLocks noChangeArrowheads="1"/>
          </p:cNvSpPr>
          <p:nvPr/>
        </p:nvSpPr>
        <p:spPr bwMode="auto">
          <a:xfrm>
            <a:off x="2678113" y="5673725"/>
            <a:ext cx="3246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(1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(1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3746" name="Text Box 34"/>
          <p:cNvSpPr txBox="1">
            <a:spLocks noChangeArrowheads="1"/>
          </p:cNvSpPr>
          <p:nvPr/>
        </p:nvSpPr>
        <p:spPr bwMode="auto">
          <a:xfrm>
            <a:off x="3048000" y="6067425"/>
            <a:ext cx="3246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endParaRPr 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3747" name="Text Box 35"/>
          <p:cNvSpPr txBox="1">
            <a:spLocks noChangeArrowheads="1"/>
          </p:cNvSpPr>
          <p:nvPr/>
        </p:nvSpPr>
        <p:spPr bwMode="auto">
          <a:xfrm>
            <a:off x="1292225" y="6400800"/>
            <a:ext cx="5889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Since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&gt;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,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1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&gt;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M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2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baseline="-25000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3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3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3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3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3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3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4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3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3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39" grpId="0" animBg="1"/>
      <p:bldP spid="243740" grpId="0" animBg="1"/>
      <p:bldP spid="243741" grpId="0" animBg="1"/>
      <p:bldP spid="243742" grpId="0" animBg="1"/>
      <p:bldP spid="243743" grpId="0" animBg="1"/>
      <p:bldP spid="24374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ChangeArrowheads="1"/>
          </p:cNvSpPr>
          <p:nvPr/>
        </p:nvSpPr>
        <p:spPr bwMode="auto">
          <a:xfrm>
            <a:off x="685800" y="1763713"/>
            <a:ext cx="7772400" cy="50974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>
              <a:latin typeface="Courier New" pitchFamily="49" charset="0"/>
              <a:sym typeface="Symbol" pitchFamily="18" charset="2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828675" y="4824413"/>
            <a:ext cx="7464425" cy="825500"/>
            <a:chOff x="522" y="3349"/>
            <a:chExt cx="4702" cy="520"/>
          </a:xfrm>
        </p:grpSpPr>
        <p:sp>
          <p:nvSpPr>
            <p:cNvPr id="61456" name="Text Box 25"/>
            <p:cNvSpPr txBox="1">
              <a:spLocks noChangeArrowheads="1"/>
            </p:cNvSpPr>
            <p:nvPr/>
          </p:nvSpPr>
          <p:spPr bwMode="auto">
            <a:xfrm>
              <a:off x="3577" y="3351"/>
              <a:ext cx="1647" cy="51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solidFill>
                    <a:schemeClr val="bg1"/>
                  </a:solidFill>
                </a:rPr>
                <a:t>total energy of an orbiting satellite</a:t>
              </a:r>
            </a:p>
          </p:txBody>
        </p:sp>
        <p:sp>
          <p:nvSpPr>
            <p:cNvPr id="61457" name="Rectangle 26"/>
            <p:cNvSpPr>
              <a:spLocks noChangeArrowheads="1"/>
            </p:cNvSpPr>
            <p:nvPr/>
          </p:nvSpPr>
          <p:spPr bwMode="auto">
            <a:xfrm>
              <a:off x="522" y="3353"/>
              <a:ext cx="4701" cy="5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58" name="Rectangle 27"/>
            <p:cNvSpPr>
              <a:spLocks noChangeArrowheads="1"/>
            </p:cNvSpPr>
            <p:nvPr/>
          </p:nvSpPr>
          <p:spPr bwMode="auto">
            <a:xfrm>
              <a:off x="623" y="3349"/>
              <a:ext cx="26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>
                  <a:sym typeface="Symbol" pitchFamily="18" charset="2"/>
                </a:rPr>
                <a:t> = –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61459" name="Rectangle 28"/>
            <p:cNvSpPr>
              <a:spLocks noChangeArrowheads="1"/>
            </p:cNvSpPr>
            <p:nvPr/>
          </p:nvSpPr>
          <p:spPr bwMode="auto">
            <a:xfrm>
              <a:off x="540" y="3579"/>
              <a:ext cx="16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K</a:t>
              </a:r>
              <a:r>
                <a:rPr lang="en-US">
                  <a:sym typeface="Symbol" pitchFamily="18" charset="2"/>
                </a:rPr>
                <a:t> = 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(2</a:t>
              </a:r>
              <a:r>
                <a:rPr lang="en-US" i="1">
                  <a:sym typeface="Symbol" pitchFamily="18" charset="2"/>
                </a:rPr>
                <a:t>r</a:t>
              </a:r>
              <a:r>
                <a:rPr lang="en-US">
                  <a:sym typeface="Symbol" pitchFamily="18" charset="2"/>
                </a:rPr>
                <a:t>)</a:t>
              </a:r>
            </a:p>
          </p:txBody>
        </p:sp>
        <p:sp>
          <p:nvSpPr>
            <p:cNvPr id="61460" name="Rectangle 29"/>
            <p:cNvSpPr>
              <a:spLocks noChangeArrowheads="1"/>
            </p:cNvSpPr>
            <p:nvPr/>
          </p:nvSpPr>
          <p:spPr bwMode="auto">
            <a:xfrm>
              <a:off x="2144" y="3578"/>
              <a:ext cx="157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</a:pPr>
              <a:r>
                <a:rPr lang="en-US" i="1">
                  <a:sym typeface="Symbol" pitchFamily="18" charset="2"/>
                </a:rPr>
                <a:t>E</a:t>
              </a:r>
              <a:r>
                <a:rPr lang="en-US" baseline="-25000">
                  <a:sym typeface="Symbol" pitchFamily="18" charset="2"/>
                </a:rPr>
                <a:t>P</a:t>
              </a:r>
              <a:r>
                <a:rPr lang="en-US">
                  <a:sym typeface="Symbol" pitchFamily="18" charset="2"/>
                </a:rPr>
                <a:t> = – </a:t>
              </a:r>
              <a:r>
                <a:rPr lang="en-US" i="1">
                  <a:sym typeface="Symbol" pitchFamily="18" charset="2"/>
                </a:rPr>
                <a:t>GMm /</a:t>
              </a:r>
              <a:r>
                <a:rPr lang="en-US">
                  <a:sym typeface="Symbol" pitchFamily="18" charset="2"/>
                </a:rPr>
                <a:t> </a:t>
              </a:r>
              <a:r>
                <a:rPr lang="en-US" i="1">
                  <a:sym typeface="Symbol" pitchFamily="18" charset="2"/>
                </a:rPr>
                <a:t>r</a:t>
              </a:r>
            </a:p>
          </p:txBody>
        </p:sp>
      </p:grpSp>
      <p:pic>
        <p:nvPicPr>
          <p:cNvPr id="24576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1847850"/>
            <a:ext cx="7753350" cy="297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72" name="Text Box 12"/>
          <p:cNvSpPr txBox="1">
            <a:spLocks noChangeArrowheads="1"/>
          </p:cNvSpPr>
          <p:nvPr/>
        </p:nvSpPr>
        <p:spPr bwMode="auto">
          <a:xfrm>
            <a:off x="814388" y="5648325"/>
            <a:ext cx="7489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If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decreases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gets bigger.</a:t>
            </a:r>
            <a:endParaRPr lang="en-US" baseline="30000" dirty="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5773" name="Rectangle 13"/>
          <p:cNvSpPr>
            <a:spLocks noChangeArrowheads="1"/>
          </p:cNvSpPr>
          <p:nvPr/>
        </p:nvSpPr>
        <p:spPr bwMode="auto">
          <a:xfrm>
            <a:off x="1697038" y="5216525"/>
            <a:ext cx="1531937" cy="338138"/>
          </a:xfrm>
          <a:prstGeom prst="rect">
            <a:avLst/>
          </a:prstGeom>
          <a:solidFill>
            <a:srgbClr val="FF6600">
              <a:alpha val="4784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74" name="Line 14"/>
          <p:cNvSpPr>
            <a:spLocks noChangeShapeType="1"/>
          </p:cNvSpPr>
          <p:nvPr/>
        </p:nvSpPr>
        <p:spPr bwMode="auto">
          <a:xfrm flipV="1">
            <a:off x="4891088" y="3732213"/>
            <a:ext cx="2914650" cy="296862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775" name="Line 15"/>
          <p:cNvSpPr>
            <a:spLocks noChangeShapeType="1"/>
          </p:cNvSpPr>
          <p:nvPr/>
        </p:nvSpPr>
        <p:spPr bwMode="auto">
          <a:xfrm flipV="1">
            <a:off x="4868863" y="4397375"/>
            <a:ext cx="2914650" cy="296863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776" name="Text Box 16"/>
          <p:cNvSpPr txBox="1">
            <a:spLocks noChangeArrowheads="1"/>
          </p:cNvSpPr>
          <p:nvPr/>
        </p:nvSpPr>
        <p:spPr bwMode="auto">
          <a:xfrm>
            <a:off x="814388" y="6086475"/>
            <a:ext cx="7489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If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r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decreases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gets more negative (smaller).</a:t>
            </a:r>
            <a:endParaRPr lang="en-US" baseline="3000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245777" name="Rectangle 17"/>
          <p:cNvSpPr>
            <a:spLocks noChangeArrowheads="1"/>
          </p:cNvSpPr>
          <p:nvPr/>
        </p:nvSpPr>
        <p:spPr bwMode="auto">
          <a:xfrm>
            <a:off x="3382963" y="5213350"/>
            <a:ext cx="2274887" cy="338138"/>
          </a:xfrm>
          <a:prstGeom prst="rect">
            <a:avLst/>
          </a:prstGeom>
          <a:solidFill>
            <a:srgbClr val="008000">
              <a:alpha val="47842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78" name="Line 18"/>
          <p:cNvSpPr>
            <a:spLocks noChangeShapeType="1"/>
          </p:cNvSpPr>
          <p:nvPr/>
        </p:nvSpPr>
        <p:spPr bwMode="auto">
          <a:xfrm>
            <a:off x="1679575" y="4071938"/>
            <a:ext cx="3168650" cy="3175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779" name="Line 19"/>
          <p:cNvSpPr>
            <a:spLocks noChangeShapeType="1"/>
          </p:cNvSpPr>
          <p:nvPr/>
        </p:nvSpPr>
        <p:spPr bwMode="auto">
          <a:xfrm>
            <a:off x="1682750" y="4387850"/>
            <a:ext cx="3168650" cy="3175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780" name="Oval 20"/>
          <p:cNvSpPr>
            <a:spLocks noChangeArrowheads="1"/>
          </p:cNvSpPr>
          <p:nvPr/>
        </p:nvSpPr>
        <p:spPr bwMode="auto">
          <a:xfrm>
            <a:off x="1239838" y="3444875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5" name="Rectangle 23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5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73" grpId="0" animBg="1"/>
      <p:bldP spid="245774" grpId="0" animBg="1"/>
      <p:bldP spid="245775" grpId="0" animBg="1"/>
      <p:bldP spid="245777" grpId="0" animBg="1"/>
      <p:bldP spid="245778" grpId="0" animBg="1"/>
      <p:bldP spid="245779" grpId="0" animBg="1"/>
      <p:bldP spid="24578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32139" name="Picture 1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613" y="3244850"/>
            <a:ext cx="7758112" cy="212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1876425" y="3670300"/>
            <a:ext cx="6527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Escape speed is the minimum speed needed to travel from the surface of a planet to infinity.</a:t>
            </a:r>
          </a:p>
        </p:txBody>
      </p:sp>
      <p:sp>
        <p:nvSpPr>
          <p:cNvPr id="432135" name="Text Box 7"/>
          <p:cNvSpPr txBox="1">
            <a:spLocks noChangeArrowheads="1"/>
          </p:cNvSpPr>
          <p:nvPr/>
        </p:nvSpPr>
        <p:spPr bwMode="auto">
          <a:xfrm>
            <a:off x="1863725" y="4692650"/>
            <a:ext cx="5749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It has the formula 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baseline="-25000">
                <a:solidFill>
                  <a:schemeClr val="hlink"/>
                </a:solidFill>
              </a:rPr>
              <a:t>esc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2</a:t>
            </a:r>
            <a:r>
              <a:rPr lang="en-US" i="1">
                <a:solidFill>
                  <a:schemeClr val="hlink"/>
                </a:solidFill>
              </a:rPr>
              <a:t>GM / R</a:t>
            </a:r>
            <a:r>
              <a:rPr lang="en-US">
                <a:solidFill>
                  <a:schemeClr val="hlink"/>
                </a:solidFill>
              </a:rPr>
              <a:t>.</a:t>
            </a:r>
          </a:p>
        </p:txBody>
      </p:sp>
      <p:sp>
        <p:nvSpPr>
          <p:cNvPr id="62471" name="Rectangle 9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432138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833563"/>
            <a:ext cx="770413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2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2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2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2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2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34191" name="Picture 1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6275" y="3263900"/>
            <a:ext cx="7758113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2" name="Rectangle 13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3493" name="Picture 1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833563"/>
            <a:ext cx="770413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4182" name="Text Box 6"/>
          <p:cNvSpPr txBox="1">
            <a:spLocks noChangeArrowheads="1"/>
          </p:cNvSpPr>
          <p:nvPr/>
        </p:nvSpPr>
        <p:spPr bwMode="auto">
          <a:xfrm>
            <a:off x="1762125" y="3814763"/>
            <a:ext cx="5749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To escape we need 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baseline="-25000">
                <a:solidFill>
                  <a:schemeClr val="hlink"/>
                </a:solidFill>
              </a:rPr>
              <a:t>esc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2</a:t>
            </a:r>
            <a:r>
              <a:rPr lang="en-US" i="1">
                <a:solidFill>
                  <a:schemeClr val="hlink"/>
                </a:solidFill>
              </a:rPr>
              <a:t>GM / R</a:t>
            </a:r>
            <a:r>
              <a:rPr lang="en-US" i="1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.</a:t>
            </a:r>
          </a:p>
        </p:txBody>
      </p:sp>
      <p:sp>
        <p:nvSpPr>
          <p:cNvPr id="434183" name="Text Box 7"/>
          <p:cNvSpPr txBox="1">
            <a:spLocks noChangeArrowheads="1"/>
          </p:cNvSpPr>
          <p:nvPr/>
        </p:nvSpPr>
        <p:spPr bwMode="auto">
          <a:xfrm>
            <a:off x="1758950" y="4492625"/>
            <a:ext cx="67595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The kinetic energy alone must then be            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 = (1/2)</a:t>
            </a:r>
            <a:r>
              <a:rPr lang="en-US" i="1">
                <a:solidFill>
                  <a:schemeClr val="hlink"/>
                </a:solidFill>
              </a:rPr>
              <a:t>mv</a:t>
            </a:r>
            <a:r>
              <a:rPr lang="en-US" baseline="-25000">
                <a:solidFill>
                  <a:schemeClr val="hlink"/>
                </a:solidFill>
              </a:rPr>
              <a:t>esc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(1/2)</a:t>
            </a:r>
            <a:r>
              <a:rPr lang="en-US" i="1">
                <a:solidFill>
                  <a:schemeClr val="hlink"/>
                </a:solidFill>
              </a:rPr>
              <a:t>m</a:t>
            </a:r>
            <a:r>
              <a:rPr lang="en-US">
                <a:solidFill>
                  <a:schemeClr val="hlink"/>
                </a:solidFill>
              </a:rPr>
              <a:t>(2</a:t>
            </a:r>
            <a:r>
              <a:rPr lang="en-US" i="1">
                <a:solidFill>
                  <a:schemeClr val="hlink"/>
                </a:solidFill>
              </a:rPr>
              <a:t>GM / R</a:t>
            </a:r>
            <a:r>
              <a:rPr lang="en-US" i="1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) = </a:t>
            </a:r>
            <a:r>
              <a:rPr lang="en-US" i="1">
                <a:solidFill>
                  <a:schemeClr val="hlink"/>
                </a:solidFill>
              </a:rPr>
              <a:t>GMm / R</a:t>
            </a:r>
            <a:r>
              <a:rPr lang="en-US" i="1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.</a:t>
            </a:r>
          </a:p>
        </p:txBody>
      </p:sp>
      <p:sp>
        <p:nvSpPr>
          <p:cNvPr id="434184" name="Text Box 8"/>
          <p:cNvSpPr txBox="1">
            <a:spLocks noChangeArrowheads="1"/>
          </p:cNvSpPr>
          <p:nvPr/>
        </p:nvSpPr>
        <p:spPr bwMode="auto">
          <a:xfrm>
            <a:off x="1755775" y="5434013"/>
            <a:ext cx="666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This is to say, to escape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 = 4</a:t>
            </a:r>
            <a:r>
              <a:rPr lang="en-US" i="1">
                <a:solidFill>
                  <a:schemeClr val="hlink"/>
                </a:solidFill>
              </a:rPr>
              <a:t>GMm / </a:t>
            </a:r>
            <a:r>
              <a:rPr lang="en-US">
                <a:solidFill>
                  <a:schemeClr val="hlink"/>
                </a:solidFill>
              </a:rPr>
              <a:t>(4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 i="1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). </a:t>
            </a:r>
          </a:p>
        </p:txBody>
      </p:sp>
      <p:sp>
        <p:nvSpPr>
          <p:cNvPr id="434185" name="Text Box 9"/>
          <p:cNvSpPr txBox="1">
            <a:spLocks noChangeArrowheads="1"/>
          </p:cNvSpPr>
          <p:nvPr/>
        </p:nvSpPr>
        <p:spPr bwMode="auto">
          <a:xfrm>
            <a:off x="1746250" y="5845175"/>
            <a:ext cx="66643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Since we only have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b="1">
                <a:solidFill>
                  <a:schemeClr val="hlink"/>
                </a:solidFill>
              </a:rPr>
              <a:t>3</a:t>
            </a:r>
            <a:r>
              <a:rPr lang="en-US" i="1">
                <a:solidFill>
                  <a:schemeClr val="hlink"/>
                </a:solidFill>
              </a:rPr>
              <a:t>GMm / </a:t>
            </a:r>
            <a:r>
              <a:rPr lang="en-US">
                <a:solidFill>
                  <a:schemeClr val="hlink"/>
                </a:solidFill>
              </a:rPr>
              <a:t>(4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 i="1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) the probe will </a:t>
            </a:r>
            <a:r>
              <a:rPr lang="en-US" i="1">
                <a:solidFill>
                  <a:schemeClr val="hlink"/>
                </a:solidFill>
              </a:rPr>
              <a:t>not</a:t>
            </a:r>
            <a:r>
              <a:rPr lang="en-US">
                <a:solidFill>
                  <a:schemeClr val="hlink"/>
                </a:solidFill>
              </a:rPr>
              <a:t> make it into deep space. </a:t>
            </a:r>
          </a:p>
        </p:txBody>
      </p:sp>
      <p:sp>
        <p:nvSpPr>
          <p:cNvPr id="434186" name="Rectangle 10"/>
          <p:cNvSpPr>
            <a:spLocks noChangeArrowheads="1"/>
          </p:cNvSpPr>
          <p:nvPr/>
        </p:nvSpPr>
        <p:spPr bwMode="auto">
          <a:xfrm>
            <a:off x="2755900" y="2378075"/>
            <a:ext cx="1914525" cy="349250"/>
          </a:xfrm>
          <a:prstGeom prst="rect">
            <a:avLst/>
          </a:prstGeom>
          <a:solidFill>
            <a:srgbClr val="FF6600">
              <a:alpha val="38823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4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4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4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4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4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4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4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4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1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36240" name="Picture 1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3990975"/>
            <a:ext cx="7696200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6" name="Rectangle 12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4517" name="Picture 1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833563"/>
            <a:ext cx="770413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6229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4688" y="3249613"/>
            <a:ext cx="715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6230" name="Picture 6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3589338"/>
            <a:ext cx="665797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6232" name="Text Box 8"/>
          <p:cNvSpPr txBox="1">
            <a:spLocks noChangeArrowheads="1"/>
          </p:cNvSpPr>
          <p:nvPr/>
        </p:nvSpPr>
        <p:spPr bwMode="auto">
          <a:xfrm>
            <a:off x="1925638" y="4924171"/>
            <a:ext cx="6592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Recall that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 E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</a:rPr>
              <a:t>P 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= </a:t>
            </a:r>
            <a:r>
              <a:rPr lang="en-US" dirty="0">
                <a:solidFill>
                  <a:schemeClr val="hlink"/>
                </a:solidFill>
              </a:rPr>
              <a:t>–</a:t>
            </a:r>
            <a:r>
              <a:rPr lang="en-US" i="1" dirty="0" err="1">
                <a:solidFill>
                  <a:schemeClr val="hlink"/>
                </a:solidFill>
                <a:cs typeface="Courier New" pitchFamily="49" charset="0"/>
              </a:rPr>
              <a:t>GMm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 / r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36233" name="Text Box 9"/>
          <p:cNvSpPr txBox="1">
            <a:spLocks noChangeArrowheads="1"/>
          </p:cNvSpPr>
          <p:nvPr/>
        </p:nvSpPr>
        <p:spPr bwMode="auto">
          <a:xfrm>
            <a:off x="1917700" y="5494338"/>
            <a:ext cx="659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Thus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P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GMm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( 1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/ R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– 1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/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 i="1" baseline="-2500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6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6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3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38290" name="Picture 1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4017963"/>
            <a:ext cx="7715250" cy="152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0" name="Rectangle 14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5541" name="Picture 1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833563"/>
            <a:ext cx="770413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Picture 16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4688" y="3249613"/>
            <a:ext cx="715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3" name="Picture 1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5325" y="3589338"/>
            <a:ext cx="6657975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8280" name="Text Box 8"/>
          <p:cNvSpPr txBox="1">
            <a:spLocks noChangeArrowheads="1"/>
          </p:cNvSpPr>
          <p:nvPr/>
        </p:nvSpPr>
        <p:spPr bwMode="auto">
          <a:xfrm>
            <a:off x="1916113" y="4436142"/>
            <a:ext cx="6907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The probe is in circular motion so </a:t>
            </a:r>
            <a:r>
              <a:rPr lang="en-US" i="1" dirty="0" err="1">
                <a:solidFill>
                  <a:schemeClr val="hlink"/>
                </a:solidFill>
                <a:cs typeface="Courier New" pitchFamily="49" charset="0"/>
              </a:rPr>
              <a:t>F</a:t>
            </a:r>
            <a:r>
              <a:rPr lang="en-US" baseline="-25000" dirty="0" err="1">
                <a:solidFill>
                  <a:schemeClr val="hlink"/>
                </a:solidFill>
                <a:cs typeface="Courier New" pitchFamily="49" charset="0"/>
              </a:rPr>
              <a:t>c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mv</a:t>
            </a:r>
            <a:r>
              <a:rPr lang="en-US" baseline="30000" dirty="0">
                <a:solidFill>
                  <a:schemeClr val="hlink"/>
                </a:solidFill>
                <a:cs typeface="Courier New" pitchFamily="49" charset="0"/>
              </a:rPr>
              <a:t>2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/ R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38281" name="Text Box 9"/>
          <p:cNvSpPr txBox="1">
            <a:spLocks noChangeArrowheads="1"/>
          </p:cNvSpPr>
          <p:nvPr/>
        </p:nvSpPr>
        <p:spPr bwMode="auto">
          <a:xfrm>
            <a:off x="1919288" y="4970463"/>
            <a:ext cx="679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But F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G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GMm / R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F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c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38282" name="Text Box 10"/>
          <p:cNvSpPr txBox="1">
            <a:spLocks noChangeArrowheads="1"/>
          </p:cNvSpPr>
          <p:nvPr/>
        </p:nvSpPr>
        <p:spPr bwMode="auto">
          <a:xfrm>
            <a:off x="1911350" y="5513388"/>
            <a:ext cx="679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Thus </a:t>
            </a:r>
            <a:r>
              <a:rPr lang="en-US" i="1">
                <a:solidFill>
                  <a:schemeClr val="hlink"/>
                </a:solidFill>
              </a:rPr>
              <a:t>mv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 i="1">
                <a:solidFill>
                  <a:schemeClr val="hlink"/>
                </a:solidFill>
              </a:rPr>
              <a:t>/ R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GMm / R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</a:rPr>
              <a:t>2 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or 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mv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GMm / R.</a:t>
            </a:r>
          </a:p>
        </p:txBody>
      </p:sp>
      <p:sp>
        <p:nvSpPr>
          <p:cNvPr id="438283" name="Text Box 11"/>
          <p:cNvSpPr txBox="1">
            <a:spLocks noChangeArrowheads="1"/>
          </p:cNvSpPr>
          <p:nvPr/>
        </p:nvSpPr>
        <p:spPr bwMode="auto">
          <a:xfrm>
            <a:off x="1911350" y="6039771"/>
            <a:ext cx="679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</a:rPr>
              <a:t>Finally </a:t>
            </a:r>
            <a:r>
              <a:rPr lang="en-US" i="1">
                <a:solidFill>
                  <a:schemeClr val="hlink"/>
                </a:solidFill>
              </a:rPr>
              <a:t>E</a:t>
            </a:r>
            <a:r>
              <a:rPr lang="en-US" baseline="-25000">
                <a:solidFill>
                  <a:schemeClr val="hlink"/>
                </a:solidFill>
              </a:rPr>
              <a:t>K</a:t>
            </a:r>
            <a:r>
              <a:rPr lang="en-US">
                <a:solidFill>
                  <a:schemeClr val="hlink"/>
                </a:solidFill>
              </a:rPr>
              <a:t> = (1/2)</a:t>
            </a:r>
            <a:r>
              <a:rPr lang="en-US" i="1">
                <a:solidFill>
                  <a:schemeClr val="hlink"/>
                </a:solidFill>
              </a:rPr>
              <a:t>mv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GMm /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(2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8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8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8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8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8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8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8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8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7"/>
          <p:cNvSpPr>
            <a:spLocks noChangeArrowheads="1"/>
          </p:cNvSpPr>
          <p:nvPr/>
        </p:nvSpPr>
        <p:spPr bwMode="auto">
          <a:xfrm>
            <a:off x="685800" y="1792288"/>
            <a:ext cx="7772400" cy="50657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40342" name="Picture 2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1200" y="3633788"/>
            <a:ext cx="77311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4" name="Rectangle 18"/>
          <p:cNvSpPr>
            <a:spLocks noChangeArrowheads="1"/>
          </p:cNvSpPr>
          <p:nvPr/>
        </p:nvSpPr>
        <p:spPr bwMode="auto">
          <a:xfrm>
            <a:off x="685800" y="1338263"/>
            <a:ext cx="7772400" cy="4635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6565" name="Picture 1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088" y="1833563"/>
            <a:ext cx="770413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Picture 20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4688" y="3249613"/>
            <a:ext cx="715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27" name="Text Box 7"/>
          <p:cNvSpPr txBox="1">
            <a:spLocks noChangeArrowheads="1"/>
          </p:cNvSpPr>
          <p:nvPr/>
        </p:nvSpPr>
        <p:spPr bwMode="auto">
          <a:xfrm>
            <a:off x="1333500" y="4138613"/>
            <a:ext cx="73755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                          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The energy given to the probe is stored in potential and kinetic energy. Thus</a:t>
            </a:r>
          </a:p>
        </p:txBody>
      </p:sp>
      <p:sp>
        <p:nvSpPr>
          <p:cNvPr id="440328" name="Text Box 8"/>
          <p:cNvSpPr txBox="1">
            <a:spLocks noChangeArrowheads="1"/>
          </p:cNvSpPr>
          <p:nvPr/>
        </p:nvSpPr>
        <p:spPr bwMode="auto">
          <a:xfrm>
            <a:off x="4537075" y="4903788"/>
            <a:ext cx="230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K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+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P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E</a:t>
            </a:r>
          </a:p>
        </p:txBody>
      </p:sp>
      <p:sp>
        <p:nvSpPr>
          <p:cNvPr id="440329" name="Text Box 9"/>
          <p:cNvSpPr txBox="1">
            <a:spLocks noChangeArrowheads="1"/>
          </p:cNvSpPr>
          <p:nvPr/>
        </p:nvSpPr>
        <p:spPr bwMode="auto">
          <a:xfrm>
            <a:off x="1491996" y="5307013"/>
            <a:ext cx="6994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 err="1">
                <a:solidFill>
                  <a:schemeClr val="hlink"/>
                </a:solidFill>
              </a:rPr>
              <a:t>GMm</a:t>
            </a:r>
            <a:r>
              <a:rPr lang="en-US" i="1" dirty="0">
                <a:solidFill>
                  <a:schemeClr val="hlink"/>
                </a:solidFill>
              </a:rPr>
              <a:t> /</a:t>
            </a:r>
            <a:r>
              <a:rPr lang="en-US" dirty="0">
                <a:solidFill>
                  <a:schemeClr val="hlink"/>
                </a:solidFill>
              </a:rPr>
              <a:t> (2</a:t>
            </a:r>
            <a:r>
              <a:rPr lang="en-US" i="1" dirty="0">
                <a:solidFill>
                  <a:schemeClr val="hlink"/>
                </a:solidFill>
              </a:rPr>
              <a:t>R</a:t>
            </a:r>
            <a:r>
              <a:rPr lang="en-US" dirty="0">
                <a:solidFill>
                  <a:schemeClr val="hlink"/>
                </a:solidFill>
              </a:rPr>
              <a:t>)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 dirty="0">
                <a:solidFill>
                  <a:schemeClr val="hlink"/>
                </a:solidFill>
              </a:rPr>
              <a:t>– </a:t>
            </a:r>
            <a:r>
              <a:rPr lang="en-US" i="1" dirty="0" err="1">
                <a:solidFill>
                  <a:schemeClr val="hlink"/>
                </a:solidFill>
              </a:rPr>
              <a:t>GMm</a:t>
            </a:r>
            <a:r>
              <a:rPr lang="en-US" dirty="0">
                <a:solidFill>
                  <a:schemeClr val="hlink"/>
                </a:solidFill>
              </a:rPr>
              <a:t>(1</a:t>
            </a:r>
            <a:r>
              <a:rPr lang="en-US" i="1" dirty="0">
                <a:solidFill>
                  <a:schemeClr val="hlink"/>
                </a:solidFill>
              </a:rPr>
              <a:t>/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i="1" dirty="0">
                <a:solidFill>
                  <a:schemeClr val="hlink"/>
                </a:solidFill>
              </a:rPr>
              <a:t>R </a:t>
            </a:r>
            <a:r>
              <a:rPr lang="en-US" dirty="0">
                <a:solidFill>
                  <a:schemeClr val="hlink"/>
                </a:solidFill>
              </a:rPr>
              <a:t>– 1</a:t>
            </a:r>
            <a:r>
              <a:rPr lang="en-US" i="1" dirty="0">
                <a:solidFill>
                  <a:schemeClr val="hlink"/>
                </a:solidFill>
              </a:rPr>
              <a:t>/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i="1" dirty="0">
                <a:solidFill>
                  <a:schemeClr val="hlink"/>
                </a:solidFill>
              </a:rPr>
              <a:t>R</a:t>
            </a:r>
            <a:r>
              <a:rPr lang="en-US" baseline="-25000" dirty="0">
                <a:solidFill>
                  <a:schemeClr val="hlink"/>
                </a:solidFill>
              </a:rPr>
              <a:t>e</a:t>
            </a:r>
            <a:r>
              <a:rPr lang="en-US" dirty="0">
                <a:solidFill>
                  <a:schemeClr val="hlink"/>
                </a:solidFill>
              </a:rPr>
              <a:t>)</a:t>
            </a:r>
            <a:r>
              <a:rPr lang="en-US" dirty="0"/>
              <a:t> 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= 3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GMm / 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(4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)</a:t>
            </a:r>
          </a:p>
        </p:txBody>
      </p:sp>
      <p:sp>
        <p:nvSpPr>
          <p:cNvPr id="440330" name="Line 10"/>
          <p:cNvSpPr>
            <a:spLocks noChangeShapeType="1"/>
          </p:cNvSpPr>
          <p:nvPr/>
        </p:nvSpPr>
        <p:spPr bwMode="auto">
          <a:xfrm flipV="1">
            <a:off x="1696783" y="5452396"/>
            <a:ext cx="636588" cy="158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31" name="Line 11"/>
          <p:cNvSpPr>
            <a:spLocks noChangeShapeType="1"/>
          </p:cNvSpPr>
          <p:nvPr/>
        </p:nvSpPr>
        <p:spPr bwMode="auto">
          <a:xfrm flipV="1">
            <a:off x="3493833" y="5463509"/>
            <a:ext cx="684213" cy="158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32" name="Line 12"/>
          <p:cNvSpPr>
            <a:spLocks noChangeShapeType="1"/>
          </p:cNvSpPr>
          <p:nvPr/>
        </p:nvSpPr>
        <p:spPr bwMode="auto">
          <a:xfrm flipV="1">
            <a:off x="6619875" y="5429250"/>
            <a:ext cx="617538" cy="17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33" name="Text Box 13"/>
          <p:cNvSpPr txBox="1">
            <a:spLocks noChangeArrowheads="1"/>
          </p:cNvSpPr>
          <p:nvPr/>
        </p:nvSpPr>
        <p:spPr bwMode="auto">
          <a:xfrm>
            <a:off x="2843213" y="5672138"/>
            <a:ext cx="5102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1 </a:t>
            </a:r>
            <a:r>
              <a:rPr lang="en-US" i="1">
                <a:solidFill>
                  <a:schemeClr val="hlink"/>
                </a:solidFill>
              </a:rPr>
              <a:t>/</a:t>
            </a:r>
            <a:r>
              <a:rPr lang="en-US">
                <a:solidFill>
                  <a:schemeClr val="hlink"/>
                </a:solidFill>
              </a:rPr>
              <a:t> (2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)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>
                <a:solidFill>
                  <a:schemeClr val="hlink"/>
                </a:solidFill>
              </a:rPr>
              <a:t>– 1 </a:t>
            </a:r>
            <a:r>
              <a:rPr lang="en-US" i="1">
                <a:solidFill>
                  <a:schemeClr val="hlink"/>
                </a:solidFill>
              </a:rPr>
              <a:t>/</a:t>
            </a:r>
            <a:r>
              <a:rPr lang="en-US">
                <a:solidFill>
                  <a:schemeClr val="hlink"/>
                </a:solidFill>
              </a:rPr>
              <a:t> 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>
                <a:solidFill>
                  <a:schemeClr val="hlink"/>
                </a:solidFill>
              </a:rPr>
              <a:t> + 1 </a:t>
            </a:r>
            <a:r>
              <a:rPr lang="en-US" i="1">
                <a:solidFill>
                  <a:schemeClr val="hlink"/>
                </a:solidFill>
              </a:rPr>
              <a:t>/</a:t>
            </a:r>
            <a:r>
              <a:rPr lang="en-US">
                <a:solidFill>
                  <a:schemeClr val="hlink"/>
                </a:solidFill>
              </a:rPr>
              <a:t> 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 baseline="-25000">
                <a:solidFill>
                  <a:schemeClr val="hlink"/>
                </a:solidFill>
              </a:rPr>
              <a:t>e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= 3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/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(4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)</a:t>
            </a:r>
          </a:p>
        </p:txBody>
      </p:sp>
      <p:sp>
        <p:nvSpPr>
          <p:cNvPr id="440334" name="Text Box 14"/>
          <p:cNvSpPr txBox="1">
            <a:spLocks noChangeArrowheads="1"/>
          </p:cNvSpPr>
          <p:nvPr/>
        </p:nvSpPr>
        <p:spPr bwMode="auto">
          <a:xfrm>
            <a:off x="4814888" y="6065838"/>
            <a:ext cx="275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1 </a:t>
            </a:r>
            <a:r>
              <a:rPr lang="en-US" i="1">
                <a:solidFill>
                  <a:schemeClr val="hlink"/>
                </a:solidFill>
              </a:rPr>
              <a:t>/</a:t>
            </a:r>
            <a:r>
              <a:rPr lang="en-US">
                <a:solidFill>
                  <a:schemeClr val="hlink"/>
                </a:solidFill>
              </a:rPr>
              <a:t> (4</a:t>
            </a:r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 baseline="-25000">
                <a:solidFill>
                  <a:schemeClr val="hlink"/>
                </a:solidFill>
              </a:rPr>
              <a:t>e</a:t>
            </a:r>
            <a:r>
              <a:rPr lang="en-US">
                <a:solidFill>
                  <a:schemeClr val="hlink"/>
                </a:solidFill>
              </a:rPr>
              <a:t>)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= 1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/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(2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)</a:t>
            </a:r>
          </a:p>
        </p:txBody>
      </p:sp>
      <p:sp>
        <p:nvSpPr>
          <p:cNvPr id="440335" name="Text Box 15"/>
          <p:cNvSpPr txBox="1">
            <a:spLocks noChangeArrowheads="1"/>
          </p:cNvSpPr>
          <p:nvPr/>
        </p:nvSpPr>
        <p:spPr bwMode="auto">
          <a:xfrm>
            <a:off x="5729288" y="6426200"/>
            <a:ext cx="1374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R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= 2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e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.</a:t>
            </a:r>
            <a:endParaRPr lang="en-US" baseline="-25000">
              <a:solidFill>
                <a:schemeClr val="hlink"/>
              </a:solidFill>
              <a:cs typeface="Courier New" pitchFamily="49" charset="0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0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0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0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0" grpId="0" animBg="1"/>
      <p:bldP spid="440331" grpId="0" animBg="1"/>
      <p:bldP spid="4403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685800" y="1766888"/>
            <a:ext cx="7772400" cy="50911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48515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4538" y="2139950"/>
            <a:ext cx="7681912" cy="219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685800" y="1338263"/>
            <a:ext cx="7772400" cy="4540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44851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843088"/>
            <a:ext cx="5311775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8518" name="Text Box 6"/>
          <p:cNvSpPr txBox="1">
            <a:spLocks noChangeArrowheads="1"/>
          </p:cNvSpPr>
          <p:nvPr/>
        </p:nvSpPr>
        <p:spPr bwMode="auto">
          <a:xfrm>
            <a:off x="1497013" y="2581275"/>
            <a:ext cx="69183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It is the work done per unit mass by the gravitational field in bringing a small mass from infinity to that point.</a:t>
            </a:r>
          </a:p>
        </p:txBody>
      </p:sp>
      <p:sp>
        <p:nvSpPr>
          <p:cNvPr id="448520" name="Text Box 8"/>
          <p:cNvSpPr txBox="1">
            <a:spLocks noChangeArrowheads="1"/>
          </p:cNvSpPr>
          <p:nvPr/>
        </p:nvSpPr>
        <p:spPr bwMode="auto">
          <a:xfrm>
            <a:off x="1487488" y="3867150"/>
            <a:ext cx="7156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9933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rgbClr val="FF9933"/>
                </a:solidFill>
                <a:cs typeface="Courier New" pitchFamily="49" charset="0"/>
              </a:rPr>
              <a:t>COMPARE: The work done by the gravitational field in bringing a small mass from infinity to that point is called the </a:t>
            </a:r>
            <a:r>
              <a:rPr lang="en-US" b="1">
                <a:solidFill>
                  <a:srgbClr val="FF9933"/>
                </a:solidFill>
                <a:cs typeface="Courier New" pitchFamily="49" charset="0"/>
              </a:rPr>
              <a:t>gravitational potential energy</a:t>
            </a:r>
            <a:r>
              <a:rPr lang="en-US">
                <a:solidFill>
                  <a:srgbClr val="FF9933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48521" name="Text Box 9"/>
          <p:cNvSpPr txBox="1">
            <a:spLocks noChangeArrowheads="1"/>
          </p:cNvSpPr>
          <p:nvPr/>
        </p:nvSpPr>
        <p:spPr bwMode="auto">
          <a:xfrm>
            <a:off x="1487488" y="4991100"/>
            <a:ext cx="71564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9933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rgbClr val="FF9933"/>
                </a:solidFill>
                <a:cs typeface="Courier New" pitchFamily="49" charset="0"/>
              </a:rPr>
              <a:t>The phrase only differs by omission of “per unit mass”.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8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8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8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8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8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8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685800" y="1779588"/>
            <a:ext cx="7772400" cy="50784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50563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2150" y="2168525"/>
            <a:ext cx="771207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1379538" y="4935538"/>
            <a:ext cx="566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V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 / r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so that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–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 / 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50565" name="Text Box 5"/>
          <p:cNvSpPr txBox="1">
            <a:spLocks noChangeArrowheads="1"/>
          </p:cNvSpPr>
          <p:nvPr/>
        </p:nvSpPr>
        <p:spPr bwMode="auto">
          <a:xfrm>
            <a:off x="1379538" y="5492750"/>
            <a:ext cx="566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But –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(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 /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</a:rPr>
              <a:t>2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)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/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GM / 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</a:t>
            </a:r>
          </a:p>
        </p:txBody>
      </p:sp>
      <p:sp>
        <p:nvSpPr>
          <p:cNvPr id="450566" name="Text Box 6"/>
          <p:cNvSpPr txBox="1">
            <a:spLocks noChangeArrowheads="1"/>
          </p:cNvSpPr>
          <p:nvPr/>
        </p:nvSpPr>
        <p:spPr bwMode="auto">
          <a:xfrm>
            <a:off x="6884988" y="5500688"/>
            <a:ext cx="116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cs typeface="Courier New" pitchFamily="49" charset="0"/>
              </a:rPr>
              <a:t>=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450567" name="Text Box 7"/>
          <p:cNvSpPr txBox="1">
            <a:spLocks noChangeArrowheads="1"/>
          </p:cNvSpPr>
          <p:nvPr/>
        </p:nvSpPr>
        <p:spPr bwMode="auto">
          <a:xfrm>
            <a:off x="1406525" y="6121400"/>
            <a:ext cx="5667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Thus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V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/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g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.</a:t>
            </a:r>
          </a:p>
        </p:txBody>
      </p:sp>
      <p:sp>
        <p:nvSpPr>
          <p:cNvPr id="68617" name="Rectangle 9"/>
          <p:cNvSpPr>
            <a:spLocks noChangeArrowheads="1"/>
          </p:cNvSpPr>
          <p:nvPr/>
        </p:nvSpPr>
        <p:spPr bwMode="auto">
          <a:xfrm>
            <a:off x="685800" y="1338263"/>
            <a:ext cx="7772400" cy="4540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8618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843088"/>
            <a:ext cx="5311775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6"/>
          <p:cNvSpPr>
            <a:spLocks noChangeArrowheads="1"/>
          </p:cNvSpPr>
          <p:nvPr/>
        </p:nvSpPr>
        <p:spPr bwMode="auto">
          <a:xfrm>
            <a:off x="685800" y="1779588"/>
            <a:ext cx="7772400" cy="50784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442390" name="Picture 2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0563" y="3068638"/>
            <a:ext cx="4483100" cy="372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6" name="Picture 2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5913" y="3686175"/>
            <a:ext cx="36576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2387" name="Picture 1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8025" y="2119313"/>
            <a:ext cx="7745413" cy="95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8" name="Rectangle 17"/>
          <p:cNvSpPr>
            <a:spLocks noChangeArrowheads="1"/>
          </p:cNvSpPr>
          <p:nvPr/>
        </p:nvSpPr>
        <p:spPr bwMode="auto">
          <a:xfrm>
            <a:off x="685800" y="1338263"/>
            <a:ext cx="7772400" cy="4540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69639" name="Picture 18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843088"/>
            <a:ext cx="5311775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2376" name="Text Box 8"/>
          <p:cNvSpPr txBox="1">
            <a:spLocks noChangeArrowheads="1"/>
          </p:cNvSpPr>
          <p:nvPr/>
        </p:nvSpPr>
        <p:spPr bwMode="auto">
          <a:xfrm>
            <a:off x="5632450" y="3302000"/>
            <a:ext cx="356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0.5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10</a:t>
            </a:r>
            <a:r>
              <a:rPr lang="en-US" baseline="30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= 5.010</a:t>
            </a:r>
            <a:r>
              <a:rPr lang="en-US" baseline="30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6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= 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0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. </a:t>
            </a:r>
          </a:p>
        </p:txBody>
      </p:sp>
      <p:sp>
        <p:nvSpPr>
          <p:cNvPr id="442377" name="Line 9"/>
          <p:cNvSpPr>
            <a:spLocks noChangeShapeType="1"/>
          </p:cNvSpPr>
          <p:nvPr/>
        </p:nvSpPr>
        <p:spPr bwMode="auto">
          <a:xfrm>
            <a:off x="5954713" y="4022725"/>
            <a:ext cx="0" cy="2717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2378" name="Line 10"/>
          <p:cNvSpPr>
            <a:spLocks noChangeShapeType="1"/>
          </p:cNvSpPr>
          <p:nvPr/>
        </p:nvSpPr>
        <p:spPr bwMode="auto">
          <a:xfrm flipH="1">
            <a:off x="5834063" y="6740525"/>
            <a:ext cx="228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2379" name="Text Box 11"/>
          <p:cNvSpPr txBox="1">
            <a:spLocks noChangeArrowheads="1"/>
          </p:cNvSpPr>
          <p:nvPr/>
        </p:nvSpPr>
        <p:spPr bwMode="auto">
          <a:xfrm>
            <a:off x="1162050" y="3949700"/>
            <a:ext cx="41767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At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 R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 =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</a:rPr>
              <a:t> 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</a:rPr>
              <a:t>0.5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10</a:t>
            </a:r>
            <a:r>
              <a:rPr lang="en-US" baseline="30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clearly 			</a:t>
            </a:r>
            <a:r>
              <a:rPr lang="en-US" i="1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0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= -4.010</a:t>
            </a:r>
            <a:r>
              <a:rPr lang="en-US" baseline="30000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7</a:t>
            </a:r>
            <a:r>
              <a:rPr lang="en-US" dirty="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. </a:t>
            </a:r>
          </a:p>
        </p:txBody>
      </p:sp>
      <p:sp>
        <p:nvSpPr>
          <p:cNvPr id="442380" name="Text Box 12"/>
          <p:cNvSpPr txBox="1">
            <a:spLocks noChangeArrowheads="1"/>
          </p:cNvSpPr>
          <p:nvPr/>
        </p:nvSpPr>
        <p:spPr bwMode="auto">
          <a:xfrm>
            <a:off x="1200150" y="4883150"/>
            <a:ext cx="4043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From 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previous problem</a:t>
            </a:r>
          </a:p>
        </p:txBody>
      </p:sp>
      <p:sp>
        <p:nvSpPr>
          <p:cNvPr id="442381" name="Text Box 13"/>
          <p:cNvSpPr txBox="1">
            <a:spLocks noChangeArrowheads="1"/>
          </p:cNvSpPr>
          <p:nvPr/>
        </p:nvSpPr>
        <p:spPr bwMode="auto">
          <a:xfrm>
            <a:off x="1585913" y="5145088"/>
            <a:ext cx="2852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g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V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0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R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0</a:t>
            </a:r>
          </a:p>
        </p:txBody>
      </p:sp>
      <p:sp>
        <p:nvSpPr>
          <p:cNvPr id="442382" name="Text Box 14"/>
          <p:cNvSpPr txBox="1">
            <a:spLocks noChangeArrowheads="1"/>
          </p:cNvSpPr>
          <p:nvPr/>
        </p:nvSpPr>
        <p:spPr bwMode="auto">
          <a:xfrm>
            <a:off x="1941513" y="5672138"/>
            <a:ext cx="3802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-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4.010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7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/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</a:rPr>
              <a:t>0.5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10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7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</a:p>
        </p:txBody>
      </p:sp>
      <p:sp>
        <p:nvSpPr>
          <p:cNvPr id="442391" name="Text Box 23"/>
          <p:cNvSpPr txBox="1">
            <a:spLocks noChangeArrowheads="1"/>
          </p:cNvSpPr>
          <p:nvPr/>
        </p:nvSpPr>
        <p:spPr bwMode="auto">
          <a:xfrm>
            <a:off x="1951038" y="6211888"/>
            <a:ext cx="3297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= 8.0 m</a:t>
            </a:r>
            <a:r>
              <a:rPr lang="en-US" baseline="-25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s</a:t>
            </a:r>
            <a:r>
              <a:rPr lang="en-US" baseline="30000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-2</a:t>
            </a:r>
            <a:r>
              <a:rPr 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2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2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44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2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42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2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2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2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2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42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2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4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7" grpId="0" animBg="1"/>
      <p:bldP spid="44237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6"/>
          <p:cNvSpPr>
            <a:spLocks noChangeArrowheads="1"/>
          </p:cNvSpPr>
          <p:nvPr/>
        </p:nvSpPr>
        <p:spPr bwMode="auto">
          <a:xfrm>
            <a:off x="685800" y="1779588"/>
            <a:ext cx="7772400" cy="50784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2000" i="1" baseline="-25000"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pic>
        <p:nvPicPr>
          <p:cNvPr id="70659" name="Picture 2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5913" y="3686175"/>
            <a:ext cx="36576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4447" name="Picture 3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6913" y="2144713"/>
            <a:ext cx="7720012" cy="159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1" name="Rectangle 28"/>
          <p:cNvSpPr>
            <a:spLocks noChangeArrowheads="1"/>
          </p:cNvSpPr>
          <p:nvPr/>
        </p:nvSpPr>
        <p:spPr bwMode="auto">
          <a:xfrm>
            <a:off x="685800" y="1338263"/>
            <a:ext cx="7772400" cy="4540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en-US" i="1">
                <a:solidFill>
                  <a:schemeClr val="accent2"/>
                </a:solidFill>
              </a:rPr>
              <a:t>Orbital motion, orbital speed and orbital energy</a:t>
            </a:r>
            <a:endParaRPr lang="en-US" i="1">
              <a:solidFill>
                <a:schemeClr val="accent2"/>
              </a:solidFill>
            </a:endParaRPr>
          </a:p>
        </p:txBody>
      </p:sp>
      <p:pic>
        <p:nvPicPr>
          <p:cNvPr id="70662" name="Picture 2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843088"/>
            <a:ext cx="5311775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4424" name="Rectangle 8"/>
          <p:cNvSpPr>
            <a:spLocks noChangeArrowheads="1"/>
          </p:cNvSpPr>
          <p:nvPr/>
        </p:nvSpPr>
        <p:spPr bwMode="auto">
          <a:xfrm>
            <a:off x="3260725" y="2800350"/>
            <a:ext cx="2598738" cy="288925"/>
          </a:xfrm>
          <a:prstGeom prst="rect">
            <a:avLst/>
          </a:prstGeom>
          <a:solidFill>
            <a:srgbClr val="FF6600">
              <a:alpha val="4392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4425" name="Line 9"/>
          <p:cNvSpPr>
            <a:spLocks noChangeShapeType="1"/>
          </p:cNvSpPr>
          <p:nvPr/>
        </p:nvSpPr>
        <p:spPr bwMode="auto">
          <a:xfrm flipH="1">
            <a:off x="7291388" y="4052888"/>
            <a:ext cx="0" cy="541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4426" name="Line 10"/>
          <p:cNvSpPr>
            <a:spLocks noChangeShapeType="1"/>
          </p:cNvSpPr>
          <p:nvPr/>
        </p:nvSpPr>
        <p:spPr bwMode="auto">
          <a:xfrm flipH="1">
            <a:off x="5897563" y="4589463"/>
            <a:ext cx="13827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4427" name="Text Box 11"/>
          <p:cNvSpPr txBox="1">
            <a:spLocks noChangeArrowheads="1"/>
          </p:cNvSpPr>
          <p:nvPr/>
        </p:nvSpPr>
        <p:spPr bwMode="auto">
          <a:xfrm>
            <a:off x="1032388" y="3675063"/>
            <a:ext cx="487041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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= (-0.8 - </a:t>
            </a:r>
            <a:r>
              <a:rPr lang="en-US" baseline="30000" dirty="0">
                <a:solidFill>
                  <a:schemeClr val="hlink"/>
                </a:solidFill>
                <a:sym typeface="Symbol" pitchFamily="18" charset="2"/>
              </a:rPr>
              <a:t>-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4.0)10</a:t>
            </a:r>
            <a:r>
              <a:rPr lang="en-US" baseline="30000" dirty="0">
                <a:solidFill>
                  <a:schemeClr val="hlink"/>
                </a:solidFill>
                <a:sym typeface="Symbol" pitchFamily="18" charset="2"/>
              </a:rPr>
              <a:t>7 </a:t>
            </a:r>
            <a:r>
              <a:rPr lang="en-US" dirty="0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= 3.210</a:t>
            </a:r>
            <a:r>
              <a:rPr lang="en-US" baseline="30000" dirty="0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7</a:t>
            </a:r>
          </a:p>
        </p:txBody>
      </p:sp>
      <p:sp>
        <p:nvSpPr>
          <p:cNvPr id="444428" name="Line 12"/>
          <p:cNvSpPr>
            <a:spLocks noChangeShapeType="1"/>
          </p:cNvSpPr>
          <p:nvPr/>
        </p:nvSpPr>
        <p:spPr bwMode="auto">
          <a:xfrm flipH="1">
            <a:off x="5861050" y="6734175"/>
            <a:ext cx="228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4430" name="Text Box 14"/>
          <p:cNvSpPr txBox="1">
            <a:spLocks noChangeArrowheads="1"/>
          </p:cNvSpPr>
          <p:nvPr/>
        </p:nvSpPr>
        <p:spPr bwMode="auto">
          <a:xfrm>
            <a:off x="2060575" y="4110038"/>
            <a:ext cx="220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K</a:t>
            </a:r>
            <a:r>
              <a:rPr lang="en-US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 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cs typeface="Times New Roman" pitchFamily="18" charset="0"/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cs typeface="Times New Roman" pitchFamily="18" charset="0"/>
                <a:sym typeface="Symbol" pitchFamily="18" charset="2"/>
              </a:rPr>
              <a:t>P</a:t>
            </a:r>
          </a:p>
        </p:txBody>
      </p:sp>
      <p:sp>
        <p:nvSpPr>
          <p:cNvPr id="444431" name="Text Box 15"/>
          <p:cNvSpPr txBox="1">
            <a:spLocks noChangeArrowheads="1"/>
          </p:cNvSpPr>
          <p:nvPr/>
        </p:nvSpPr>
        <p:spPr bwMode="auto">
          <a:xfrm>
            <a:off x="1460500" y="4495800"/>
            <a:ext cx="2498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 –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K0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= </a:t>
            </a:r>
            <a:r>
              <a:rPr lang="en-US">
                <a:solidFill>
                  <a:schemeClr val="hlink"/>
                </a:solidFill>
              </a:rPr>
              <a:t>–</a:t>
            </a:r>
            <a:r>
              <a:rPr lang="en-US"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50988" y="4224338"/>
            <a:ext cx="619125" cy="647700"/>
            <a:chOff x="812" y="2201"/>
            <a:chExt cx="390" cy="408"/>
          </a:xfrm>
        </p:grpSpPr>
        <p:sp>
          <p:nvSpPr>
            <p:cNvPr id="70678" name="Line 17"/>
            <p:cNvSpPr>
              <a:spLocks noChangeShapeType="1"/>
            </p:cNvSpPr>
            <p:nvPr/>
          </p:nvSpPr>
          <p:spPr bwMode="auto">
            <a:xfrm flipV="1">
              <a:off x="812" y="2396"/>
              <a:ext cx="213" cy="21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79" name="Text Box 18"/>
            <p:cNvSpPr txBox="1">
              <a:spLocks noChangeArrowheads="1"/>
            </p:cNvSpPr>
            <p:nvPr/>
          </p:nvSpPr>
          <p:spPr bwMode="auto">
            <a:xfrm>
              <a:off x="997" y="2201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444435" name="Text Box 19"/>
          <p:cNvSpPr txBox="1">
            <a:spLocks noChangeArrowheads="1"/>
          </p:cNvSpPr>
          <p:nvPr/>
        </p:nvSpPr>
        <p:spPr bwMode="auto">
          <a:xfrm>
            <a:off x="1405604" y="4864100"/>
            <a:ext cx="309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(1/2)</a:t>
            </a:r>
            <a:r>
              <a:rPr lang="en-US" i="1" dirty="0">
                <a:solidFill>
                  <a:schemeClr val="hlink"/>
                </a:solidFill>
              </a:rPr>
              <a:t>mv</a:t>
            </a:r>
            <a:r>
              <a:rPr lang="en-US" baseline="30000" dirty="0">
                <a:solidFill>
                  <a:schemeClr val="hlink"/>
                </a:solidFill>
              </a:rPr>
              <a:t>2</a:t>
            </a:r>
            <a:r>
              <a:rPr lang="en-US" dirty="0">
                <a:solidFill>
                  <a:schemeClr val="hlink"/>
                </a:solidFill>
              </a:rPr>
              <a:t> =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P</a:t>
            </a:r>
          </a:p>
        </p:txBody>
      </p:sp>
      <p:sp>
        <p:nvSpPr>
          <p:cNvPr id="444436" name="Text Box 20"/>
          <p:cNvSpPr txBox="1">
            <a:spLocks noChangeArrowheads="1"/>
          </p:cNvSpPr>
          <p:nvPr/>
        </p:nvSpPr>
        <p:spPr bwMode="auto">
          <a:xfrm>
            <a:off x="2309813" y="5241925"/>
            <a:ext cx="22685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2 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baseline="-25000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i="1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i="1">
                <a:solidFill>
                  <a:schemeClr val="hlink"/>
                </a:solidFill>
                <a:sym typeface="Symbol" pitchFamily="18" charset="2"/>
              </a:rPr>
              <a:t>/ m</a:t>
            </a:r>
          </a:p>
        </p:txBody>
      </p:sp>
      <p:sp>
        <p:nvSpPr>
          <p:cNvPr id="444437" name="Text Box 21"/>
          <p:cNvSpPr txBox="1">
            <a:spLocks noChangeArrowheads="1"/>
          </p:cNvSpPr>
          <p:nvPr/>
        </p:nvSpPr>
        <p:spPr bwMode="auto">
          <a:xfrm>
            <a:off x="2319338" y="5614527"/>
            <a:ext cx="2268537" cy="494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i="1" dirty="0">
                <a:solidFill>
                  <a:schemeClr val="hlink"/>
                </a:solidFill>
              </a:rPr>
              <a:t>v</a:t>
            </a:r>
            <a:r>
              <a:rPr lang="en-US" baseline="30000" dirty="0">
                <a:solidFill>
                  <a:schemeClr val="hlink"/>
                </a:solidFill>
              </a:rPr>
              <a:t>2</a:t>
            </a:r>
            <a:r>
              <a:rPr lang="en-US" dirty="0">
                <a:solidFill>
                  <a:schemeClr val="hlink"/>
                </a:solidFill>
              </a:rPr>
              <a:t> = 2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∆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baseline="-25000" dirty="0">
                <a:solidFill>
                  <a:schemeClr val="hlink"/>
                </a:solidFill>
                <a:sym typeface="Symbol" pitchFamily="18" charset="2"/>
              </a:rPr>
              <a:t>g</a:t>
            </a:r>
            <a:endParaRPr lang="en-US" i="1" dirty="0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444438" name="Text Box 22"/>
          <p:cNvSpPr txBox="1">
            <a:spLocks noChangeArrowheads="1"/>
          </p:cNvSpPr>
          <p:nvPr/>
        </p:nvSpPr>
        <p:spPr bwMode="auto">
          <a:xfrm>
            <a:off x="2314575" y="6015038"/>
            <a:ext cx="2701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baseline="30000">
                <a:solidFill>
                  <a:schemeClr val="hlink"/>
                </a:solidFill>
              </a:rPr>
              <a:t>2</a:t>
            </a:r>
            <a:r>
              <a:rPr lang="en-US">
                <a:solidFill>
                  <a:schemeClr val="hlink"/>
                </a:solidFill>
              </a:rPr>
              <a:t> = 2</a:t>
            </a:r>
            <a:r>
              <a:rPr lang="en-US">
                <a:solidFill>
                  <a:schemeClr val="hlink"/>
                </a:solidFill>
                <a:ea typeface="Times New Roman" pitchFamily="18" charset="0"/>
                <a:cs typeface="Courier New" pitchFamily="49" charset="0"/>
                <a:sym typeface="Symbol" pitchFamily="18" charset="2"/>
              </a:rPr>
              <a:t>(</a:t>
            </a:r>
            <a:r>
              <a:rPr lang="en-US">
                <a:solidFill>
                  <a:schemeClr val="hlink"/>
                </a:solidFill>
                <a:sym typeface="Symbol" pitchFamily="18" charset="2"/>
              </a:rPr>
              <a:t>3.210</a:t>
            </a:r>
            <a:r>
              <a:rPr lang="en-US" baseline="30000">
                <a:solidFill>
                  <a:schemeClr val="hlink"/>
                </a:solidFill>
                <a:sym typeface="Symbol" pitchFamily="18" charset="2"/>
              </a:rPr>
              <a:t>7</a:t>
            </a:r>
            <a:r>
              <a:rPr lang="en-US">
                <a:solidFill>
                  <a:schemeClr val="hlink"/>
                </a:solidFill>
                <a:cs typeface="Times New Roman" pitchFamily="18" charset="0"/>
                <a:sym typeface="Symbol" pitchFamily="18" charset="2"/>
              </a:rPr>
              <a:t>)</a:t>
            </a:r>
          </a:p>
        </p:txBody>
      </p:sp>
      <p:sp>
        <p:nvSpPr>
          <p:cNvPr id="444439" name="Text Box 23"/>
          <p:cNvSpPr txBox="1">
            <a:spLocks noChangeArrowheads="1"/>
          </p:cNvSpPr>
          <p:nvPr/>
        </p:nvSpPr>
        <p:spPr bwMode="auto">
          <a:xfrm>
            <a:off x="2427288" y="6400800"/>
            <a:ext cx="2701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>
                <a:solidFill>
                  <a:schemeClr val="hlink"/>
                </a:solidFill>
              </a:rPr>
              <a:t> = 8000 ms</a:t>
            </a:r>
            <a:r>
              <a:rPr lang="en-US" baseline="30000">
                <a:solidFill>
                  <a:schemeClr val="hlink"/>
                </a:solidFill>
              </a:rPr>
              <a:t>-1</a:t>
            </a:r>
            <a:r>
              <a:rPr lang="en-US">
                <a:solidFill>
                  <a:schemeClr val="hlink"/>
                </a:solidFill>
              </a:rPr>
              <a:t>.</a:t>
            </a:r>
            <a:endParaRPr lang="en-US">
              <a:solidFill>
                <a:schemeClr val="hlink"/>
              </a:solidFill>
              <a:ea typeface="Times New Roman" pitchFamily="18" charset="0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444440" name="Text Box 24"/>
          <p:cNvSpPr txBox="1">
            <a:spLocks noChangeArrowheads="1"/>
          </p:cNvSpPr>
          <p:nvPr/>
        </p:nvSpPr>
        <p:spPr bwMode="auto">
          <a:xfrm>
            <a:off x="4648200" y="0"/>
            <a:ext cx="4495800" cy="1187450"/>
          </a:xfrm>
          <a:prstGeom prst="rect">
            <a:avLst/>
          </a:prstGeom>
          <a:solidFill>
            <a:srgbClr val="FFFFFF">
              <a:alpha val="36078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  <a:sym typeface="Symbol" pitchFamily="18" charset="2"/>
              </a:rPr>
              <a:t>This solution assumes probe is not in orbit but merely reaches altitude (and returns).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4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44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4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4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4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4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4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4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4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4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44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4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4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4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4" grpId="0" animBg="1"/>
      <p:bldP spid="444425" grpId="0" animBg="1"/>
      <p:bldP spid="444426" grpId="0" animBg="1"/>
      <p:bldP spid="444428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15901</TotalTime>
  <Words>5279</Words>
  <Application>Microsoft Macintosh PowerPoint</Application>
  <PresentationFormat>On-screen Show (4:3)</PresentationFormat>
  <Paragraphs>547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 View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Motion Along a Straight Line Position, Displacement, Average Speed</dc:title>
  <dc:creator>Timothy K Lund</dc:creator>
  <cp:lastModifiedBy>Raymund Dimayuga</cp:lastModifiedBy>
  <cp:revision>1070</cp:revision>
  <dcterms:created xsi:type="dcterms:W3CDTF">2006-01-31T23:43:34Z</dcterms:created>
  <dcterms:modified xsi:type="dcterms:W3CDTF">2025-11-05T03:27:45Z</dcterms:modified>
</cp:coreProperties>
</file>